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4"/>
  </p:sldMasterIdLst>
  <p:notesMasterIdLst>
    <p:notesMasterId r:id="rId32"/>
  </p:notesMasterIdLst>
  <p:handoutMasterIdLst>
    <p:handoutMasterId r:id="rId33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13"/>
    <p:sldId id="275" r:id="rId12"/>
    <p:sldId id="276" r:id="rId11"/>
    <p:sldId id="277" r:id="rId10"/>
    <p:sldId id="278" r:id="rId9"/>
    <p:sldId id="279" r:id="rId8"/>
    <p:sldId id="280" r:id="rId7"/>
    <p:sldId id="281" r:id="rId6"/>
    <p:sldId id="282" r:id="rId5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0" r:id="rId68"/>
    <p:sldId id="311" r:id="rId69"/>
    <p:sldId id="312" r:id="rId70"/>
    <p:sldId id="313" r:id="rId71"/>
    <p:sldId id="314" r:id="rId72"/>
    <p:sldId id="315" r:id="rId73"/>
    <p:sldId id="316" r:id="rId74"/>
    <p:sldId id="317" r:id="rId75"/>
    <p:sldId id="318" r:id="rId76"/>
    <p:sldId id="319" r:id="rId77"/>
    <p:sldId id="320" r:id="rId78"/>
    <p:sldId id="321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  <p:sldId id="372" r:id="rId130"/>
    <p:sldId id="373" r:id="rId131"/>
    <p:sldId id="374" r:id="rId132"/>
    <p:sldId id="375" r:id="rId133"/>
    <p:sldId id="376" r:id="rId134"/>
    <p:sldId id="377" r:id="rId135"/>
    <p:sldId id="378" r:id="rId136"/>
    <p:sldId id="379" r:id="rId137"/>
    <p:sldId id="380" r:id="rId138"/>
    <p:sldId id="381" r:id="rId139"/>
    <p:sldId id="382" r:id="rId140"/>
    <p:sldId id="383" r:id="rId141"/>
    <p:sldId id="384" r:id="rId142"/>
    <p:sldId id="385" r:id="rId143"/>
    <p:sldId id="386" r:id="rId144"/>
    <p:sldId id="387" r:id="rId145"/>
    <p:sldId id="388" r:id="rId146"/>
    <p:sldId id="389" r:id="rId147"/>
    <p:sldId id="390" r:id="rId148"/>
    <p:sldId id="391" r:id="rId149"/>
    <p:sldId id="392" r:id="rId150"/>
    <p:sldId id="393" r:id="rId151"/>
    <p:sldId id="394" r:id="rId152"/>
    <p:sldId id="395" r:id="rId153"/>
    <p:sldId id="396" r:id="rId154"/>
    <p:sldId id="397" r:id="rId155"/>
    <p:sldId id="398" r:id="rId156"/>
    <p:sldId id="399" r:id="rId157"/>
    <p:sldId id="400" r:id="rId158"/>
    <p:sldId id="401" r:id="rId159"/>
    <p:sldId id="402" r:id="rId160"/>
    <p:sldId id="403" r:id="rId161"/>
    <p:sldId id="404" r:id="rId162"/>
    <p:sldId id="405" r:id="rId163"/>
  </p:sldIdLst>
  <p:sldSz cx="12192000" cy="6858000"/>
  <p:notesSz cx="7010400" cy="9296400"/>
  <p:custDataLst>
    <p:tags r:id="rId3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 Einstieg" id="{5B4F8317-9C9A-416D-9B2A-77F4A0603BD8}">
          <p14:sldIdLst>
            <p14:sldId id="256"/>
            <p14:sldId id="257"/>
            <p14:sldId id="258"/>
            <p14:sldId id="259"/>
            <p14:sldId id="260"/>
          </p14:sldIdLst>
        </p14:section>
        <p14:section name="01 Titel &amp;Agenda" id="{EB23B8FD-057B-48FB-8D16-73F0CC6076E5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02 Über uns" id="{4D1FF4D3-9855-4815-A099-11E5452BB57A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03 Markt &amp;Kundenverständnis" id="{3F885308-D2A6-4339-BB05-9F65A24CD16B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04 BuyingCenter" id="{7C359415-0FC9-4B60-B1C6-0914CFDA360A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05 Lösung &amp;Wert" id="{784DB46A-2538-4721-9283-F692E13863DC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06 BusinessCase" id="{63E0911D-C5CA-4716-896C-DFB90496D0EE}">
          <p14:sldIdLst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07 Vorgehen&amp; Plan" id="{3B8A83C3-853E-4EB5-99F3-2592A33D8383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  <p14:section name="08 Prozesse &amp;Abläufe" id="{623C7DDD-BA93-4165-AAA8-D730E83FC89F}">
          <p14:sldIdLst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09 Referenzen" id="{E32C1F5D-C19F-476B-B974-48A3038324FB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</p14:sldIdLst>
        </p14:section>
        <p14:section name="10 Angebot" id="{F2E6A4A7-B055-415B-B167-6D0B429925A5}">
          <p14:sldIdLst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  <p14:section name="11 Projektsteuerung" id="{2EC122ED-D03B-43A1-AD7E-B0DBCEA31D63}">
          <p14:sldIdLst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</p14:sldIdLst>
        </p14:section>
        <p14:section name="12 Accountmanagement" id="{8C78F6FC-F637-4246-BB05-D3647A44D620}">
          <p14:sldIdLst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</p14:sldIdLst>
        </p14:section>
        <p14:section name="13 Frameworks" id="{BED4F39A-484F-49FE-BE30-EFA12E63E3A8}">
          <p14:sldIdLst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14 Diagramme" id="{BAB8610F-E8AC-481F-A608-D037F934DD73}">
          <p14:sldIdLst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</p14:sldIdLst>
        </p14:section>
        <p14:section name="15 Abschluss" id="{0A043DF0-B5A7-420C-8B50-4A209667B212}">
          <p14:sldIdLst>
            <p14:sldId id="394"/>
            <p14:sldId id="395"/>
            <p14:sldId id="396"/>
            <p14:sldId id="397"/>
            <p14:sldId id="398"/>
            <p14:sldId id="399"/>
            <p14:sldId id="400"/>
          </p14:sldIdLst>
        </p14:section>
        <p14:section name="16 Toolkit" id="{0F3E72C0-B972-49E0-8592-0ACB4F670DF3}">
          <p14:sldIdLst>
            <p14:sldId id="401"/>
            <p14:sldId id="402"/>
            <p14:sldId id="403"/>
            <p14:sldId id="404"/>
            <p14:sldId id="4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95C913-7658-09D2-9FB6-6A0723661325}" name="Jan Weser" initials="JW" userId="S::jan.weser@koerber.com::e9d300bb-0184-4587-94dc-715af8e041db" providerId="AD"/>
  <p188:author id="{9A47F71C-B364-59FA-6692-D57E4738A5F7}" name="Paula Hentges" initials="PH" userId="S::paula.hentges@koerber.com::88fa869a-c4e2-4a35-b4d3-1f524469474a" providerId="AD"/>
  <p188:author id="{D1C85928-FC48-9405-BBFF-5733BA9F2E63}" name="Lena Wouters" initials="LW" userId="S::lena.wouters@Koerber.com::5e5af90f-17ea-4289-9284-c16839a9ee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ECE6"/>
    <a:srgbClr val="F0ECE5"/>
    <a:srgbClr val="81C0FF"/>
    <a:srgbClr val="2345AB"/>
    <a:srgbClr val="2345A8"/>
    <a:srgbClr val="0060FF"/>
    <a:srgbClr val="FE8623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F935-A24E-4662-804D-81136B5353BF}" v="734" dt="2025-10-23T12:47:54.084"/>
    <p1510:client id="{C01DD4CA-2584-4D4A-8D86-FAB964274AE2}" v="14" dt="2025-10-23T13:31:00.090"/>
    <p1510:client id="{E73ACA87-6029-ED47-9334-8B18BA0C2057}" v="12" dt="2025-10-22T15:38:50.615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4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7.xml"/><Relationship Id="rId6" Type="http://schemas.openxmlformats.org/officeDocument/2006/relationships/slide" Target="slides/slide26.xml"/><Relationship Id="rId7" Type="http://schemas.openxmlformats.org/officeDocument/2006/relationships/slide" Target="slides/slide25.xml"/><Relationship Id="rId8" Type="http://schemas.openxmlformats.org/officeDocument/2006/relationships/slide" Target="slides/slide24.xml"/><Relationship Id="rId9" Type="http://schemas.openxmlformats.org/officeDocument/2006/relationships/slide" Target="slides/slide23.xml"/><Relationship Id="rId10" Type="http://schemas.openxmlformats.org/officeDocument/2006/relationships/slide" Target="slides/slide22.xml"/><Relationship Id="rId11" Type="http://schemas.openxmlformats.org/officeDocument/2006/relationships/slide" Target="slides/slide21.xml"/><Relationship Id="rId12" Type="http://schemas.openxmlformats.org/officeDocument/2006/relationships/slide" Target="slides/slide20.xml"/><Relationship Id="rId13" Type="http://schemas.openxmlformats.org/officeDocument/2006/relationships/slide" Target="slides/slide1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tags" Target="tags/tag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5/10/relationships/revisionInfo" Target="revisionInfo.xml"/><Relationship Id="rId40" Type="http://schemas.microsoft.com/office/2018/10/relationships/authors" Target="authors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2" Type="http://schemas.openxmlformats.org/officeDocument/2006/relationships/slide" Target="slides/slide139.xml"/><Relationship Id="rId153" Type="http://schemas.openxmlformats.org/officeDocument/2006/relationships/slide" Target="slides/slide140.xml"/><Relationship Id="rId154" Type="http://schemas.openxmlformats.org/officeDocument/2006/relationships/slide" Target="slides/slide141.xml"/><Relationship Id="rId155" Type="http://schemas.openxmlformats.org/officeDocument/2006/relationships/slide" Target="slides/slide142.xml"/><Relationship Id="rId156" Type="http://schemas.openxmlformats.org/officeDocument/2006/relationships/slide" Target="slides/slide143.xml"/><Relationship Id="rId157" Type="http://schemas.openxmlformats.org/officeDocument/2006/relationships/slide" Target="slides/slide144.xml"/><Relationship Id="rId158" Type="http://schemas.openxmlformats.org/officeDocument/2006/relationships/slide" Target="slides/slide145.xml"/><Relationship Id="rId159" Type="http://schemas.openxmlformats.org/officeDocument/2006/relationships/slide" Target="slides/slide146.xml"/><Relationship Id="rId160" Type="http://schemas.openxmlformats.org/officeDocument/2006/relationships/slide" Target="slides/slide147.xml"/><Relationship Id="rId161" Type="http://schemas.openxmlformats.org/officeDocument/2006/relationships/slide" Target="slides/slide148.xml"/><Relationship Id="rId162" Type="http://schemas.openxmlformats.org/officeDocument/2006/relationships/slide" Target="slides/slide149.xml"/><Relationship Id="rId163" Type="http://schemas.openxmlformats.org/officeDocument/2006/relationships/slide" Target="slides/slide15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OEE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accent1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cat>
            <c:strRef>
              <c:f>Sheet1!$A$2:$A$6</c:f>
              <c:strCache>
                <c:ptCount val="5"/>
                <c:pt idx="0">
                  <c:v>Best in Class</c:v>
                </c:pt>
                <c:pt idx="1">
                  <c:v>Top-Quartil</c:v>
                </c:pt>
                <c:pt idx="2">
                  <c:v>Median</c:v>
                </c:pt>
                <c:pt idx="3">
                  <c:v>[Kunde]</c:v>
                </c:pt>
                <c:pt idx="4">
                  <c:v>Unteres Quartil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</c:v>
                </c:pt>
                <c:pt idx="1">
                  <c:v>0.68</c:v>
                </c:pt>
                <c:pt idx="2">
                  <c:v>0.59</c:v>
                </c:pt>
                <c:pt idx="3">
                  <c:v>0.54</c:v>
                </c:pt>
                <c:pt idx="4">
                  <c:v>0.45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Gewicht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accent1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dPt>
            <c:idx val="5"/>
            <c:spPr>
              <a:solidFill>
                <a:schemeClr val="tx2"/>
              </a:solidFill>
            </c:spPr>
          </c:dPt>
          <c:cat>
            <c:strRef>
              <c:f>Sheet1!$A$2:$A$7</c:f>
              <c:strCache>
                <c:ptCount val="6"/>
                <c:pt idx="0">
                  <c:v>Fachliche Kompetenz</c:v>
                </c:pt>
                <c:pt idx="1">
                  <c:v>Referenzen</c:v>
                </c:pt>
                <c:pt idx="2">
                  <c:v>Team &amp; Verfügbarkeit</c:v>
                </c:pt>
                <c:pt idx="3">
                  <c:v>Preis</c:v>
                </c:pt>
                <c:pt idx="4">
                  <c:v>Methodik</c:v>
                </c:pt>
                <c:pt idx="5">
                  <c:v>Regionale Präsenz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0.28</c:v>
                </c:pt>
                <c:pt idx="1">
                  <c:v>0.22</c:v>
                </c:pt>
                <c:pt idx="2">
                  <c:v>0.18</c:v>
                </c:pt>
                <c:pt idx="3">
                  <c:v>0.15</c:v>
                </c:pt>
                <c:pt idx="4">
                  <c:v>0.1</c:v>
                </c:pt>
                <c:pt idx="5">
                  <c:v>0.07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Kumulierter Cashflow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accent1"/>
              </a:solidFill>
            </c:spPr>
          </c:dPt>
          <c:dPt>
            <c:idx val="5"/>
            <c:spPr>
              <a:solidFill>
                <a:schemeClr val="accent1"/>
              </a:solidFill>
            </c:spPr>
          </c:dPt>
          <c:dPt>
            <c:idx val="6"/>
            <c:spPr>
              <a:solidFill>
                <a:schemeClr val="accent1"/>
              </a:solidFill>
            </c:spPr>
          </c:dPt>
          <c:cat>
            <c:strRef>
              <c:f>Sheet1!$A$2:$A$8</c:f>
              <c:strCache>
                <c:ptCount val="7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-6.0</c:v>
                </c:pt>
                <c:pt idx="1">
                  <c:v>-14.5</c:v>
                </c:pt>
                <c:pt idx="2">
                  <c:v>-10.8</c:v>
                </c:pt>
                <c:pt idx="3">
                  <c:v>-4.2</c:v>
                </c:pt>
                <c:pt idx="4">
                  <c:v>2.4</c:v>
                </c:pt>
                <c:pt idx="5">
                  <c:v>9.0</c:v>
                </c:pt>
                <c:pt idx="6">
                  <c:v>15.6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Basis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Kapazität</c:v>
                </c:pt>
                <c:pt idx="1">
                  <c:v>Time-to-Market</c:v>
                </c:pt>
                <c:pt idx="2">
                  <c:v>Kosten</c:v>
                </c:pt>
                <c:pt idx="3">
                  <c:v>Kapital</c:v>
                </c:pt>
                <c:pt idx="4">
                  <c:v>Bruttonutzen</c:v>
                </c:pt>
                <c:pt idx="5">
                  <c:v>Betriebskosten</c:v>
                </c:pt>
                <c:pt idx="6">
                  <c:v>Investition</c:v>
                </c:pt>
                <c:pt idx="7">
                  <c:v>Kapitalwert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14.2</c:v>
                </c:pt>
                <c:pt idx="2">
                  <c:v>17.8</c:v>
                </c:pt>
                <c:pt idx="3">
                  <c:v>23.6</c:v>
                </c:pt>
                <c:pt idx="4">
                  <c:v>0</c:v>
                </c:pt>
                <c:pt idx="5">
                  <c:v>22.8</c:v>
                </c:pt>
                <c:pt idx="6">
                  <c:v>4.800000000000001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Lbls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bg1"/>
                        </a:solidFill>
                      </a:rPr>
                      <a:t>25,7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bg1"/>
                        </a:solidFill>
                      </a:rPr>
                      <a:t>4,8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Kapazität</c:v>
                </c:pt>
                <c:pt idx="1">
                  <c:v>Time-to-Market</c:v>
                </c:pt>
                <c:pt idx="2">
                  <c:v>Kosten</c:v>
                </c:pt>
                <c:pt idx="3">
                  <c:v>Kapital</c:v>
                </c:pt>
                <c:pt idx="4">
                  <c:v>Bruttonutzen</c:v>
                </c:pt>
                <c:pt idx="5">
                  <c:v>Betriebskosten</c:v>
                </c:pt>
                <c:pt idx="6">
                  <c:v>Investition</c:v>
                </c:pt>
                <c:pt idx="7">
                  <c:v>Kapitalwert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25.7</c:v>
                </c:pt>
                <c:pt idx="5">
                  <c:v>0</c:v>
                </c:pt>
                <c:pt idx="6">
                  <c:v>0</c:v>
                </c:pt>
                <c:pt idx="7">
                  <c:v>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Zunahme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+14,2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+3,6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+5,8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+2,1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Kapazität</c:v>
                </c:pt>
                <c:pt idx="1">
                  <c:v>Time-to-Market</c:v>
                </c:pt>
                <c:pt idx="2">
                  <c:v>Kosten</c:v>
                </c:pt>
                <c:pt idx="3">
                  <c:v>Kapital</c:v>
                </c:pt>
                <c:pt idx="4">
                  <c:v>Bruttonutzen</c:v>
                </c:pt>
                <c:pt idx="5">
                  <c:v>Betriebskosten</c:v>
                </c:pt>
                <c:pt idx="6">
                  <c:v>Investition</c:v>
                </c:pt>
                <c:pt idx="7">
                  <c:v>Kapitalwert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14.2</c:v>
                </c:pt>
                <c:pt idx="1">
                  <c:v>3.6</c:v>
                </c:pt>
                <c:pt idx="2">
                  <c:v>5.8</c:v>
                </c:pt>
                <c:pt idx="3">
                  <c:v>2.1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Abnahme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</c:spPr>
          <c:dLbls>
            <c:dLbl>
              <c:idx val="5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bg1"/>
                        </a:solidFill>
                      </a:rPr>
                      <a:t>-2,9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bg1"/>
                        </a:solidFill>
                      </a:rPr>
                      <a:t>-18,0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Kapazität</c:v>
                </c:pt>
                <c:pt idx="1">
                  <c:v>Time-to-Market</c:v>
                </c:pt>
                <c:pt idx="2">
                  <c:v>Kosten</c:v>
                </c:pt>
                <c:pt idx="3">
                  <c:v>Kapital</c:v>
                </c:pt>
                <c:pt idx="4">
                  <c:v>Bruttonutzen</c:v>
                </c:pt>
                <c:pt idx="5">
                  <c:v>Betriebskosten</c:v>
                </c:pt>
                <c:pt idx="6">
                  <c:v>Investition</c:v>
                </c:pt>
                <c:pt idx="7">
                  <c:v>Kapitalwert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2.9</c:v>
                </c:pt>
                <c:pt idx="6">
                  <c:v>18.0</c:v>
                </c:pt>
                <c:pt idx="7">
                  <c:v>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Entgangener Deckungsbeitrag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accent1"/>
              </a:solidFill>
            </c:spPr>
          </c:dPt>
          <c:cat>
            <c:strRef>
              <c:f>Sheet1!$A$2:$A$5</c:f>
              <c:strCache>
                <c:ptCount val="4"/>
                <c:pt idx="0">
                  <c:v>3 Monate</c:v>
                </c:pt>
                <c:pt idx="1">
                  <c:v>6 Monate</c:v>
                </c:pt>
                <c:pt idx="2">
                  <c:v>9 Monate</c:v>
                </c:pt>
                <c:pt idx="3">
                  <c:v>12 Monate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</c:v>
                </c:pt>
                <c:pt idx="1">
                  <c:v>3.6</c:v>
                </c:pt>
                <c:pt idx="2">
                  <c:v>5.4</c:v>
                </c:pt>
                <c:pt idx="3">
                  <c:v>7.2</c:v>
                </c:pt>
              </c:numCache>
            </c:numRef>
          </c:val>
        </c:ser>
        <c:dLbls>
          <c:numFmt formatCode="&quot;€ &quot;0.0&quot; Mio.&quot;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Negativ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Absatzmenge ±20 %</c:v>
                </c:pt>
                <c:pt idx="1">
                  <c:v>Preis ±10 %</c:v>
                </c:pt>
                <c:pt idx="2">
                  <c:v>Investition ±15 %</c:v>
                </c:pt>
                <c:pt idx="3">
                  <c:v>Ramp-up ±3 Monate</c:v>
                </c:pt>
                <c:pt idx="4">
                  <c:v>Betriebskosten ±10 %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-4.1</c:v>
                </c:pt>
                <c:pt idx="1">
                  <c:v>-2.9</c:v>
                </c:pt>
                <c:pt idx="2">
                  <c:v>-2.4</c:v>
                </c:pt>
                <c:pt idx="3">
                  <c:v>-1.6</c:v>
                </c:pt>
                <c:pt idx="4">
                  <c:v>-0.9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Positiv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Absatzmenge ±20 %</c:v>
                </c:pt>
                <c:pt idx="1">
                  <c:v>Preis ±10 %</c:v>
                </c:pt>
                <c:pt idx="2">
                  <c:v>Investition ±15 %</c:v>
                </c:pt>
                <c:pt idx="3">
                  <c:v>Ramp-up ±3 Monate</c:v>
                </c:pt>
                <c:pt idx="4">
                  <c:v>Betriebskosten ±10 %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4.1</c:v>
                </c:pt>
                <c:pt idx="1">
                  <c:v>2.9</c:v>
                </c:pt>
                <c:pt idx="2">
                  <c:v>2.4</c:v>
                </c:pt>
                <c:pt idx="3">
                  <c:v>1.2</c:v>
                </c:pt>
                <c:pt idx="4">
                  <c:v>0.9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Vorher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OEE</c:v>
                </c:pt>
                <c:pt idx="1">
                  <c:v>Verfügbarkeit</c:v>
                </c:pt>
                <c:pt idx="2">
                  <c:v>Leistung</c:v>
                </c:pt>
                <c:pt idx="3">
                  <c:v>Qualität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0.71</c:v>
                </c:pt>
                <c:pt idx="2">
                  <c:v>0.78</c:v>
                </c:pt>
                <c:pt idx="3">
                  <c:v>0.94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Nachher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OEE</c:v>
                </c:pt>
                <c:pt idx="1">
                  <c:v>Verfügbarkeit</c:v>
                </c:pt>
                <c:pt idx="2">
                  <c:v>Leistung</c:v>
                </c:pt>
                <c:pt idx="3">
                  <c:v>Qualität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0.63</c:v>
                </c:pt>
                <c:pt idx="1">
                  <c:v>0.8</c:v>
                </c:pt>
                <c:pt idx="2">
                  <c:v>0.83</c:v>
                </c:pt>
                <c:pt idx="3">
                  <c:v>0.96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/ Experte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Konzept</c:v>
                </c:pt>
                <c:pt idx="2">
                  <c:v>Engineering</c:v>
                </c:pt>
                <c:pt idx="3">
                  <c:v>Realisierung</c:v>
                </c:pt>
                <c:pt idx="4">
                  <c:v>Qualifizierung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40</c:v>
                </c:pt>
                <c:pt idx="2">
                  <c:v>30</c:v>
                </c:pt>
                <c:pt idx="3">
                  <c:v>20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Senior Consultant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Konzept</c:v>
                </c:pt>
                <c:pt idx="2">
                  <c:v>Engineering</c:v>
                </c:pt>
                <c:pt idx="3">
                  <c:v>Realisierung</c:v>
                </c:pt>
                <c:pt idx="4">
                  <c:v>Qualifizierung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80</c:v>
                </c:pt>
                <c:pt idx="2">
                  <c:v>120</c:v>
                </c:pt>
                <c:pt idx="3">
                  <c:v>100</c:v>
                </c:pt>
                <c:pt idx="4">
                  <c:v>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Consultant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Konzept</c:v>
                </c:pt>
                <c:pt idx="2">
                  <c:v>Engineering</c:v>
                </c:pt>
                <c:pt idx="3">
                  <c:v>Realisierung</c:v>
                </c:pt>
                <c:pt idx="4">
                  <c:v>Qualifizierung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60</c:v>
                </c:pt>
                <c:pt idx="2">
                  <c:v>110</c:v>
                </c:pt>
                <c:pt idx="3">
                  <c:v>100</c:v>
                </c:pt>
                <c:pt idx="4">
                  <c:v>90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ln w="31750">
              <a:solidFill>
                <a:schemeClr val="tx2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Okt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Feb</c:v>
                </c:pt>
                <c:pt idx="5">
                  <c:v>Mär</c:v>
                </c:pt>
                <c:pt idx="6">
                  <c:v>Apr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</c:v>
                </c:pt>
                <c:pt idx="1">
                  <c:v>150</c:v>
                </c:pt>
                <c:pt idx="2">
                  <c:v>260</c:v>
                </c:pt>
                <c:pt idx="3">
                  <c:v>390</c:v>
                </c:pt>
                <c:pt idx="4">
                  <c:v>500</c:v>
                </c:pt>
                <c:pt idx="5">
                  <c:v>620</c:v>
                </c:pt>
                <c:pt idx="6">
                  <c:v>740</c:v>
                </c:pt>
                <c:pt idx="7">
                  <c:v>850</c:v>
                </c:pt>
                <c:pt idx="8">
                  <c:v>960</c:v>
                </c:pt>
                <c:pt idx="9">
                  <c:v>1060</c:v>
                </c:pt>
                <c:pt idx="10">
                  <c:v>1160</c:v>
                </c:pt>
                <c:pt idx="11">
                  <c:v>1240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Ist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Okt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Feb</c:v>
                </c:pt>
                <c:pt idx="5">
                  <c:v>Mär</c:v>
                </c:pt>
                <c:pt idx="6">
                  <c:v>Apr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55</c:v>
                </c:pt>
                <c:pt idx="1">
                  <c:v>140</c:v>
                </c:pt>
                <c:pt idx="2">
                  <c:v>240</c:v>
                </c:pt>
                <c:pt idx="3">
                  <c:v>370</c:v>
                </c:pt>
                <c:pt idx="4">
                  <c:v>470</c:v>
                </c:pt>
                <c:pt idx="5">
                  <c:v>570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Prognose</c:v>
                </c:pt>
              </c:strCache>
            </c:strRef>
          </c:tx>
          <c:spPr>
            <a:ln w="31750">
              <a:solidFill>
                <a:schemeClr val="accent1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Okt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Feb</c:v>
                </c:pt>
                <c:pt idx="5">
                  <c:v>Mär</c:v>
                </c:pt>
                <c:pt idx="6">
                  <c:v>Apr</c:v>
                </c:pt>
                <c:pt idx="7">
                  <c:v>Mai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5">
                  <c:v>570</c:v>
                </c:pt>
                <c:pt idx="6">
                  <c:v>690</c:v>
                </c:pt>
                <c:pt idx="7">
                  <c:v>800</c:v>
                </c:pt>
                <c:pt idx="8">
                  <c:v>910</c:v>
                </c:pt>
                <c:pt idx="9">
                  <c:v>1020</c:v>
                </c:pt>
                <c:pt idx="10">
                  <c:v>1130</c:v>
                </c:pt>
                <c:pt idx="11">
                  <c:v>1220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5C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Angebot / Verhandlung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1.0</c:v>
                </c:pt>
                <c:pt idx="2">
                  <c:v>1.3</c:v>
                </c:pt>
                <c:pt idx="3">
                  <c:v>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Bedarf bestätigt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Lead qualifiziert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2.4</c:v>
                </c:pt>
                <c:pt idx="2">
                  <c:v>2.2</c:v>
                </c:pt>
                <c:pt idx="3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[Kunde]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>
                <a:schemeClr val="accent1"/>
              </a:solidFill>
              <a:ln>
                <a:noFill/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2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7.8</c:v>
                </c:pt>
                <c:pt idx="1">
                  <c:v>8.2</c:v>
                </c:pt>
                <c:pt idx="2">
                  <c:v>8.7</c:v>
                </c:pt>
                <c:pt idx="3">
                  <c:v>9.1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Portfolio-Durchschnitt</c:v>
                </c:pt>
              </c:strCache>
            </c:strRef>
          </c:tx>
          <c:spPr>
            <a:ln w="22225">
              <a:solidFill>
                <a:schemeClr val="accent3"/>
              </a:solidFill>
            </a:ln>
          </c:spPr>
          <c:marker>
            <c:symbol val="circle"/>
            <c:size val="6"/>
            <c:spPr>
              <a:solidFill>
                <a:schemeClr val="accent3"/>
              </a:solidFill>
              <a:ln>
                <a:noFill/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200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8.1</c:v>
                </c:pt>
                <c:pt idx="3">
                  <c:v>8.3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6.0"/>
        </c:scaling>
        <c:delete val="0"/>
        <c:axPos val="l"/>
        <c:majorGridlines>
          <c:spPr>
            <a:ln w="6350">
              <a:solidFill>
                <a:srgbClr val="D9D5C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Umsatz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tx2"/>
              </a:solidFill>
            </c:spPr>
          </c:dPt>
          <c:dPt>
            <c:idx val="1"/>
            <c:spPr>
              <a:solidFill>
                <a:schemeClr val="tx2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accent1"/>
              </a:solidFill>
            </c:spPr>
          </c:dPt>
          <c:dPt>
            <c:idx val="4"/>
            <c:spPr>
              <a:solidFill>
                <a:schemeClr val="accent1"/>
              </a:solidFill>
            </c:spPr>
          </c:dPt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2.3</c:v>
                </c:pt>
                <c:pt idx="2">
                  <c:v>2.6</c:v>
                </c:pt>
                <c:pt idx="3">
                  <c:v>2.9</c:v>
                </c:pt>
                <c:pt idx="4">
                  <c:v>3.2</c:v>
                </c:pt>
              </c:numCache>
            </c:numRef>
          </c:val>
        </c:ser>
        <c:dLbls>
          <c:numFmt formatCode="&quot;€ &quot;0.0&quot; Mrd.&quot;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Service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bg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0.32</c:v>
                </c:pt>
                <c:pt idx="1">
                  <c:v>0.38</c:v>
                </c:pt>
                <c:pt idx="2">
                  <c:v>0.44</c:v>
                </c:pt>
                <c:pt idx="3">
                  <c:v>0.51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Produkte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0.52</c:v>
                </c:pt>
                <c:pt idx="1">
                  <c:v>0.48</c:v>
                </c:pt>
                <c:pt idx="2">
                  <c:v>0.44</c:v>
                </c:pt>
                <c:pt idx="3">
                  <c:v>0.39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Sonstiges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1200">
                    <a:solidFill>
                      <a:schemeClr val="tx1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0.16</c:v>
                </c:pt>
                <c:pt idx="1">
                  <c:v>0.14</c:v>
                </c:pt>
                <c:pt idx="2">
                  <c:v>0.12</c:v>
                </c:pt>
                <c:pt idx="3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Umsatz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accent1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dPt>
            <c:idx val="5"/>
            <c:spPr>
              <a:solidFill>
                <a:schemeClr val="tx2"/>
              </a:solidFill>
            </c:spPr>
          </c:dPt>
          <c:dPt>
            <c:idx val="6"/>
            <c:spPr>
              <a:solidFill>
                <a:schemeClr val="tx2"/>
              </a:solidFill>
            </c:spPr>
          </c:dPt>
          <c:cat>
            <c:strRef>
              <c:f>Sheet1!$A$2:$A$8</c:f>
              <c:strCache>
                <c:ptCount val="7"/>
                <c:pt idx="0">
                  <c:v>Deutschland</c:v>
                </c:pt>
                <c:pt idx="1">
                  <c:v>USA</c:v>
                </c:pt>
                <c:pt idx="2">
                  <c:v>Frankreich</c:v>
                </c:pt>
                <c:pt idx="3">
                  <c:v>Italien</c:v>
                </c:pt>
                <c:pt idx="4">
                  <c:v>Spanien</c:v>
                </c:pt>
                <c:pt idx="5">
                  <c:v>Polen</c:v>
                </c:pt>
                <c:pt idx="6">
                  <c:v>Sonstige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81</c:v>
                </c:pt>
                <c:pt idx="2">
                  <c:v>64</c:v>
                </c:pt>
                <c:pt idx="3">
                  <c:v>55</c:v>
                </c:pt>
                <c:pt idx="4">
                  <c:v>41</c:v>
                </c:pt>
                <c:pt idx="5">
                  <c:v>33</c:v>
                </c:pt>
                <c:pt idx="6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Ausbringung</c:v>
                </c:pt>
              </c:strCache>
            </c:strRef>
          </c:tx>
          <c:spPr>
            <a:ln w="31750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>
                <a:schemeClr val="accent1"/>
              </a:solidFill>
              <a:ln>
                <a:noFill/>
              </a:ln>
            </c:spPr>
          </c:marker>
          <c:dLbls>
            <c:dLbl>
              <c:idx val="11"/>
              <c:spPr/>
              <c:txPr>
                <a:bodyPr/>
                <a:lstStyle/>
                <a:p>
                  <a:pPr>
                    <a:defRPr sz="1200" b="1">
                      <a:solidFill>
                        <a:schemeClr val="accent1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</c:v>
                </c:pt>
                <c:pt idx="1">
                  <c:v>32</c:v>
                </c:pt>
                <c:pt idx="2">
                  <c:v>33</c:v>
                </c:pt>
                <c:pt idx="3">
                  <c:v>35</c:v>
                </c:pt>
                <c:pt idx="4">
                  <c:v>36</c:v>
                </c:pt>
                <c:pt idx="5">
                  <c:v>38</c:v>
                </c:pt>
                <c:pt idx="6">
                  <c:v>40</c:v>
                </c:pt>
                <c:pt idx="7">
                  <c:v>41</c:v>
                </c:pt>
                <c:pt idx="8">
                  <c:v>43</c:v>
                </c:pt>
                <c:pt idx="9">
                  <c:v>43</c:v>
                </c:pt>
                <c:pt idx="10">
                  <c:v>44</c:v>
                </c:pt>
                <c:pt idx="11">
                  <c:v>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Ziel</c:v>
                </c:pt>
              </c:strCache>
            </c:strRef>
          </c:tx>
          <c:spPr>
            <a:ln w="22225">
              <a:solidFill>
                <a:schemeClr val="accent3"/>
              </a:solidFill>
              <a:prstDash val="dash"/>
            </a:ln>
          </c:spPr>
          <c:marker>
            <c:symbol val="circle"/>
            <c:size val="6"/>
            <c:spPr>
              <a:solidFill>
                <a:schemeClr val="accent3"/>
              </a:solidFill>
              <a:ln>
                <a:noFill/>
              </a:ln>
            </c:spPr>
          </c:marker>
          <c:dLbls>
            <c:dLbl>
              <c:idx val="11"/>
              <c:spPr/>
              <c:txPr>
                <a:bodyPr/>
                <a:lstStyle/>
                <a:p>
                  <a:pPr>
                    <a:defRPr sz="1200" b="1">
                      <a:solidFill>
                        <a:schemeClr val="accent3"/>
                      </a:solidFill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</c:v>
                </c:pt>
                <c:pt idx="1">
                  <c:v>43</c:v>
                </c:pt>
                <c:pt idx="2">
                  <c:v>43</c:v>
                </c:pt>
                <c:pt idx="3">
                  <c:v>43</c:v>
                </c:pt>
                <c:pt idx="4">
                  <c:v>43</c:v>
                </c:pt>
                <c:pt idx="5">
                  <c:v>43</c:v>
                </c:pt>
                <c:pt idx="6">
                  <c:v>43</c:v>
                </c:pt>
                <c:pt idx="7">
                  <c:v>43</c:v>
                </c:pt>
                <c:pt idx="8">
                  <c:v>43</c:v>
                </c:pt>
                <c:pt idx="9">
                  <c:v>43</c:v>
                </c:pt>
                <c:pt idx="10">
                  <c:v>43</c:v>
                </c:pt>
                <c:pt idx="11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8.0"/>
          <c:min val="25.0"/>
        </c:scaling>
        <c:delete val="0"/>
        <c:axPos val="l"/>
        <c:majorGridlines>
          <c:spPr>
            <a:ln w="6350">
              <a:solidFill>
                <a:srgbClr val="D9D5C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5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</c:v>
                </c:pt>
                <c:pt idx="1">
                  <c:v>0.31999999999999995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chemeClr val="accent1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chemeClr val="bg2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0</c:v>
                </c:pt>
                <c:pt idx="1">
                  <c:v>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gap"/>
    <c:showDLblsOverMax val="0"/>
  </c:chart>
  <c:txPr>
    <a:bodyPr/>
    <a:lstStyle/>
    <a:p>
      <a:pPr>
        <a:defRPr sz="1100"/>
      </a:pPr>
      <a:endParaRPr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Produkte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spPr>
              <a:solidFill>
                <a:schemeClr val="accent1"/>
              </a:solidFill>
            </c:spPr>
          </c:dPt>
          <c:dPt>
            <c:idx val="1"/>
            <c:spPr>
              <a:solidFill>
                <a:schemeClr val="accent1"/>
              </a:solidFill>
            </c:spPr>
          </c:dPt>
          <c:dPt>
            <c:idx val="2"/>
            <c:spPr>
              <a:solidFill>
                <a:schemeClr val="tx2"/>
              </a:solidFill>
            </c:spPr>
          </c:dPt>
          <c:dPt>
            <c:idx val="3"/>
            <c:spPr>
              <a:solidFill>
                <a:schemeClr val="tx2"/>
              </a:solidFill>
            </c:spPr>
          </c:dPt>
          <c:dPt>
            <c:idx val="4"/>
            <c:spPr>
              <a:solidFill>
                <a:schemeClr val="tx2"/>
              </a:solidFill>
            </c:spPr>
          </c:dPt>
          <c:dPt>
            <c:idx val="5"/>
            <c:spPr>
              <a:solidFill>
                <a:schemeClr val="tx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bg1"/>
                        </a:solidFill>
                      </a:rPr>
                      <a:t>A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bg1"/>
                        </a:solidFill>
                      </a:rPr>
                      <a:t>B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C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D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E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200">
                        <a:solidFill>
                          <a:schemeClr val="tx1"/>
                        </a:solidFill>
                      </a:rPr>
                      <a:t>F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Sheet1!$A$2:$A$7</c:f>
              <c:numCache>
                <c:formatCode>General</c:formatCode>
                <c:ptCount val="6"/>
                <c:pt idx="0">
                  <c:v>70</c:v>
                </c:pt>
                <c:pt idx="1">
                  <c:v>82</c:v>
                </c:pt>
                <c:pt idx="2">
                  <c:v>30</c:v>
                </c:pt>
                <c:pt idx="3">
                  <c:v>45</c:v>
                </c:pt>
                <c:pt idx="4">
                  <c:v>25</c:v>
                </c:pt>
                <c:pt idx="5">
                  <c:v>55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12</c:v>
                </c:pt>
                <c:pt idx="2">
                  <c:v>6</c:v>
                </c:pt>
                <c:pt idx="3">
                  <c:v>9</c:v>
                </c:pt>
                <c:pt idx="4">
                  <c:v>15</c:v>
                </c:pt>
                <c:pt idx="5">
                  <c:v>4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32</c:v>
                </c:pt>
                <c:pt idx="2">
                  <c:v>12</c:v>
                </c:pt>
                <c:pt idx="3">
                  <c:v>20</c:v>
                </c:pt>
                <c:pt idx="4">
                  <c:v>8</c:v>
                </c:pt>
                <c:pt idx="5">
                  <c:v>10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0"/>
        <c:showNegBubbles val="0"/>
        <c:axId val="-2115720072"/>
        <c:axId val="-2115723560"/>
      </c:bubbleChart>
      <c:valAx>
        <c:axId val="-2115720072"/>
        <c:scaling>
          <c:orientation val="minMax"/>
          <c:max val="10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200" b="0"/>
                  <a:t>Volumen (Tsd. Einheiten)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25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200" b="0"/>
                  <a:t>Wachstum p. a.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9D968D"/>
            </a:solidFill>
          </a:ln>
        </c:spPr>
        <c:txPr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83990-11A4-4591-BB2E-8B9EBF45D776}" type="datetimeFigureOut">
              <a:rPr lang="en-US" smtClean="0">
                <a:latin typeface="Arial" panose="020B0604020202020204" pitchFamily="34" charset="0"/>
              </a:rPr>
              <a:t>10/15/2026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70A6C-A967-4BE9-9801-C835F295E7F4}" type="slidenum">
              <a:rPr lang="en-US" smtClean="0">
                <a:latin typeface="Arial" panose="020B0604020202020204" pitchFamily="34" charset="0"/>
              </a:rPr>
              <a:t>‹Nr.›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3390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B525F1B7-D9C1-4048-B20A-C8895EC064A8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59583F78-C84D-44B5-BACE-07816AF6463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Deckblatt der Bibliothek. Nicht im Kundentermin verwenden.</a:t>
            </a:r>
          </a:p>
          <a:p/>
          <a:p>
            <a:r>
              <a:t>ANPASSEN: Version und Datum bei jeder Aktualisierung pflegen.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Kurzanleitung für alle, die mit der Bibliothek arbeiten.</a:t>
            </a:r>
          </a:p>
          <a:p/>
          <a:p>
            <a:r>
              <a:t>ANPASSEN: Bei neuen Konventionen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Navigation im Bearbeitungsmodus und in der Bildschirmpräsentation: Kapitelzeile anklicken.</a:t>
            </a:r>
          </a:p>
          <a:p/>
          <a:p>
            <a:r>
              <a:t>ANPASSEN: Wird beim Generieren automatisch mit Foliennummern befüllt.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Startpunkt für jede neue Präsentation: Termin-Typ wählen, Folien in dieser Reihenfolge übernehmen.</a:t>
            </a:r>
          </a:p>
          <a:p/>
          <a:p>
            <a:r>
              <a:t>ANPASSEN: Eigene Termin-Typen als Zeile ergänzen.</a:t>
            </a:r>
          </a:p>
          <a:p/>
          <a:p>
            <a:r>
              <a:t>TIPP: Faustregel: 1,5–2 Minuten pro Folie einplanen, 30 % der Zeit für Dialog reservieren.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Leitlinie für alle Autorinnen und Autoren.</a:t>
            </a:r>
          </a:p>
          <a:p/>
          <a:p>
            <a:r>
              <a:t>ANPASSEN: –</a:t>
            </a:r>
          </a:p>
          <a:p/>
          <a:p>
            <a:r>
              <a:t>TIPP: Test: Wer nur die Titel liest, muss die gesamte Story verstehen.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Deckblätter, Agenda und Einstieg in den Termin.</a:t>
            </a:r>
          </a:p>
          <a:p/>
          <a:p>
            <a:r>
              <a:t>ANPASSEN: Kapitelnummer und -name im Platzhalter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Deckblatt für Erstgespräch oder Angebotspräsentation.</a:t>
            </a:r>
          </a:p>
          <a:p/>
          <a:p>
            <a:r>
              <a:t>ANPASSEN: Titel = Kundenthema, nicht „Körber Präsentation“.</a:t>
            </a:r>
          </a:p>
          <a:p/>
          <a:p>
            <a:r>
              <a:t>TIPP: Das Thema des Kunden in seiner Sprache benennen – das signalisiert Verständnis ab Folie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Deckblatt mit Bild für Lösungspräsentation oder Kick-off.</a:t>
            </a:r>
          </a:p>
          <a:p/>
          <a:p>
            <a:r>
              <a:t>ANPASSEN: Bild über „Bild ändern“ austauschen (Körber Pictures Library).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Deckblatt für Kick-off, Steering Committee oder Abschlusspräsentation.</a:t>
            </a:r>
          </a:p>
          <a:p/>
          <a:p>
            <a:r>
              <a:t>ANPASSEN: Projektname und Datum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Klassische Agenda mit bis zu fünf Punkten.</a:t>
            </a:r>
          </a:p>
          <a:p/>
          <a:p>
            <a:r>
              <a:t>ANPASSEN: Punkte als Ergebnis formulieren, nicht als Thema.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Agenda für Workshops und längere Termine.</a:t>
            </a:r>
          </a:p>
          <a:p/>
          <a:p>
            <a:r>
              <a:t>ANPASSEN: Zeiten, Themen und Verantwortliche anpassen.</a:t>
            </a:r>
          </a:p>
          <a:p/>
          <a:p>
            <a:r>
              <a:t>TIPP: Das Ergebnis je Block macht den Nutzen jedes Agendapunkts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Direkt nach der Agenda: Erwartungen synchronisieren.</a:t>
            </a:r>
          </a:p>
          <a:p/>
          <a:p>
            <a:r>
              <a:t>ANPASSEN: Ziele mit dem Kunden vorab abstimmen.</a:t>
            </a:r>
          </a:p>
          <a:p/>
          <a:p>
            <a:r>
              <a:t>TIPP: Am Ende des Termins auf diese Folie zurückkommen und Ergebnisse abhaken.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Vorstellungsrunde im Erstgespräch oder Kick-off.</a:t>
            </a:r>
          </a:p>
          <a:p/>
          <a:p>
            <a:r>
              <a:t>ANPASSEN: Fotos per „Bild ändern“ in die Kreise einsetzen, Rollen ergänzen.</a:t>
            </a:r>
          </a:p>
          <a:p/>
          <a:p>
            <a:r>
              <a:t>TIPP: Buying-Center-Rolle intern notieren (siehe Kapitel 04) – nicht auf der Kundenfolie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Positionierung von Körber Pharma Consulting: Portfolio, Differenzierung, Team.</a:t>
            </a:r>
          </a:p>
          <a:p/>
          <a:p>
            <a:r>
              <a:t>ANPASSEN: Nur die 2–3 Folien zeigen, die zur Fragestellung des Kunden passen.</a:t>
            </a:r>
          </a:p>
          <a:p/>
          <a:p>
            <a:r>
              <a:t>TIPP: Über uns kommt nach dem Kundenverständnis – nicht davor.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Emotionaler Einstieg in das Kapitel „Über uns“ oder in eine Keynote.</a:t>
            </a:r>
          </a:p>
          <a:p/>
          <a:p>
            <a:r>
              <a:t>ANPASSEN: Bild aus der Körber Pictures Library wählen.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Einstieg in die Unternehmensvorstellung.</a:t>
            </a:r>
          </a:p>
          <a:p/>
          <a:p>
            <a:r>
              <a:t>ANPASSEN: Aktuelle, freigegebene Kennzahlen aus dem Brand Hub einsetzen.</a:t>
            </a:r>
          </a:p>
          <a:p/>
          <a:p>
            <a:r>
              <a:t>TIPP: Maximal vier Zahlen – jede muss für den Kunden relevant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 die Breite des Portfolios entlang des Asset-Lebenszyklus.</a:t>
            </a:r>
          </a:p>
          <a:p/>
          <a:p>
            <a:r>
              <a:t>ANPASSEN: Leistungen je Phase an das eigene Angebot anpassen.</a:t>
            </a:r>
          </a:p>
          <a:p/>
          <a:p>
            <a:r>
              <a:t>TIPP: Im Termin die Phase markieren, in der der Kunde gerade steht (Phase blau, Rest sand).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Übersicht der Kompetenzfelder für Erstgespräche.</a:t>
            </a:r>
          </a:p>
          <a:p/>
          <a:p>
            <a:r>
              <a:t>ANPASSEN: Kompetenzfelder und Beschreibungen anpassen.</a:t>
            </a:r>
          </a:p>
          <a:p/>
          <a:p>
            <a:r>
              <a:t>TIPP: Das für den Kunden relevanteste Feld blau hinterlegen.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Zeigt, dass wir die Logik des jeweiligen Segments verstehen.</a:t>
            </a:r>
          </a:p>
          <a:p/>
          <a:p>
            <a:r>
              <a:t>ANPASSEN: Herausforderungen je Segment mit aktuellen Markteinblicken schärfen.</a:t>
            </a:r>
          </a:p>
          <a:p/>
          <a:p>
            <a:r>
              <a:t>TIPP: Im Termin nur das Segment des Kunden vertiefen.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Differenzierung über das Körber-Ökosystem.</a:t>
            </a:r>
          </a:p>
          <a:p/>
          <a:p>
            <a:r>
              <a:t>ANPASSEN: Bereiche an die aktuelle Struktur der Körber-Gruppe anpassen.</a:t>
            </a:r>
          </a:p>
          <a:p/>
          <a:p>
            <a:r>
              <a:t>TIPP: Betonen: Wir beraten herstellerunabhängig – das Ökosystem ist eine Option, keine Bedingung.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Kern der Positionierung – in jeder Lösungs- oder Angebotspräsentation.</a:t>
            </a:r>
          </a:p>
          <a:p/>
          <a:p>
            <a:r>
              <a:t>ANPASSEN: Belege mit konkreten Projektergebnissen untermauern.</a:t>
            </a:r>
          </a:p>
          <a:p/>
          <a:p>
            <a:r>
              <a:t>TIPP: Differenzierung immer aus Kundensicht formulieren: Was hat der Kunde davon?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Einordnung gegenüber Wettbewerbsgruppen – vor allem bei Ausschreibungen.</a:t>
            </a:r>
          </a:p>
          <a:p/>
          <a:p>
            <a:r>
              <a:t>ANPASSEN: Wettbewerber nur als Gruppen zeigen, keine Namen auf Kundenfolien.</a:t>
            </a:r>
          </a:p>
          <a:p/>
          <a:p>
            <a:r>
              <a:t>TIPP: Intern kann die Matrix mit konkreten Wettbewerbern befüllt werden (Battlecard).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Präsenz und Nähe zum Kunden zeigen, v. a. bei internationalen Netzwerken.</a:t>
            </a:r>
          </a:p>
          <a:p/>
          <a:p>
            <a:r>
              <a:t>ANPASSEN: Punkte auf die echten Standorte verschieben, Zahlen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Vorstellung des Projektteams im Angebot oder Kick-off.</a:t>
            </a:r>
          </a:p>
          <a:p/>
          <a:p>
            <a:r>
              <a:t>ANPASSEN: Fotos per „Bild ändern“ einsetzen, Profile auf die Kundenfrage zuschneiden.</a:t>
            </a:r>
          </a:p>
          <a:p/>
          <a:p>
            <a:r>
              <a:t>TIPP: Pro Person eine Referenz nennen, die für den Kunden relevant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Kultur und Zusammenarbeit – gut für Kick-off und Angebot.</a:t>
            </a:r>
          </a:p>
          <a:p/>
          <a:p>
            <a:r>
              <a:t>ANPASSEN: Prinzipien mit konkreten Beispielen aus Projekten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Trends, Ausgangslage, Hypothesen und Analyse des Kunden.</a:t>
            </a:r>
          </a:p>
          <a:p/>
          <a:p>
            <a:r>
              <a:t>ANPASSEN: Folien mit kundenspezifischen Erkenntnissen füllen.</a:t>
            </a:r>
          </a:p>
          <a:p/>
          <a:p>
            <a:r>
              <a:t>TIPP: Dieses Kapitel entscheidet über Glaubwürdigkeit – hier zeigen wir, dass wir zugehört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Einstieg ins Kundengespräch auf C-Level – Thought Leadership.</a:t>
            </a:r>
          </a:p>
          <a:p/>
          <a:p>
            <a:r>
              <a:t>ANPASSEN: Trends mit aktuellen Studien und Zahlen belegen.</a:t>
            </a:r>
          </a:p>
          <a:p/>
          <a:p>
            <a:r>
              <a:t>TIPP: Mit der Frage abschließen: „Welche dieser Trends betreffen Sie am stärksten?“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Ergebnis eines Discovery-Workshops: Welche Trends sind für den Kunden relevant?</a:t>
            </a:r>
          </a:p>
          <a:p/>
          <a:p>
            <a:r>
              <a:t>ANPASSEN: Kreise per Drag &amp; Drop verschieben; Größe = Investitionsbedarf.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Storyline-Einstieg nach dem SCR-Prinzip (Situation, Complication, Resolution).</a:t>
            </a:r>
          </a:p>
          <a:p/>
          <a:p>
            <a:r>
              <a:t>ANPASSEN: Drei Sätze mit kundenspezifischen Fakten füllen.</a:t>
            </a:r>
          </a:p>
          <a:p/>
          <a:p>
            <a:r>
              <a:t>TIPP: Die Komplikation muss für den Kunden schmerzhaft konkret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Synthese aus Stakeholder-Interviews – stärkt Vertrauen und Glaubwürdigkeit.</a:t>
            </a:r>
          </a:p>
          <a:p/>
          <a:p>
            <a:r>
              <a:t>ANPASSEN: Originalzitate anonymisiert verwenden, Freigabe einholen.</a:t>
            </a:r>
          </a:p>
          <a:p/>
          <a:p>
            <a:r>
              <a:t>TIPP: Zitate in der Sprache des Kunden – nicht glätten.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Strukturierung des Problems (MECE) zu Projektbeginn oder im Angebot.</a:t>
            </a:r>
          </a:p>
          <a:p/>
          <a:p>
            <a:r>
              <a:t>ANPASSEN: Kernfrage als SMART-Frage formulieren; Teilfragen überschneidungsfrei.</a:t>
            </a:r>
          </a:p>
          <a:p/>
          <a:p>
            <a:r>
              <a:t>TIPP: Jede Teilfrage muss mit Daten beantwortbar sein – sonst weiter zerlegen.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Hypothesengetriebenes Arbeiten sichtbar machen (Discovery, Steering Committee).</a:t>
            </a:r>
          </a:p>
          <a:p/>
          <a:p>
            <a:r>
              <a:t>ANPASSEN: Status nach jeder Analysewelle aktualisieren.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Ergebnis eines Reifegrad-Assessments (Digitalisierung, Compliance, OpEx).</a:t>
            </a:r>
          </a:p>
          <a:p/>
          <a:p>
            <a:r>
              <a:t>ANPASSEN: Dimensionen und Werte (1–5) anpassen: Punkte horizontal verschieben.</a:t>
            </a:r>
          </a:p>
          <a:p/>
          <a:p>
            <a:r>
              <a:t>TIPP: Der Abstand Ist–Ziel priorisiert die Handlungsfelder.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Quantifizierter Vergleich mit Wettbewerb – erzeugt Handlungsdruck.</a:t>
            </a:r>
          </a:p>
          <a:p/>
          <a:p>
            <a:r>
              <a:t>ANPASSEN: Diagramm per Rechtsklick &gt; „Daten bearbeiten“ anpassen.</a:t>
            </a:r>
          </a:p>
          <a:p/>
          <a:p>
            <a:r>
              <a:t>TIPP: Immer die Lücke in Euro übersetzen – das ist die Sprache des CFO.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Prozessaufnahme mit Engpassbewertung.</a:t>
            </a:r>
          </a:p>
          <a:p/>
          <a:p>
            <a:r>
              <a:t>ANPASSEN: Prozessschritte und Pain Points des Kunden einsetzen; Harvey Balls = Schwere.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Regulatorischer Kontext für Qualitäts- und Compliance-Themen.</a:t>
            </a:r>
          </a:p>
          <a:p/>
          <a:p>
            <a:r>
              <a:t>ANPASSEN: Termine vor jedem Einsatz prüfen und um kundenrelevante Regularien ergänzen (FDA, lokale Behörden).</a:t>
            </a:r>
          </a:p>
          <a:p/>
          <a:p>
            <a:r>
              <a:t>TIPP: Daten ändern sich – diese Folie hat das kürzeste Haltbarkeitsdatum der Bibliothek.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Buying Center, Stakeholder-Strategie und Entscheidungsprozess.</a:t>
            </a:r>
          </a:p>
          <a:p/>
          <a:p>
            <a:r>
              <a:t>ANPASSEN: Folien mit „intern“ nicht beim Kunden zeigen.</a:t>
            </a:r>
          </a:p>
          <a:p/>
          <a:p>
            <a:r>
              <a:t>TIPP: Komplexe B2B-Entscheidungen werden von 6–10 Personen getroffen – jede braucht ihr eigenes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Account- und Opportunity-Planung intern; Basis für Stakeholder-Strategie.</a:t>
            </a:r>
          </a:p>
          <a:p/>
          <a:p>
            <a:r>
              <a:t>ANPASSEN: Namen der Personen beim Kunden je Rolle ergänzen.</a:t>
            </a:r>
          </a:p>
          <a:p/>
          <a:p>
            <a:r>
              <a:t>TIPP: Im CRM je Kontakt die Buying-Center-Rolle pflegen – das macht Abdeckung messbar.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Stakeholder-Strategie für Opportunity oder Account.</a:t>
            </a:r>
          </a:p>
          <a:p/>
          <a:p>
            <a:r>
              <a:t>ANPASSEN: Personen als Kreise verschieben; Farbe = Haltung zu Körber.</a:t>
            </a:r>
          </a:p>
          <a:p/>
          <a:p>
            <a:r>
              <a:t>TIPP: Ziel: Alle Personen mit hohem Einfluss in den oberen rechten Quadranten bewegen.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Organigramm des Kunden mit Beziehungsstatus – Grundlage für Account-Planung.</a:t>
            </a:r>
          </a:p>
          <a:p/>
          <a:p>
            <a:r>
              <a:t>ANPASSEN: Boxen an die Organisation des Kunden anpassen; Kürzel = Körber-Owner.</a:t>
            </a:r>
          </a:p>
          <a:p/>
          <a:p>
            <a:r>
              <a:t>TIPP: Jede Box ohne Körber-Owner ist ein Handlungsfeld.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Messaging-Matrix für Angebot, Präsentation und Follow-up-Mails.</a:t>
            </a:r>
          </a:p>
          <a:p/>
          <a:p>
            <a:r>
              <a:t>ANPASSEN: Argumente pro Opportunity schärfen; KPI mit Kundendaten belegen.</a:t>
            </a:r>
          </a:p>
          <a:p/>
          <a:p>
            <a:r>
              <a:t>TIPP: Dieselbe Lösung, sechs Geschichten: Der CFO kauft Payback, die QA kauft Inspektionssicherheit.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Gesprächsvorbereitung für Erstgespräch und Discovery.</a:t>
            </a:r>
          </a:p>
          <a:p/>
          <a:p>
            <a:r>
              <a:t>ANPASSEN: Fragen je Opportunity ergänzen; Antworten im CRM dokumentieren.</a:t>
            </a:r>
          </a:p>
          <a:p/>
          <a:p>
            <a:r>
              <a:t>TIPP: Regel: 70 % zuhören, 30 % sprechen. Mit „Was wäre, wenn …?“ den Wert der Lösung quantifizieren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Buying Journey des Kunden mit unseren Aktivitäten und Sales-Assets.</a:t>
            </a:r>
          </a:p>
          <a:p/>
          <a:p>
            <a:r>
              <a:t>ANPASSEN: Phasen und Dauer an den Kunden anpassen.</a:t>
            </a:r>
          </a:p>
          <a:p/>
          <a:p>
            <a:r>
              <a:t>TIPP: Jede Phase hat ein Exit-Kriterium – im CRM als Opportunity-Stage abbilden.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Gewichtete Entscheidungskriterien (z. B. aus Win-Loss-Analysen oder Vergabeunterlagen).</a:t>
            </a:r>
          </a:p>
          <a:p/>
          <a:p>
            <a:r>
              <a:t>ANPASSEN: Gewichte und Bewertung je Opportunity anpassen.</a:t>
            </a:r>
          </a:p>
          <a:p/>
          <a:p>
            <a:r>
              <a:t>TIPP: Die Kriterien früh mit dem Einkauf abstimmen – sie bestimmen das Bewertungsschema.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Wertversprechen, Lösungsarchitektur, Optionen und Empfehlung.</a:t>
            </a:r>
          </a:p>
          <a:p/>
          <a:p>
            <a:r>
              <a:t>ANPASSEN: Immer vom Kundennutzen her argumentieren, nicht von der Leistung.</a:t>
            </a:r>
          </a:p>
          <a:p/>
          <a:p>
            <a:r>
              <a:t>TIPP: Kernlogik: Problem → Lösung → messbarer Nutzen → Empfehlung.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Kernbotschaft der Lösungspräsentation – eine Folie, die hängen bleibt.</a:t>
            </a:r>
          </a:p>
          <a:p/>
          <a:p>
            <a:r>
              <a:t>ANPASSEN: Versprechen und Belege kundenspezifisch formulieren.</a:t>
            </a:r>
          </a:p>
          <a:p/>
          <a:p>
            <a:r>
              <a:t>TIPP: Der Satz links muss auch ohne Folie funktionieren – als Elevator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Strukturierte Herleitung des Wertversprechens (Workshop oder Angebot).</a:t>
            </a:r>
          </a:p>
          <a:p/>
          <a:p>
            <a:r>
              <a:t>ANPASSEN: Kundenprofil aus Discovery füllen, dann Leistungen zuordnen.</a:t>
            </a:r>
          </a:p>
          <a:p/>
          <a:p>
            <a:r>
              <a:t>TIPP: Jeder Pain Reliever muss auf einen konkreten Pain zeigen – sonst streichen.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Gesamtbild der Lösung – zeigt Vollständigkeit und Integration.</a:t>
            </a:r>
          </a:p>
          <a:p/>
          <a:p>
            <a:r>
              <a:t>ANPASSEN: Module je Ebene an den Lösungsumfang anpassen; Projekt-Scope blau markieren.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Modularer Leistungsbaukasten – erleichtert den Einstieg mit kleinem Budget.</a:t>
            </a:r>
          </a:p>
          <a:p/>
          <a:p>
            <a:r>
              <a:t>ANPASSEN: Dauer und Ergebnisse je Modul anpassen.</a:t>
            </a:r>
          </a:p>
          <a:p/>
          <a:p>
            <a:r>
              <a:t>TIPP: Land-and-Expand: Mit Modul 1 starten, Ergebnisse liefern, dann erweitern.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Übersetzt operative Hebel in finanzielle Wirkung – für CFO und Geschäftsführung.</a:t>
            </a:r>
          </a:p>
          <a:p/>
          <a:p>
            <a:r>
              <a:t>ANPASSEN: Werte aus dem Business Case übernehmen; Summen prüfen.</a:t>
            </a:r>
          </a:p>
          <a:p/>
          <a:p>
            <a:r>
              <a:t>TIPP: Jeder Blattknoten braucht einen messbaren KPI und einen Owner beim Kunden.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Verbindet Nutzenversprechen mit einer Messlogik – Grundlage für Erfolgsmessung und Referenz.</a:t>
            </a:r>
          </a:p>
          <a:p/>
          <a:p>
            <a:r>
              <a:t>ANPASSEN: KPIs, Baseline und Messmethode mit dem Kunden vereinbaren.</a:t>
            </a:r>
          </a:p>
          <a:p/>
          <a:p>
            <a:r>
              <a:t>TIPP: Ohne Baseline kein Nachweis: Baseline vor Projektstart messen und dokumentieren.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Vorher-Nachher-Vergleich für Lösungs- oder Abschlusspräsentation.</a:t>
            </a:r>
          </a:p>
          <a:p/>
          <a:p>
            <a:r>
              <a:t>ANPASSEN: Dimensionen und Aussagen anpassen; maximal fünf Zeilen.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Optionsvergleich vor der Empfehlung – zeigt, dass Alternativen geprüft wurden.</a:t>
            </a:r>
          </a:p>
          <a:p/>
          <a:p>
            <a:r>
              <a:t>ANPASSEN: Optionen und Kennzahlen anpassen; empfohlene Option blau.</a:t>
            </a:r>
          </a:p>
          <a:p/>
          <a:p>
            <a:r>
              <a:t>TIPP: Immer mindestens drei Optionen zeigen – inklusive „Nichts tun“ oder Minimallösung.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Transparente, gewichtete Bewertung der Optionen.</a:t>
            </a:r>
          </a:p>
          <a:p/>
          <a:p>
            <a:r>
              <a:t>ANPASSEN: Kriterien und Gewichte vorab mit dem Kunden abstimmen; Harvey Balls 0–4.</a:t>
            </a:r>
          </a:p>
          <a:p/>
          <a:p>
            <a:r>
              <a:t>TIPP: Gewichte vor der Bewertung festlegen – sonst wirkt die Matrix konstruiert.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Abschluss der Lösungsargumentation mit klarer Bitte (Call to Action).</a:t>
            </a:r>
          </a:p>
          <a:p/>
          <a:p>
            <a:r>
              <a:t>ANPASSEN: Entscheidung, Budget und Termin konkret benennen.</a:t>
            </a:r>
          </a:p>
          <a:p/>
          <a:p>
            <a:r>
              <a:t>TIPP: Die Bitte gehört in den Titel – Entscheider sollen wissen, was von ihnen erwartet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Wirtschaftlichkeit: Kapitalwert, Payback, Sensitivitäten, Szenarien.</a:t>
            </a:r>
          </a:p>
          <a:p/>
          <a:p>
            <a:r>
              <a:t>ANPASSEN: Zahlen mit dem Controlling des Kunden validieren.</a:t>
            </a:r>
          </a:p>
          <a:p/>
          <a:p>
            <a:r>
              <a:t>TIPP: Business Case gemeinsam mit dem Kunden rechnen – dann verteidigt er ihn intern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One-Pager für die Investitionsentscheidung.</a:t>
            </a:r>
          </a:p>
          <a:p/>
          <a:p>
            <a:r>
              <a:t>ANPASSEN: Zahlen aus dem Excel-Modell übernehmen.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Visualisiert Investitionsphase und Break-even.</a:t>
            </a:r>
          </a:p>
          <a:p/>
          <a:p>
            <a:r>
              <a:t>ANPASSEN: Diagramm per Rechtsklick &gt; „Daten bearbeiten“ anpassen; negative Werte grau.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Wasserfall zeigt, woher der Wert kommt.</a:t>
            </a:r>
          </a:p>
          <a:p/>
          <a:p>
            <a:r>
              <a:t>ANPASSEN: Werte in der Tabelle des Diagramms anpassen: Spalten „Summe“, „Zunahme“, „Abnahme“; „Basis“ bleibt unsichtbar.</a:t>
            </a:r>
          </a:p>
          <a:p/>
          <a:p>
            <a:r>
              <a:t>TIPP: Einfacher: Werte im Skript ändern und neu generieren (siehe Toolkit).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Erzeugt Dringlichkeit – stärkstes Argument gegen „Wir warten noch“.</a:t>
            </a:r>
          </a:p>
          <a:p/>
          <a:p>
            <a:r>
              <a:t>ANPASSEN: Monatlichen Deckungsbeitrag aus dem Modell einsetzen.</a:t>
            </a:r>
          </a:p>
          <a:p/>
          <a:p>
            <a:r>
              <a:t>TIPP: Gegen Ende der Präsentation zeigen, direkt vor der Entscheidungsbitte.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Tornado-Diagramm: Welche Annahme bewegt das Ergebnis am stärksten?</a:t>
            </a:r>
          </a:p>
          <a:p/>
          <a:p>
            <a:r>
              <a:t>ANPASSEN: Spannweiten (±) je Treiber im Modell berechnen und eintragen.</a:t>
            </a:r>
          </a:p>
          <a:p/>
          <a:p>
            <a:r>
              <a:t>TIPP: Die zwei größten Balken sind die Annahmen, die gemeinsam mit dem Kunden validiert werden müssen.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Szenarioanalyse für die Investitionsentscheidung.</a:t>
            </a:r>
          </a:p>
          <a:p/>
          <a:p>
            <a:r>
              <a:t>ANPASSEN: Annahmen je Szenario dokumentieren und mit dem Kunden abstimmen.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Projektvorgehen, Zeitplan, Organisation, Governance.</a:t>
            </a:r>
          </a:p>
          <a:p/>
          <a:p>
            <a:r>
              <a:t>ANPASSEN: Phasen, Termine und Rollen projektspezifisch anpassen.</a:t>
            </a:r>
          </a:p>
          <a:p/>
          <a:p>
            <a:r>
              <a:t>TIPP: Das Vorgehen zeigt, dass wir das Projekt beherrschen – konkret statt generisch.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Überblick über das Projektvorgehen.</a:t>
            </a:r>
          </a:p>
          <a:p/>
          <a:p>
            <a:r>
              <a:t>ANPASSEN: Phasen, Dauer und Ergebnisse anpassen.</a:t>
            </a:r>
          </a:p>
          <a:p/>
          <a:p>
            <a:r>
              <a:t>TIPP: Ergebnisse als Substantive formulieren („Freigegebenes Basic Design“) – sie sind die Basis für Zahlungsmeilensteine.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Detaillierung einer Phase – für Angebot oder Kick-off.</a:t>
            </a:r>
          </a:p>
          <a:p/>
          <a:p>
            <a:r>
              <a:t>ANPASSEN: Für jede Phase duplizieren; Phase im Chevron oben markieren.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Zeitplan auf Monatsebene für Angebot, Kick-off und Steering Committee.</a:t>
            </a:r>
          </a:p>
          <a:p/>
          <a:p>
            <a:r>
              <a:t>ANPASSEN: Balken per Drag &amp; Drop verschieben; kritischer Pfad blau.</a:t>
            </a:r>
          </a:p>
          <a:p/>
          <a:p>
            <a:r>
              <a:t>TIPP: Maximal 10–12 Zeilen; Details gehören in den Projektplan, nicht auf die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Meilenstein-Zeitstrahl für Management-Präsentationen.</a:t>
            </a:r>
          </a:p>
          <a:p/>
          <a:p>
            <a:r>
              <a:t>ANPASSEN: Termine und Beschreibungen anpassen; erreichte Meilensteine gefüllt.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 Risikobegrenzung durch Entscheidungspunkte – überzeugt CFO und Einkauf.</a:t>
            </a:r>
          </a:p>
          <a:p/>
          <a:p>
            <a:r>
              <a:t>ANPASSEN: Gate-Kriterien projektspezifisch festlegen.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Zeigt, wie und wann der Kunde eingebunden wird – reduziert Sorge um Ressourcenbindung.</a:t>
            </a:r>
          </a:p>
          <a:p/>
          <a:p>
            <a:r>
              <a:t>ANPASSEN: Workshops, Teilnehmende und Dauer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Projektorganisation für Angebot und Kick-off.</a:t>
            </a:r>
          </a:p>
          <a:p/>
          <a:p>
            <a:r>
              <a:t>ANPASSEN: Namen und Workstreams eintragen.</a:t>
            </a:r>
          </a:p>
          <a:p/>
          <a:p>
            <a:r>
              <a:t>TIPP: Tandem (Kunde + Körber) auf jeder Ebene vermeidet Entscheidungsstau.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Verantwortungsmatrix für Kick-off und Projekthandbuch.</a:t>
            </a:r>
          </a:p>
          <a:p/>
          <a:p>
            <a:r>
              <a:t>ANPASSEN: Ergebnisse und Rollen anpassen. Je Zeile genau ein „A“.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Steuerungs- und Kommunikationsstruktur.</a:t>
            </a:r>
          </a:p>
          <a:p/>
          <a:p>
            <a:r>
              <a:t>ANPASSEN: Gremien, Teilnehmende und Rhythmen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Grundlage für Angebot und Vertrag – reduziert spätere Nachträge.</a:t>
            </a:r>
          </a:p>
          <a:p/>
          <a:p>
            <a:r>
              <a:t>ANPASSEN: Projektspezifisch ergänzen; mit Vertragsanlage abgleichen.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 Tempo und frühe Ergebnisse – stark in Kick-off und Angebot.</a:t>
            </a:r>
          </a:p>
          <a:p/>
          <a:p>
            <a:r>
              <a:t>ANPASSEN: Aktivitäten und Quick Wins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Standardisierte Darstellung von Prozessen: Landkarte, Swimlane, SIPOC, Prozessschritt, Wertstrom, Soll-Prozess, Entscheidungslogik, KPIs.</a:t>
            </a:r>
          </a:p>
          <a:p/>
          <a:p>
            <a:r>
              <a:t>ANPASSEN: Immer dieselben Formen verwenden: Prozessschritt = Rechteck, Entscheidung = Raute, Wartezeit = Dreieck.</a:t>
            </a:r>
          </a:p>
          <a:p/>
          <a:p>
            <a:r>
              <a:t>TIPP: Einheitliche Prozessdarstellung ist der größte Hebel für ein professionelles Gesamtbild über Projekte hinweg.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Einstieg in jede Prozessanalyse – zeigt den Gesamtkontext.</a:t>
            </a:r>
          </a:p>
          <a:p/>
          <a:p>
            <a:r>
              <a:t>ANPASSEN: Prozesse anpassen; untersuchte Prozesse blau markieren.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Ablauf über Abteilungsgrenzen – macht Übergaben und Wartezeiten sichtbar.</a:t>
            </a:r>
          </a:p>
          <a:p/>
          <a:p>
            <a:r>
              <a:t>ANPASSEN: Lanes = Organisationseinheiten; Schritte als Rechtecke, Engpässe blau.</a:t>
            </a:r>
          </a:p>
          <a:p/>
          <a:p>
            <a:r>
              <a:t>TIPP: Übergaben zählen: Jede Lane-Grenze ist ein Risiko für Wartezeit und Fehler.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Prozessabgrenzung zu Projektbeginn (Scope-Klärung).</a:t>
            </a:r>
          </a:p>
          <a:p/>
          <a:p>
            <a:r>
              <a:t>ANPASSEN: Einträge je Spalte anpassen; 3–6 Einträge pro Spalte.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Standard-Steckbrief für einen Prozessschritt – für Prozesshandbücher und Soll-Konzepte.</a:t>
            </a:r>
          </a:p>
          <a:p/>
          <a:p>
            <a:r>
              <a:t>ANPASSEN: Für jeden Prozessschritt duplizieren; Kopfzeile = Position im Prozess.</a:t>
            </a:r>
          </a:p>
          <a:p/>
          <a:p>
            <a:r>
              <a:t>TIPP: Gleicher Steckbrief für alle Schritte macht Prozessdokumentationen vergleichbar.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Wertstromanalyse (VSM) – zeigt Verschwendung in Durchlaufzeit.</a:t>
            </a:r>
          </a:p>
          <a:p/>
          <a:p>
            <a:r>
              <a:t>ANPASSEN: Prozesszeiten (PZ) und Wartezeiten je Schritt eintragen; Summen aktualisieren.</a:t>
            </a:r>
          </a:p>
          <a:p/>
          <a:p>
            <a:r>
              <a:t>TIPP: Wartezeiten als Dreieck, Prozessschritte als Rechteck – Standard-Symbolik beibehalten.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Gegenüberstellung Ist- und Soll-Prozess.</a:t>
            </a:r>
          </a:p>
          <a:p/>
          <a:p>
            <a:r>
              <a:t>ANPASSEN: Entfallende Schritte grau mit Kreuz, neue Schritte blau.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Flussdiagramm mit Entscheidungen – für SOPs und Soll-Prozesse.</a:t>
            </a:r>
          </a:p>
          <a:p/>
          <a:p>
            <a:r>
              <a:t>ANPASSEN: Standard-Symbole: Start/Ende = abgerundet, Schritt = Rechteck, Entscheidung = Raute.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KPI-Definitionen für Prozessprojekte – Basis für Reporting und Dashboard.</a:t>
            </a:r>
          </a:p>
          <a:p/>
          <a:p>
            <a:r>
              <a:t>ANPASSEN: Definition, Quelle und Owner mit dem Kunden abstimmen.</a:t>
            </a:r>
          </a:p>
          <a:p/>
          <a:p>
            <a:r>
              <a:t>TIPP: Jede KPI braucht Definition, Datenquelle, Rhythmus und Owner – sonst wird sie nicht gemessen.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Referenzen, Case Studies und Testimonials.</a:t>
            </a:r>
          </a:p>
          <a:p/>
          <a:p>
            <a:r>
              <a:t>ANPASSEN: Nur freigegebene Referenzen verwenden; ggf. anonymisieren („Top-20-Pharmaunternehmen“).</a:t>
            </a:r>
          </a:p>
          <a:p/>
          <a:p>
            <a:r>
              <a:t>TIPP: Die beste Referenz ist die mit dem ähnlichsten Problem – nicht die mit dem größten Logo.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Überblick über relevante Referenzen – Auswahl je Termin.</a:t>
            </a:r>
          </a:p>
          <a:p/>
          <a:p>
            <a:r>
              <a:t>ANPASSEN: Sechs passende Referenzen wählen; Ergebnisse quantifizieren.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Standard-Case-Study als One-Pager.</a:t>
            </a:r>
          </a:p>
          <a:p/>
          <a:p>
            <a:r>
              <a:t>ANPASSEN: Herausforderung, Vorgehen, Ergebnis – jeweils maximal drei Punkte; Bild aus Pictures Library.</a:t>
            </a:r>
          </a:p>
          <a:p/>
          <a:p>
            <a:r>
              <a:t>TIPP: Ergebnis zuerst nennen (im Titel) – Details nur für Interessierte.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Case Study mit quantifizierten Vorher-Nachher-Ergebnissen.</a:t>
            </a:r>
          </a:p>
          <a:p/>
          <a:p>
            <a:r>
              <a:t>ANPASSEN: Diagrammdaten per „Daten bearbeiten“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Case Study als Projektreise – gut für komplexe, mehrphasige Projekte.</a:t>
            </a:r>
          </a:p>
          <a:p/>
          <a:p>
            <a:r>
              <a:t>ANPASSEN: Meilensteine und Ergebnisse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 die Breite der Erfahrung – besonders in Ausschreibungen.</a:t>
            </a:r>
          </a:p>
          <a:p/>
          <a:p>
            <a:r>
              <a:t>ANPASSEN: Zahlen aus der Referenzdatenbank / CRM übernehmen.</a:t>
            </a:r>
          </a:p>
          <a:p/>
          <a:p>
            <a:r>
              <a:t>TIPP: Im CRM Referenzen nach Segment und Leistungsfeld taggen – dann ist diese Folie in Minuten aktualisiert.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Logo-Wand für Erstgespräche.</a:t>
            </a:r>
          </a:p>
          <a:p/>
          <a:p>
            <a:r>
              <a:t>ANPASSEN: Logos in Graustufen einsetzen; nur mit schriftlicher Freigabe.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Kundenzitat als emotionaler Beleg.</a:t>
            </a:r>
          </a:p>
          <a:p/>
          <a:p>
            <a:r>
              <a:t>ANPASSEN: Zitat, Name und Foto nur mit Freigabe; Foto per „Bild ändern“.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Angebotspräsentation: Umfang, Pakete, Honorar, Zahlungsplan, Fahrplan zur Beauftragung.</a:t>
            </a:r>
          </a:p>
          <a:p/>
          <a:p>
            <a:r>
              <a:t>ANPASSEN: Zahlen mit dem kaufmännischen Angebot abgleichen.</a:t>
            </a:r>
          </a:p>
          <a:p/>
          <a:p>
            <a:r>
              <a:t>TIPP: Preis nie ohne Nutzen zeigen – Business Case vorher präsentieren.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Executive Summary des Angebots – erste Folie der Angebotspräsentation.</a:t>
            </a:r>
          </a:p>
          <a:p/>
          <a:p>
            <a:r>
              <a:t>ANPASSEN: Alle vier Felder aus dem schriftlichen Angebot übernehmen.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Scope-Abgrenzung – verhindert Missverständnisse und Nachträge.</a:t>
            </a:r>
          </a:p>
          <a:p/>
          <a:p>
            <a:r>
              <a:t>ANPASSEN: Mit Leistungsbeschreibung im Angebot abgleichen.</a:t>
            </a:r>
          </a:p>
          <a:p/>
          <a:p>
            <a:r>
              <a:t>TIPP: Out-of-Scope aktiv ansprechen – das schafft Vertrauen.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Paketauswahl (Good-Better-Best) – lenkt die Diskussion von „ob“ zu „welches“.</a:t>
            </a:r>
          </a:p>
          <a:p/>
          <a:p>
            <a:r>
              <a:t>ANPASSEN: Leistungen und Preise anpassen; empfohlenes Paket in der Mitte.</a:t>
            </a:r>
          </a:p>
          <a:p/>
          <a:p>
            <a:r>
              <a:t>TIPP: Das mittlere Paket wird am häufigsten gewählt – dort die Empfehlung platzieren.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Transparente Honoraraufstellung je Phase.</a:t>
            </a:r>
          </a:p>
          <a:p/>
          <a:p>
            <a:r>
              <a:t>ANPASSEN: Werte aus der Kalkulation übernehmen; Summen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Zeigt den Team-Mix je Phase – Argument gegen „zu teuer“ und „zu junior“.</a:t>
            </a:r>
          </a:p>
          <a:p/>
          <a:p>
            <a:r>
              <a:t>ANPASSEN: Diagrammdaten per „Daten bearbeiten“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Meilensteinbasierter Zahlungsplan – reduziert wahrgenommenes Risiko.</a:t>
            </a:r>
          </a:p>
          <a:p/>
          <a:p>
            <a:r>
              <a:t>ANPASSEN: Meilensteine und Anteile mit dem Vertrag abgleichen.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Konditionen-Übersicht für Einkauf und Rechtsabteilung.</a:t>
            </a:r>
          </a:p>
          <a:p/>
          <a:p>
            <a:r>
              <a:t>ANPASSEN: Mit Rechtsabteilung und Vertragsentwurf abstimmen.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Mutual Action Plan – gemeinsamer Plan bis zur Unterschrift; macht den Entscheidungsprozess transparent.</a:t>
            </a:r>
          </a:p>
          <a:p/>
          <a:p>
            <a:r>
              <a:t>ANPASSEN: Schritte mit dem Kunden abstimmen und im CRM als nächste Schritte hinterlegen.</a:t>
            </a:r>
          </a:p>
          <a:p/>
          <a:p>
            <a:r>
              <a:t>TIPP: Ein MAP verkürzt Sales Cycles messbar, weil Verzögerungen sofort sichtbar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Folien für laufende Leadprojekte: Auftrag, Status, Steering Committee, Risiken, Entscheidungen, Abschluss.</a:t>
            </a:r>
          </a:p>
          <a:p/>
          <a:p>
            <a:r>
              <a:t>ANPASSEN: Wöchentlich bzw. monatlich aktualisieren; Format nicht verändern.</a:t>
            </a:r>
          </a:p>
          <a:p/>
          <a:p>
            <a:r>
              <a:t>TIPP: Gleiches Statusformat in allen Projekten macht Projekte für Kunden und Management vergleichbar.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Project Charter für das Kick-off.</a:t>
            </a:r>
          </a:p>
          <a:p/>
          <a:p>
            <a:r>
              <a:t>ANPASSEN: Alle Felder ausfüllen; vom Sponsor freigeben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Ziele und Key Results mit Fortschritt – für Steering Committee.</a:t>
            </a:r>
          </a:p>
          <a:p/>
          <a:p>
            <a:r>
              <a:t>ANPASSEN: Fortschrittsbalken: Breite des blauen Balkens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Wöchentlicher Status-One-Pager – immer gleiches Format.</a:t>
            </a:r>
          </a:p>
          <a:p/>
          <a:p>
            <a:r>
              <a:t>ANPASSEN: Gesamtstatus, Fortschritt und vier Felder aktualisieren.</a:t>
            </a:r>
          </a:p>
          <a:p/>
          <a:p>
            <a:r>
              <a:t>TIPP: Der Titel sagt Status und die eine Sache, die das Management wissen muss.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Dashboard für das Steering Committee.</a:t>
            </a:r>
          </a:p>
          <a:p/>
          <a:p>
            <a:r>
              <a:t>ANPASSEN: Ampeln (Kreise) umfärben: Blau = im Plan, Gelb = gefährdet, Orange = kritisch.</a:t>
            </a:r>
          </a:p>
          <a:p/>
          <a:p>
            <a:r>
              <a:t>TIPP: Gelb und Orange immer mit Maßnahme und Owner im Kommentar.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Meilensteinverfolgung Plan vs. Prognose.</a:t>
            </a:r>
          </a:p>
          <a:p/>
          <a:p>
            <a:r>
              <a:t>ANPASSEN: Prognosetermine wöchentlich aktualisieren; Abweichung in Tagen.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Budget-Burn-down: Plan vs. Ist vs. Prognose.</a:t>
            </a:r>
          </a:p>
          <a:p/>
          <a:p>
            <a:r>
              <a:t>ANPASSEN: Diagrammdaten monatlich aktualisieren.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Risikomatrix (Eintrittswahrscheinlichkeit × Auswirkung).</a:t>
            </a:r>
          </a:p>
          <a:p/>
          <a:p>
            <a:r>
              <a:t>ANPASSEN: Nummerierte Kreise in die passende Zelle verschieben; Liste rechts pflegen.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Detailliertes Risikoregister als Anhang zum Statusbericht.</a:t>
            </a:r>
          </a:p>
          <a:p/>
          <a:p>
            <a:r>
              <a:t>ANPASSEN: Zeilen ergänzen; Bewertung W × A (1–3).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Standardformat für Entscheidungen im Steering Committee.</a:t>
            </a:r>
          </a:p>
          <a:p/>
          <a:p>
            <a:r>
              <a:t>ANPASSEN: Frage, Optionen, Empfehlung und Auswirkungen ausfüllen.</a:t>
            </a:r>
          </a:p>
          <a:p/>
          <a:p>
            <a:r>
              <a:t>TIPP: Vorab mit den Entscheidern abstimmen – im Gremium wird nur noch bestätigt.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Standardformat für Änderungsanträge.</a:t>
            </a:r>
          </a:p>
          <a:p/>
          <a:p>
            <a:r>
              <a:t>ANPASSEN: Alle Felder ausfüllen; Freigabe im Steering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Retrospektive am Projektende oder nach Meilensteinen.</a:t>
            </a:r>
          </a:p>
          <a:p/>
          <a:p>
            <a:r>
              <a:t>ANPASSEN: Mit Team erarbeiten; Erkenntnisse in Wissensdatenbank übernehmen.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Abschlussfolie für das letzte Steering Committee – Basis für die Referenz.</a:t>
            </a:r>
          </a:p>
          <a:p/>
          <a:p>
            <a:r>
              <a:t>ANPASSEN: Ziel- und Ist-Werte eintragen; Übergabepunkte prüfen.</a:t>
            </a:r>
          </a:p>
          <a:p/>
          <a:p>
            <a:r>
              <a:t>TIPP: Direkt im Anschluss Referenzfreigabe und Zufriedenheitsbefragung anstoßen.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Account-Planung, Whitespace, Pipeline, Quartalsreview, Kundengesundheit.</a:t>
            </a:r>
          </a:p>
          <a:p/>
          <a:p>
            <a:r>
              <a:t>ANPASSEN: Daten aus dem CRM übernehmen; überwiegend interne Folien.</a:t>
            </a:r>
          </a:p>
          <a:p/>
          <a:p>
            <a:r>
              <a:t>TIPP: Diese Folien machen den Beitrag von Marketing und Vertrieb zum Umsatz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Account-Plan auf einer Seite für Key Accounts.</a:t>
            </a:r>
          </a:p>
          <a:p/>
          <a:p>
            <a:r>
              <a:t>ANPASSEN: Felder jährlich erstellen, quartalsweise aktualisieren.</a:t>
            </a:r>
          </a:p>
          <a:p/>
          <a:p>
            <a:r>
              <a:t>TIPP: Umsatzziel, Whitespace und Stakeholder-Lücken gehören zusammen – sonst bleibt der Plan Wunschdenken.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Whitespace-Matrix: Wo verkaufen wir schon, wo liegt Potenzial?</a:t>
            </a:r>
          </a:p>
          <a:p/>
          <a:p>
            <a:r>
              <a:t>ANPASSEN: Felder je Standort × Leistung einfärben.</a:t>
            </a:r>
          </a:p>
          <a:p/>
          <a:p>
            <a:r>
              <a:t>TIPP: Jede blaue Outline-Zelle sollte eine Opportunity im CRM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Pipeline nach Vertriebsphasen mit Konversionsraten.</a:t>
            </a:r>
          </a:p>
          <a:p/>
          <a:p>
            <a:r>
              <a:t>ANPASSEN: Werte aus dem CRM-Report übernehmen.</a:t>
            </a:r>
          </a:p>
          <a:p/>
          <a:p>
            <a:r>
              <a:t>TIPP: Konversionsraten zwischen den Stufen zeigen, wo Marketing und Vertrieb ansetzen müssen.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Entwicklung der Pipeline nach Phasen über Zeit.</a:t>
            </a:r>
          </a:p>
          <a:p/>
          <a:p>
            <a:r>
              <a:t>ANPASSEN: Daten quartalsweise aus dem CRM übernehmen.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Quartalsreview (QBR) mit dem Kunden – zeigt Wertbeitrag und öffnet neue Themen.</a:t>
            </a:r>
          </a:p>
          <a:p/>
          <a:p>
            <a:r>
              <a:t>ANPASSEN: KPIs, Highlights und Ausblick je Quartal aktualisieren.</a:t>
            </a:r>
          </a:p>
          <a:p/>
          <a:p>
            <a:r>
              <a:t>TIPP: Immer mit dem Wert für den Kunden beginnen, erst dann über neue Projekte 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Frühwarnsystem für Key Accounts.</a:t>
            </a:r>
          </a:p>
          <a:p/>
          <a:p>
            <a:r>
              <a:t>ANPASSEN: Kriterien und Schwellenwerte einheitlich für alle Accounts verwenden.</a:t>
            </a:r>
          </a:p>
          <a:p/>
          <a:p>
            <a:r>
              <a:t>TIPP: Der Health Score gehört als Feld ins CRM – dann ist er Portfolio-weit auswertbar.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Entwicklung von Zufriedenheit bzw. NPS über die Zeit.</a:t>
            </a:r>
          </a:p>
          <a:p/>
          <a:p>
            <a:r>
              <a:t>ANPASSEN: Daten aus Befragungstool übernehmen.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Roadmap für die Entwicklung eines Accounts – intern oder mit dem Kunden.</a:t>
            </a:r>
          </a:p>
          <a:p/>
          <a:p>
            <a:r>
              <a:t>ANPASSEN: Angebote und Jahre anpassen.</a:t>
            </a:r>
          </a:p>
          <a:p/>
          <a:p>
            <a:r>
              <a:t>TIPP: Land and Expand: Jede Stufe baut auf einem nachweisbaren Ergebnis der vorherigen 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Klassische Analyse-Frameworks im Körber-Design.</a:t>
            </a:r>
          </a:p>
          <a:p/>
          <a:p>
            <a:r>
              <a:t>ANPASSEN: Inhalte ersetzen, Struktur beibehalten.</a:t>
            </a:r>
          </a:p>
          <a:p/>
          <a:p>
            <a:r>
              <a:t>TIPP: Frameworks strukturieren – die Erkenntnis gehört trotzdem in den Titel.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SWOT für Standort-, Projekt- oder Wettbewerbsanalysen.</a:t>
            </a:r>
          </a:p>
          <a:p/>
          <a:p>
            <a:r>
              <a:t>ANPASSEN: Je Quadrant 3–4 Punkte; Implikation in den Titel.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Branchenstruktur-Analyse (Porter).</a:t>
            </a:r>
          </a:p>
          <a:p/>
          <a:p>
            <a:r>
              <a:t>ANPASSEN: Intensität je Kraft per Harvey Ball (0–4) und Kernaussage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Priorisierung von Maßnahmen oder Initiativen.</a:t>
            </a:r>
          </a:p>
          <a:p/>
          <a:p>
            <a:r>
              <a:t>ANPASSEN: Buchstaben-Kreise verschieben; Liste rechts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Wertkette nach Porter, angepasst auf die Pharma-Produktion.</a:t>
            </a:r>
          </a:p>
          <a:p/>
          <a:p>
            <a:r>
              <a:t>ANPASSEN: Kostenanteile und Aktivitäten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Vision, Mission, Ziele und Maßnahmen in einer Logik.</a:t>
            </a:r>
          </a:p>
          <a:p/>
          <a:p>
            <a:r>
              <a:t>ANPASSEN: Ebenen-Inhalte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Marktgrößen-Herleitung für Strategie- und Go-to-Market-Diskussionen.</a:t>
            </a:r>
          </a:p>
          <a:p/>
          <a:p>
            <a:r>
              <a:t>ANPASSEN: Werte und Quellen eintragen; Herleitung in den Notizen dokumentieren.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Ursachenanalyse (6M) für Abweichungen und Qualitätsprobleme.</a:t>
            </a:r>
          </a:p>
          <a:p/>
          <a:p>
            <a:r>
              <a:t>ANPASSEN: Ursachen je Kategorie eintragen; Hauptursache blau.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Native, editierbare PowerPoint-Diagramme im Körber-Stil.</a:t>
            </a:r>
          </a:p>
          <a:p/>
          <a:p>
            <a:r>
              <a:t>ANPASSEN: Rechtsklick &gt; „Daten bearbeiten“; Farben bleiben erhalten.</a:t>
            </a:r>
          </a:p>
          <a:p/>
          <a:p>
            <a:r>
              <a:t>TIPP: Eine Botschaft pro Diagramm: Die relevante Datenreihe blau, alles andere grau.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Zeitreihe mit Wachstumsrate (CAGR).</a:t>
            </a:r>
          </a:p>
          <a:p/>
          <a:p>
            <a:r>
              <a:t>ANPASSEN: Daten bearbeiten; CAGR = (Ende/Anfang)^(1/Jahre) –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Zusammensetzung über Zeit (100 % gestapelt).</a:t>
            </a:r>
          </a:p>
          <a:p/>
          <a:p>
            <a:r>
              <a:t>ANPASSEN: Fokus-Segment als unterste Reihe in Blau.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Ranking/Vergleich von Kategorien – absteigend sortiert.</a:t>
            </a:r>
          </a:p>
          <a:p/>
          <a:p>
            <a:r>
              <a:t>ANPASSEN: Daten sortieren; Fokus-Balken blau (highlight).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Entwicklung über Zeit mit Zielwert.</a:t>
            </a:r>
          </a:p>
          <a:p/>
          <a:p>
            <a:r>
              <a:t>ANPASSEN: Daten bearbeiten; Zielreihe gestrichelt grau.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Zielerreichung/Fortschritt als Ringdiagramme.</a:t>
            </a:r>
          </a:p>
          <a:p/>
          <a:p>
            <a:r>
              <a:t>ANPASSEN: Wert und Restwert je Diagramm anpassen (Summe = 100 %).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Portfolio-Darstellung mit drei Dimensionen (x, y, Größe).</a:t>
            </a:r>
          </a:p>
          <a:p/>
          <a:p>
            <a:r>
              <a:t>ANPASSEN: Daten bearbeiten; Fokus-Produkte als eigene Reihe in Blau.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Tabelle mit eingebetteten Balken – kompakter Vergleich mehrerer Kennzahlen.</a:t>
            </a:r>
          </a:p>
          <a:p/>
          <a:p>
            <a:r>
              <a:t>ANPASSEN: Werte eintragen; Balkenlänge proportional anpassen (Breite = Wert × Spaltenbreite).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Zusammenfassung, Entscheidung, nächste Schritte, Kontakt.</a:t>
            </a:r>
          </a:p>
          <a:p/>
          <a:p>
            <a:r>
              <a:t>ANPASSEN: Mit konkreten nächsten Schritten und Verantwortlichen enden.</a:t>
            </a:r>
          </a:p>
          <a:p/>
          <a:p>
            <a:r>
              <a:t>TIPP: Kein Termin endet ohne vereinbarten nächsten Schritt – im CRM dokumentieren.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Zusammenfassung vor Entscheidung oder Diskussion.</a:t>
            </a:r>
          </a:p>
          <a:p/>
          <a:p>
            <a:r>
              <a:t>ANPASSEN: Die vier wichtigsten Botschaften der Präsentation – identisch mit den Action Titles.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Verbindliche nächste Schritte mit Verantwortlichen und Terminen.</a:t>
            </a:r>
          </a:p>
          <a:p/>
          <a:p>
            <a:r>
              <a:t>ANPASSEN: Gemeinsam im Termin ausfüllen; danach per Mail bestätigen.</a:t>
            </a:r>
          </a:p>
          <a:p/>
          <a:p>
            <a:r>
              <a:t>TIPP: Nächste Schritte direkt nach dem Termin als Aufgaben im CRM anlegen.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Übergang in die Diskussion.</a:t>
            </a:r>
          </a:p>
          <a:p/>
          <a:p>
            <a:r>
              <a:t>ANPASSEN: Bild über „Bild ändern“ austauschen.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Schlussfolie mit Kontaktdaten.</a:t>
            </a:r>
          </a:p>
          <a:p/>
          <a:p>
            <a:r>
              <a:t>ANPASSEN: Name, Funktion, Ort, Telefon und E-Mail eintragen.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Englische Schlussfolie ohne Kontaktdaten.</a:t>
            </a:r>
          </a:p>
          <a:p/>
          <a:p>
            <a:r>
              <a:t>ANPASSEN: 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Rechtlicher Hinweis – Pflicht bei Angeboten und externen Unterlagen.</a:t>
            </a:r>
          </a:p>
          <a:p/>
          <a:p>
            <a:r>
              <a:t>ANPASSEN: Text mit der Rechtsabteilung abstimmen.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Raster, Regeln, Farben, Bausteine und Icons für eigene Folien.</a:t>
            </a:r>
          </a:p>
          <a:p/>
          <a:p>
            <a:r>
              <a:t>ANPASSEN: Nicht beim Kunden zeigen.</a:t>
            </a:r>
          </a:p>
          <a:p/>
          <a:p>
            <a:r>
              <a:t>TIPP: Neue Folien immer aus diesen Bausteinen bauen – so bleibt jede Folie konsistent.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Referenz für alle, die neue Folien bauen.</a:t>
            </a:r>
          </a:p>
          <a:p/>
          <a:p>
            <a:r>
              <a:t>ANPASSEN: Hilfslinien in PowerPoint: Ansicht &gt; Führungslinien.</a:t>
            </a:r>
          </a:p>
          <a:p/>
          <a:p>
            <a:r>
              <a:t>TIPP: Maße (Zoll): Rand links 0,37 / rechts 12,97; Inhalt ab 1,45; So what bei 5,98; Spaltenabstand 0,3.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CI-Kurzreferenz.</a:t>
            </a:r>
          </a:p>
          <a:p/>
          <a:p>
            <a:r>
              <a:t>ANPASSEN: Bei CI-Änderungen mit Brand &amp; Communications abstimmen.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Baukasten: Elemente kopieren und einfügen statt neu zeichnen.</a:t>
            </a:r>
          </a:p>
          <a:p/>
          <a:p>
            <a:r>
              <a:t>ANPASSEN: –</a:t>
            </a:r>
          </a:p>
          <a:p/>
          <a:p>
            <a:r>
              <a:t>TIPP: Elemente aus dieser Folie kopieren hält Abstände, Farben und Größen konsistent.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EINSATZ: Icon-Bibliothek für eigene Folien.</a:t>
            </a:r>
          </a:p>
          <a:p/>
          <a:p>
            <a:r>
              <a:t>ANPASSEN: Icon kopieren, einfügen, über „Formfüllung“ einfärben. Größe proportional ändern (Shift).</a:t>
            </a:r>
          </a:p>
          <a:p/>
          <a:p>
            <a:r>
              <a:t>TIPP: Pro Folie nur einen Icon-Stil – nicht mit anderen Icon-Sets mischen.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10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35" name="Text Placeholder 41"/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6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1882800"/>
            <a:ext cx="11520000" cy="1978248"/>
          </a:xfrm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2" name="Freeform 45">
            <a:extLst>
              <a:ext uri="{FF2B5EF4-FFF2-40B4-BE49-F238E27FC236}">
                <a16:creationId xmlns:a16="http://schemas.microsoft.com/office/drawing/2014/main" id="{F83F4120-7126-6700-FD9E-C47C76DC6CD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45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11520000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9833480-6C3A-4A6E-AF00-1D7029C1D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99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11520000" cy="1978248"/>
          </a:xfrm>
          <a:effectLst/>
        </p:spPr>
        <p:txBody>
          <a:bodyPr vert="horz" anchor="t"/>
          <a:lstStyle>
            <a:lvl1pPr algn="l">
              <a:defRPr sz="70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3AAA886-611F-4269-8775-447A3EAE45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7B00D6D-E30B-7E9D-EF23-351DB801CEA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288752" y="403200"/>
            <a:ext cx="984088" cy="578875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787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E350A4-4E57-707E-56B7-79EC7A9EF3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8738154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9833480-6C3A-4A6E-AF00-1D7029C1D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999" y="4438800"/>
            <a:ext cx="8738941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6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Gradient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BEDD68-8F9E-149A-F04F-C91E42C076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CC02B1-002A-0715-6B3B-D427321605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8738154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8EC6B93-9B64-57DE-3F84-D5AA127D5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999" y="4438800"/>
            <a:ext cx="8738941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44379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72BC1B25-0833-B5C7-06FE-16D8BFB4B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CB51AC0-E7EC-9E14-E326-DD94260D81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9FF8391B-BDFA-F277-6C61-37579671A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129DF4E-0D42-E8AE-9437-E4AEA866564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91BDF288-8CEF-15AA-B583-4E53622F64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845EBED-7503-D6AF-14C6-0AD2E79F9C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C94CA1B9-B52D-FBF2-FBDD-F4C37289EA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F8BC7D8-1356-8BD9-BC09-8483430249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668AD01-C4E7-CAC6-1C23-6EE9EAAF31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8CCE79E5-91C0-4D2D-833C-D915336CF8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0156149E-D920-7B12-B277-0690A4CEE0C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BFB79258-F265-C033-A5D3-69C1FFD787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61A2795B-592D-4089-61D7-5F4BEECCF0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9" name="Date Placeholder 1">
            <a:extLst>
              <a:ext uri="{FF2B5EF4-FFF2-40B4-BE49-F238E27FC236}">
                <a16:creationId xmlns:a16="http://schemas.microsoft.com/office/drawing/2014/main" id="{B06BB4C4-7416-DC17-867D-CBCC9E148129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50" name="Footer Placeholder 8">
            <a:extLst>
              <a:ext uri="{FF2B5EF4-FFF2-40B4-BE49-F238E27FC236}">
                <a16:creationId xmlns:a16="http://schemas.microsoft.com/office/drawing/2014/main" id="{74F51FA9-3FC3-800A-C241-638F576D7BC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10">
            <a:extLst>
              <a:ext uri="{FF2B5EF4-FFF2-40B4-BE49-F238E27FC236}">
                <a16:creationId xmlns:a16="http://schemas.microsoft.com/office/drawing/2014/main" id="{50D51244-7132-47E2-705B-EE88ACDEAF6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6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5" orient="horz" pos="1185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D72A5-1466-4F7B-CB79-A2D944DE6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296A7CA-91A3-5022-44E7-3C59B68E10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F68D4C8-DB61-9612-B788-71B0903BBDE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B27A40-C068-EDFE-2A8C-61592032B8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6F993-1781-43B6-BD25-03CDA6B541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15BE34-91E0-D58A-F7AE-BC5368F346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17E9FD8-8B23-CBDF-3061-B0BCAA67AF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8C65F84-E242-6CBD-4049-1E7CFDC6773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885029A-28C2-8BA4-A2D1-F9A581FF3C1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5EBCD12-2360-E935-5237-D7E12F0BE2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273EAD7-5501-A844-3874-E2AC2064238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</p:spTree>
    <p:extLst>
      <p:ext uri="{BB962C8B-B14F-4D97-AF65-F5344CB8AC3E}">
        <p14:creationId xmlns:p14="http://schemas.microsoft.com/office/powerpoint/2010/main" val="158929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orient="horz" pos="1185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227C3-1EA7-4F10-6A30-FD6BDF984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D1493C2-9149-9827-3873-95EB156383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33CC60A-F3BD-CA8F-9FE0-E81C32D2E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BAECF5E-5E0E-9122-35A6-FA8AB24DBD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D250B1-D0B7-35CD-EA91-04C5F22327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C5CC186-D040-410A-852F-A8CF04D17E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34D53C9-672C-46E9-2AFB-C7A5DFD385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1A0D24-DA77-0456-2EF1-49B3333F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9A3551C-28AF-7764-76E0-5A2AE3671C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F53431-F105-CBF6-4E8B-F92D8234922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2D29A31-F0AE-441B-0E46-B0B0AD4A10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</p:spTree>
    <p:extLst>
      <p:ext uri="{BB962C8B-B14F-4D97-AF65-F5344CB8AC3E}">
        <p14:creationId xmlns:p14="http://schemas.microsoft.com/office/powerpoint/2010/main" val="62333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orient="horz" pos="1185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37639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10" userDrawn="1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49362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9150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0130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0130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760617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8767177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5380130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799928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 userDrawn="1">
          <p15:clr>
            <a:srgbClr val="FBAE40"/>
          </p15:clr>
        </p15:guide>
        <p15:guide id="7" orient="horz" pos="154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1168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1168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592178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11E11-2C16-4961-D363-F7BF6402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0130" cy="879564"/>
          </a:xfrm>
        </p:spPr>
        <p:txBody>
          <a:bodyPr anchor="t">
            <a:noAutofit/>
          </a:bodyPr>
          <a:lstStyle>
            <a:lvl1pPr>
              <a:defRPr sz="48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E099201-B057-9D9C-7F14-6F39665885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0130" cy="1789112"/>
          </a:xfrm>
        </p:spPr>
        <p:txBody>
          <a:bodyPr/>
          <a:lstStyle>
            <a:lvl1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511925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548" userDrawn="1">
          <p15:clr>
            <a:srgbClr val="FBAE40"/>
          </p15:clr>
        </p15:guide>
        <p15:guide id="4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2957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with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F42FA97-B192-4CB4-AECC-A894A35CC21C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90095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1321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9684435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9684435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86424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35409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  <p15:guide id="7" orient="horz" pos="132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ighlight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0FBD50-F6FA-090A-B5D2-F7377022C3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55F1C3B-751A-EF20-B06F-988268229B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D85ECA95-A764-B69F-315F-B21269E929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5F13899C-89E9-8C2F-3DF7-72EB209164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D34F043C-A4A5-AECC-8EDE-A3B3FBE9BAB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13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1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B803986-90B7-C28E-DA82-3F6498D04D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/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93056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789C90-D9EA-C2FC-B34F-B12B266D2B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/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3459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with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F42FA97-B192-4CB4-AECC-A894A35CC21C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789C90-D9EA-C2FC-B34F-B12B266D2B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10977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nam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7776377C-8711-DB16-FA51-810D57F525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A1F260-0BFB-2D9F-9CA3-D9ADF00BD1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45E77774-2FAC-1E19-3B23-4EE43C40C0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AD72434B-B13B-257B-40FC-54B49F51903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1" userDrawn="1">
          <p15:clr>
            <a:srgbClr val="FBAE40"/>
          </p15:clr>
        </p15:guide>
        <p15:guide id="4" orient="horz" pos="21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123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Headlin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3F7016-D7E5-2294-D07C-5FD5A6D7E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1165006"/>
            <a:ext cx="9684436" cy="1440000"/>
          </a:xfrm>
          <a:effectLst/>
        </p:spPr>
        <p:txBody>
          <a:bodyPr>
            <a:noAutofit/>
          </a:bodyPr>
          <a:lstStyle>
            <a:lvl1pPr>
              <a:defRPr sz="115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Short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420BCC-7E6C-560B-75DE-CB1D7E0831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4353" y="2422044"/>
            <a:ext cx="7051647" cy="1440000"/>
          </a:xfr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defRPr sz="115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offset style</a:t>
            </a:r>
            <a:endParaRPr lang="en-PT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9755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319" userDrawn="1">
          <p15:clr>
            <a:srgbClr val="FBAE40"/>
          </p15:clr>
        </p15:guide>
        <p15:guide id="4" orient="horz" pos="150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Headlin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6EC38928-FE4E-A81A-2965-F87A6F2826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3F7016-D7E5-2294-D07C-5FD5A6D7E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1165006"/>
            <a:ext cx="9684436" cy="1440000"/>
          </a:xfrm>
          <a:effectLst/>
        </p:spPr>
        <p:txBody>
          <a:bodyPr>
            <a:noAutofit/>
          </a:bodyPr>
          <a:lstStyle>
            <a:lvl1pPr>
              <a:defRPr sz="115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Short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420BCC-7E6C-560B-75DE-CB1D7E0831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4353" y="2422044"/>
            <a:ext cx="7051647" cy="1440000"/>
          </a:xfr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defRPr sz="115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offset style</a:t>
            </a:r>
            <a:endParaRPr lang="en-PT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4FDD05B6-E6E0-95BC-BB90-5D68F7C65A0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4915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319">
          <p15:clr>
            <a:srgbClr val="FBAE40"/>
          </p15:clr>
        </p15:guide>
        <p15:guide id="4" orient="horz" pos="150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0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0487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0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 anchor="t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4C451D-1C3F-49B7-B354-ADD89E33A0D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5"/>
          </p:nvPr>
        </p:nvSpPr>
        <p:spPr>
          <a:xfrm>
            <a:off x="336550" y="1773238"/>
            <a:ext cx="11518900" cy="42846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6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Confidential / Draft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BAC261-12D6-4DE2-B48F-FD5C1DE68B3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334963" y="1376363"/>
            <a:ext cx="11520487" cy="468153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13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X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2E4E49F-761C-409E-AAAE-573FA67E010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5"/>
          </p:nvPr>
        </p:nvSpPr>
        <p:spPr>
          <a:xfrm>
            <a:off x="336550" y="1773238"/>
            <a:ext cx="11520488" cy="42846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016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845811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845811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2" y="334801"/>
            <a:ext cx="7755576" cy="286560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4400" b="0" baseline="0"/>
            </a:lvl1pPr>
          </a:lstStyle>
          <a:p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</p:spTree>
    <p:extLst>
      <p:ext uri="{BB962C8B-B14F-4D97-AF65-F5344CB8AC3E}">
        <p14:creationId xmlns:p14="http://schemas.microsoft.com/office/powerpoint/2010/main" val="2737010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0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9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 anchor="t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4C451D-1C3F-49B7-B354-ADD89E33A0D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</p:spTree>
    <p:extLst>
      <p:ext uri="{BB962C8B-B14F-4D97-AF65-F5344CB8AC3E}">
        <p14:creationId xmlns:p14="http://schemas.microsoft.com/office/powerpoint/2010/main" val="3831890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Confidential / Draft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BAC261-12D6-4DE2-B48F-FD5C1DE68B3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Enter a meaningful title that summarizes the slide</a:t>
            </a:r>
          </a:p>
        </p:txBody>
      </p:sp>
    </p:spTree>
    <p:extLst>
      <p:ext uri="{BB962C8B-B14F-4D97-AF65-F5344CB8AC3E}">
        <p14:creationId xmlns:p14="http://schemas.microsoft.com/office/powerpoint/2010/main" val="884096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X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2E4E49F-761C-409E-AAAE-573FA67E010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</p:spTree>
    <p:extLst>
      <p:ext uri="{BB962C8B-B14F-4D97-AF65-F5344CB8AC3E}">
        <p14:creationId xmlns:p14="http://schemas.microsoft.com/office/powerpoint/2010/main" val="301499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5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0D67D4B5-B922-4C36-AD43-92F94A41B40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399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863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with Circ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A265E-F2DB-1CE5-A980-AB18A2CBBFD9}"/>
              </a:ext>
            </a:extLst>
          </p:cNvPr>
          <p:cNvSpPr>
            <a:spLocks/>
          </p:cNvSpPr>
          <p:nvPr userDrawn="1"/>
        </p:nvSpPr>
        <p:spPr>
          <a:xfrm>
            <a:off x="6996592" y="1178596"/>
            <a:ext cx="4500809" cy="4500809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F0F4063-9E6E-A7CC-DE21-30A0DD10222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64272" y="2363356"/>
            <a:ext cx="2965449" cy="1330837"/>
          </a:xfrm>
        </p:spPr>
        <p:txBody>
          <a:bodyPr/>
          <a:lstStyle>
            <a:lvl1pPr algn="ctr">
              <a:defRPr sz="8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EBA3B4B-5C3D-7CD6-CF76-4B6D280E7F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64271" y="3730193"/>
            <a:ext cx="2965450" cy="906088"/>
          </a:xfrm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perspiciatis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unde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omnis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1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with Circ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A265E-F2DB-1CE5-A980-AB18A2CBBFD9}"/>
              </a:ext>
            </a:extLst>
          </p:cNvPr>
          <p:cNvSpPr>
            <a:spLocks/>
          </p:cNvSpPr>
          <p:nvPr userDrawn="1"/>
        </p:nvSpPr>
        <p:spPr>
          <a:xfrm>
            <a:off x="6996592" y="1178596"/>
            <a:ext cx="4500809" cy="4500809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F0F4063-9E6E-A7CC-DE21-30A0DD10222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64272" y="2363356"/>
            <a:ext cx="2965449" cy="1330837"/>
          </a:xfrm>
        </p:spPr>
        <p:txBody>
          <a:bodyPr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6B977D-6BC2-6C88-FAB7-935834F84F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64463" y="3730193"/>
            <a:ext cx="2965258" cy="984682"/>
          </a:xfrm>
        </p:spPr>
        <p:txBody>
          <a:bodyPr/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en-GB"/>
              <a:t>Sed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perspiciatis</a:t>
            </a:r>
            <a:r>
              <a:rPr lang="en-PT"/>
              <a:t> unde omnis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0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44593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Out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8269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20818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Outlin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72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276000" y="1376363"/>
            <a:ext cx="5580000" cy="468000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424487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276000" y="1773238"/>
            <a:ext cx="5580000" cy="4284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117426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89042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785764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4214114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lue X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3286110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 (two-line)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E0168CA-1860-4436-B28B-A4336DBC3D1A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27" hasCustomPrompt="1"/>
          </p:nvPr>
        </p:nvSpPr>
        <p:spPr>
          <a:xfrm>
            <a:off x="8257038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4296000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198379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AE03EA23-9880-4D44-8244-CEDCC6BCC1E1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27" hasCustomPrompt="1"/>
          </p:nvPr>
        </p:nvSpPr>
        <p:spPr>
          <a:xfrm>
            <a:off x="8257038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4296000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99666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E3BD7BE-4AC8-E0E9-6661-B867A52C7FE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7503268" y="-16496"/>
            <a:ext cx="4695357" cy="68909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000"/>
              <a:gd name="connsiteY0" fmla="*/ 6 h 10006"/>
              <a:gd name="connsiteX1" fmla="*/ 10000 w 10000"/>
              <a:gd name="connsiteY1" fmla="*/ 6 h 10006"/>
              <a:gd name="connsiteX2" fmla="*/ 8333 w 10000"/>
              <a:gd name="connsiteY2" fmla="*/ 5006 h 10006"/>
              <a:gd name="connsiteX3" fmla="*/ 10000 w 10000"/>
              <a:gd name="connsiteY3" fmla="*/ 10006 h 10006"/>
              <a:gd name="connsiteX4" fmla="*/ 1667 w 10000"/>
              <a:gd name="connsiteY4" fmla="*/ 10006 h 10006"/>
              <a:gd name="connsiteX5" fmla="*/ 0 w 10000"/>
              <a:gd name="connsiteY5" fmla="*/ 5006 h 10006"/>
              <a:gd name="connsiteX6" fmla="*/ 1667 w 10000"/>
              <a:gd name="connsiteY6" fmla="*/ 6 h 10006"/>
              <a:gd name="connsiteX0" fmla="*/ 1667 w 10000"/>
              <a:gd name="connsiteY0" fmla="*/ 5 h 10005"/>
              <a:gd name="connsiteX1" fmla="*/ 9314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5 h 10005"/>
              <a:gd name="connsiteX1" fmla="*/ 9588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0 h 10000"/>
              <a:gd name="connsiteX1" fmla="*/ 9588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9588"/>
              <a:gd name="connsiteY0" fmla="*/ 0 h 10000"/>
              <a:gd name="connsiteX1" fmla="*/ 9588 w 9588"/>
              <a:gd name="connsiteY1" fmla="*/ 0 h 10000"/>
              <a:gd name="connsiteX2" fmla="*/ 8333 w 9588"/>
              <a:gd name="connsiteY2" fmla="*/ 5000 h 10000"/>
              <a:gd name="connsiteX3" fmla="*/ 8920 w 9588"/>
              <a:gd name="connsiteY3" fmla="*/ 9911 h 10000"/>
              <a:gd name="connsiteX4" fmla="*/ 1667 w 9588"/>
              <a:gd name="connsiteY4" fmla="*/ 10000 h 10000"/>
              <a:gd name="connsiteX5" fmla="*/ 0 w 9588"/>
              <a:gd name="connsiteY5" fmla="*/ 5000 h 10000"/>
              <a:gd name="connsiteX6" fmla="*/ 1667 w 9588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3 w 8264"/>
              <a:gd name="connsiteY0" fmla="*/ 0 h 10000"/>
              <a:gd name="connsiteX1" fmla="*/ 8264 w 8264"/>
              <a:gd name="connsiteY1" fmla="*/ 0 h 10000"/>
              <a:gd name="connsiteX2" fmla="*/ 6955 w 8264"/>
              <a:gd name="connsiteY2" fmla="*/ 5000 h 10000"/>
              <a:gd name="connsiteX3" fmla="*/ 8246 w 8264"/>
              <a:gd name="connsiteY3" fmla="*/ 10000 h 10000"/>
              <a:gd name="connsiteX4" fmla="*/ 3 w 8264"/>
              <a:gd name="connsiteY4" fmla="*/ 10000 h 10000"/>
              <a:gd name="connsiteX5" fmla="*/ 34 w 8264"/>
              <a:gd name="connsiteY5" fmla="*/ 4947 h 10000"/>
              <a:gd name="connsiteX6" fmla="*/ 3 w 8264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0 w 9996"/>
              <a:gd name="connsiteY0" fmla="*/ 0 h 10019"/>
              <a:gd name="connsiteX1" fmla="*/ 9996 w 9996"/>
              <a:gd name="connsiteY1" fmla="*/ 0 h 10019"/>
              <a:gd name="connsiteX2" fmla="*/ 8412 w 9996"/>
              <a:gd name="connsiteY2" fmla="*/ 5000 h 10019"/>
              <a:gd name="connsiteX3" fmla="*/ 9974 w 9996"/>
              <a:gd name="connsiteY3" fmla="*/ 10000 h 10019"/>
              <a:gd name="connsiteX4" fmla="*/ 17 w 9996"/>
              <a:gd name="connsiteY4" fmla="*/ 10019 h 10019"/>
              <a:gd name="connsiteX5" fmla="*/ 15 w 9996"/>
              <a:gd name="connsiteY5" fmla="*/ 4876 h 10019"/>
              <a:gd name="connsiteX6" fmla="*/ 0 w 9996"/>
              <a:gd name="connsiteY6" fmla="*/ 0 h 10019"/>
              <a:gd name="connsiteX0" fmla="*/ 2 w 10002"/>
              <a:gd name="connsiteY0" fmla="*/ 0 h 10000"/>
              <a:gd name="connsiteX1" fmla="*/ 10002 w 10002"/>
              <a:gd name="connsiteY1" fmla="*/ 0 h 10000"/>
              <a:gd name="connsiteX2" fmla="*/ 8417 w 10002"/>
              <a:gd name="connsiteY2" fmla="*/ 4991 h 10000"/>
              <a:gd name="connsiteX3" fmla="*/ 9980 w 10002"/>
              <a:gd name="connsiteY3" fmla="*/ 9981 h 10000"/>
              <a:gd name="connsiteX4" fmla="*/ 19 w 10002"/>
              <a:gd name="connsiteY4" fmla="*/ 10000 h 10000"/>
              <a:gd name="connsiteX5" fmla="*/ 0 w 10002"/>
              <a:gd name="connsiteY5" fmla="*/ 4862 h 10000"/>
              <a:gd name="connsiteX6" fmla="*/ 2 w 10002"/>
              <a:gd name="connsiteY6" fmla="*/ 0 h 10000"/>
              <a:gd name="connsiteX0" fmla="*/ 13 w 10013"/>
              <a:gd name="connsiteY0" fmla="*/ 0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0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21"/>
              <a:gd name="connsiteY0" fmla="*/ 12 h 10017"/>
              <a:gd name="connsiteX1" fmla="*/ 10013 w 10021"/>
              <a:gd name="connsiteY1" fmla="*/ 0 h 10017"/>
              <a:gd name="connsiteX2" fmla="*/ 8428 w 10021"/>
              <a:gd name="connsiteY2" fmla="*/ 4991 h 10017"/>
              <a:gd name="connsiteX3" fmla="*/ 10021 w 10021"/>
              <a:gd name="connsiteY3" fmla="*/ 10017 h 10017"/>
              <a:gd name="connsiteX4" fmla="*/ 30 w 10021"/>
              <a:gd name="connsiteY4" fmla="*/ 10000 h 10017"/>
              <a:gd name="connsiteX5" fmla="*/ 0 w 10021"/>
              <a:gd name="connsiteY5" fmla="*/ 4871 h 10017"/>
              <a:gd name="connsiteX6" fmla="*/ 13 w 10021"/>
              <a:gd name="connsiteY6" fmla="*/ 12 h 10017"/>
              <a:gd name="connsiteX0" fmla="*/ 4 w 10027"/>
              <a:gd name="connsiteY0" fmla="*/ 0 h 10017"/>
              <a:gd name="connsiteX1" fmla="*/ 10019 w 10027"/>
              <a:gd name="connsiteY1" fmla="*/ 0 h 10017"/>
              <a:gd name="connsiteX2" fmla="*/ 8434 w 10027"/>
              <a:gd name="connsiteY2" fmla="*/ 4991 h 10017"/>
              <a:gd name="connsiteX3" fmla="*/ 10027 w 10027"/>
              <a:gd name="connsiteY3" fmla="*/ 10017 h 10017"/>
              <a:gd name="connsiteX4" fmla="*/ 36 w 10027"/>
              <a:gd name="connsiteY4" fmla="*/ 10000 h 10017"/>
              <a:gd name="connsiteX5" fmla="*/ 6 w 10027"/>
              <a:gd name="connsiteY5" fmla="*/ 4871 h 10017"/>
              <a:gd name="connsiteX6" fmla="*/ 4 w 10027"/>
              <a:gd name="connsiteY6" fmla="*/ 0 h 10017"/>
              <a:gd name="connsiteX0" fmla="*/ 2479 w 10187"/>
              <a:gd name="connsiteY0" fmla="*/ 0 h 10017"/>
              <a:gd name="connsiteX1" fmla="*/ 10179 w 10187"/>
              <a:gd name="connsiteY1" fmla="*/ 0 h 10017"/>
              <a:gd name="connsiteX2" fmla="*/ 8594 w 10187"/>
              <a:gd name="connsiteY2" fmla="*/ 4991 h 10017"/>
              <a:gd name="connsiteX3" fmla="*/ 10187 w 10187"/>
              <a:gd name="connsiteY3" fmla="*/ 10017 h 10017"/>
              <a:gd name="connsiteX4" fmla="*/ 196 w 10187"/>
              <a:gd name="connsiteY4" fmla="*/ 10000 h 10017"/>
              <a:gd name="connsiteX5" fmla="*/ 166 w 10187"/>
              <a:gd name="connsiteY5" fmla="*/ 4871 h 10017"/>
              <a:gd name="connsiteX6" fmla="*/ 2479 w 10187"/>
              <a:gd name="connsiteY6" fmla="*/ 0 h 10017"/>
              <a:gd name="connsiteX0" fmla="*/ 1864 w 10145"/>
              <a:gd name="connsiteY0" fmla="*/ 20 h 10017"/>
              <a:gd name="connsiteX1" fmla="*/ 10137 w 10145"/>
              <a:gd name="connsiteY1" fmla="*/ 0 h 10017"/>
              <a:gd name="connsiteX2" fmla="*/ 8552 w 10145"/>
              <a:gd name="connsiteY2" fmla="*/ 4991 h 10017"/>
              <a:gd name="connsiteX3" fmla="*/ 10145 w 10145"/>
              <a:gd name="connsiteY3" fmla="*/ 10017 h 10017"/>
              <a:gd name="connsiteX4" fmla="*/ 154 w 10145"/>
              <a:gd name="connsiteY4" fmla="*/ 10000 h 10017"/>
              <a:gd name="connsiteX5" fmla="*/ 124 w 10145"/>
              <a:gd name="connsiteY5" fmla="*/ 4871 h 10017"/>
              <a:gd name="connsiteX6" fmla="*/ 1864 w 10145"/>
              <a:gd name="connsiteY6" fmla="*/ 20 h 10017"/>
              <a:gd name="connsiteX0" fmla="*/ 1741 w 10022"/>
              <a:gd name="connsiteY0" fmla="*/ 20 h 10017"/>
              <a:gd name="connsiteX1" fmla="*/ 10014 w 10022"/>
              <a:gd name="connsiteY1" fmla="*/ 0 h 10017"/>
              <a:gd name="connsiteX2" fmla="*/ 8429 w 10022"/>
              <a:gd name="connsiteY2" fmla="*/ 4991 h 10017"/>
              <a:gd name="connsiteX3" fmla="*/ 10022 w 10022"/>
              <a:gd name="connsiteY3" fmla="*/ 10017 h 10017"/>
              <a:gd name="connsiteX4" fmla="*/ 1845 w 10022"/>
              <a:gd name="connsiteY4" fmla="*/ 9922 h 10017"/>
              <a:gd name="connsiteX5" fmla="*/ 1 w 10022"/>
              <a:gd name="connsiteY5" fmla="*/ 4871 h 10017"/>
              <a:gd name="connsiteX6" fmla="*/ 1741 w 10022"/>
              <a:gd name="connsiteY6" fmla="*/ 20 h 10017"/>
              <a:gd name="connsiteX0" fmla="*/ 1741 w 10022"/>
              <a:gd name="connsiteY0" fmla="*/ 20 h 10020"/>
              <a:gd name="connsiteX1" fmla="*/ 10014 w 10022"/>
              <a:gd name="connsiteY1" fmla="*/ 0 h 10020"/>
              <a:gd name="connsiteX2" fmla="*/ 8429 w 10022"/>
              <a:gd name="connsiteY2" fmla="*/ 4991 h 10020"/>
              <a:gd name="connsiteX3" fmla="*/ 10022 w 10022"/>
              <a:gd name="connsiteY3" fmla="*/ 10017 h 10020"/>
              <a:gd name="connsiteX4" fmla="*/ 1702 w 10022"/>
              <a:gd name="connsiteY4" fmla="*/ 10020 h 10020"/>
              <a:gd name="connsiteX5" fmla="*/ 1 w 10022"/>
              <a:gd name="connsiteY5" fmla="*/ 4871 h 10020"/>
              <a:gd name="connsiteX6" fmla="*/ 1741 w 10022"/>
              <a:gd name="connsiteY6" fmla="*/ 20 h 10020"/>
              <a:gd name="connsiteX0" fmla="*/ 40 w 8321"/>
              <a:gd name="connsiteY0" fmla="*/ 20 h 10020"/>
              <a:gd name="connsiteX1" fmla="*/ 8313 w 8321"/>
              <a:gd name="connsiteY1" fmla="*/ 0 h 10020"/>
              <a:gd name="connsiteX2" fmla="*/ 6728 w 8321"/>
              <a:gd name="connsiteY2" fmla="*/ 4991 h 10020"/>
              <a:gd name="connsiteX3" fmla="*/ 8321 w 8321"/>
              <a:gd name="connsiteY3" fmla="*/ 10017 h 10020"/>
              <a:gd name="connsiteX4" fmla="*/ 1 w 8321"/>
              <a:gd name="connsiteY4" fmla="*/ 10020 h 10020"/>
              <a:gd name="connsiteX5" fmla="*/ 424 w 8321"/>
              <a:gd name="connsiteY5" fmla="*/ 5086 h 10020"/>
              <a:gd name="connsiteX6" fmla="*/ 40 w 8321"/>
              <a:gd name="connsiteY6" fmla="*/ 20 h 1002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27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81 h 10000"/>
              <a:gd name="connsiteX3" fmla="*/ 10036 w 10036"/>
              <a:gd name="connsiteY3" fmla="*/ 9997 h 10000"/>
              <a:gd name="connsiteX4" fmla="*/ 37 w 10036"/>
              <a:gd name="connsiteY4" fmla="*/ 10000 h 10000"/>
              <a:gd name="connsiteX5" fmla="*/ 1 w 10036"/>
              <a:gd name="connsiteY5" fmla="*/ 5096 h 10000"/>
              <a:gd name="connsiteX6" fmla="*/ 27 w 10036"/>
              <a:gd name="connsiteY6" fmla="*/ 40 h 10000"/>
              <a:gd name="connsiteX0" fmla="*/ 28 w 10037"/>
              <a:gd name="connsiteY0" fmla="*/ 4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28 w 10037"/>
              <a:gd name="connsiteY6" fmla="*/ 40 h 10000"/>
              <a:gd name="connsiteX0" fmla="*/ 81 w 10090"/>
              <a:gd name="connsiteY0" fmla="*/ 40 h 10020"/>
              <a:gd name="connsiteX1" fmla="*/ 10080 w 10090"/>
              <a:gd name="connsiteY1" fmla="*/ 0 h 10020"/>
              <a:gd name="connsiteX2" fmla="*/ 8176 w 10090"/>
              <a:gd name="connsiteY2" fmla="*/ 4981 h 10020"/>
              <a:gd name="connsiteX3" fmla="*/ 10090 w 10090"/>
              <a:gd name="connsiteY3" fmla="*/ 9997 h 10020"/>
              <a:gd name="connsiteX4" fmla="*/ 5 w 10090"/>
              <a:gd name="connsiteY4" fmla="*/ 10020 h 10020"/>
              <a:gd name="connsiteX5" fmla="*/ 55 w 10090"/>
              <a:gd name="connsiteY5" fmla="*/ 5096 h 10020"/>
              <a:gd name="connsiteX6" fmla="*/ 81 w 10090"/>
              <a:gd name="connsiteY6" fmla="*/ 40 h 10020"/>
              <a:gd name="connsiteX0" fmla="*/ 109 w 10118"/>
              <a:gd name="connsiteY0" fmla="*/ 40 h 10040"/>
              <a:gd name="connsiteX1" fmla="*/ 10108 w 10118"/>
              <a:gd name="connsiteY1" fmla="*/ 0 h 10040"/>
              <a:gd name="connsiteX2" fmla="*/ 8204 w 10118"/>
              <a:gd name="connsiteY2" fmla="*/ 4981 h 10040"/>
              <a:gd name="connsiteX3" fmla="*/ 10118 w 10118"/>
              <a:gd name="connsiteY3" fmla="*/ 9997 h 10040"/>
              <a:gd name="connsiteX4" fmla="*/ 4 w 10118"/>
              <a:gd name="connsiteY4" fmla="*/ 10040 h 10040"/>
              <a:gd name="connsiteX5" fmla="*/ 83 w 10118"/>
              <a:gd name="connsiteY5" fmla="*/ 5096 h 10040"/>
              <a:gd name="connsiteX6" fmla="*/ 109 w 10118"/>
              <a:gd name="connsiteY6" fmla="*/ 40 h 10040"/>
              <a:gd name="connsiteX0" fmla="*/ 105 w 10114"/>
              <a:gd name="connsiteY0" fmla="*/ 40 h 10040"/>
              <a:gd name="connsiteX1" fmla="*/ 10104 w 10114"/>
              <a:gd name="connsiteY1" fmla="*/ 0 h 10040"/>
              <a:gd name="connsiteX2" fmla="*/ 8200 w 10114"/>
              <a:gd name="connsiteY2" fmla="*/ 4981 h 10040"/>
              <a:gd name="connsiteX3" fmla="*/ 10114 w 10114"/>
              <a:gd name="connsiteY3" fmla="*/ 9997 h 10040"/>
              <a:gd name="connsiteX4" fmla="*/ 0 w 10114"/>
              <a:gd name="connsiteY4" fmla="*/ 10040 h 10040"/>
              <a:gd name="connsiteX5" fmla="*/ 79 w 10114"/>
              <a:gd name="connsiteY5" fmla="*/ 5096 h 10040"/>
              <a:gd name="connsiteX6" fmla="*/ 105 w 10114"/>
              <a:gd name="connsiteY6" fmla="*/ 40 h 10040"/>
              <a:gd name="connsiteX0" fmla="*/ 46 w 10055"/>
              <a:gd name="connsiteY0" fmla="*/ 40 h 10020"/>
              <a:gd name="connsiteX1" fmla="*/ 10045 w 10055"/>
              <a:gd name="connsiteY1" fmla="*/ 0 h 10020"/>
              <a:gd name="connsiteX2" fmla="*/ 8141 w 10055"/>
              <a:gd name="connsiteY2" fmla="*/ 4981 h 10020"/>
              <a:gd name="connsiteX3" fmla="*/ 10055 w 10055"/>
              <a:gd name="connsiteY3" fmla="*/ 9997 h 10020"/>
              <a:gd name="connsiteX4" fmla="*/ 285 w 10055"/>
              <a:gd name="connsiteY4" fmla="*/ 10020 h 10020"/>
              <a:gd name="connsiteX5" fmla="*/ 20 w 10055"/>
              <a:gd name="connsiteY5" fmla="*/ 5096 h 10020"/>
              <a:gd name="connsiteX6" fmla="*/ 46 w 10055"/>
              <a:gd name="connsiteY6" fmla="*/ 40 h 10020"/>
              <a:gd name="connsiteX0" fmla="*/ 29 w 10038"/>
              <a:gd name="connsiteY0" fmla="*/ 40 h 10040"/>
              <a:gd name="connsiteX1" fmla="*/ 10028 w 10038"/>
              <a:gd name="connsiteY1" fmla="*/ 0 h 10040"/>
              <a:gd name="connsiteX2" fmla="*/ 8124 w 10038"/>
              <a:gd name="connsiteY2" fmla="*/ 4981 h 10040"/>
              <a:gd name="connsiteX3" fmla="*/ 10038 w 10038"/>
              <a:gd name="connsiteY3" fmla="*/ 9997 h 10040"/>
              <a:gd name="connsiteX4" fmla="*/ 39 w 10038"/>
              <a:gd name="connsiteY4" fmla="*/ 10040 h 10040"/>
              <a:gd name="connsiteX5" fmla="*/ 3 w 10038"/>
              <a:gd name="connsiteY5" fmla="*/ 5096 h 10040"/>
              <a:gd name="connsiteX6" fmla="*/ 29 w 10038"/>
              <a:gd name="connsiteY6" fmla="*/ 40 h 10040"/>
              <a:gd name="connsiteX0" fmla="*/ 686 w 10064"/>
              <a:gd name="connsiteY0" fmla="*/ 60 h 10040"/>
              <a:gd name="connsiteX1" fmla="*/ 10054 w 10064"/>
              <a:gd name="connsiteY1" fmla="*/ 0 h 10040"/>
              <a:gd name="connsiteX2" fmla="*/ 8150 w 10064"/>
              <a:gd name="connsiteY2" fmla="*/ 4981 h 10040"/>
              <a:gd name="connsiteX3" fmla="*/ 10064 w 10064"/>
              <a:gd name="connsiteY3" fmla="*/ 9997 h 10040"/>
              <a:gd name="connsiteX4" fmla="*/ 65 w 10064"/>
              <a:gd name="connsiteY4" fmla="*/ 10040 h 10040"/>
              <a:gd name="connsiteX5" fmla="*/ 29 w 10064"/>
              <a:gd name="connsiteY5" fmla="*/ 5096 h 10040"/>
              <a:gd name="connsiteX6" fmla="*/ 686 w 10064"/>
              <a:gd name="connsiteY6" fmla="*/ 6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63 w 10043"/>
              <a:gd name="connsiteY0" fmla="*/ 40 h 10040"/>
              <a:gd name="connsiteX1" fmla="*/ 10033 w 10043"/>
              <a:gd name="connsiteY1" fmla="*/ 0 h 10040"/>
              <a:gd name="connsiteX2" fmla="*/ 8129 w 10043"/>
              <a:gd name="connsiteY2" fmla="*/ 4981 h 10040"/>
              <a:gd name="connsiteX3" fmla="*/ 10043 w 10043"/>
              <a:gd name="connsiteY3" fmla="*/ 9997 h 10040"/>
              <a:gd name="connsiteX4" fmla="*/ 44 w 10043"/>
              <a:gd name="connsiteY4" fmla="*/ 10040 h 10040"/>
              <a:gd name="connsiteX5" fmla="*/ 8 w 10043"/>
              <a:gd name="connsiteY5" fmla="*/ 5096 h 10040"/>
              <a:gd name="connsiteX6" fmla="*/ 63 w 10043"/>
              <a:gd name="connsiteY6" fmla="*/ 4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1805 w 11785"/>
              <a:gd name="connsiteY0" fmla="*/ 40 h 10040"/>
              <a:gd name="connsiteX1" fmla="*/ 11775 w 11785"/>
              <a:gd name="connsiteY1" fmla="*/ 0 h 10040"/>
              <a:gd name="connsiteX2" fmla="*/ 9871 w 11785"/>
              <a:gd name="connsiteY2" fmla="*/ 4981 h 10040"/>
              <a:gd name="connsiteX3" fmla="*/ 11785 w 11785"/>
              <a:gd name="connsiteY3" fmla="*/ 9997 h 10040"/>
              <a:gd name="connsiteX4" fmla="*/ 1786 w 11785"/>
              <a:gd name="connsiteY4" fmla="*/ 10040 h 10040"/>
              <a:gd name="connsiteX5" fmla="*/ 0 w 11785"/>
              <a:gd name="connsiteY5" fmla="*/ 5135 h 10040"/>
              <a:gd name="connsiteX6" fmla="*/ 1805 w 11785"/>
              <a:gd name="connsiteY6" fmla="*/ 40 h 10040"/>
              <a:gd name="connsiteX0" fmla="*/ 429 w 10409"/>
              <a:gd name="connsiteY0" fmla="*/ 40 h 10040"/>
              <a:gd name="connsiteX1" fmla="*/ 10399 w 10409"/>
              <a:gd name="connsiteY1" fmla="*/ 0 h 10040"/>
              <a:gd name="connsiteX2" fmla="*/ 8495 w 10409"/>
              <a:gd name="connsiteY2" fmla="*/ 4981 h 10040"/>
              <a:gd name="connsiteX3" fmla="*/ 10409 w 10409"/>
              <a:gd name="connsiteY3" fmla="*/ 9997 h 10040"/>
              <a:gd name="connsiteX4" fmla="*/ 410 w 10409"/>
              <a:gd name="connsiteY4" fmla="*/ 10040 h 10040"/>
              <a:gd name="connsiteX5" fmla="*/ 1 w 10409"/>
              <a:gd name="connsiteY5" fmla="*/ 5252 h 10040"/>
              <a:gd name="connsiteX6" fmla="*/ 429 w 10409"/>
              <a:gd name="connsiteY6" fmla="*/ 40 h 10040"/>
              <a:gd name="connsiteX0" fmla="*/ 19 w 9999"/>
              <a:gd name="connsiteY0" fmla="*/ 40 h 10040"/>
              <a:gd name="connsiteX1" fmla="*/ 9989 w 9999"/>
              <a:gd name="connsiteY1" fmla="*/ 0 h 10040"/>
              <a:gd name="connsiteX2" fmla="*/ 8085 w 9999"/>
              <a:gd name="connsiteY2" fmla="*/ 4981 h 10040"/>
              <a:gd name="connsiteX3" fmla="*/ 9999 w 9999"/>
              <a:gd name="connsiteY3" fmla="*/ 9997 h 10040"/>
              <a:gd name="connsiteX4" fmla="*/ 0 w 9999"/>
              <a:gd name="connsiteY4" fmla="*/ 10040 h 10040"/>
              <a:gd name="connsiteX5" fmla="*/ 50 w 9999"/>
              <a:gd name="connsiteY5" fmla="*/ 5154 h 10040"/>
              <a:gd name="connsiteX6" fmla="*/ 19 w 9999"/>
              <a:gd name="connsiteY6" fmla="*/ 40 h 10040"/>
              <a:gd name="connsiteX0" fmla="*/ 55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61 h 10000"/>
              <a:gd name="connsiteX3" fmla="*/ 10036 w 10036"/>
              <a:gd name="connsiteY3" fmla="*/ 9957 h 10000"/>
              <a:gd name="connsiteX4" fmla="*/ 36 w 10036"/>
              <a:gd name="connsiteY4" fmla="*/ 10000 h 10000"/>
              <a:gd name="connsiteX5" fmla="*/ 0 w 10036"/>
              <a:gd name="connsiteY5" fmla="*/ 5230 h 10000"/>
              <a:gd name="connsiteX6" fmla="*/ 55 w 10036"/>
              <a:gd name="connsiteY6" fmla="*/ 40 h 10000"/>
              <a:gd name="connsiteX0" fmla="*/ 18 w 10056"/>
              <a:gd name="connsiteY0" fmla="*/ 21 h 10000"/>
              <a:gd name="connsiteX1" fmla="*/ 10046 w 10056"/>
              <a:gd name="connsiteY1" fmla="*/ 0 h 10000"/>
              <a:gd name="connsiteX2" fmla="*/ 8142 w 10056"/>
              <a:gd name="connsiteY2" fmla="*/ 4961 h 10000"/>
              <a:gd name="connsiteX3" fmla="*/ 10056 w 10056"/>
              <a:gd name="connsiteY3" fmla="*/ 9957 h 10000"/>
              <a:gd name="connsiteX4" fmla="*/ 56 w 10056"/>
              <a:gd name="connsiteY4" fmla="*/ 10000 h 10000"/>
              <a:gd name="connsiteX5" fmla="*/ 20 w 10056"/>
              <a:gd name="connsiteY5" fmla="*/ 5230 h 10000"/>
              <a:gd name="connsiteX6" fmla="*/ 18 w 10056"/>
              <a:gd name="connsiteY6" fmla="*/ 21 h 1000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21 w 10059"/>
              <a:gd name="connsiteY0" fmla="*/ 21 h 10020"/>
              <a:gd name="connsiteX1" fmla="*/ 10049 w 10059"/>
              <a:gd name="connsiteY1" fmla="*/ 0 h 10020"/>
              <a:gd name="connsiteX2" fmla="*/ 8145 w 10059"/>
              <a:gd name="connsiteY2" fmla="*/ 4961 h 10020"/>
              <a:gd name="connsiteX3" fmla="*/ 10059 w 10059"/>
              <a:gd name="connsiteY3" fmla="*/ 9957 h 10020"/>
              <a:gd name="connsiteX4" fmla="*/ 15 w 10059"/>
              <a:gd name="connsiteY4" fmla="*/ 10020 h 10020"/>
              <a:gd name="connsiteX5" fmla="*/ 8 w 10059"/>
              <a:gd name="connsiteY5" fmla="*/ 5191 h 10020"/>
              <a:gd name="connsiteX6" fmla="*/ 21 w 10059"/>
              <a:gd name="connsiteY6" fmla="*/ 21 h 10020"/>
              <a:gd name="connsiteX0" fmla="*/ 29 w 10052"/>
              <a:gd name="connsiteY0" fmla="*/ 0 h 10058"/>
              <a:gd name="connsiteX1" fmla="*/ 10042 w 10052"/>
              <a:gd name="connsiteY1" fmla="*/ 38 h 10058"/>
              <a:gd name="connsiteX2" fmla="*/ 8138 w 10052"/>
              <a:gd name="connsiteY2" fmla="*/ 4999 h 10058"/>
              <a:gd name="connsiteX3" fmla="*/ 10052 w 10052"/>
              <a:gd name="connsiteY3" fmla="*/ 9995 h 10058"/>
              <a:gd name="connsiteX4" fmla="*/ 8 w 10052"/>
              <a:gd name="connsiteY4" fmla="*/ 10058 h 10058"/>
              <a:gd name="connsiteX5" fmla="*/ 1 w 10052"/>
              <a:gd name="connsiteY5" fmla="*/ 5229 h 10058"/>
              <a:gd name="connsiteX6" fmla="*/ 29 w 10052"/>
              <a:gd name="connsiteY6" fmla="*/ 0 h 10058"/>
              <a:gd name="connsiteX0" fmla="*/ 29 w 10052"/>
              <a:gd name="connsiteY0" fmla="*/ 1 h 10020"/>
              <a:gd name="connsiteX1" fmla="*/ 10042 w 10052"/>
              <a:gd name="connsiteY1" fmla="*/ 0 h 10020"/>
              <a:gd name="connsiteX2" fmla="*/ 8138 w 10052"/>
              <a:gd name="connsiteY2" fmla="*/ 4961 h 10020"/>
              <a:gd name="connsiteX3" fmla="*/ 10052 w 10052"/>
              <a:gd name="connsiteY3" fmla="*/ 9957 h 10020"/>
              <a:gd name="connsiteX4" fmla="*/ 8 w 10052"/>
              <a:gd name="connsiteY4" fmla="*/ 10020 h 10020"/>
              <a:gd name="connsiteX5" fmla="*/ 1 w 10052"/>
              <a:gd name="connsiteY5" fmla="*/ 5191 h 10020"/>
              <a:gd name="connsiteX6" fmla="*/ 29 w 10052"/>
              <a:gd name="connsiteY6" fmla="*/ 1 h 10020"/>
              <a:gd name="connsiteX0" fmla="*/ 6 w 10190"/>
              <a:gd name="connsiteY0" fmla="*/ 0 h 10039"/>
              <a:gd name="connsiteX1" fmla="*/ 10180 w 10190"/>
              <a:gd name="connsiteY1" fmla="*/ 19 h 10039"/>
              <a:gd name="connsiteX2" fmla="*/ 8276 w 10190"/>
              <a:gd name="connsiteY2" fmla="*/ 4980 h 10039"/>
              <a:gd name="connsiteX3" fmla="*/ 10190 w 10190"/>
              <a:gd name="connsiteY3" fmla="*/ 9976 h 10039"/>
              <a:gd name="connsiteX4" fmla="*/ 146 w 10190"/>
              <a:gd name="connsiteY4" fmla="*/ 10039 h 10039"/>
              <a:gd name="connsiteX5" fmla="*/ 139 w 10190"/>
              <a:gd name="connsiteY5" fmla="*/ 5210 h 10039"/>
              <a:gd name="connsiteX6" fmla="*/ 6 w 10190"/>
              <a:gd name="connsiteY6" fmla="*/ 0 h 10039"/>
              <a:gd name="connsiteX0" fmla="*/ 90 w 10054"/>
              <a:gd name="connsiteY0" fmla="*/ 0 h 10039"/>
              <a:gd name="connsiteX1" fmla="*/ 10044 w 10054"/>
              <a:gd name="connsiteY1" fmla="*/ 19 h 10039"/>
              <a:gd name="connsiteX2" fmla="*/ 8140 w 10054"/>
              <a:gd name="connsiteY2" fmla="*/ 4980 h 10039"/>
              <a:gd name="connsiteX3" fmla="*/ 10054 w 10054"/>
              <a:gd name="connsiteY3" fmla="*/ 9976 h 10039"/>
              <a:gd name="connsiteX4" fmla="*/ 10 w 10054"/>
              <a:gd name="connsiteY4" fmla="*/ 10039 h 10039"/>
              <a:gd name="connsiteX5" fmla="*/ 3 w 10054"/>
              <a:gd name="connsiteY5" fmla="*/ 5210 h 10039"/>
              <a:gd name="connsiteX6" fmla="*/ 90 w 10054"/>
              <a:gd name="connsiteY6" fmla="*/ 0 h 10039"/>
              <a:gd name="connsiteX0" fmla="*/ 17 w 10069"/>
              <a:gd name="connsiteY0" fmla="*/ 1 h 10020"/>
              <a:gd name="connsiteX1" fmla="*/ 10059 w 10069"/>
              <a:gd name="connsiteY1" fmla="*/ 0 h 10020"/>
              <a:gd name="connsiteX2" fmla="*/ 8155 w 10069"/>
              <a:gd name="connsiteY2" fmla="*/ 4961 h 10020"/>
              <a:gd name="connsiteX3" fmla="*/ 10069 w 10069"/>
              <a:gd name="connsiteY3" fmla="*/ 9957 h 10020"/>
              <a:gd name="connsiteX4" fmla="*/ 25 w 10069"/>
              <a:gd name="connsiteY4" fmla="*/ 10020 h 10020"/>
              <a:gd name="connsiteX5" fmla="*/ 18 w 10069"/>
              <a:gd name="connsiteY5" fmla="*/ 5191 h 10020"/>
              <a:gd name="connsiteX6" fmla="*/ 17 w 10069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19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75"/>
              <a:gd name="connsiteX1" fmla="*/ 10053 w 10063"/>
              <a:gd name="connsiteY1" fmla="*/ 0 h 10075"/>
              <a:gd name="connsiteX2" fmla="*/ 8149 w 10063"/>
              <a:gd name="connsiteY2" fmla="*/ 4961 h 10075"/>
              <a:gd name="connsiteX3" fmla="*/ 10063 w 10063"/>
              <a:gd name="connsiteY3" fmla="*/ 9957 h 10075"/>
              <a:gd name="connsiteX4" fmla="*/ 4 w 10063"/>
              <a:gd name="connsiteY4" fmla="*/ 10020 h 10075"/>
              <a:gd name="connsiteX5" fmla="*/ 12 w 10063"/>
              <a:gd name="connsiteY5" fmla="*/ 5191 h 10075"/>
              <a:gd name="connsiteX6" fmla="*/ 11 w 10063"/>
              <a:gd name="connsiteY6" fmla="*/ 1 h 10075"/>
              <a:gd name="connsiteX0" fmla="*/ 1259 w 11311"/>
              <a:gd name="connsiteY0" fmla="*/ 1 h 10075"/>
              <a:gd name="connsiteX1" fmla="*/ 11301 w 11311"/>
              <a:gd name="connsiteY1" fmla="*/ 0 h 10075"/>
              <a:gd name="connsiteX2" fmla="*/ 9397 w 11311"/>
              <a:gd name="connsiteY2" fmla="*/ 4961 h 10075"/>
              <a:gd name="connsiteX3" fmla="*/ 11311 w 11311"/>
              <a:gd name="connsiteY3" fmla="*/ 9957 h 10075"/>
              <a:gd name="connsiteX4" fmla="*/ 1252 w 11311"/>
              <a:gd name="connsiteY4" fmla="*/ 10020 h 10075"/>
              <a:gd name="connsiteX5" fmla="*/ 1259 w 11311"/>
              <a:gd name="connsiteY5" fmla="*/ 1 h 10075"/>
              <a:gd name="connsiteX0" fmla="*/ 741 w 10793"/>
              <a:gd name="connsiteY0" fmla="*/ 1 h 10075"/>
              <a:gd name="connsiteX1" fmla="*/ 10783 w 10793"/>
              <a:gd name="connsiteY1" fmla="*/ 0 h 10075"/>
              <a:gd name="connsiteX2" fmla="*/ 8879 w 10793"/>
              <a:gd name="connsiteY2" fmla="*/ 4961 h 10075"/>
              <a:gd name="connsiteX3" fmla="*/ 10793 w 10793"/>
              <a:gd name="connsiteY3" fmla="*/ 9957 h 10075"/>
              <a:gd name="connsiteX4" fmla="*/ 734 w 10793"/>
              <a:gd name="connsiteY4" fmla="*/ 10020 h 10075"/>
              <a:gd name="connsiteX5" fmla="*/ 741 w 10793"/>
              <a:gd name="connsiteY5" fmla="*/ 1 h 10075"/>
              <a:gd name="connsiteX0" fmla="*/ 738 w 10790"/>
              <a:gd name="connsiteY0" fmla="*/ 1 h 10075"/>
              <a:gd name="connsiteX1" fmla="*/ 10780 w 10790"/>
              <a:gd name="connsiteY1" fmla="*/ 0 h 10075"/>
              <a:gd name="connsiteX2" fmla="*/ 8876 w 10790"/>
              <a:gd name="connsiteY2" fmla="*/ 4961 h 10075"/>
              <a:gd name="connsiteX3" fmla="*/ 10790 w 10790"/>
              <a:gd name="connsiteY3" fmla="*/ 9957 h 10075"/>
              <a:gd name="connsiteX4" fmla="*/ 731 w 10790"/>
              <a:gd name="connsiteY4" fmla="*/ 10020 h 10075"/>
              <a:gd name="connsiteX5" fmla="*/ 738 w 10790"/>
              <a:gd name="connsiteY5" fmla="*/ 1 h 10075"/>
              <a:gd name="connsiteX0" fmla="*/ 777 w 10829"/>
              <a:gd name="connsiteY0" fmla="*/ 1 h 10075"/>
              <a:gd name="connsiteX1" fmla="*/ 10819 w 10829"/>
              <a:gd name="connsiteY1" fmla="*/ 0 h 10075"/>
              <a:gd name="connsiteX2" fmla="*/ 8915 w 10829"/>
              <a:gd name="connsiteY2" fmla="*/ 4961 h 10075"/>
              <a:gd name="connsiteX3" fmla="*/ 10829 w 10829"/>
              <a:gd name="connsiteY3" fmla="*/ 9957 h 10075"/>
              <a:gd name="connsiteX4" fmla="*/ 770 w 10829"/>
              <a:gd name="connsiteY4" fmla="*/ 10020 h 10075"/>
              <a:gd name="connsiteX5" fmla="*/ 777 w 10829"/>
              <a:gd name="connsiteY5" fmla="*/ 1 h 10075"/>
              <a:gd name="connsiteX0" fmla="*/ 761 w 10813"/>
              <a:gd name="connsiteY0" fmla="*/ 1 h 10075"/>
              <a:gd name="connsiteX1" fmla="*/ 10803 w 10813"/>
              <a:gd name="connsiteY1" fmla="*/ 0 h 10075"/>
              <a:gd name="connsiteX2" fmla="*/ 8899 w 10813"/>
              <a:gd name="connsiteY2" fmla="*/ 4961 h 10075"/>
              <a:gd name="connsiteX3" fmla="*/ 10813 w 10813"/>
              <a:gd name="connsiteY3" fmla="*/ 9957 h 10075"/>
              <a:gd name="connsiteX4" fmla="*/ 754 w 10813"/>
              <a:gd name="connsiteY4" fmla="*/ 10020 h 10075"/>
              <a:gd name="connsiteX5" fmla="*/ 761 w 10813"/>
              <a:gd name="connsiteY5" fmla="*/ 1 h 10075"/>
              <a:gd name="connsiteX0" fmla="*/ 251 w 10303"/>
              <a:gd name="connsiteY0" fmla="*/ 1 h 10075"/>
              <a:gd name="connsiteX1" fmla="*/ 10293 w 10303"/>
              <a:gd name="connsiteY1" fmla="*/ 0 h 10075"/>
              <a:gd name="connsiteX2" fmla="*/ 8389 w 10303"/>
              <a:gd name="connsiteY2" fmla="*/ 4961 h 10075"/>
              <a:gd name="connsiteX3" fmla="*/ 10303 w 10303"/>
              <a:gd name="connsiteY3" fmla="*/ 9957 h 10075"/>
              <a:gd name="connsiteX4" fmla="*/ 244 w 10303"/>
              <a:gd name="connsiteY4" fmla="*/ 10020 h 10075"/>
              <a:gd name="connsiteX5" fmla="*/ 251 w 10303"/>
              <a:gd name="connsiteY5" fmla="*/ 1 h 10075"/>
              <a:gd name="connsiteX0" fmla="*/ 746 w 10798"/>
              <a:gd name="connsiteY0" fmla="*/ 1 h 10075"/>
              <a:gd name="connsiteX1" fmla="*/ 10788 w 10798"/>
              <a:gd name="connsiteY1" fmla="*/ 0 h 10075"/>
              <a:gd name="connsiteX2" fmla="*/ 8884 w 10798"/>
              <a:gd name="connsiteY2" fmla="*/ 4961 h 10075"/>
              <a:gd name="connsiteX3" fmla="*/ 10798 w 10798"/>
              <a:gd name="connsiteY3" fmla="*/ 9957 h 10075"/>
              <a:gd name="connsiteX4" fmla="*/ 739 w 10798"/>
              <a:gd name="connsiteY4" fmla="*/ 10020 h 10075"/>
              <a:gd name="connsiteX5" fmla="*/ 746 w 10798"/>
              <a:gd name="connsiteY5" fmla="*/ 1 h 10075"/>
              <a:gd name="connsiteX0" fmla="*/ 8 w 10060"/>
              <a:gd name="connsiteY0" fmla="*/ 1 h 10075"/>
              <a:gd name="connsiteX1" fmla="*/ 10050 w 10060"/>
              <a:gd name="connsiteY1" fmla="*/ 0 h 10075"/>
              <a:gd name="connsiteX2" fmla="*/ 8146 w 10060"/>
              <a:gd name="connsiteY2" fmla="*/ 4961 h 10075"/>
              <a:gd name="connsiteX3" fmla="*/ 10060 w 10060"/>
              <a:gd name="connsiteY3" fmla="*/ 9957 h 10075"/>
              <a:gd name="connsiteX4" fmla="*/ 1 w 10060"/>
              <a:gd name="connsiteY4" fmla="*/ 10020 h 10075"/>
              <a:gd name="connsiteX5" fmla="*/ 8 w 10060"/>
              <a:gd name="connsiteY5" fmla="*/ 1 h 10075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10"/>
              <a:gd name="connsiteX1" fmla="*/ 10050 w 10089"/>
              <a:gd name="connsiteY1" fmla="*/ 0 h 10010"/>
              <a:gd name="connsiteX2" fmla="*/ 8146 w 10089"/>
              <a:gd name="connsiteY2" fmla="*/ 4961 h 10010"/>
              <a:gd name="connsiteX3" fmla="*/ 10089 w 10089"/>
              <a:gd name="connsiteY3" fmla="*/ 9987 h 10010"/>
              <a:gd name="connsiteX4" fmla="*/ 1 w 10089"/>
              <a:gd name="connsiteY4" fmla="*/ 10010 h 10010"/>
              <a:gd name="connsiteX5" fmla="*/ 8 w 10089"/>
              <a:gd name="connsiteY5" fmla="*/ 1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9" h="10010">
                <a:moveTo>
                  <a:pt x="8" y="1"/>
                </a:moveTo>
                <a:lnTo>
                  <a:pt x="10050" y="0"/>
                </a:lnTo>
                <a:cubicBezTo>
                  <a:pt x="8837" y="1464"/>
                  <a:pt x="8140" y="3297"/>
                  <a:pt x="8146" y="4961"/>
                </a:cubicBezTo>
                <a:cubicBezTo>
                  <a:pt x="8152" y="6625"/>
                  <a:pt x="8902" y="8823"/>
                  <a:pt x="10089" y="9987"/>
                </a:cubicBezTo>
                <a:lnTo>
                  <a:pt x="1" y="10010"/>
                </a:lnTo>
                <a:cubicBezTo>
                  <a:pt x="-2" y="7127"/>
                  <a:pt x="5" y="1839"/>
                  <a:pt x="8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7112843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7112843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5945202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6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977B1A6-217B-41F0-9DFC-F7E7553812E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7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5945202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9310101-83C5-1407-4907-E4CBFBBE803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4961" y="1376363"/>
            <a:ext cx="7112843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55720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CACD73E-C178-5AD7-E7AD-B0E0B4F2F2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7503268" y="-16496"/>
            <a:ext cx="4695357" cy="68909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000"/>
              <a:gd name="connsiteY0" fmla="*/ 6 h 10006"/>
              <a:gd name="connsiteX1" fmla="*/ 10000 w 10000"/>
              <a:gd name="connsiteY1" fmla="*/ 6 h 10006"/>
              <a:gd name="connsiteX2" fmla="*/ 8333 w 10000"/>
              <a:gd name="connsiteY2" fmla="*/ 5006 h 10006"/>
              <a:gd name="connsiteX3" fmla="*/ 10000 w 10000"/>
              <a:gd name="connsiteY3" fmla="*/ 10006 h 10006"/>
              <a:gd name="connsiteX4" fmla="*/ 1667 w 10000"/>
              <a:gd name="connsiteY4" fmla="*/ 10006 h 10006"/>
              <a:gd name="connsiteX5" fmla="*/ 0 w 10000"/>
              <a:gd name="connsiteY5" fmla="*/ 5006 h 10006"/>
              <a:gd name="connsiteX6" fmla="*/ 1667 w 10000"/>
              <a:gd name="connsiteY6" fmla="*/ 6 h 10006"/>
              <a:gd name="connsiteX0" fmla="*/ 1667 w 10000"/>
              <a:gd name="connsiteY0" fmla="*/ 5 h 10005"/>
              <a:gd name="connsiteX1" fmla="*/ 9314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5 h 10005"/>
              <a:gd name="connsiteX1" fmla="*/ 9588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0 h 10000"/>
              <a:gd name="connsiteX1" fmla="*/ 9588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9588"/>
              <a:gd name="connsiteY0" fmla="*/ 0 h 10000"/>
              <a:gd name="connsiteX1" fmla="*/ 9588 w 9588"/>
              <a:gd name="connsiteY1" fmla="*/ 0 h 10000"/>
              <a:gd name="connsiteX2" fmla="*/ 8333 w 9588"/>
              <a:gd name="connsiteY2" fmla="*/ 5000 h 10000"/>
              <a:gd name="connsiteX3" fmla="*/ 8920 w 9588"/>
              <a:gd name="connsiteY3" fmla="*/ 9911 h 10000"/>
              <a:gd name="connsiteX4" fmla="*/ 1667 w 9588"/>
              <a:gd name="connsiteY4" fmla="*/ 10000 h 10000"/>
              <a:gd name="connsiteX5" fmla="*/ 0 w 9588"/>
              <a:gd name="connsiteY5" fmla="*/ 5000 h 10000"/>
              <a:gd name="connsiteX6" fmla="*/ 1667 w 9588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3 w 8264"/>
              <a:gd name="connsiteY0" fmla="*/ 0 h 10000"/>
              <a:gd name="connsiteX1" fmla="*/ 8264 w 8264"/>
              <a:gd name="connsiteY1" fmla="*/ 0 h 10000"/>
              <a:gd name="connsiteX2" fmla="*/ 6955 w 8264"/>
              <a:gd name="connsiteY2" fmla="*/ 5000 h 10000"/>
              <a:gd name="connsiteX3" fmla="*/ 8246 w 8264"/>
              <a:gd name="connsiteY3" fmla="*/ 10000 h 10000"/>
              <a:gd name="connsiteX4" fmla="*/ 3 w 8264"/>
              <a:gd name="connsiteY4" fmla="*/ 10000 h 10000"/>
              <a:gd name="connsiteX5" fmla="*/ 34 w 8264"/>
              <a:gd name="connsiteY5" fmla="*/ 4947 h 10000"/>
              <a:gd name="connsiteX6" fmla="*/ 3 w 8264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0 w 9996"/>
              <a:gd name="connsiteY0" fmla="*/ 0 h 10019"/>
              <a:gd name="connsiteX1" fmla="*/ 9996 w 9996"/>
              <a:gd name="connsiteY1" fmla="*/ 0 h 10019"/>
              <a:gd name="connsiteX2" fmla="*/ 8412 w 9996"/>
              <a:gd name="connsiteY2" fmla="*/ 5000 h 10019"/>
              <a:gd name="connsiteX3" fmla="*/ 9974 w 9996"/>
              <a:gd name="connsiteY3" fmla="*/ 10000 h 10019"/>
              <a:gd name="connsiteX4" fmla="*/ 17 w 9996"/>
              <a:gd name="connsiteY4" fmla="*/ 10019 h 10019"/>
              <a:gd name="connsiteX5" fmla="*/ 15 w 9996"/>
              <a:gd name="connsiteY5" fmla="*/ 4876 h 10019"/>
              <a:gd name="connsiteX6" fmla="*/ 0 w 9996"/>
              <a:gd name="connsiteY6" fmla="*/ 0 h 10019"/>
              <a:gd name="connsiteX0" fmla="*/ 2 w 10002"/>
              <a:gd name="connsiteY0" fmla="*/ 0 h 10000"/>
              <a:gd name="connsiteX1" fmla="*/ 10002 w 10002"/>
              <a:gd name="connsiteY1" fmla="*/ 0 h 10000"/>
              <a:gd name="connsiteX2" fmla="*/ 8417 w 10002"/>
              <a:gd name="connsiteY2" fmla="*/ 4991 h 10000"/>
              <a:gd name="connsiteX3" fmla="*/ 9980 w 10002"/>
              <a:gd name="connsiteY3" fmla="*/ 9981 h 10000"/>
              <a:gd name="connsiteX4" fmla="*/ 19 w 10002"/>
              <a:gd name="connsiteY4" fmla="*/ 10000 h 10000"/>
              <a:gd name="connsiteX5" fmla="*/ 0 w 10002"/>
              <a:gd name="connsiteY5" fmla="*/ 4862 h 10000"/>
              <a:gd name="connsiteX6" fmla="*/ 2 w 10002"/>
              <a:gd name="connsiteY6" fmla="*/ 0 h 10000"/>
              <a:gd name="connsiteX0" fmla="*/ 13 w 10013"/>
              <a:gd name="connsiteY0" fmla="*/ 0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0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21"/>
              <a:gd name="connsiteY0" fmla="*/ 12 h 10017"/>
              <a:gd name="connsiteX1" fmla="*/ 10013 w 10021"/>
              <a:gd name="connsiteY1" fmla="*/ 0 h 10017"/>
              <a:gd name="connsiteX2" fmla="*/ 8428 w 10021"/>
              <a:gd name="connsiteY2" fmla="*/ 4991 h 10017"/>
              <a:gd name="connsiteX3" fmla="*/ 10021 w 10021"/>
              <a:gd name="connsiteY3" fmla="*/ 10017 h 10017"/>
              <a:gd name="connsiteX4" fmla="*/ 30 w 10021"/>
              <a:gd name="connsiteY4" fmla="*/ 10000 h 10017"/>
              <a:gd name="connsiteX5" fmla="*/ 0 w 10021"/>
              <a:gd name="connsiteY5" fmla="*/ 4871 h 10017"/>
              <a:gd name="connsiteX6" fmla="*/ 13 w 10021"/>
              <a:gd name="connsiteY6" fmla="*/ 12 h 10017"/>
              <a:gd name="connsiteX0" fmla="*/ 4 w 10027"/>
              <a:gd name="connsiteY0" fmla="*/ 0 h 10017"/>
              <a:gd name="connsiteX1" fmla="*/ 10019 w 10027"/>
              <a:gd name="connsiteY1" fmla="*/ 0 h 10017"/>
              <a:gd name="connsiteX2" fmla="*/ 8434 w 10027"/>
              <a:gd name="connsiteY2" fmla="*/ 4991 h 10017"/>
              <a:gd name="connsiteX3" fmla="*/ 10027 w 10027"/>
              <a:gd name="connsiteY3" fmla="*/ 10017 h 10017"/>
              <a:gd name="connsiteX4" fmla="*/ 36 w 10027"/>
              <a:gd name="connsiteY4" fmla="*/ 10000 h 10017"/>
              <a:gd name="connsiteX5" fmla="*/ 6 w 10027"/>
              <a:gd name="connsiteY5" fmla="*/ 4871 h 10017"/>
              <a:gd name="connsiteX6" fmla="*/ 4 w 10027"/>
              <a:gd name="connsiteY6" fmla="*/ 0 h 10017"/>
              <a:gd name="connsiteX0" fmla="*/ 2479 w 10187"/>
              <a:gd name="connsiteY0" fmla="*/ 0 h 10017"/>
              <a:gd name="connsiteX1" fmla="*/ 10179 w 10187"/>
              <a:gd name="connsiteY1" fmla="*/ 0 h 10017"/>
              <a:gd name="connsiteX2" fmla="*/ 8594 w 10187"/>
              <a:gd name="connsiteY2" fmla="*/ 4991 h 10017"/>
              <a:gd name="connsiteX3" fmla="*/ 10187 w 10187"/>
              <a:gd name="connsiteY3" fmla="*/ 10017 h 10017"/>
              <a:gd name="connsiteX4" fmla="*/ 196 w 10187"/>
              <a:gd name="connsiteY4" fmla="*/ 10000 h 10017"/>
              <a:gd name="connsiteX5" fmla="*/ 166 w 10187"/>
              <a:gd name="connsiteY5" fmla="*/ 4871 h 10017"/>
              <a:gd name="connsiteX6" fmla="*/ 2479 w 10187"/>
              <a:gd name="connsiteY6" fmla="*/ 0 h 10017"/>
              <a:gd name="connsiteX0" fmla="*/ 1864 w 10145"/>
              <a:gd name="connsiteY0" fmla="*/ 20 h 10017"/>
              <a:gd name="connsiteX1" fmla="*/ 10137 w 10145"/>
              <a:gd name="connsiteY1" fmla="*/ 0 h 10017"/>
              <a:gd name="connsiteX2" fmla="*/ 8552 w 10145"/>
              <a:gd name="connsiteY2" fmla="*/ 4991 h 10017"/>
              <a:gd name="connsiteX3" fmla="*/ 10145 w 10145"/>
              <a:gd name="connsiteY3" fmla="*/ 10017 h 10017"/>
              <a:gd name="connsiteX4" fmla="*/ 154 w 10145"/>
              <a:gd name="connsiteY4" fmla="*/ 10000 h 10017"/>
              <a:gd name="connsiteX5" fmla="*/ 124 w 10145"/>
              <a:gd name="connsiteY5" fmla="*/ 4871 h 10017"/>
              <a:gd name="connsiteX6" fmla="*/ 1864 w 10145"/>
              <a:gd name="connsiteY6" fmla="*/ 20 h 10017"/>
              <a:gd name="connsiteX0" fmla="*/ 1741 w 10022"/>
              <a:gd name="connsiteY0" fmla="*/ 20 h 10017"/>
              <a:gd name="connsiteX1" fmla="*/ 10014 w 10022"/>
              <a:gd name="connsiteY1" fmla="*/ 0 h 10017"/>
              <a:gd name="connsiteX2" fmla="*/ 8429 w 10022"/>
              <a:gd name="connsiteY2" fmla="*/ 4991 h 10017"/>
              <a:gd name="connsiteX3" fmla="*/ 10022 w 10022"/>
              <a:gd name="connsiteY3" fmla="*/ 10017 h 10017"/>
              <a:gd name="connsiteX4" fmla="*/ 1845 w 10022"/>
              <a:gd name="connsiteY4" fmla="*/ 9922 h 10017"/>
              <a:gd name="connsiteX5" fmla="*/ 1 w 10022"/>
              <a:gd name="connsiteY5" fmla="*/ 4871 h 10017"/>
              <a:gd name="connsiteX6" fmla="*/ 1741 w 10022"/>
              <a:gd name="connsiteY6" fmla="*/ 20 h 10017"/>
              <a:gd name="connsiteX0" fmla="*/ 1741 w 10022"/>
              <a:gd name="connsiteY0" fmla="*/ 20 h 10020"/>
              <a:gd name="connsiteX1" fmla="*/ 10014 w 10022"/>
              <a:gd name="connsiteY1" fmla="*/ 0 h 10020"/>
              <a:gd name="connsiteX2" fmla="*/ 8429 w 10022"/>
              <a:gd name="connsiteY2" fmla="*/ 4991 h 10020"/>
              <a:gd name="connsiteX3" fmla="*/ 10022 w 10022"/>
              <a:gd name="connsiteY3" fmla="*/ 10017 h 10020"/>
              <a:gd name="connsiteX4" fmla="*/ 1702 w 10022"/>
              <a:gd name="connsiteY4" fmla="*/ 10020 h 10020"/>
              <a:gd name="connsiteX5" fmla="*/ 1 w 10022"/>
              <a:gd name="connsiteY5" fmla="*/ 4871 h 10020"/>
              <a:gd name="connsiteX6" fmla="*/ 1741 w 10022"/>
              <a:gd name="connsiteY6" fmla="*/ 20 h 10020"/>
              <a:gd name="connsiteX0" fmla="*/ 40 w 8321"/>
              <a:gd name="connsiteY0" fmla="*/ 20 h 10020"/>
              <a:gd name="connsiteX1" fmla="*/ 8313 w 8321"/>
              <a:gd name="connsiteY1" fmla="*/ 0 h 10020"/>
              <a:gd name="connsiteX2" fmla="*/ 6728 w 8321"/>
              <a:gd name="connsiteY2" fmla="*/ 4991 h 10020"/>
              <a:gd name="connsiteX3" fmla="*/ 8321 w 8321"/>
              <a:gd name="connsiteY3" fmla="*/ 10017 h 10020"/>
              <a:gd name="connsiteX4" fmla="*/ 1 w 8321"/>
              <a:gd name="connsiteY4" fmla="*/ 10020 h 10020"/>
              <a:gd name="connsiteX5" fmla="*/ 424 w 8321"/>
              <a:gd name="connsiteY5" fmla="*/ 5086 h 10020"/>
              <a:gd name="connsiteX6" fmla="*/ 40 w 8321"/>
              <a:gd name="connsiteY6" fmla="*/ 20 h 1002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27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81 h 10000"/>
              <a:gd name="connsiteX3" fmla="*/ 10036 w 10036"/>
              <a:gd name="connsiteY3" fmla="*/ 9997 h 10000"/>
              <a:gd name="connsiteX4" fmla="*/ 37 w 10036"/>
              <a:gd name="connsiteY4" fmla="*/ 10000 h 10000"/>
              <a:gd name="connsiteX5" fmla="*/ 1 w 10036"/>
              <a:gd name="connsiteY5" fmla="*/ 5096 h 10000"/>
              <a:gd name="connsiteX6" fmla="*/ 27 w 10036"/>
              <a:gd name="connsiteY6" fmla="*/ 40 h 10000"/>
              <a:gd name="connsiteX0" fmla="*/ 28 w 10037"/>
              <a:gd name="connsiteY0" fmla="*/ 4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28 w 10037"/>
              <a:gd name="connsiteY6" fmla="*/ 40 h 10000"/>
              <a:gd name="connsiteX0" fmla="*/ 81 w 10090"/>
              <a:gd name="connsiteY0" fmla="*/ 40 h 10020"/>
              <a:gd name="connsiteX1" fmla="*/ 10080 w 10090"/>
              <a:gd name="connsiteY1" fmla="*/ 0 h 10020"/>
              <a:gd name="connsiteX2" fmla="*/ 8176 w 10090"/>
              <a:gd name="connsiteY2" fmla="*/ 4981 h 10020"/>
              <a:gd name="connsiteX3" fmla="*/ 10090 w 10090"/>
              <a:gd name="connsiteY3" fmla="*/ 9997 h 10020"/>
              <a:gd name="connsiteX4" fmla="*/ 5 w 10090"/>
              <a:gd name="connsiteY4" fmla="*/ 10020 h 10020"/>
              <a:gd name="connsiteX5" fmla="*/ 55 w 10090"/>
              <a:gd name="connsiteY5" fmla="*/ 5096 h 10020"/>
              <a:gd name="connsiteX6" fmla="*/ 81 w 10090"/>
              <a:gd name="connsiteY6" fmla="*/ 40 h 10020"/>
              <a:gd name="connsiteX0" fmla="*/ 109 w 10118"/>
              <a:gd name="connsiteY0" fmla="*/ 40 h 10040"/>
              <a:gd name="connsiteX1" fmla="*/ 10108 w 10118"/>
              <a:gd name="connsiteY1" fmla="*/ 0 h 10040"/>
              <a:gd name="connsiteX2" fmla="*/ 8204 w 10118"/>
              <a:gd name="connsiteY2" fmla="*/ 4981 h 10040"/>
              <a:gd name="connsiteX3" fmla="*/ 10118 w 10118"/>
              <a:gd name="connsiteY3" fmla="*/ 9997 h 10040"/>
              <a:gd name="connsiteX4" fmla="*/ 4 w 10118"/>
              <a:gd name="connsiteY4" fmla="*/ 10040 h 10040"/>
              <a:gd name="connsiteX5" fmla="*/ 83 w 10118"/>
              <a:gd name="connsiteY5" fmla="*/ 5096 h 10040"/>
              <a:gd name="connsiteX6" fmla="*/ 109 w 10118"/>
              <a:gd name="connsiteY6" fmla="*/ 40 h 10040"/>
              <a:gd name="connsiteX0" fmla="*/ 105 w 10114"/>
              <a:gd name="connsiteY0" fmla="*/ 40 h 10040"/>
              <a:gd name="connsiteX1" fmla="*/ 10104 w 10114"/>
              <a:gd name="connsiteY1" fmla="*/ 0 h 10040"/>
              <a:gd name="connsiteX2" fmla="*/ 8200 w 10114"/>
              <a:gd name="connsiteY2" fmla="*/ 4981 h 10040"/>
              <a:gd name="connsiteX3" fmla="*/ 10114 w 10114"/>
              <a:gd name="connsiteY3" fmla="*/ 9997 h 10040"/>
              <a:gd name="connsiteX4" fmla="*/ 0 w 10114"/>
              <a:gd name="connsiteY4" fmla="*/ 10040 h 10040"/>
              <a:gd name="connsiteX5" fmla="*/ 79 w 10114"/>
              <a:gd name="connsiteY5" fmla="*/ 5096 h 10040"/>
              <a:gd name="connsiteX6" fmla="*/ 105 w 10114"/>
              <a:gd name="connsiteY6" fmla="*/ 40 h 10040"/>
              <a:gd name="connsiteX0" fmla="*/ 46 w 10055"/>
              <a:gd name="connsiteY0" fmla="*/ 40 h 10020"/>
              <a:gd name="connsiteX1" fmla="*/ 10045 w 10055"/>
              <a:gd name="connsiteY1" fmla="*/ 0 h 10020"/>
              <a:gd name="connsiteX2" fmla="*/ 8141 w 10055"/>
              <a:gd name="connsiteY2" fmla="*/ 4981 h 10020"/>
              <a:gd name="connsiteX3" fmla="*/ 10055 w 10055"/>
              <a:gd name="connsiteY3" fmla="*/ 9997 h 10020"/>
              <a:gd name="connsiteX4" fmla="*/ 285 w 10055"/>
              <a:gd name="connsiteY4" fmla="*/ 10020 h 10020"/>
              <a:gd name="connsiteX5" fmla="*/ 20 w 10055"/>
              <a:gd name="connsiteY5" fmla="*/ 5096 h 10020"/>
              <a:gd name="connsiteX6" fmla="*/ 46 w 10055"/>
              <a:gd name="connsiteY6" fmla="*/ 40 h 10020"/>
              <a:gd name="connsiteX0" fmla="*/ 29 w 10038"/>
              <a:gd name="connsiteY0" fmla="*/ 40 h 10040"/>
              <a:gd name="connsiteX1" fmla="*/ 10028 w 10038"/>
              <a:gd name="connsiteY1" fmla="*/ 0 h 10040"/>
              <a:gd name="connsiteX2" fmla="*/ 8124 w 10038"/>
              <a:gd name="connsiteY2" fmla="*/ 4981 h 10040"/>
              <a:gd name="connsiteX3" fmla="*/ 10038 w 10038"/>
              <a:gd name="connsiteY3" fmla="*/ 9997 h 10040"/>
              <a:gd name="connsiteX4" fmla="*/ 39 w 10038"/>
              <a:gd name="connsiteY4" fmla="*/ 10040 h 10040"/>
              <a:gd name="connsiteX5" fmla="*/ 3 w 10038"/>
              <a:gd name="connsiteY5" fmla="*/ 5096 h 10040"/>
              <a:gd name="connsiteX6" fmla="*/ 29 w 10038"/>
              <a:gd name="connsiteY6" fmla="*/ 40 h 10040"/>
              <a:gd name="connsiteX0" fmla="*/ 686 w 10064"/>
              <a:gd name="connsiteY0" fmla="*/ 60 h 10040"/>
              <a:gd name="connsiteX1" fmla="*/ 10054 w 10064"/>
              <a:gd name="connsiteY1" fmla="*/ 0 h 10040"/>
              <a:gd name="connsiteX2" fmla="*/ 8150 w 10064"/>
              <a:gd name="connsiteY2" fmla="*/ 4981 h 10040"/>
              <a:gd name="connsiteX3" fmla="*/ 10064 w 10064"/>
              <a:gd name="connsiteY3" fmla="*/ 9997 h 10040"/>
              <a:gd name="connsiteX4" fmla="*/ 65 w 10064"/>
              <a:gd name="connsiteY4" fmla="*/ 10040 h 10040"/>
              <a:gd name="connsiteX5" fmla="*/ 29 w 10064"/>
              <a:gd name="connsiteY5" fmla="*/ 5096 h 10040"/>
              <a:gd name="connsiteX6" fmla="*/ 686 w 10064"/>
              <a:gd name="connsiteY6" fmla="*/ 6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63 w 10043"/>
              <a:gd name="connsiteY0" fmla="*/ 40 h 10040"/>
              <a:gd name="connsiteX1" fmla="*/ 10033 w 10043"/>
              <a:gd name="connsiteY1" fmla="*/ 0 h 10040"/>
              <a:gd name="connsiteX2" fmla="*/ 8129 w 10043"/>
              <a:gd name="connsiteY2" fmla="*/ 4981 h 10040"/>
              <a:gd name="connsiteX3" fmla="*/ 10043 w 10043"/>
              <a:gd name="connsiteY3" fmla="*/ 9997 h 10040"/>
              <a:gd name="connsiteX4" fmla="*/ 44 w 10043"/>
              <a:gd name="connsiteY4" fmla="*/ 10040 h 10040"/>
              <a:gd name="connsiteX5" fmla="*/ 8 w 10043"/>
              <a:gd name="connsiteY5" fmla="*/ 5096 h 10040"/>
              <a:gd name="connsiteX6" fmla="*/ 63 w 10043"/>
              <a:gd name="connsiteY6" fmla="*/ 4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1805 w 11785"/>
              <a:gd name="connsiteY0" fmla="*/ 40 h 10040"/>
              <a:gd name="connsiteX1" fmla="*/ 11775 w 11785"/>
              <a:gd name="connsiteY1" fmla="*/ 0 h 10040"/>
              <a:gd name="connsiteX2" fmla="*/ 9871 w 11785"/>
              <a:gd name="connsiteY2" fmla="*/ 4981 h 10040"/>
              <a:gd name="connsiteX3" fmla="*/ 11785 w 11785"/>
              <a:gd name="connsiteY3" fmla="*/ 9997 h 10040"/>
              <a:gd name="connsiteX4" fmla="*/ 1786 w 11785"/>
              <a:gd name="connsiteY4" fmla="*/ 10040 h 10040"/>
              <a:gd name="connsiteX5" fmla="*/ 0 w 11785"/>
              <a:gd name="connsiteY5" fmla="*/ 5135 h 10040"/>
              <a:gd name="connsiteX6" fmla="*/ 1805 w 11785"/>
              <a:gd name="connsiteY6" fmla="*/ 40 h 10040"/>
              <a:gd name="connsiteX0" fmla="*/ 429 w 10409"/>
              <a:gd name="connsiteY0" fmla="*/ 40 h 10040"/>
              <a:gd name="connsiteX1" fmla="*/ 10399 w 10409"/>
              <a:gd name="connsiteY1" fmla="*/ 0 h 10040"/>
              <a:gd name="connsiteX2" fmla="*/ 8495 w 10409"/>
              <a:gd name="connsiteY2" fmla="*/ 4981 h 10040"/>
              <a:gd name="connsiteX3" fmla="*/ 10409 w 10409"/>
              <a:gd name="connsiteY3" fmla="*/ 9997 h 10040"/>
              <a:gd name="connsiteX4" fmla="*/ 410 w 10409"/>
              <a:gd name="connsiteY4" fmla="*/ 10040 h 10040"/>
              <a:gd name="connsiteX5" fmla="*/ 1 w 10409"/>
              <a:gd name="connsiteY5" fmla="*/ 5252 h 10040"/>
              <a:gd name="connsiteX6" fmla="*/ 429 w 10409"/>
              <a:gd name="connsiteY6" fmla="*/ 40 h 10040"/>
              <a:gd name="connsiteX0" fmla="*/ 19 w 9999"/>
              <a:gd name="connsiteY0" fmla="*/ 40 h 10040"/>
              <a:gd name="connsiteX1" fmla="*/ 9989 w 9999"/>
              <a:gd name="connsiteY1" fmla="*/ 0 h 10040"/>
              <a:gd name="connsiteX2" fmla="*/ 8085 w 9999"/>
              <a:gd name="connsiteY2" fmla="*/ 4981 h 10040"/>
              <a:gd name="connsiteX3" fmla="*/ 9999 w 9999"/>
              <a:gd name="connsiteY3" fmla="*/ 9997 h 10040"/>
              <a:gd name="connsiteX4" fmla="*/ 0 w 9999"/>
              <a:gd name="connsiteY4" fmla="*/ 10040 h 10040"/>
              <a:gd name="connsiteX5" fmla="*/ 50 w 9999"/>
              <a:gd name="connsiteY5" fmla="*/ 5154 h 10040"/>
              <a:gd name="connsiteX6" fmla="*/ 19 w 9999"/>
              <a:gd name="connsiteY6" fmla="*/ 40 h 10040"/>
              <a:gd name="connsiteX0" fmla="*/ 55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61 h 10000"/>
              <a:gd name="connsiteX3" fmla="*/ 10036 w 10036"/>
              <a:gd name="connsiteY3" fmla="*/ 9957 h 10000"/>
              <a:gd name="connsiteX4" fmla="*/ 36 w 10036"/>
              <a:gd name="connsiteY4" fmla="*/ 10000 h 10000"/>
              <a:gd name="connsiteX5" fmla="*/ 0 w 10036"/>
              <a:gd name="connsiteY5" fmla="*/ 5230 h 10000"/>
              <a:gd name="connsiteX6" fmla="*/ 55 w 10036"/>
              <a:gd name="connsiteY6" fmla="*/ 40 h 10000"/>
              <a:gd name="connsiteX0" fmla="*/ 18 w 10056"/>
              <a:gd name="connsiteY0" fmla="*/ 21 h 10000"/>
              <a:gd name="connsiteX1" fmla="*/ 10046 w 10056"/>
              <a:gd name="connsiteY1" fmla="*/ 0 h 10000"/>
              <a:gd name="connsiteX2" fmla="*/ 8142 w 10056"/>
              <a:gd name="connsiteY2" fmla="*/ 4961 h 10000"/>
              <a:gd name="connsiteX3" fmla="*/ 10056 w 10056"/>
              <a:gd name="connsiteY3" fmla="*/ 9957 h 10000"/>
              <a:gd name="connsiteX4" fmla="*/ 56 w 10056"/>
              <a:gd name="connsiteY4" fmla="*/ 10000 h 10000"/>
              <a:gd name="connsiteX5" fmla="*/ 20 w 10056"/>
              <a:gd name="connsiteY5" fmla="*/ 5230 h 10000"/>
              <a:gd name="connsiteX6" fmla="*/ 18 w 10056"/>
              <a:gd name="connsiteY6" fmla="*/ 21 h 1000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21 w 10059"/>
              <a:gd name="connsiteY0" fmla="*/ 21 h 10020"/>
              <a:gd name="connsiteX1" fmla="*/ 10049 w 10059"/>
              <a:gd name="connsiteY1" fmla="*/ 0 h 10020"/>
              <a:gd name="connsiteX2" fmla="*/ 8145 w 10059"/>
              <a:gd name="connsiteY2" fmla="*/ 4961 h 10020"/>
              <a:gd name="connsiteX3" fmla="*/ 10059 w 10059"/>
              <a:gd name="connsiteY3" fmla="*/ 9957 h 10020"/>
              <a:gd name="connsiteX4" fmla="*/ 15 w 10059"/>
              <a:gd name="connsiteY4" fmla="*/ 10020 h 10020"/>
              <a:gd name="connsiteX5" fmla="*/ 8 w 10059"/>
              <a:gd name="connsiteY5" fmla="*/ 5191 h 10020"/>
              <a:gd name="connsiteX6" fmla="*/ 21 w 10059"/>
              <a:gd name="connsiteY6" fmla="*/ 21 h 10020"/>
              <a:gd name="connsiteX0" fmla="*/ 29 w 10052"/>
              <a:gd name="connsiteY0" fmla="*/ 0 h 10058"/>
              <a:gd name="connsiteX1" fmla="*/ 10042 w 10052"/>
              <a:gd name="connsiteY1" fmla="*/ 38 h 10058"/>
              <a:gd name="connsiteX2" fmla="*/ 8138 w 10052"/>
              <a:gd name="connsiteY2" fmla="*/ 4999 h 10058"/>
              <a:gd name="connsiteX3" fmla="*/ 10052 w 10052"/>
              <a:gd name="connsiteY3" fmla="*/ 9995 h 10058"/>
              <a:gd name="connsiteX4" fmla="*/ 8 w 10052"/>
              <a:gd name="connsiteY4" fmla="*/ 10058 h 10058"/>
              <a:gd name="connsiteX5" fmla="*/ 1 w 10052"/>
              <a:gd name="connsiteY5" fmla="*/ 5229 h 10058"/>
              <a:gd name="connsiteX6" fmla="*/ 29 w 10052"/>
              <a:gd name="connsiteY6" fmla="*/ 0 h 10058"/>
              <a:gd name="connsiteX0" fmla="*/ 29 w 10052"/>
              <a:gd name="connsiteY0" fmla="*/ 1 h 10020"/>
              <a:gd name="connsiteX1" fmla="*/ 10042 w 10052"/>
              <a:gd name="connsiteY1" fmla="*/ 0 h 10020"/>
              <a:gd name="connsiteX2" fmla="*/ 8138 w 10052"/>
              <a:gd name="connsiteY2" fmla="*/ 4961 h 10020"/>
              <a:gd name="connsiteX3" fmla="*/ 10052 w 10052"/>
              <a:gd name="connsiteY3" fmla="*/ 9957 h 10020"/>
              <a:gd name="connsiteX4" fmla="*/ 8 w 10052"/>
              <a:gd name="connsiteY4" fmla="*/ 10020 h 10020"/>
              <a:gd name="connsiteX5" fmla="*/ 1 w 10052"/>
              <a:gd name="connsiteY5" fmla="*/ 5191 h 10020"/>
              <a:gd name="connsiteX6" fmla="*/ 29 w 10052"/>
              <a:gd name="connsiteY6" fmla="*/ 1 h 10020"/>
              <a:gd name="connsiteX0" fmla="*/ 6 w 10190"/>
              <a:gd name="connsiteY0" fmla="*/ 0 h 10039"/>
              <a:gd name="connsiteX1" fmla="*/ 10180 w 10190"/>
              <a:gd name="connsiteY1" fmla="*/ 19 h 10039"/>
              <a:gd name="connsiteX2" fmla="*/ 8276 w 10190"/>
              <a:gd name="connsiteY2" fmla="*/ 4980 h 10039"/>
              <a:gd name="connsiteX3" fmla="*/ 10190 w 10190"/>
              <a:gd name="connsiteY3" fmla="*/ 9976 h 10039"/>
              <a:gd name="connsiteX4" fmla="*/ 146 w 10190"/>
              <a:gd name="connsiteY4" fmla="*/ 10039 h 10039"/>
              <a:gd name="connsiteX5" fmla="*/ 139 w 10190"/>
              <a:gd name="connsiteY5" fmla="*/ 5210 h 10039"/>
              <a:gd name="connsiteX6" fmla="*/ 6 w 10190"/>
              <a:gd name="connsiteY6" fmla="*/ 0 h 10039"/>
              <a:gd name="connsiteX0" fmla="*/ 90 w 10054"/>
              <a:gd name="connsiteY0" fmla="*/ 0 h 10039"/>
              <a:gd name="connsiteX1" fmla="*/ 10044 w 10054"/>
              <a:gd name="connsiteY1" fmla="*/ 19 h 10039"/>
              <a:gd name="connsiteX2" fmla="*/ 8140 w 10054"/>
              <a:gd name="connsiteY2" fmla="*/ 4980 h 10039"/>
              <a:gd name="connsiteX3" fmla="*/ 10054 w 10054"/>
              <a:gd name="connsiteY3" fmla="*/ 9976 h 10039"/>
              <a:gd name="connsiteX4" fmla="*/ 10 w 10054"/>
              <a:gd name="connsiteY4" fmla="*/ 10039 h 10039"/>
              <a:gd name="connsiteX5" fmla="*/ 3 w 10054"/>
              <a:gd name="connsiteY5" fmla="*/ 5210 h 10039"/>
              <a:gd name="connsiteX6" fmla="*/ 90 w 10054"/>
              <a:gd name="connsiteY6" fmla="*/ 0 h 10039"/>
              <a:gd name="connsiteX0" fmla="*/ 17 w 10069"/>
              <a:gd name="connsiteY0" fmla="*/ 1 h 10020"/>
              <a:gd name="connsiteX1" fmla="*/ 10059 w 10069"/>
              <a:gd name="connsiteY1" fmla="*/ 0 h 10020"/>
              <a:gd name="connsiteX2" fmla="*/ 8155 w 10069"/>
              <a:gd name="connsiteY2" fmla="*/ 4961 h 10020"/>
              <a:gd name="connsiteX3" fmla="*/ 10069 w 10069"/>
              <a:gd name="connsiteY3" fmla="*/ 9957 h 10020"/>
              <a:gd name="connsiteX4" fmla="*/ 25 w 10069"/>
              <a:gd name="connsiteY4" fmla="*/ 10020 h 10020"/>
              <a:gd name="connsiteX5" fmla="*/ 18 w 10069"/>
              <a:gd name="connsiteY5" fmla="*/ 5191 h 10020"/>
              <a:gd name="connsiteX6" fmla="*/ 17 w 10069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19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75"/>
              <a:gd name="connsiteX1" fmla="*/ 10053 w 10063"/>
              <a:gd name="connsiteY1" fmla="*/ 0 h 10075"/>
              <a:gd name="connsiteX2" fmla="*/ 8149 w 10063"/>
              <a:gd name="connsiteY2" fmla="*/ 4961 h 10075"/>
              <a:gd name="connsiteX3" fmla="*/ 10063 w 10063"/>
              <a:gd name="connsiteY3" fmla="*/ 9957 h 10075"/>
              <a:gd name="connsiteX4" fmla="*/ 4 w 10063"/>
              <a:gd name="connsiteY4" fmla="*/ 10020 h 10075"/>
              <a:gd name="connsiteX5" fmla="*/ 12 w 10063"/>
              <a:gd name="connsiteY5" fmla="*/ 5191 h 10075"/>
              <a:gd name="connsiteX6" fmla="*/ 11 w 10063"/>
              <a:gd name="connsiteY6" fmla="*/ 1 h 10075"/>
              <a:gd name="connsiteX0" fmla="*/ 1259 w 11311"/>
              <a:gd name="connsiteY0" fmla="*/ 1 h 10075"/>
              <a:gd name="connsiteX1" fmla="*/ 11301 w 11311"/>
              <a:gd name="connsiteY1" fmla="*/ 0 h 10075"/>
              <a:gd name="connsiteX2" fmla="*/ 9397 w 11311"/>
              <a:gd name="connsiteY2" fmla="*/ 4961 h 10075"/>
              <a:gd name="connsiteX3" fmla="*/ 11311 w 11311"/>
              <a:gd name="connsiteY3" fmla="*/ 9957 h 10075"/>
              <a:gd name="connsiteX4" fmla="*/ 1252 w 11311"/>
              <a:gd name="connsiteY4" fmla="*/ 10020 h 10075"/>
              <a:gd name="connsiteX5" fmla="*/ 1259 w 11311"/>
              <a:gd name="connsiteY5" fmla="*/ 1 h 10075"/>
              <a:gd name="connsiteX0" fmla="*/ 741 w 10793"/>
              <a:gd name="connsiteY0" fmla="*/ 1 h 10075"/>
              <a:gd name="connsiteX1" fmla="*/ 10783 w 10793"/>
              <a:gd name="connsiteY1" fmla="*/ 0 h 10075"/>
              <a:gd name="connsiteX2" fmla="*/ 8879 w 10793"/>
              <a:gd name="connsiteY2" fmla="*/ 4961 h 10075"/>
              <a:gd name="connsiteX3" fmla="*/ 10793 w 10793"/>
              <a:gd name="connsiteY3" fmla="*/ 9957 h 10075"/>
              <a:gd name="connsiteX4" fmla="*/ 734 w 10793"/>
              <a:gd name="connsiteY4" fmla="*/ 10020 h 10075"/>
              <a:gd name="connsiteX5" fmla="*/ 741 w 10793"/>
              <a:gd name="connsiteY5" fmla="*/ 1 h 10075"/>
              <a:gd name="connsiteX0" fmla="*/ 738 w 10790"/>
              <a:gd name="connsiteY0" fmla="*/ 1 h 10075"/>
              <a:gd name="connsiteX1" fmla="*/ 10780 w 10790"/>
              <a:gd name="connsiteY1" fmla="*/ 0 h 10075"/>
              <a:gd name="connsiteX2" fmla="*/ 8876 w 10790"/>
              <a:gd name="connsiteY2" fmla="*/ 4961 h 10075"/>
              <a:gd name="connsiteX3" fmla="*/ 10790 w 10790"/>
              <a:gd name="connsiteY3" fmla="*/ 9957 h 10075"/>
              <a:gd name="connsiteX4" fmla="*/ 731 w 10790"/>
              <a:gd name="connsiteY4" fmla="*/ 10020 h 10075"/>
              <a:gd name="connsiteX5" fmla="*/ 738 w 10790"/>
              <a:gd name="connsiteY5" fmla="*/ 1 h 10075"/>
              <a:gd name="connsiteX0" fmla="*/ 777 w 10829"/>
              <a:gd name="connsiteY0" fmla="*/ 1 h 10075"/>
              <a:gd name="connsiteX1" fmla="*/ 10819 w 10829"/>
              <a:gd name="connsiteY1" fmla="*/ 0 h 10075"/>
              <a:gd name="connsiteX2" fmla="*/ 8915 w 10829"/>
              <a:gd name="connsiteY2" fmla="*/ 4961 h 10075"/>
              <a:gd name="connsiteX3" fmla="*/ 10829 w 10829"/>
              <a:gd name="connsiteY3" fmla="*/ 9957 h 10075"/>
              <a:gd name="connsiteX4" fmla="*/ 770 w 10829"/>
              <a:gd name="connsiteY4" fmla="*/ 10020 h 10075"/>
              <a:gd name="connsiteX5" fmla="*/ 777 w 10829"/>
              <a:gd name="connsiteY5" fmla="*/ 1 h 10075"/>
              <a:gd name="connsiteX0" fmla="*/ 761 w 10813"/>
              <a:gd name="connsiteY0" fmla="*/ 1 h 10075"/>
              <a:gd name="connsiteX1" fmla="*/ 10803 w 10813"/>
              <a:gd name="connsiteY1" fmla="*/ 0 h 10075"/>
              <a:gd name="connsiteX2" fmla="*/ 8899 w 10813"/>
              <a:gd name="connsiteY2" fmla="*/ 4961 h 10075"/>
              <a:gd name="connsiteX3" fmla="*/ 10813 w 10813"/>
              <a:gd name="connsiteY3" fmla="*/ 9957 h 10075"/>
              <a:gd name="connsiteX4" fmla="*/ 754 w 10813"/>
              <a:gd name="connsiteY4" fmla="*/ 10020 h 10075"/>
              <a:gd name="connsiteX5" fmla="*/ 761 w 10813"/>
              <a:gd name="connsiteY5" fmla="*/ 1 h 10075"/>
              <a:gd name="connsiteX0" fmla="*/ 251 w 10303"/>
              <a:gd name="connsiteY0" fmla="*/ 1 h 10075"/>
              <a:gd name="connsiteX1" fmla="*/ 10293 w 10303"/>
              <a:gd name="connsiteY1" fmla="*/ 0 h 10075"/>
              <a:gd name="connsiteX2" fmla="*/ 8389 w 10303"/>
              <a:gd name="connsiteY2" fmla="*/ 4961 h 10075"/>
              <a:gd name="connsiteX3" fmla="*/ 10303 w 10303"/>
              <a:gd name="connsiteY3" fmla="*/ 9957 h 10075"/>
              <a:gd name="connsiteX4" fmla="*/ 244 w 10303"/>
              <a:gd name="connsiteY4" fmla="*/ 10020 h 10075"/>
              <a:gd name="connsiteX5" fmla="*/ 251 w 10303"/>
              <a:gd name="connsiteY5" fmla="*/ 1 h 10075"/>
              <a:gd name="connsiteX0" fmla="*/ 746 w 10798"/>
              <a:gd name="connsiteY0" fmla="*/ 1 h 10075"/>
              <a:gd name="connsiteX1" fmla="*/ 10788 w 10798"/>
              <a:gd name="connsiteY1" fmla="*/ 0 h 10075"/>
              <a:gd name="connsiteX2" fmla="*/ 8884 w 10798"/>
              <a:gd name="connsiteY2" fmla="*/ 4961 h 10075"/>
              <a:gd name="connsiteX3" fmla="*/ 10798 w 10798"/>
              <a:gd name="connsiteY3" fmla="*/ 9957 h 10075"/>
              <a:gd name="connsiteX4" fmla="*/ 739 w 10798"/>
              <a:gd name="connsiteY4" fmla="*/ 10020 h 10075"/>
              <a:gd name="connsiteX5" fmla="*/ 746 w 10798"/>
              <a:gd name="connsiteY5" fmla="*/ 1 h 10075"/>
              <a:gd name="connsiteX0" fmla="*/ 8 w 10060"/>
              <a:gd name="connsiteY0" fmla="*/ 1 h 10075"/>
              <a:gd name="connsiteX1" fmla="*/ 10050 w 10060"/>
              <a:gd name="connsiteY1" fmla="*/ 0 h 10075"/>
              <a:gd name="connsiteX2" fmla="*/ 8146 w 10060"/>
              <a:gd name="connsiteY2" fmla="*/ 4961 h 10075"/>
              <a:gd name="connsiteX3" fmla="*/ 10060 w 10060"/>
              <a:gd name="connsiteY3" fmla="*/ 9957 h 10075"/>
              <a:gd name="connsiteX4" fmla="*/ 1 w 10060"/>
              <a:gd name="connsiteY4" fmla="*/ 10020 h 10075"/>
              <a:gd name="connsiteX5" fmla="*/ 8 w 10060"/>
              <a:gd name="connsiteY5" fmla="*/ 1 h 10075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10"/>
              <a:gd name="connsiteX1" fmla="*/ 10050 w 10089"/>
              <a:gd name="connsiteY1" fmla="*/ 0 h 10010"/>
              <a:gd name="connsiteX2" fmla="*/ 8146 w 10089"/>
              <a:gd name="connsiteY2" fmla="*/ 4961 h 10010"/>
              <a:gd name="connsiteX3" fmla="*/ 10089 w 10089"/>
              <a:gd name="connsiteY3" fmla="*/ 9987 h 10010"/>
              <a:gd name="connsiteX4" fmla="*/ 1 w 10089"/>
              <a:gd name="connsiteY4" fmla="*/ 10010 h 10010"/>
              <a:gd name="connsiteX5" fmla="*/ 8 w 10089"/>
              <a:gd name="connsiteY5" fmla="*/ 1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9" h="10010">
                <a:moveTo>
                  <a:pt x="8" y="1"/>
                </a:moveTo>
                <a:lnTo>
                  <a:pt x="10050" y="0"/>
                </a:lnTo>
                <a:cubicBezTo>
                  <a:pt x="8837" y="1464"/>
                  <a:pt x="8140" y="3297"/>
                  <a:pt x="8146" y="4961"/>
                </a:cubicBezTo>
                <a:cubicBezTo>
                  <a:pt x="8152" y="6625"/>
                  <a:pt x="8902" y="8823"/>
                  <a:pt x="10089" y="9987"/>
                </a:cubicBezTo>
                <a:lnTo>
                  <a:pt x="1" y="10010"/>
                </a:lnTo>
                <a:cubicBezTo>
                  <a:pt x="-2" y="7127"/>
                  <a:pt x="5" y="1839"/>
                  <a:pt x="8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7112843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7112843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5945202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6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977B1A6-217B-41F0-9DFC-F7E7553812E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7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5945202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9310101-83C5-1407-4907-E4CBFBBE803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4961" y="1376363"/>
            <a:ext cx="7112843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394136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lue Conten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E5FEB1BF-997C-4287-8BCC-41F04BFCE26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  <a:lvl2pPr>
              <a:defRPr>
                <a:solidFill>
                  <a:srgbClr val="FFFFFF"/>
                </a:solidFill>
                <a:effectLst/>
              </a:defRPr>
            </a:lvl2pPr>
            <a:lvl3pPr>
              <a:defRPr>
                <a:solidFill>
                  <a:srgbClr val="FFFFFF"/>
                </a:solidFill>
                <a:effectLst/>
              </a:defRPr>
            </a:lvl3pPr>
            <a:lvl4pPr>
              <a:defRPr>
                <a:solidFill>
                  <a:srgbClr val="FFFFFF"/>
                </a:solidFill>
                <a:effectLst/>
              </a:defRPr>
            </a:lvl4pPr>
            <a:lvl5pPr>
              <a:defRPr>
                <a:solidFill>
                  <a:srgbClr val="FFFFFF"/>
                </a:solidFill>
                <a:effectLst/>
              </a:defRPr>
            </a:lvl5pPr>
            <a:lvl6pPr>
              <a:defRPr>
                <a:solidFill>
                  <a:srgbClr val="FFFFFF"/>
                </a:solidFill>
                <a:effectLst/>
              </a:defRPr>
            </a:lvl6pPr>
            <a:lvl7pPr>
              <a:defRPr>
                <a:solidFill>
                  <a:srgbClr val="FFFFFF"/>
                </a:solidFill>
                <a:effectLst/>
              </a:defRPr>
            </a:lvl7pPr>
            <a:lvl8pPr>
              <a:defRPr>
                <a:solidFill>
                  <a:srgbClr val="FFFFFF"/>
                </a:solidFill>
                <a:effectLst/>
              </a:defRPr>
            </a:lvl8pPr>
            <a:lvl9pPr>
              <a:defRPr>
                <a:solidFill>
                  <a:srgbClr val="FFFFFF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E2F0D25-E757-9524-195B-6CFB80273C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11" name="Text Placeholder 45">
            <a:extLst>
              <a:ext uri="{FF2B5EF4-FFF2-40B4-BE49-F238E27FC236}">
                <a16:creationId xmlns:a16="http://schemas.microsoft.com/office/drawing/2014/main" id="{63850410-D7F9-C04C-C590-CDF01BF114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5980475-BD41-10CE-E1C7-43CFAD3BF2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7F95690D-67D6-88ED-CECD-C5D5D15C968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1FB11D89-5CA4-CE93-B7AA-731D135C47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1F60E75-5799-5F7F-1E0C-87D1EE0486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6" name="Title 12">
            <a:extLst>
              <a:ext uri="{FF2B5EF4-FFF2-40B4-BE49-F238E27FC236}">
                <a16:creationId xmlns:a16="http://schemas.microsoft.com/office/drawing/2014/main" id="{27461879-2005-0A75-3953-6F76A556D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30474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23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4046684-7870-BCE5-7CE0-57F367686D7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7000C1-A3A9-E958-E2CB-C927D0E575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1707695F-79E6-4342-258F-83131AD0C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78498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867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onten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ECDACB-E175-7E51-B04C-FF8FE905714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B288A67D-5C97-7AEB-75FE-148AA5C192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F07238EF-1782-FBA2-D3B8-B510026EA1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3AA91119-5857-8F26-5C0B-2BAE6EBE490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10" name="Slide Number Placeholder 15">
            <a:extLst>
              <a:ext uri="{FF2B5EF4-FFF2-40B4-BE49-F238E27FC236}">
                <a16:creationId xmlns:a16="http://schemas.microsoft.com/office/drawing/2014/main" id="{03762FE5-F4DF-2A5A-17AD-78514B40EF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9B2225E-E6CC-44C6-DD08-93DB00054A1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BF2CCB2-32A3-FDCC-2AE5-6E56EA1B20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5B302D2-708D-582D-1820-1552AF1A2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63762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lue Content L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B778D-7C27-F3F9-EFC1-7E6289C45F6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BD32AEDD-FC1C-0C9D-308B-305299750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5F7B75E-8942-96D7-F562-660956D54B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00C22AD-0552-2AF6-9AFE-C4AD38E78FA1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93E4E246-A44F-6DBC-3E8E-3C0EF9D75E1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78C0D59-817C-5190-5225-15815FC9C75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  <a:lvl2pPr>
              <a:defRPr>
                <a:solidFill>
                  <a:srgbClr val="FFFFFF"/>
                </a:solidFill>
                <a:effectLst/>
              </a:defRPr>
            </a:lvl2pPr>
            <a:lvl3pPr>
              <a:defRPr>
                <a:solidFill>
                  <a:srgbClr val="FFFFFF"/>
                </a:solidFill>
                <a:effectLst/>
              </a:defRPr>
            </a:lvl3pPr>
            <a:lvl4pPr>
              <a:defRPr>
                <a:solidFill>
                  <a:srgbClr val="FFFFFF"/>
                </a:solidFill>
                <a:effectLst/>
              </a:defRPr>
            </a:lvl4pPr>
            <a:lvl5pPr>
              <a:defRPr>
                <a:solidFill>
                  <a:srgbClr val="FFFFFF"/>
                </a:solidFill>
                <a:effectLst/>
              </a:defRPr>
            </a:lvl5pPr>
            <a:lvl6pPr>
              <a:defRPr>
                <a:solidFill>
                  <a:srgbClr val="FFFFFF"/>
                </a:solidFill>
                <a:effectLst/>
              </a:defRPr>
            </a:lvl6pPr>
            <a:lvl7pPr>
              <a:defRPr>
                <a:solidFill>
                  <a:srgbClr val="FFFFFF"/>
                </a:solidFill>
                <a:effectLst/>
              </a:defRPr>
            </a:lvl7pPr>
            <a:lvl8pPr>
              <a:defRPr>
                <a:solidFill>
                  <a:srgbClr val="FFFFFF"/>
                </a:solidFill>
                <a:effectLst/>
              </a:defRPr>
            </a:lvl8pPr>
            <a:lvl9pPr>
              <a:defRPr>
                <a:solidFill>
                  <a:srgbClr val="FFFFFF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2D2D89F-7903-F9A9-C1D3-A5A3CADF2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0" name="Title 12">
            <a:extLst>
              <a:ext uri="{FF2B5EF4-FFF2-40B4-BE49-F238E27FC236}">
                <a16:creationId xmlns:a16="http://schemas.microsoft.com/office/drawing/2014/main" id="{DB7C9FA8-6038-2A06-E3A9-6785DB36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539115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20" name="Text Placeholder 45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99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CD536E5-C517-6FCA-F932-8E6A8DB8783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D20EE95-5892-EADA-1380-1548857E0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0AC32B65-9124-294A-C09E-10140D849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764262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867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ontent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8DA677-DEA6-EBB2-E5E9-856BDED91D1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12" name="Text Placeholder 45">
            <a:extLst>
              <a:ext uri="{FF2B5EF4-FFF2-40B4-BE49-F238E27FC236}">
                <a16:creationId xmlns:a16="http://schemas.microsoft.com/office/drawing/2014/main" id="{D4BA98B9-E4F7-7BCD-890F-650040444F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07F7C74-7C49-7120-401F-886342453C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5744A9D-FBA6-0136-5670-C7C6EE4E3D84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5" name="Slide Number Placeholder 10">
            <a:extLst>
              <a:ext uri="{FF2B5EF4-FFF2-40B4-BE49-F238E27FC236}">
                <a16:creationId xmlns:a16="http://schemas.microsoft.com/office/drawing/2014/main" id="{FA0EE950-7C40-D529-05CF-05B35B305D0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5BD9AC0C-9B90-1FEF-A8D9-254B65313157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8A7429E5-2B5F-5337-F98F-83582F1FC5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5" name="Title 12">
            <a:extLst>
              <a:ext uri="{FF2B5EF4-FFF2-40B4-BE49-F238E27FC236}">
                <a16:creationId xmlns:a16="http://schemas.microsoft.com/office/drawing/2014/main" id="{E22C56B2-2751-E34D-A926-3DBBF45C5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798966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Gray Circ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21454B9D-FB04-FD5D-1330-4C6542831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6254750" cy="6858001"/>
          </a:xfrm>
          <a:custGeom>
            <a:avLst/>
            <a:gdLst>
              <a:gd name="connsiteX0" fmla="*/ 0 w 6254750"/>
              <a:gd name="connsiteY0" fmla="*/ 0 h 6858001"/>
              <a:gd name="connsiteX1" fmla="*/ 5355041 w 6254750"/>
              <a:gd name="connsiteY1" fmla="*/ 0 h 6858001"/>
              <a:gd name="connsiteX2" fmla="*/ 5411278 w 6254750"/>
              <a:gd name="connsiteY2" fmla="*/ 97807 h 6858001"/>
              <a:gd name="connsiteX3" fmla="*/ 6254750 w 6254750"/>
              <a:gd name="connsiteY3" fmla="*/ 3429001 h 6858001"/>
              <a:gd name="connsiteX4" fmla="*/ 5411278 w 6254750"/>
              <a:gd name="connsiteY4" fmla="*/ 6760195 h 6858001"/>
              <a:gd name="connsiteX5" fmla="*/ 5355042 w 6254750"/>
              <a:gd name="connsiteY5" fmla="*/ 6858001 h 6858001"/>
              <a:gd name="connsiteX6" fmla="*/ 0 w 6254750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4750" h="6858001">
                <a:moveTo>
                  <a:pt x="0" y="0"/>
                </a:moveTo>
                <a:lnTo>
                  <a:pt x="5355041" y="0"/>
                </a:lnTo>
                <a:lnTo>
                  <a:pt x="5411278" y="97807"/>
                </a:lnTo>
                <a:cubicBezTo>
                  <a:pt x="5949198" y="1088048"/>
                  <a:pt x="6254750" y="2222841"/>
                  <a:pt x="6254750" y="3429001"/>
                </a:cubicBezTo>
                <a:cubicBezTo>
                  <a:pt x="6254750" y="4635161"/>
                  <a:pt x="5949198" y="5769954"/>
                  <a:pt x="5411278" y="6760195"/>
                </a:cubicBezTo>
                <a:lnTo>
                  <a:pt x="535504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en-PT" sz="1400" err="1">
              <a:solidFill>
                <a:srgbClr val="FFFFFF"/>
              </a:solidFill>
            </a:endParaRP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91625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91625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C92FD91-0AA2-17C6-3097-62DF271F3B1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083889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7734077-F67B-A620-80DD-D613ED91E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08285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A80CCF9A-37FD-2EA1-B42D-7B70A25A4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08285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" name="Freeform 146">
            <a:extLst>
              <a:ext uri="{FF2B5EF4-FFF2-40B4-BE49-F238E27FC236}">
                <a16:creationId xmlns:a16="http://schemas.microsoft.com/office/drawing/2014/main" id="{7199D22F-ECFF-61B9-3917-122AE8A00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10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">
          <p15:clr>
            <a:srgbClr val="FBAE40"/>
          </p15:clr>
        </p15:guide>
        <p15:guide id="3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irc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0AE2F16D-7DDE-6829-DF61-006C52A3CC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5937250" y="-1"/>
            <a:ext cx="6254750" cy="6858001"/>
          </a:xfrm>
          <a:custGeom>
            <a:avLst/>
            <a:gdLst>
              <a:gd name="connsiteX0" fmla="*/ 0 w 6254750"/>
              <a:gd name="connsiteY0" fmla="*/ 0 h 6858001"/>
              <a:gd name="connsiteX1" fmla="*/ 5355041 w 6254750"/>
              <a:gd name="connsiteY1" fmla="*/ 0 h 6858001"/>
              <a:gd name="connsiteX2" fmla="*/ 5411278 w 6254750"/>
              <a:gd name="connsiteY2" fmla="*/ 97807 h 6858001"/>
              <a:gd name="connsiteX3" fmla="*/ 6254750 w 6254750"/>
              <a:gd name="connsiteY3" fmla="*/ 3429001 h 6858001"/>
              <a:gd name="connsiteX4" fmla="*/ 5411278 w 6254750"/>
              <a:gd name="connsiteY4" fmla="*/ 6760195 h 6858001"/>
              <a:gd name="connsiteX5" fmla="*/ 5355042 w 6254750"/>
              <a:gd name="connsiteY5" fmla="*/ 6858001 h 6858001"/>
              <a:gd name="connsiteX6" fmla="*/ 0 w 6254750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4750" h="6858001">
                <a:moveTo>
                  <a:pt x="0" y="0"/>
                </a:moveTo>
                <a:lnTo>
                  <a:pt x="5355041" y="0"/>
                </a:lnTo>
                <a:lnTo>
                  <a:pt x="5411278" y="97807"/>
                </a:lnTo>
                <a:cubicBezTo>
                  <a:pt x="5949198" y="1088048"/>
                  <a:pt x="6254750" y="2222841"/>
                  <a:pt x="6254750" y="3429001"/>
                </a:cubicBezTo>
                <a:cubicBezTo>
                  <a:pt x="6254750" y="4635161"/>
                  <a:pt x="5949198" y="5769954"/>
                  <a:pt x="5411278" y="6760195"/>
                </a:cubicBezTo>
                <a:lnTo>
                  <a:pt x="535504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en-PT" sz="1400" err="1">
              <a:solidFill>
                <a:srgbClr val="FFFFFF"/>
              </a:solidFill>
            </a:endParaRP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 baseline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effectLst/>
              </a:defRPr>
            </a:lvl1pPr>
          </a:lstStyle>
          <a:p>
            <a:fld id="{1431D497-4E28-4932-98BB-A59C3F613285}" type="datetime3">
              <a:rPr lang="en-US" smtClean="0"/>
              <a:pPr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effectLst/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B0E7DA9-4D50-8ADB-3BC8-5E1CA8EE16E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0EC172D-3D5E-7058-F1DE-2D45B785F4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200F0708-B4D9-1DB5-6706-8937E4A66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3637871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>
          <p15:clr>
            <a:srgbClr val="FBAE40"/>
          </p15:clr>
        </p15:guide>
        <p15:guide id="5" orient="horz" pos="867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5"/>
          </p:nvPr>
        </p:nvSpPr>
        <p:spPr>
          <a:xfrm>
            <a:off x="0" y="-1"/>
            <a:ext cx="12191998" cy="2521745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0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F51C701-18C8-4189-923B-6FD3FAE7F78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5" name="Content Placeholder 22">
            <a:extLst>
              <a:ext uri="{FF2B5EF4-FFF2-40B4-BE49-F238E27FC236}">
                <a16:creationId xmlns:a16="http://schemas.microsoft.com/office/drawing/2014/main" id="{9204E90A-A485-4563-86B7-686FC4234AF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96000" y="3071004"/>
            <a:ext cx="3600000" cy="29868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8024026B-58A3-8256-E041-7672115EE53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56000" y="3071004"/>
            <a:ext cx="3600000" cy="29868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2A720E7-97EF-BD25-8C30-40DDB833D60E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34964" y="3071004"/>
            <a:ext cx="3600450" cy="2986896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</p:txBody>
      </p:sp>
    </p:spTree>
    <p:extLst>
      <p:ext uri="{BB962C8B-B14F-4D97-AF65-F5344CB8AC3E}">
        <p14:creationId xmlns:p14="http://schemas.microsoft.com/office/powerpoint/2010/main" val="43791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</a:t>
            </a:r>
            <a:br>
              <a:rPr lang="en-US"/>
            </a:br>
            <a:r>
              <a:rPr lang="en-US"/>
              <a:t>Reduce picture brightness if white font lacks contrast.</a:t>
            </a:r>
          </a:p>
        </p:txBody>
      </p:sp>
      <p:sp>
        <p:nvSpPr>
          <p:cNvPr id="18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AE3142E-7A13-4682-826D-0BF7C36C2B4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544272" y="4545124"/>
            <a:ext cx="2880000" cy="1104506"/>
          </a:xfrm>
          <a:noFill/>
          <a:effectLst/>
        </p:spPr>
        <p:txBody>
          <a:bodyPr lIns="108000" tIns="108000" rIns="108000" bIns="108000" anchor="ctr" anchorCtr="0">
            <a:spAutoFit/>
          </a:bodyPr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Caption (optional). The box does automatically resize and can be positioned anywhere on the picture.</a:t>
            </a:r>
          </a:p>
        </p:txBody>
      </p:sp>
    </p:spTree>
    <p:extLst>
      <p:ext uri="{BB962C8B-B14F-4D97-AF65-F5344CB8AC3E}">
        <p14:creationId xmlns:p14="http://schemas.microsoft.com/office/powerpoint/2010/main" val="28249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Dark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</a:t>
            </a:r>
            <a:br>
              <a:rPr lang="en-US"/>
            </a:br>
            <a:r>
              <a:rPr lang="en-US"/>
              <a:t>Reduce picture brightness if white font lacks contrast.</a:t>
            </a:r>
          </a:p>
        </p:txBody>
      </p:sp>
      <p:sp>
        <p:nvSpPr>
          <p:cNvPr id="18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0DE35527-A93B-4EB2-A8ED-DFDDEA28E16E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0487" cy="4681537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  <a:lvl4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4pPr>
            <a:lvl5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5pPr>
            <a:lvl6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6pPr>
            <a:lvl7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7pPr>
            <a:lvl8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8pPr>
            <a:lvl9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741877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 </a:t>
            </a:r>
            <a:br>
              <a:rPr lang="en-US"/>
            </a:br>
            <a:r>
              <a:rPr lang="en-US"/>
              <a:t>Increase picture brightness if dark font lacks contrast.</a:t>
            </a:r>
          </a:p>
        </p:txBody>
      </p:sp>
      <p:sp>
        <p:nvSpPr>
          <p:cNvPr id="1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fld id="{64C64ED7-64C5-4E35-90B5-7DAD1DE839E5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544272" y="4545124"/>
            <a:ext cx="2880000" cy="1104506"/>
          </a:xfrm>
          <a:noFill/>
          <a:effectLst/>
        </p:spPr>
        <p:txBody>
          <a:bodyPr lIns="108000" tIns="108000" rIns="108000" bIns="108000" anchor="ctr" anchorCtr="0">
            <a:spAutoFit/>
          </a:bodyPr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r>
              <a:rPr lang="en-US"/>
              <a:t>Caption (optional). The box does automatically resize and can be positioned anywhere on the picture.</a:t>
            </a:r>
          </a:p>
        </p:txBody>
      </p:sp>
    </p:spTree>
    <p:extLst>
      <p:ext uri="{BB962C8B-B14F-4D97-AF65-F5344CB8AC3E}">
        <p14:creationId xmlns:p14="http://schemas.microsoft.com/office/powerpoint/2010/main" val="3214727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Ligh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 </a:t>
            </a:r>
            <a:br>
              <a:rPr lang="en-US"/>
            </a:br>
            <a:r>
              <a:rPr lang="en-US"/>
              <a:t>Increase picture brightness if dark font lacks contrast.</a:t>
            </a:r>
          </a:p>
        </p:txBody>
      </p:sp>
      <p:sp>
        <p:nvSpPr>
          <p:cNvPr id="1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1037" cy="4681537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  <a:lvl4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4pPr>
            <a:lvl5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5pPr>
            <a:lvl6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6pPr>
            <a:lvl7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7pPr>
            <a:lvl8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8pPr>
            <a:lvl9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19F875F-3008-4536-B293-DB48928AF0B7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8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28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vert="horz" lIns="0" tIns="0" rIns="0" bIns="0" rtlCol="0" anchor="ctr">
            <a:noAutofit/>
          </a:bodyPr>
          <a:lstStyle>
            <a:lvl1pPr algn="ctr">
              <a:defRPr lang="en-US" dirty="0" smtClean="0"/>
            </a:lvl1pPr>
          </a:lstStyle>
          <a:p>
            <a:pPr lvl="0" algn="ctr"/>
            <a:r>
              <a:rPr lang="de-DE"/>
              <a:t>Mediaclip durch Klicken auf Symbol hinzufügen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887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rcle Pictur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D091B0-B841-AE0D-459A-5E2A039B1A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-23051" y="-8750"/>
            <a:ext cx="6099744" cy="6883757"/>
          </a:xfrm>
          <a:custGeom>
            <a:avLst/>
            <a:gdLst>
              <a:gd name="connsiteX0" fmla="*/ 0 w 6095997"/>
              <a:gd name="connsiteY0" fmla="*/ 0 h 6858000"/>
              <a:gd name="connsiteX1" fmla="*/ 3047999 w 6095997"/>
              <a:gd name="connsiteY1" fmla="*/ 0 h 6858000"/>
              <a:gd name="connsiteX2" fmla="*/ 6095998 w 6095997"/>
              <a:gd name="connsiteY2" fmla="*/ 3429000 h 6858000"/>
              <a:gd name="connsiteX3" fmla="*/ 3047999 w 6095997"/>
              <a:gd name="connsiteY3" fmla="*/ 6858000 h 6858000"/>
              <a:gd name="connsiteX4" fmla="*/ 0 w 6095997"/>
              <a:gd name="connsiteY4" fmla="*/ 6858000 h 6858000"/>
              <a:gd name="connsiteX5" fmla="*/ 0 w 6095997"/>
              <a:gd name="connsiteY5" fmla="*/ 0 h 6858000"/>
              <a:gd name="connsiteX0" fmla="*/ 0 w 5709136"/>
              <a:gd name="connsiteY0" fmla="*/ 0 h 6858000"/>
              <a:gd name="connsiteX1" fmla="*/ 3047999 w 5709136"/>
              <a:gd name="connsiteY1" fmla="*/ 0 h 6858000"/>
              <a:gd name="connsiteX2" fmla="*/ 5709136 w 5709136"/>
              <a:gd name="connsiteY2" fmla="*/ 3393830 h 6858000"/>
              <a:gd name="connsiteX3" fmla="*/ 3047999 w 5709136"/>
              <a:gd name="connsiteY3" fmla="*/ 6858000 h 6858000"/>
              <a:gd name="connsiteX4" fmla="*/ 0 w 5709136"/>
              <a:gd name="connsiteY4" fmla="*/ 6858000 h 6858000"/>
              <a:gd name="connsiteX5" fmla="*/ 0 w 5709136"/>
              <a:gd name="connsiteY5" fmla="*/ 0 h 6858000"/>
              <a:gd name="connsiteX0" fmla="*/ 0 w 6013221"/>
              <a:gd name="connsiteY0" fmla="*/ 0 h 6858000"/>
              <a:gd name="connsiteX1" fmla="*/ 4818184 w 6013221"/>
              <a:gd name="connsiteY1" fmla="*/ 11723 h 6858000"/>
              <a:gd name="connsiteX2" fmla="*/ 5709136 w 6013221"/>
              <a:gd name="connsiteY2" fmla="*/ 3393830 h 6858000"/>
              <a:gd name="connsiteX3" fmla="*/ 3047999 w 6013221"/>
              <a:gd name="connsiteY3" fmla="*/ 6858000 h 6858000"/>
              <a:gd name="connsiteX4" fmla="*/ 0 w 6013221"/>
              <a:gd name="connsiteY4" fmla="*/ 6858000 h 6858000"/>
              <a:gd name="connsiteX5" fmla="*/ 0 w 6013221"/>
              <a:gd name="connsiteY5" fmla="*/ 0 h 6858000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709158"/>
              <a:gd name="connsiteY0" fmla="*/ 0 h 6869723"/>
              <a:gd name="connsiteX1" fmla="*/ 4818184 w 5709158"/>
              <a:gd name="connsiteY1" fmla="*/ 11723 h 6869723"/>
              <a:gd name="connsiteX2" fmla="*/ 5709136 w 5709158"/>
              <a:gd name="connsiteY2" fmla="*/ 3393830 h 6869723"/>
              <a:gd name="connsiteX3" fmla="*/ 4794737 w 5709158"/>
              <a:gd name="connsiteY3" fmla="*/ 6869723 h 6869723"/>
              <a:gd name="connsiteX4" fmla="*/ 0 w 5709158"/>
              <a:gd name="connsiteY4" fmla="*/ 6858000 h 6869723"/>
              <a:gd name="connsiteX5" fmla="*/ 0 w 5709158"/>
              <a:gd name="connsiteY5" fmla="*/ 0 h 6869723"/>
              <a:gd name="connsiteX0" fmla="*/ 0 w 5709167"/>
              <a:gd name="connsiteY0" fmla="*/ 0 h 6869723"/>
              <a:gd name="connsiteX1" fmla="*/ 4818184 w 5709167"/>
              <a:gd name="connsiteY1" fmla="*/ 11723 h 6869723"/>
              <a:gd name="connsiteX2" fmla="*/ 5709136 w 5709167"/>
              <a:gd name="connsiteY2" fmla="*/ 3393830 h 6869723"/>
              <a:gd name="connsiteX3" fmla="*/ 4794737 w 5709167"/>
              <a:gd name="connsiteY3" fmla="*/ 6869723 h 6869723"/>
              <a:gd name="connsiteX4" fmla="*/ 0 w 5709167"/>
              <a:gd name="connsiteY4" fmla="*/ 6858000 h 6869723"/>
              <a:gd name="connsiteX5" fmla="*/ 0 w 5709167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323"/>
              <a:gd name="connsiteY0" fmla="*/ 0 h 6881446"/>
              <a:gd name="connsiteX1" fmla="*/ 4818184 w 5709323"/>
              <a:gd name="connsiteY1" fmla="*/ 11723 h 6881446"/>
              <a:gd name="connsiteX2" fmla="*/ 5709136 w 5709323"/>
              <a:gd name="connsiteY2" fmla="*/ 3393830 h 6881446"/>
              <a:gd name="connsiteX3" fmla="*/ 4865076 w 5709323"/>
              <a:gd name="connsiteY3" fmla="*/ 6881446 h 6881446"/>
              <a:gd name="connsiteX4" fmla="*/ 0 w 5709323"/>
              <a:gd name="connsiteY4" fmla="*/ 6858000 h 6881446"/>
              <a:gd name="connsiteX5" fmla="*/ 0 w 5709323"/>
              <a:gd name="connsiteY5" fmla="*/ 0 h 6881446"/>
              <a:gd name="connsiteX0" fmla="*/ 0 w 5709272"/>
              <a:gd name="connsiteY0" fmla="*/ 0 h 6881446"/>
              <a:gd name="connsiteX1" fmla="*/ 4818184 w 5709272"/>
              <a:gd name="connsiteY1" fmla="*/ 11723 h 6881446"/>
              <a:gd name="connsiteX2" fmla="*/ 5709136 w 5709272"/>
              <a:gd name="connsiteY2" fmla="*/ 3393830 h 6881446"/>
              <a:gd name="connsiteX3" fmla="*/ 4865076 w 5709272"/>
              <a:gd name="connsiteY3" fmla="*/ 6881446 h 6881446"/>
              <a:gd name="connsiteX4" fmla="*/ 0 w 5709272"/>
              <a:gd name="connsiteY4" fmla="*/ 6858000 h 6881446"/>
              <a:gd name="connsiteX5" fmla="*/ 0 w 5709272"/>
              <a:gd name="connsiteY5" fmla="*/ 0 h 6881446"/>
              <a:gd name="connsiteX0" fmla="*/ 0 w 5709242"/>
              <a:gd name="connsiteY0" fmla="*/ 0 h 6881446"/>
              <a:gd name="connsiteX1" fmla="*/ 4818184 w 5709242"/>
              <a:gd name="connsiteY1" fmla="*/ 11723 h 6881446"/>
              <a:gd name="connsiteX2" fmla="*/ 5709136 w 5709242"/>
              <a:gd name="connsiteY2" fmla="*/ 3393830 h 6881446"/>
              <a:gd name="connsiteX3" fmla="*/ 4865076 w 5709242"/>
              <a:gd name="connsiteY3" fmla="*/ 6881446 h 6881446"/>
              <a:gd name="connsiteX4" fmla="*/ 0 w 5709242"/>
              <a:gd name="connsiteY4" fmla="*/ 6858000 h 6881446"/>
              <a:gd name="connsiteX5" fmla="*/ 0 w 5709242"/>
              <a:gd name="connsiteY5" fmla="*/ 0 h 6881446"/>
              <a:gd name="connsiteX0" fmla="*/ 0 w 5709142"/>
              <a:gd name="connsiteY0" fmla="*/ 0 h 6881446"/>
              <a:gd name="connsiteX1" fmla="*/ 4853353 w 5709142"/>
              <a:gd name="connsiteY1" fmla="*/ 23446 h 6881446"/>
              <a:gd name="connsiteX2" fmla="*/ 5709136 w 5709142"/>
              <a:gd name="connsiteY2" fmla="*/ 3393830 h 6881446"/>
              <a:gd name="connsiteX3" fmla="*/ 4865076 w 5709142"/>
              <a:gd name="connsiteY3" fmla="*/ 6881446 h 6881446"/>
              <a:gd name="connsiteX4" fmla="*/ 0 w 5709142"/>
              <a:gd name="connsiteY4" fmla="*/ 6858000 h 6881446"/>
              <a:gd name="connsiteX5" fmla="*/ 0 w 5709142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6092958"/>
              <a:gd name="connsiteY0" fmla="*/ 0 h 6881446"/>
              <a:gd name="connsiteX1" fmla="*/ 5248898 w 6092958"/>
              <a:gd name="connsiteY1" fmla="*/ 23446 h 6881446"/>
              <a:gd name="connsiteX2" fmla="*/ 6092958 w 6092958"/>
              <a:gd name="connsiteY2" fmla="*/ 3393830 h 6881446"/>
              <a:gd name="connsiteX3" fmla="*/ 5248898 w 6092958"/>
              <a:gd name="connsiteY3" fmla="*/ 6881446 h 6881446"/>
              <a:gd name="connsiteX4" fmla="*/ 383822 w 6092958"/>
              <a:gd name="connsiteY4" fmla="*/ 6858000 h 6881446"/>
              <a:gd name="connsiteX5" fmla="*/ 0 w 6092958"/>
              <a:gd name="connsiteY5" fmla="*/ 0 h 6881446"/>
              <a:gd name="connsiteX0" fmla="*/ 11289 w 6104247"/>
              <a:gd name="connsiteY0" fmla="*/ 0 h 6881446"/>
              <a:gd name="connsiteX1" fmla="*/ 5260187 w 6104247"/>
              <a:gd name="connsiteY1" fmla="*/ 23446 h 6881446"/>
              <a:gd name="connsiteX2" fmla="*/ 6104247 w 6104247"/>
              <a:gd name="connsiteY2" fmla="*/ 3393830 h 6881446"/>
              <a:gd name="connsiteX3" fmla="*/ 5260187 w 6104247"/>
              <a:gd name="connsiteY3" fmla="*/ 6881446 h 6881446"/>
              <a:gd name="connsiteX4" fmla="*/ 0 w 6104247"/>
              <a:gd name="connsiteY4" fmla="*/ 6869289 h 6881446"/>
              <a:gd name="connsiteX5" fmla="*/ 11289 w 6104247"/>
              <a:gd name="connsiteY5" fmla="*/ 0 h 6881446"/>
              <a:gd name="connsiteX0" fmla="*/ 11289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11289 w 6104257"/>
              <a:gd name="connsiteY5" fmla="*/ 2311 h 6883757"/>
              <a:gd name="connsiteX0" fmla="*/ 4850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4850 w 6104257"/>
              <a:gd name="connsiteY5" fmla="*/ 2311 h 6883757"/>
              <a:gd name="connsiteX0" fmla="*/ 337 w 6099744"/>
              <a:gd name="connsiteY0" fmla="*/ 2311 h 6883757"/>
              <a:gd name="connsiteX1" fmla="*/ 5242795 w 6099744"/>
              <a:gd name="connsiteY1" fmla="*/ 0 h 6883757"/>
              <a:gd name="connsiteX2" fmla="*/ 6099734 w 6099744"/>
              <a:gd name="connsiteY2" fmla="*/ 3396141 h 6883757"/>
              <a:gd name="connsiteX3" fmla="*/ 5255674 w 6099744"/>
              <a:gd name="connsiteY3" fmla="*/ 6883757 h 6883757"/>
              <a:gd name="connsiteX4" fmla="*/ 1926 w 6099744"/>
              <a:gd name="connsiteY4" fmla="*/ 6878039 h 6883757"/>
              <a:gd name="connsiteX5" fmla="*/ 337 w 6099744"/>
              <a:gd name="connsiteY5" fmla="*/ 2311 h 688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744" h="6883757">
                <a:moveTo>
                  <a:pt x="337" y="2311"/>
                </a:moveTo>
                <a:lnTo>
                  <a:pt x="5242795" y="0"/>
                </a:lnTo>
                <a:cubicBezTo>
                  <a:pt x="5706958" y="644768"/>
                  <a:pt x="6097588" y="2248848"/>
                  <a:pt x="6099734" y="3396141"/>
                </a:cubicBezTo>
                <a:cubicBezTo>
                  <a:pt x="6101880" y="4543434"/>
                  <a:pt x="5778452" y="6098311"/>
                  <a:pt x="5255674" y="6883757"/>
                </a:cubicBezTo>
                <a:lnTo>
                  <a:pt x="1926" y="6878039"/>
                </a:lnTo>
                <a:cubicBezTo>
                  <a:pt x="3543" y="4588276"/>
                  <a:pt x="-1280" y="2292074"/>
                  <a:pt x="337" y="231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picture!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8EB0E314-94F4-4A74-AA03-D378A608C6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E4D4F01-1247-02FB-167B-DAACC663B29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055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41E386-3AC6-FDA2-EEA4-DACF90613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158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E56352E0-E928-B792-E3A3-C497056D2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59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C851EB8A-9F49-E2B4-0417-C722CE9B6A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766515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" name="Footer Placeholder 14">
            <a:extLst>
              <a:ext uri="{FF2B5EF4-FFF2-40B4-BE49-F238E27FC236}">
                <a16:creationId xmlns:a16="http://schemas.microsoft.com/office/drawing/2014/main" id="{2363C2CA-AA39-30C8-9D0F-A6325CABF59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766515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rcle Pictur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D091B0-B841-AE0D-459A-5E2A039B1A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-23051" y="-8750"/>
            <a:ext cx="6099744" cy="6883757"/>
          </a:xfrm>
          <a:custGeom>
            <a:avLst/>
            <a:gdLst>
              <a:gd name="connsiteX0" fmla="*/ 0 w 6095997"/>
              <a:gd name="connsiteY0" fmla="*/ 0 h 6858000"/>
              <a:gd name="connsiteX1" fmla="*/ 3047999 w 6095997"/>
              <a:gd name="connsiteY1" fmla="*/ 0 h 6858000"/>
              <a:gd name="connsiteX2" fmla="*/ 6095998 w 6095997"/>
              <a:gd name="connsiteY2" fmla="*/ 3429000 h 6858000"/>
              <a:gd name="connsiteX3" fmla="*/ 3047999 w 6095997"/>
              <a:gd name="connsiteY3" fmla="*/ 6858000 h 6858000"/>
              <a:gd name="connsiteX4" fmla="*/ 0 w 6095997"/>
              <a:gd name="connsiteY4" fmla="*/ 6858000 h 6858000"/>
              <a:gd name="connsiteX5" fmla="*/ 0 w 6095997"/>
              <a:gd name="connsiteY5" fmla="*/ 0 h 6858000"/>
              <a:gd name="connsiteX0" fmla="*/ 0 w 5709136"/>
              <a:gd name="connsiteY0" fmla="*/ 0 h 6858000"/>
              <a:gd name="connsiteX1" fmla="*/ 3047999 w 5709136"/>
              <a:gd name="connsiteY1" fmla="*/ 0 h 6858000"/>
              <a:gd name="connsiteX2" fmla="*/ 5709136 w 5709136"/>
              <a:gd name="connsiteY2" fmla="*/ 3393830 h 6858000"/>
              <a:gd name="connsiteX3" fmla="*/ 3047999 w 5709136"/>
              <a:gd name="connsiteY3" fmla="*/ 6858000 h 6858000"/>
              <a:gd name="connsiteX4" fmla="*/ 0 w 5709136"/>
              <a:gd name="connsiteY4" fmla="*/ 6858000 h 6858000"/>
              <a:gd name="connsiteX5" fmla="*/ 0 w 5709136"/>
              <a:gd name="connsiteY5" fmla="*/ 0 h 6858000"/>
              <a:gd name="connsiteX0" fmla="*/ 0 w 6013221"/>
              <a:gd name="connsiteY0" fmla="*/ 0 h 6858000"/>
              <a:gd name="connsiteX1" fmla="*/ 4818184 w 6013221"/>
              <a:gd name="connsiteY1" fmla="*/ 11723 h 6858000"/>
              <a:gd name="connsiteX2" fmla="*/ 5709136 w 6013221"/>
              <a:gd name="connsiteY2" fmla="*/ 3393830 h 6858000"/>
              <a:gd name="connsiteX3" fmla="*/ 3047999 w 6013221"/>
              <a:gd name="connsiteY3" fmla="*/ 6858000 h 6858000"/>
              <a:gd name="connsiteX4" fmla="*/ 0 w 6013221"/>
              <a:gd name="connsiteY4" fmla="*/ 6858000 h 6858000"/>
              <a:gd name="connsiteX5" fmla="*/ 0 w 6013221"/>
              <a:gd name="connsiteY5" fmla="*/ 0 h 6858000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709158"/>
              <a:gd name="connsiteY0" fmla="*/ 0 h 6869723"/>
              <a:gd name="connsiteX1" fmla="*/ 4818184 w 5709158"/>
              <a:gd name="connsiteY1" fmla="*/ 11723 h 6869723"/>
              <a:gd name="connsiteX2" fmla="*/ 5709136 w 5709158"/>
              <a:gd name="connsiteY2" fmla="*/ 3393830 h 6869723"/>
              <a:gd name="connsiteX3" fmla="*/ 4794737 w 5709158"/>
              <a:gd name="connsiteY3" fmla="*/ 6869723 h 6869723"/>
              <a:gd name="connsiteX4" fmla="*/ 0 w 5709158"/>
              <a:gd name="connsiteY4" fmla="*/ 6858000 h 6869723"/>
              <a:gd name="connsiteX5" fmla="*/ 0 w 5709158"/>
              <a:gd name="connsiteY5" fmla="*/ 0 h 6869723"/>
              <a:gd name="connsiteX0" fmla="*/ 0 w 5709167"/>
              <a:gd name="connsiteY0" fmla="*/ 0 h 6869723"/>
              <a:gd name="connsiteX1" fmla="*/ 4818184 w 5709167"/>
              <a:gd name="connsiteY1" fmla="*/ 11723 h 6869723"/>
              <a:gd name="connsiteX2" fmla="*/ 5709136 w 5709167"/>
              <a:gd name="connsiteY2" fmla="*/ 3393830 h 6869723"/>
              <a:gd name="connsiteX3" fmla="*/ 4794737 w 5709167"/>
              <a:gd name="connsiteY3" fmla="*/ 6869723 h 6869723"/>
              <a:gd name="connsiteX4" fmla="*/ 0 w 5709167"/>
              <a:gd name="connsiteY4" fmla="*/ 6858000 h 6869723"/>
              <a:gd name="connsiteX5" fmla="*/ 0 w 5709167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323"/>
              <a:gd name="connsiteY0" fmla="*/ 0 h 6881446"/>
              <a:gd name="connsiteX1" fmla="*/ 4818184 w 5709323"/>
              <a:gd name="connsiteY1" fmla="*/ 11723 h 6881446"/>
              <a:gd name="connsiteX2" fmla="*/ 5709136 w 5709323"/>
              <a:gd name="connsiteY2" fmla="*/ 3393830 h 6881446"/>
              <a:gd name="connsiteX3" fmla="*/ 4865076 w 5709323"/>
              <a:gd name="connsiteY3" fmla="*/ 6881446 h 6881446"/>
              <a:gd name="connsiteX4" fmla="*/ 0 w 5709323"/>
              <a:gd name="connsiteY4" fmla="*/ 6858000 h 6881446"/>
              <a:gd name="connsiteX5" fmla="*/ 0 w 5709323"/>
              <a:gd name="connsiteY5" fmla="*/ 0 h 6881446"/>
              <a:gd name="connsiteX0" fmla="*/ 0 w 5709272"/>
              <a:gd name="connsiteY0" fmla="*/ 0 h 6881446"/>
              <a:gd name="connsiteX1" fmla="*/ 4818184 w 5709272"/>
              <a:gd name="connsiteY1" fmla="*/ 11723 h 6881446"/>
              <a:gd name="connsiteX2" fmla="*/ 5709136 w 5709272"/>
              <a:gd name="connsiteY2" fmla="*/ 3393830 h 6881446"/>
              <a:gd name="connsiteX3" fmla="*/ 4865076 w 5709272"/>
              <a:gd name="connsiteY3" fmla="*/ 6881446 h 6881446"/>
              <a:gd name="connsiteX4" fmla="*/ 0 w 5709272"/>
              <a:gd name="connsiteY4" fmla="*/ 6858000 h 6881446"/>
              <a:gd name="connsiteX5" fmla="*/ 0 w 5709272"/>
              <a:gd name="connsiteY5" fmla="*/ 0 h 6881446"/>
              <a:gd name="connsiteX0" fmla="*/ 0 w 5709242"/>
              <a:gd name="connsiteY0" fmla="*/ 0 h 6881446"/>
              <a:gd name="connsiteX1" fmla="*/ 4818184 w 5709242"/>
              <a:gd name="connsiteY1" fmla="*/ 11723 h 6881446"/>
              <a:gd name="connsiteX2" fmla="*/ 5709136 w 5709242"/>
              <a:gd name="connsiteY2" fmla="*/ 3393830 h 6881446"/>
              <a:gd name="connsiteX3" fmla="*/ 4865076 w 5709242"/>
              <a:gd name="connsiteY3" fmla="*/ 6881446 h 6881446"/>
              <a:gd name="connsiteX4" fmla="*/ 0 w 5709242"/>
              <a:gd name="connsiteY4" fmla="*/ 6858000 h 6881446"/>
              <a:gd name="connsiteX5" fmla="*/ 0 w 5709242"/>
              <a:gd name="connsiteY5" fmla="*/ 0 h 6881446"/>
              <a:gd name="connsiteX0" fmla="*/ 0 w 5709142"/>
              <a:gd name="connsiteY0" fmla="*/ 0 h 6881446"/>
              <a:gd name="connsiteX1" fmla="*/ 4853353 w 5709142"/>
              <a:gd name="connsiteY1" fmla="*/ 23446 h 6881446"/>
              <a:gd name="connsiteX2" fmla="*/ 5709136 w 5709142"/>
              <a:gd name="connsiteY2" fmla="*/ 3393830 h 6881446"/>
              <a:gd name="connsiteX3" fmla="*/ 4865076 w 5709142"/>
              <a:gd name="connsiteY3" fmla="*/ 6881446 h 6881446"/>
              <a:gd name="connsiteX4" fmla="*/ 0 w 5709142"/>
              <a:gd name="connsiteY4" fmla="*/ 6858000 h 6881446"/>
              <a:gd name="connsiteX5" fmla="*/ 0 w 5709142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6092958"/>
              <a:gd name="connsiteY0" fmla="*/ 0 h 6881446"/>
              <a:gd name="connsiteX1" fmla="*/ 5248898 w 6092958"/>
              <a:gd name="connsiteY1" fmla="*/ 23446 h 6881446"/>
              <a:gd name="connsiteX2" fmla="*/ 6092958 w 6092958"/>
              <a:gd name="connsiteY2" fmla="*/ 3393830 h 6881446"/>
              <a:gd name="connsiteX3" fmla="*/ 5248898 w 6092958"/>
              <a:gd name="connsiteY3" fmla="*/ 6881446 h 6881446"/>
              <a:gd name="connsiteX4" fmla="*/ 383822 w 6092958"/>
              <a:gd name="connsiteY4" fmla="*/ 6858000 h 6881446"/>
              <a:gd name="connsiteX5" fmla="*/ 0 w 6092958"/>
              <a:gd name="connsiteY5" fmla="*/ 0 h 6881446"/>
              <a:gd name="connsiteX0" fmla="*/ 11289 w 6104247"/>
              <a:gd name="connsiteY0" fmla="*/ 0 h 6881446"/>
              <a:gd name="connsiteX1" fmla="*/ 5260187 w 6104247"/>
              <a:gd name="connsiteY1" fmla="*/ 23446 h 6881446"/>
              <a:gd name="connsiteX2" fmla="*/ 6104247 w 6104247"/>
              <a:gd name="connsiteY2" fmla="*/ 3393830 h 6881446"/>
              <a:gd name="connsiteX3" fmla="*/ 5260187 w 6104247"/>
              <a:gd name="connsiteY3" fmla="*/ 6881446 h 6881446"/>
              <a:gd name="connsiteX4" fmla="*/ 0 w 6104247"/>
              <a:gd name="connsiteY4" fmla="*/ 6869289 h 6881446"/>
              <a:gd name="connsiteX5" fmla="*/ 11289 w 6104247"/>
              <a:gd name="connsiteY5" fmla="*/ 0 h 6881446"/>
              <a:gd name="connsiteX0" fmla="*/ 11289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11289 w 6104257"/>
              <a:gd name="connsiteY5" fmla="*/ 2311 h 6883757"/>
              <a:gd name="connsiteX0" fmla="*/ 4850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4850 w 6104257"/>
              <a:gd name="connsiteY5" fmla="*/ 2311 h 6883757"/>
              <a:gd name="connsiteX0" fmla="*/ 337 w 6099744"/>
              <a:gd name="connsiteY0" fmla="*/ 2311 h 6883757"/>
              <a:gd name="connsiteX1" fmla="*/ 5242795 w 6099744"/>
              <a:gd name="connsiteY1" fmla="*/ 0 h 6883757"/>
              <a:gd name="connsiteX2" fmla="*/ 6099734 w 6099744"/>
              <a:gd name="connsiteY2" fmla="*/ 3396141 h 6883757"/>
              <a:gd name="connsiteX3" fmla="*/ 5255674 w 6099744"/>
              <a:gd name="connsiteY3" fmla="*/ 6883757 h 6883757"/>
              <a:gd name="connsiteX4" fmla="*/ 1926 w 6099744"/>
              <a:gd name="connsiteY4" fmla="*/ 6878039 h 6883757"/>
              <a:gd name="connsiteX5" fmla="*/ 337 w 6099744"/>
              <a:gd name="connsiteY5" fmla="*/ 2311 h 688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744" h="6883757">
                <a:moveTo>
                  <a:pt x="337" y="2311"/>
                </a:moveTo>
                <a:lnTo>
                  <a:pt x="5242795" y="0"/>
                </a:lnTo>
                <a:cubicBezTo>
                  <a:pt x="5706958" y="644768"/>
                  <a:pt x="6097588" y="2248848"/>
                  <a:pt x="6099734" y="3396141"/>
                </a:cubicBezTo>
                <a:cubicBezTo>
                  <a:pt x="6101880" y="4543434"/>
                  <a:pt x="5778452" y="6098311"/>
                  <a:pt x="5255674" y="6883757"/>
                </a:cubicBezTo>
                <a:lnTo>
                  <a:pt x="1926" y="6878039"/>
                </a:lnTo>
                <a:cubicBezTo>
                  <a:pt x="3543" y="4588276"/>
                  <a:pt x="-1280" y="2292074"/>
                  <a:pt x="337" y="231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picture!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8EB0E314-94F4-4A74-AA03-D378A608C6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766515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766515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E4D4F01-1247-02FB-167B-DAACC663B29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055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5" name="Title 9">
            <a:extLst>
              <a:ext uri="{FF2B5EF4-FFF2-40B4-BE49-F238E27FC236}">
                <a16:creationId xmlns:a16="http://schemas.microsoft.com/office/drawing/2014/main" id="{1134A159-8A31-A85F-5EB9-754E5D894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4933118" cy="324000"/>
          </a:xfrm>
          <a:effectLst/>
        </p:spPr>
        <p:txBody>
          <a:bodyPr/>
          <a:lstStyle>
            <a:lvl1pPr>
              <a:defRPr b="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F47FE2BA-5B99-023E-73A2-37028AF0A5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4933118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</p:spTree>
    <p:extLst>
      <p:ext uri="{BB962C8B-B14F-4D97-AF65-F5344CB8AC3E}">
        <p14:creationId xmlns:p14="http://schemas.microsoft.com/office/powerpoint/2010/main" val="397822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“light” picture</a:t>
            </a:r>
          </a:p>
        </p:txBody>
      </p:sp>
      <p:sp>
        <p:nvSpPr>
          <p:cNvPr id="9" name="Text Placeholder 45">
            <a:extLst>
              <a:ext uri="{FF2B5EF4-FFF2-40B4-BE49-F238E27FC236}">
                <a16:creationId xmlns:a16="http://schemas.microsoft.com/office/drawing/2014/main" id="{F8244486-4604-BE59-4B58-94B7AA4A15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E9C6C6E-87BA-12A1-28DB-50A059F7047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9E6B956-2FC9-21F1-434E-980F4254276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3338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E057840-C51D-8302-9E6E-309709409C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374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F3968043-AC58-ED93-5370-45343509F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375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73142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E90A5D4-D5BA-4489-8E90-66472098E771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54A83532-E546-FE50-2DB1-F4A47218FBF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EE1A7426-D18A-5DE0-6AAC-FA7E1A5A88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37" name="Title 12">
            <a:extLst>
              <a:ext uri="{FF2B5EF4-FFF2-40B4-BE49-F238E27FC236}">
                <a16:creationId xmlns:a16="http://schemas.microsoft.com/office/drawing/2014/main" id="{F39C3DC8-8A1F-946D-8782-8C96EBE7D3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2DDDC5-FF46-093D-13D8-F69EBEFCD26C}"/>
              </a:ext>
            </a:extLst>
          </p:cNvPr>
          <p:cNvSpPr/>
          <p:nvPr userDrawn="1"/>
        </p:nvSpPr>
        <p:spPr>
          <a:xfrm>
            <a:off x="6620285" y="1482263"/>
            <a:ext cx="2563200" cy="3044342"/>
          </a:xfrm>
          <a:prstGeom prst="roundRect">
            <a:avLst>
              <a:gd name="adj" fmla="val 3498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7B933-A0E1-1638-4426-4F9A24336DA1}"/>
              </a:ext>
            </a:extLst>
          </p:cNvPr>
          <p:cNvSpPr/>
          <p:nvPr userDrawn="1"/>
        </p:nvSpPr>
        <p:spPr>
          <a:xfrm>
            <a:off x="9300128" y="3490724"/>
            <a:ext cx="2563200" cy="2567176"/>
          </a:xfrm>
          <a:prstGeom prst="roundRect">
            <a:avLst>
              <a:gd name="adj" fmla="val 3882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B8400987-8FDF-1FB4-19AD-EE736DD49B5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620285" y="333374"/>
            <a:ext cx="2563200" cy="1046391"/>
          </a:xfrm>
          <a:prstGeom prst="roundRect">
            <a:avLst>
              <a:gd name="adj" fmla="val 8427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10" name="Picture Placeholder 27">
            <a:extLst>
              <a:ext uri="{FF2B5EF4-FFF2-40B4-BE49-F238E27FC236}">
                <a16:creationId xmlns:a16="http://schemas.microsoft.com/office/drawing/2014/main" id="{28241ABD-AF84-0BEB-2878-622A2B7336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296866" y="333375"/>
            <a:ext cx="2563200" cy="3045763"/>
          </a:xfrm>
          <a:prstGeom prst="roundRect">
            <a:avLst>
              <a:gd name="adj" fmla="val 3844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11" name="Picture Placeholder 27">
            <a:extLst>
              <a:ext uri="{FF2B5EF4-FFF2-40B4-BE49-F238E27FC236}">
                <a16:creationId xmlns:a16="http://schemas.microsoft.com/office/drawing/2014/main" id="{1727FC97-97E5-3FE7-374F-27955DA171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20285" y="4636851"/>
            <a:ext cx="2563200" cy="1421049"/>
          </a:xfrm>
          <a:prstGeom prst="roundRect">
            <a:avLst>
              <a:gd name="adj" fmla="val 6397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45663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0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579600"/>
          </a:xfrm>
        </p:spPr>
        <p:txBody>
          <a:bodyPr/>
          <a:lstStyle>
            <a:lvl1pPr>
              <a:defRPr sz="43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able Placeholder 6">
            <a:extLst>
              <a:ext uri="{FF2B5EF4-FFF2-40B4-BE49-F238E27FC236}">
                <a16:creationId xmlns:a16="http://schemas.microsoft.com/office/drawing/2014/main" id="{319807F8-25DC-6D77-B875-012ADC296A0F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4963" y="1376363"/>
            <a:ext cx="11272837" cy="468153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4206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579600"/>
          </a:xfrm>
        </p:spPr>
        <p:txBody>
          <a:bodyPr/>
          <a:lstStyle>
            <a:lvl1pPr>
              <a:defRPr sz="43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4" name="Table Placeholder 6">
            <a:extLst>
              <a:ext uri="{FF2B5EF4-FFF2-40B4-BE49-F238E27FC236}">
                <a16:creationId xmlns:a16="http://schemas.microsoft.com/office/drawing/2014/main" id="{1CA11BBE-CE81-3796-6316-8DB0ED237BED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4963" y="1376363"/>
            <a:ext cx="11272837" cy="4681537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86922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29531-BFFE-8ACE-8029-5B5AA26967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eeform 146">
            <a:extLst>
              <a:ext uri="{FF2B5EF4-FFF2-40B4-BE49-F238E27FC236}">
                <a16:creationId xmlns:a16="http://schemas.microsoft.com/office/drawing/2014/main" id="{26588EA1-78E4-FFED-DDC5-3A681CFAE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33CBFB-8989-6017-508F-15CA323F0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69" y="348431"/>
            <a:ext cx="8652511" cy="2238425"/>
          </a:xfrm>
          <a:effectLst/>
        </p:spPr>
        <p:txBody>
          <a:bodyPr anchor="t"/>
          <a:lstStyle>
            <a:lvl1pPr marL="227013" marR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 sz="4400" b="0">
                <a:solidFill>
                  <a:schemeClr val="tx1"/>
                </a:solidFill>
                <a:effectLst/>
              </a:defRPr>
            </a:lvl1pPr>
          </a:lstStyle>
          <a:p>
            <a:pPr marL="227013" marR="0" lvl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/>
            </a:pP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	Hero quote lorem ipsum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labore et dol magna”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299BA462-B34C-1B37-6BF1-CA62B1F1FC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845811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5DAE6E7-D0E1-C980-2309-98D043C1FC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6B1D5BD5-6536-4391-88DA-891EA93C2D2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5242AF92-52E4-B21E-5849-B01EDE6C89F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845811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8927F73F-CCD3-30E2-073A-688181FE876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1" name="Picture Placeholder 27">
            <a:extLst>
              <a:ext uri="{FF2B5EF4-FFF2-40B4-BE49-F238E27FC236}">
                <a16:creationId xmlns:a16="http://schemas.microsoft.com/office/drawing/2014/main" id="{4B865F84-36CE-FE85-4D2A-498B1D3BA66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2D741B9-722A-C658-9CDA-BBABEB212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</p:spTree>
    <p:extLst>
      <p:ext uri="{BB962C8B-B14F-4D97-AF65-F5344CB8AC3E}">
        <p14:creationId xmlns:p14="http://schemas.microsoft.com/office/powerpoint/2010/main" val="3069237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ECCC991-78C4-8F35-4269-04F5DD6E96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91D60F4-2EA7-CB4B-EEC3-5DDEA75244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9638B71-915E-A4E7-0529-F31D77328E4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15 October 2026</a:t>
            </a:fld>
            <a:endParaRPr 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95797E8E-539D-16ED-53F3-EC0DBE71A5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79406764-D075-865B-A399-AA332E48A21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EE59D3-62D2-3D31-FDD9-479ACAD16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69" y="348431"/>
            <a:ext cx="8652511" cy="2238425"/>
          </a:xfrm>
          <a:effectLst/>
        </p:spPr>
        <p:txBody>
          <a:bodyPr anchor="t"/>
          <a:lstStyle>
            <a:lvl1pPr marL="227013" marR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 sz="4400" b="0">
                <a:solidFill>
                  <a:schemeClr val="tx1"/>
                </a:solidFill>
                <a:effectLst/>
              </a:defRPr>
            </a:lvl1pPr>
          </a:lstStyle>
          <a:p>
            <a:pPr marL="227013" marR="0" lvl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/>
            </a:pP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	Hero quote lorem ipsum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labore et dol magna”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4A33B7B-3A06-9779-31E3-C906644AC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  <p:sp>
        <p:nvSpPr>
          <p:cNvPr id="20" name="Picture Placeholder 27">
            <a:extLst>
              <a:ext uri="{FF2B5EF4-FFF2-40B4-BE49-F238E27FC236}">
                <a16:creationId xmlns:a16="http://schemas.microsoft.com/office/drawing/2014/main" id="{BBE3139B-9539-D493-EA4A-B387ECC0A66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791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ation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2807B52-6D4B-C1D7-284B-DAFC9FEB1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7A6D5F5D-C644-7B39-A9C7-E86F50C9D7C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PT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E401035-6B3E-F694-F45A-CC19F6424B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4669" y="349906"/>
            <a:ext cx="8652511" cy="2272950"/>
          </a:xfrm>
        </p:spPr>
        <p:txBody>
          <a:bodyPr/>
          <a:lstStyle>
            <a:lvl1pPr marL="226800" indent="-226800">
              <a:lnSpc>
                <a:spcPct val="80000"/>
              </a:lnSpc>
              <a:spcBef>
                <a:spcPts val="0"/>
              </a:spcBef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1pPr>
            <a:lvl2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2pPr>
            <a:lvl3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3pPr>
            <a:lvl4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4pPr>
            <a:lvl5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5pPr>
          </a:lstStyle>
          <a:p>
            <a:pPr lvl="0"/>
            <a:r>
              <a:rPr lang="en-GB"/>
              <a:t>“	Hero quote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esto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 magna”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15562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E350A4-4E57-707E-56B7-79EC7A9EF3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2439876"/>
            <a:ext cx="9312621" cy="1978248"/>
          </a:xfrm>
          <a:effectLst/>
        </p:spPr>
        <p:txBody>
          <a:bodyPr vert="horz" anchor="ctr"/>
          <a:lstStyle>
            <a:lvl1pPr algn="l">
              <a:defRPr sz="8000" b="0" baseline="0">
                <a:latin typeface="+mj-lt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Freeform 146">
            <a:extLst>
              <a:ext uri="{FF2B5EF4-FFF2-40B4-BE49-F238E27FC236}">
                <a16:creationId xmlns:a16="http://schemas.microsoft.com/office/drawing/2014/main" id="{B6EB386E-8054-9781-9F94-EF0E4D3202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80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Contact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2439876"/>
            <a:ext cx="6887473" cy="1978248"/>
          </a:xfrm>
          <a:effectLst/>
        </p:spPr>
        <p:txBody>
          <a:bodyPr vert="horz" anchor="ctr"/>
          <a:lstStyle>
            <a:lvl1pPr algn="l">
              <a:defRPr sz="8000" b="0" baseline="0">
                <a:latin typeface="+mj-lt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2" descr="Employee badge outline">
            <a:extLst>
              <a:ext uri="{FF2B5EF4-FFF2-40B4-BE49-F238E27FC236}">
                <a16:creationId xmlns:a16="http://schemas.microsoft.com/office/drawing/2014/main" id="{9A985231-F938-59AB-0B06-5E23CB56A1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78747" y="2452470"/>
            <a:ext cx="355884" cy="355884"/>
          </a:xfrm>
          <a:prstGeom prst="rect">
            <a:avLst/>
          </a:prstGeom>
        </p:spPr>
      </p:pic>
      <p:pic>
        <p:nvPicPr>
          <p:cNvPr id="6" name="Graphic 5" descr="Marker outline">
            <a:extLst>
              <a:ext uri="{FF2B5EF4-FFF2-40B4-BE49-F238E27FC236}">
                <a16:creationId xmlns:a16="http://schemas.microsoft.com/office/drawing/2014/main" id="{0188D1CA-6932-D12A-BA75-7033114743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8488" y="2943813"/>
            <a:ext cx="376403" cy="376403"/>
          </a:xfrm>
          <a:prstGeom prst="rect">
            <a:avLst/>
          </a:prstGeom>
        </p:spPr>
      </p:pic>
      <p:pic>
        <p:nvPicPr>
          <p:cNvPr id="7" name="Graphic 6" descr="Speaker phone outline">
            <a:extLst>
              <a:ext uri="{FF2B5EF4-FFF2-40B4-BE49-F238E27FC236}">
                <a16:creationId xmlns:a16="http://schemas.microsoft.com/office/drawing/2014/main" id="{73F934C5-CFEE-1781-2995-9A3E2AADE0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48190" y="3445165"/>
            <a:ext cx="416999" cy="416999"/>
          </a:xfrm>
          <a:prstGeom prst="rect">
            <a:avLst/>
          </a:prstGeom>
        </p:spPr>
      </p:pic>
      <p:pic>
        <p:nvPicPr>
          <p:cNvPr id="8" name="Graphic 7" descr="Envelope outline">
            <a:extLst>
              <a:ext uri="{FF2B5EF4-FFF2-40B4-BE49-F238E27FC236}">
                <a16:creationId xmlns:a16="http://schemas.microsoft.com/office/drawing/2014/main" id="{F140C5E6-2139-971F-A441-1345F6CBE4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1691" y="4019023"/>
            <a:ext cx="329996" cy="329996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9F7E62E-264E-D760-6E26-BF095E1C79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2468" y="2405617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Speaker Name</a:t>
            </a:r>
          </a:p>
          <a:p>
            <a:pPr lvl="0"/>
            <a:r>
              <a:rPr lang="en-GB"/>
              <a:t>Job Title</a:t>
            </a:r>
            <a:endParaRPr lang="en-PT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5602F98-C8F1-182B-FB29-4B2FF18165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72468" y="2918890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Location</a:t>
            </a:r>
            <a:endParaRPr lang="en-PT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3CA6055-A73E-4351-BA8B-3F7ACBCC3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72468" y="3433678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Phone number</a:t>
            </a:r>
            <a:endParaRPr lang="en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8DCAB3-C61E-F193-CB83-6219342AE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72468" y="3950708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E-mail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0579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1C820CB-2C77-4446-9F12-27CAF1CB6922}" type="datetime3">
              <a:rPr lang="en-US" smtClean="0"/>
              <a:t>15 October 2026</a:t>
            </a:fld>
            <a:endParaRPr lang="en-US"/>
          </a:p>
        </p:txBody>
      </p:sp>
      <p:sp>
        <p:nvSpPr>
          <p:cNvPr id="24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8" name="Titel 5"/>
          <p:cNvSpPr txBox="1">
            <a:spLocks/>
          </p:cNvSpPr>
          <p:nvPr userDrawn="1"/>
        </p:nvSpPr>
        <p:spPr>
          <a:xfrm>
            <a:off x="336000" y="1555200"/>
            <a:ext cx="7200000" cy="8863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/>
              <a:t>Legal disclaimer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6000" y="2473200"/>
            <a:ext cx="6480000" cy="144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2025 </a:t>
            </a:r>
            <a:r>
              <a:rPr lang="en-US" sz="16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Körber</a:t>
            </a: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 or its affiliates. All rights reserved. </a:t>
            </a:r>
          </a:p>
          <a:p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document and all information therein are provided in confidence and may not be disclosed to any third party without the express written permission of the disclosing party.</a:t>
            </a:r>
          </a:p>
        </p:txBody>
      </p:sp>
    </p:spTree>
    <p:extLst>
      <p:ext uri="{BB962C8B-B14F-4D97-AF65-F5344CB8AC3E}">
        <p14:creationId xmlns:p14="http://schemas.microsoft.com/office/powerpoint/2010/main" val="3276104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548">
          <p15:clr>
            <a:srgbClr val="FBAE40"/>
          </p15:clr>
        </p15:guide>
        <p15:guide id="4" orient="horz" pos="98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theme" Target="../theme/theme1.xml"/><Relationship Id="rId81" Type="http://schemas.openxmlformats.org/officeDocument/2006/relationships/tags" Target="../tags/tag2.xml"/><Relationship Id="rId82" Type="http://schemas.openxmlformats.org/officeDocument/2006/relationships/tags" Target="../tags/tag3.xml"/><Relationship Id="rId83" Type="http://schemas.openxmlformats.org/officeDocument/2006/relationships/oleObject" Target="../embeddings/oleObject1.bin"/><Relationship Id="rId8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1"/>
            </p:custDataLst>
            <p:extLst>
              <p:ext uri="{D42A27DB-BD31-4B8C-83A1-F6EECF244321}">
                <p14:modId xmlns:p14="http://schemas.microsoft.com/office/powerpoint/2010/main" val="1550724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3" imgW="277" imgH="277" progId="TCLayout.ActiveDocument.1">
                  <p:embed/>
                </p:oleObj>
              </mc:Choice>
              <mc:Fallback>
                <p:oleObj name="think-cell Folie" r:id="rId83" imgW="277" imgH="277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8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000" y="334800"/>
            <a:ext cx="11520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Enter a meaningful title that summarizes the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000" y="1376362"/>
            <a:ext cx="1152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6440" y="6444000"/>
            <a:ext cx="1224136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C37B28-10C0-4916-8EB5-F1BA25CF9C6D}" type="datetime3">
              <a:rPr lang="en-US" smtClean="0"/>
              <a:t>15 October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02602" y="6444000"/>
            <a:ext cx="8517834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6580" y="6444000"/>
            <a:ext cx="53942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2" name="Rectangle 4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73" name="Rectangle 7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104" name="Rectangle 103" hidden="1"/>
          <p:cNvSpPr/>
          <p:nvPr userDrawn="1">
            <p:custDataLst>
              <p:tags r:id="rId8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46"/>
          <p:cNvSpPr>
            <a:spLocks noEditPoints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082FF31-14D5-5352-251D-6387FC019C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009313" y="6642100"/>
            <a:ext cx="11445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C2 - 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59634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43" r:id="rId2"/>
    <p:sldLayoutId id="2147483857" r:id="rId3"/>
    <p:sldLayoutId id="2147484029" r:id="rId4"/>
    <p:sldLayoutId id="2147484030" r:id="rId5"/>
    <p:sldLayoutId id="2147484038" r:id="rId6"/>
    <p:sldLayoutId id="2147483887" r:id="rId7"/>
    <p:sldLayoutId id="2147484040" r:id="rId8"/>
    <p:sldLayoutId id="2147484042" r:id="rId9"/>
    <p:sldLayoutId id="2147484039" r:id="rId10"/>
    <p:sldLayoutId id="2147484041" r:id="rId11"/>
    <p:sldLayoutId id="2147484045" r:id="rId12"/>
    <p:sldLayoutId id="2147484043" r:id="rId13"/>
    <p:sldLayoutId id="2147484044" r:id="rId14"/>
    <p:sldLayoutId id="2147484056" r:id="rId15"/>
    <p:sldLayoutId id="2147484051" r:id="rId16"/>
    <p:sldLayoutId id="2147484055" r:id="rId17"/>
    <p:sldLayoutId id="2147484049" r:id="rId18"/>
    <p:sldLayoutId id="2147484050" r:id="rId19"/>
    <p:sldLayoutId id="2147484057" r:id="rId20"/>
    <p:sldLayoutId id="2147484052" r:id="rId21"/>
    <p:sldLayoutId id="2147484053" r:id="rId22"/>
    <p:sldLayoutId id="2147484054" r:id="rId23"/>
    <p:sldLayoutId id="2147484058" r:id="rId24"/>
    <p:sldLayoutId id="2147483796" r:id="rId25"/>
    <p:sldLayoutId id="2147484059" r:id="rId26"/>
    <p:sldLayoutId id="2147483793" r:id="rId27"/>
    <p:sldLayoutId id="2147483794" r:id="rId28"/>
    <p:sldLayoutId id="2147483850" r:id="rId29"/>
    <p:sldLayoutId id="2147483851" r:id="rId30"/>
    <p:sldLayoutId id="2147484064" r:id="rId31"/>
    <p:sldLayoutId id="2147484088" r:id="rId32"/>
    <p:sldLayoutId id="2147484089" r:id="rId33"/>
    <p:sldLayoutId id="2147484090" r:id="rId34"/>
    <p:sldLayoutId id="2147484091" r:id="rId35"/>
    <p:sldLayoutId id="2147483806" r:id="rId36"/>
    <p:sldLayoutId id="2147483844" r:id="rId37"/>
    <p:sldLayoutId id="2147484007" r:id="rId38"/>
    <p:sldLayoutId id="2147484072" r:id="rId39"/>
    <p:sldLayoutId id="2147484073" r:id="rId40"/>
    <p:sldLayoutId id="2147484076" r:id="rId41"/>
    <p:sldLayoutId id="2147484074" r:id="rId42"/>
    <p:sldLayoutId id="2147484075" r:id="rId43"/>
    <p:sldLayoutId id="2147483799" r:id="rId44"/>
    <p:sldLayoutId id="2147483800" r:id="rId45"/>
    <p:sldLayoutId id="2147484082" r:id="rId46"/>
    <p:sldLayoutId id="2147484008" r:id="rId47"/>
    <p:sldLayoutId id="2147484083" r:id="rId48"/>
    <p:sldLayoutId id="2147484087" r:id="rId49"/>
    <p:sldLayoutId id="2147483866" r:id="rId50"/>
    <p:sldLayoutId id="2147483865" r:id="rId51"/>
    <p:sldLayoutId id="2147484077" r:id="rId52"/>
    <p:sldLayoutId id="2147484078" r:id="rId53"/>
    <p:sldLayoutId id="2147484061" r:id="rId54"/>
    <p:sldLayoutId id="2147483880" r:id="rId55"/>
    <p:sldLayoutId id="2147484063" r:id="rId56"/>
    <p:sldLayoutId id="2147484067" r:id="rId57"/>
    <p:sldLayoutId id="2147483878" r:id="rId58"/>
    <p:sldLayoutId id="2147484069" r:id="rId59"/>
    <p:sldLayoutId id="2147484026" r:id="rId60"/>
    <p:sldLayoutId id="2147484015" r:id="rId61"/>
    <p:sldLayoutId id="2147483871" r:id="rId62"/>
    <p:sldLayoutId id="2147483869" r:id="rId63"/>
    <p:sldLayoutId id="2147483860" r:id="rId64"/>
    <p:sldLayoutId id="2147483868" r:id="rId65"/>
    <p:sldLayoutId id="2147483867" r:id="rId66"/>
    <p:sldLayoutId id="2147483818" r:id="rId67"/>
    <p:sldLayoutId id="2147484018" r:id="rId68"/>
    <p:sldLayoutId id="2147484079" r:id="rId69"/>
    <p:sldLayoutId id="2147484027" r:id="rId70"/>
    <p:sldLayoutId id="2147484070" r:id="rId71"/>
    <p:sldLayoutId id="2147484065" r:id="rId72"/>
    <p:sldLayoutId id="2147484066" r:id="rId73"/>
    <p:sldLayoutId id="2147483817" r:id="rId74"/>
    <p:sldLayoutId id="2147483855" r:id="rId75"/>
    <p:sldLayoutId id="2147484084" r:id="rId76"/>
    <p:sldLayoutId id="2147484080" r:id="rId77"/>
    <p:sldLayoutId id="2147484081" r:id="rId78"/>
    <p:sldLayoutId id="2147483876" r:id="rId7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i="0" kern="1200" baseline="0">
          <a:solidFill>
            <a:schemeClr val="tx1"/>
          </a:solidFill>
          <a:latin typeface="+mj-lt"/>
          <a:ea typeface="+mn-ea"/>
          <a:cs typeface="+mn-cs"/>
        </a:defRPr>
      </a:lvl7pPr>
      <a:lvl8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56000" indent="-252000" algn="l" defTabSz="914400" rtl="0" eaLnBrk="1" latinLnBrk="0" hangingPunct="1">
        <a:lnSpc>
          <a:spcPct val="100000"/>
        </a:lnSpc>
        <a:spcBef>
          <a:spcPts val="1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pos="211" userDrawn="1">
          <p15:clr>
            <a:srgbClr val="F26B43"/>
          </p15:clr>
        </p15:guide>
        <p15:guide id="11" orient="horz" pos="3816" userDrawn="1">
          <p15:clr>
            <a:srgbClr val="F26B43"/>
          </p15:clr>
        </p15:guide>
        <p15:guide id="12" pos="746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Relationship Id="rId3" Type="http://schemas.openxmlformats.org/officeDocument/2006/relationships/slide" Target="slide6.xml"/><Relationship Id="rId4" Type="http://schemas.openxmlformats.org/officeDocument/2006/relationships/slide" Target="slide14.xml"/><Relationship Id="rId5" Type="http://schemas.openxmlformats.org/officeDocument/2006/relationships/slide" Target="slide26.xml"/><Relationship Id="rId6" Type="http://schemas.openxmlformats.org/officeDocument/2006/relationships/slide" Target="slide37.xml"/><Relationship Id="rId7" Type="http://schemas.openxmlformats.org/officeDocument/2006/relationships/slide" Target="slide45.xml"/><Relationship Id="rId8" Type="http://schemas.openxmlformats.org/officeDocument/2006/relationships/slide" Target="slide56.xml"/><Relationship Id="rId9" Type="http://schemas.openxmlformats.org/officeDocument/2006/relationships/slide" Target="slide63.xml"/><Relationship Id="rId10" Type="http://schemas.openxmlformats.org/officeDocument/2006/relationships/slide" Target="slide75.xml"/><Relationship Id="rId11" Type="http://schemas.openxmlformats.org/officeDocument/2006/relationships/slide" Target="slide84.xml"/><Relationship Id="rId12" Type="http://schemas.openxmlformats.org/officeDocument/2006/relationships/slide" Target="slide92.xml"/><Relationship Id="rId13" Type="http://schemas.openxmlformats.org/officeDocument/2006/relationships/slide" Target="slide101.xml"/><Relationship Id="rId14" Type="http://schemas.openxmlformats.org/officeDocument/2006/relationships/slide" Target="slide114.xml"/><Relationship Id="rId15" Type="http://schemas.openxmlformats.org/officeDocument/2006/relationships/slide" Target="slide123.xml"/><Relationship Id="rId16" Type="http://schemas.openxmlformats.org/officeDocument/2006/relationships/slide" Target="slide131.xml"/><Relationship Id="rId17" Type="http://schemas.openxmlformats.org/officeDocument/2006/relationships/slide" Target="slide139.xml"/><Relationship Id="rId18" Type="http://schemas.openxmlformats.org/officeDocument/2006/relationships/slide" Target="slide14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8.xml"/><Relationship Id="rId3" Type="http://schemas.openxmlformats.org/officeDocument/2006/relationships/chart" Target="../charts/char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9.xml"/><Relationship Id="rId3" Type="http://schemas.openxmlformats.org/officeDocument/2006/relationships/chart" Target="../charts/char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0.xml"/><Relationship Id="rId3" Type="http://schemas.openxmlformats.org/officeDocument/2006/relationships/chart" Target="../charts/char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1.xml"/><Relationship Id="rId3" Type="http://schemas.openxmlformats.org/officeDocument/2006/relationships/chart" Target="../charts/char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4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7.xml"/><Relationship Id="rId3" Type="http://schemas.openxmlformats.org/officeDocument/2006/relationships/chart" Target="../charts/char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7.xml"/><Relationship Id="rId3" Type="http://schemas.openxmlformats.org/officeDocument/2006/relationships/chart" Target="../charts/chart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7.xml"/><Relationship Id="rId3" Type="http://schemas.openxmlformats.org/officeDocument/2006/relationships/chart" Target="../charts/chart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8.xml"/><Relationship Id="rId3" Type="http://schemas.openxmlformats.org/officeDocument/2006/relationships/chart" Target="../charts/chart1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1.xml"/><Relationship Id="rId3" Type="http://schemas.openxmlformats.org/officeDocument/2006/relationships/chart" Target="../charts/chart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2.xml"/><Relationship Id="rId3" Type="http://schemas.openxmlformats.org/officeDocument/2006/relationships/chart" Target="../charts/chart1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3.xml"/><Relationship Id="rId3" Type="http://schemas.openxmlformats.org/officeDocument/2006/relationships/chart" Target="../charts/chart1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4.xml"/><Relationship Id="rId3" Type="http://schemas.openxmlformats.org/officeDocument/2006/relationships/chart" Target="../charts/chart1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5.xml"/><Relationship Id="rId3" Type="http://schemas.openxmlformats.org/officeDocument/2006/relationships/chart" Target="../charts/chart1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6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Relationship Id="rId6" Type="http://schemas.openxmlformats.org/officeDocument/2006/relationships/chart" Target="../charts/chart1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7.xml"/><Relationship Id="rId3" Type="http://schemas.openxmlformats.org/officeDocument/2006/relationships/chart" Target="../charts/chart20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6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Library 2026</a:t>
            </a:r>
          </a:p>
          <a:p>
            <a:r>
              <a:t>Pharma Consulting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For internal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Version 1.0 | Oktober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Vorlagen für Kundentermine und Leadprojekte im Körber 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Einstieg | Nutzung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Hinweis: Einsatzhinweise zu jeder Folie stehen in den Sprechernotizen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vier Schritten von der Bibliothek zur fertigen Kundenpräsentation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Storyline wählen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Termin-Typ bestimmen und die passende Folienfolge aus dem Storyline-Baukasten übernehmen.</a:t>
            </a:r>
          </a:p>
        </p:txBody>
      </p:sp>
      <p:sp>
        <p:nvSpPr>
          <p:cNvPr id="10" name="Oval 9"/>
          <p:cNvSpPr/>
          <p:nvPr/>
        </p:nvSpPr>
        <p:spPr>
          <a:xfrm>
            <a:off x="33101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01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101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Folien übernehmen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Folien kopieren oder über „Folien wiederverwenden“ einfügen – das Körber-Design bleibt erhalten.</a:t>
            </a:r>
          </a:p>
        </p:txBody>
      </p:sp>
      <p:sp>
        <p:nvSpPr>
          <p:cNvPr id="14" name="Oval 13"/>
          <p:cNvSpPr/>
          <p:nvPr/>
        </p:nvSpPr>
        <p:spPr>
          <a:xfrm>
            <a:off x="62819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819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2819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Inhalte schärfen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Zuerst den Action Title formulieren, dann [Platzhalter] ersetzen und Beispielwerte austauschen.</a:t>
            </a:r>
          </a:p>
        </p:txBody>
      </p:sp>
      <p:sp>
        <p:nvSpPr>
          <p:cNvPr id="18" name="Oval 17"/>
          <p:cNvSpPr/>
          <p:nvPr/>
        </p:nvSpPr>
        <p:spPr>
          <a:xfrm>
            <a:off x="9253728" y="13716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53728" y="1920240"/>
            <a:ext cx="2606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9253728" y="2029968"/>
            <a:ext cx="260604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Qualität prüfen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432304"/>
            <a:ext cx="260604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Eine Botschaft pro Folie, Quelle angegeben, Sticker entfernt, Klassifizierung gesetzt.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3977639"/>
            <a:ext cx="1152144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" y="42062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KONVENTIONEN IN DIESER BIBLIOTHEK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" y="45720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[Eckige Klammern]  </a:t>
            </a:r>
            <a:r>
              <a:rPr sz="1300" b="0" i="0">
                <a:solidFill>
                  <a:schemeClr val="tx1"/>
                </a:solidFill>
              </a:rPr>
              <a:t>Platzhalter – vor dem Termin ersetzen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45720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Sticker „Illustrativ“  </a:t>
            </a:r>
            <a:r>
              <a:rPr sz="1300" b="0" i="0">
                <a:solidFill>
                  <a:schemeClr val="tx1"/>
                </a:solidFill>
              </a:rPr>
              <a:t>Beispielwerte – mit echten Daten ersetzen, dann Sticker löschen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51206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Blau  </a:t>
            </a:r>
            <a:r>
              <a:rPr sz="1300" b="0" i="0">
                <a:solidFill>
                  <a:schemeClr val="tx1"/>
                </a:solidFill>
              </a:rPr>
              <a:t>hebt die eine Sache hervor, auf die es ankommt – keine Dekoration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51206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So what  </a:t>
            </a:r>
            <a:r>
              <a:rPr sz="1300" b="0" i="0">
                <a:solidFill>
                  <a:schemeClr val="tx1"/>
                </a:solidFill>
              </a:rPr>
              <a:t>die Kernaussage der Folie in einem Satz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Einstieg | Inhaltsverzeichnis (Kapitel anklicken)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Inhalt: 16 Kapitel entlang des Kundenprozesses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444752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38988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Titel &amp; 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636776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Deckblätter, Agenda, Ziele, Teilnehmende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138988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6–13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" y="188366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1" name="Link Kapitel 01">
            <a:hlinkClick action="ppaction://hlinksldjump" r:id="rId3"/>
          </p:cNvPr>
          <p:cNvSpPr/>
          <p:nvPr/>
        </p:nvSpPr>
        <p:spPr>
          <a:xfrm>
            <a:off x="338328" y="1371600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" y="195681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901952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Über 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14884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Portfolio, Kompetenzen, Ökosystem,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0195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14–25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" y="239572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7" name="Link Kapitel 02">
            <a:hlinkClick action="ppaction://hlinksldjump" r:id="rId4"/>
          </p:cNvPr>
          <p:cNvSpPr/>
          <p:nvPr/>
        </p:nvSpPr>
        <p:spPr>
          <a:xfrm>
            <a:off x="338328" y="1883664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8328" y="246888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414016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Markt &amp; Kundenverständnis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660904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Trends, Ausgangslage, Hypothesen,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41401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26–36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" y="290779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3" name="Link Kapitel 03">
            <a:hlinkClick action="ppaction://hlinksldjump" r:id="rId5"/>
          </p:cNvPr>
          <p:cNvSpPr/>
          <p:nvPr/>
        </p:nvSpPr>
        <p:spPr>
          <a:xfrm>
            <a:off x="338328" y="2395728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328" y="2980944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92608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Buying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172968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Rollen, Stakeholder, Nutzenargumente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292608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37–44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8328" y="341985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9" name="Link Kapitel 04">
            <a:hlinkClick action="ppaction://hlinksldjump" r:id="rId6"/>
          </p:cNvPr>
          <p:cNvSpPr/>
          <p:nvPr/>
        </p:nvSpPr>
        <p:spPr>
          <a:xfrm>
            <a:off x="338328" y="2907792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8328" y="349300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438144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Lösung &amp; Wert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68503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Wertversprechen, Architektur, Optionen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343814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45–55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8328" y="393192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5" name="Link Kapitel 05">
            <a:hlinkClick action="ppaction://hlinksldjump" r:id="rId7"/>
          </p:cNvPr>
          <p:cNvSpPr/>
          <p:nvPr/>
        </p:nvSpPr>
        <p:spPr>
          <a:xfrm>
            <a:off x="338328" y="3419856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8328" y="4005072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395020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Business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197096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NPV, Cashflow, Sensitivität, Szenarien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395020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56–62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38328" y="444398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1" name="Link Kapitel 06">
            <a:hlinkClick action="ppaction://hlinksldjump" r:id="rId8"/>
          </p:cNvPr>
          <p:cNvSpPr/>
          <p:nvPr/>
        </p:nvSpPr>
        <p:spPr>
          <a:xfrm>
            <a:off x="338328" y="3931920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8328" y="451713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4462272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Vorgehen &amp;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470916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Phasen, Gantt, Organisation, RACI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8" y="44622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63–74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8328" y="495604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7" name="Link Kapitel 07">
            <a:hlinkClick action="ppaction://hlinksldjump" r:id="rId9"/>
          </p:cNvPr>
          <p:cNvSpPr/>
          <p:nvPr/>
        </p:nvSpPr>
        <p:spPr>
          <a:xfrm>
            <a:off x="338328" y="4443984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8328" y="502920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974336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Prozesse &amp; Abläufe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" y="5221224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Swimlane, SIPOC, Wertstrom, Soll-Prozess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4608" y="49743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75–83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8328" y="546811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53" name="Link Kapitel 08">
            <a:hlinkClick action="ppaction://hlinksldjump" r:id="rId10"/>
          </p:cNvPr>
          <p:cNvSpPr/>
          <p:nvPr/>
        </p:nvSpPr>
        <p:spPr>
          <a:xfrm>
            <a:off x="338328" y="4956048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327648" y="1444752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138988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Referenzen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1636776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Case Studies, Referenzmatrix, Zitate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53928" y="138988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84–91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327648" y="188366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59" name="Link Kapitel 09">
            <a:hlinkClick action="ppaction://hlinksldjump" r:id="rId11"/>
          </p:cNvPr>
          <p:cNvSpPr/>
          <p:nvPr/>
        </p:nvSpPr>
        <p:spPr>
          <a:xfrm>
            <a:off x="6327648" y="1371600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27648" y="195681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30568" y="1901952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Angebot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214884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Scope, Pakete, Honorar, Mutual Action Plan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53928" y="190195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92–100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327648" y="239572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65" name="Link Kapitel 10">
            <a:hlinkClick action="ppaction://hlinksldjump" r:id="rId12"/>
          </p:cNvPr>
          <p:cNvSpPr/>
          <p:nvPr/>
        </p:nvSpPr>
        <p:spPr>
          <a:xfrm>
            <a:off x="6327648" y="1883664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27648" y="246888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0568" y="2414016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Projektsteuerung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0568" y="2660904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Status, Steering Committee, Risiken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3928" y="241401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101–113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327648" y="290779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71" name="Link Kapitel 11">
            <a:hlinkClick action="ppaction://hlinksldjump" r:id="rId13"/>
          </p:cNvPr>
          <p:cNvSpPr/>
          <p:nvPr/>
        </p:nvSpPr>
        <p:spPr>
          <a:xfrm>
            <a:off x="6327648" y="2395728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327648" y="2980944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30568" y="2926080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Account-Management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172968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Account-Plan, Whitespace, Pipeline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53928" y="292608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114–122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327648" y="3419856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77" name="Link Kapitel 12">
            <a:hlinkClick action="ppaction://hlinksldjump" r:id="rId14"/>
          </p:cNvPr>
          <p:cNvSpPr/>
          <p:nvPr/>
        </p:nvSpPr>
        <p:spPr>
          <a:xfrm>
            <a:off x="6327648" y="2907792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327648" y="349300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3438144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Frameworks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30568" y="3685032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SWOT, Five Forces, Priorisierung, TAM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53928" y="343814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123–130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327648" y="393192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83" name="Link Kapitel 13">
            <a:hlinkClick action="ppaction://hlinksldjump" r:id="rId15"/>
          </p:cNvPr>
          <p:cNvSpPr/>
          <p:nvPr/>
        </p:nvSpPr>
        <p:spPr>
          <a:xfrm>
            <a:off x="6327648" y="3419856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27648" y="4005072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30568" y="3950208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Diagramme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30568" y="4197096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Native, editierbare Diagramme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53928" y="395020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131–138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327648" y="444398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89" name="Link Kapitel 14">
            <a:hlinkClick action="ppaction://hlinksldjump" r:id="rId16"/>
          </p:cNvPr>
          <p:cNvSpPr/>
          <p:nvPr/>
        </p:nvSpPr>
        <p:spPr>
          <a:xfrm>
            <a:off x="6327648" y="3931920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27648" y="451713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30568" y="4462272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Abschluss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30568" y="470916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Kernaussagen, nächste Schritte, Kontakt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53928" y="44622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139–145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327648" y="495604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95" name="Link Kapitel 15">
            <a:hlinkClick action="ppaction://hlinksldjump" r:id="rId17"/>
          </p:cNvPr>
          <p:cNvSpPr/>
          <p:nvPr/>
        </p:nvSpPr>
        <p:spPr>
          <a:xfrm>
            <a:off x="6327648" y="4443984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27648" y="502920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0568" y="4974336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Toolkit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30568" y="5221224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Raster, Farben, Bausteine, Icons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53928" y="49743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146–150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327648" y="546811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1" name="Link Kapitel 16">
            <a:hlinkClick action="ppaction://hlinksldjump" r:id="rId18"/>
          </p:cNvPr>
          <p:cNvSpPr/>
          <p:nvPr/>
        </p:nvSpPr>
        <p:spPr>
          <a:xfrm>
            <a:off x="6327648" y="4956048"/>
            <a:ext cx="5532120" cy="512064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Einstieg | Storylines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Foliennummern beziehen sich auf diese Bibliothek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Storyline-Baukasten: Für jeden Termin-Typ die passende Folienfolge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25880"/>
          <a:ext cx="11521440" cy="433425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2926080"/>
                <a:gridCol w="5120640"/>
                <a:gridCol w="1280160"/>
              </a:tblGrid>
              <a:tr h="36576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Termin-Typ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Ziel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Empfohlene Folien (in dieser Reihenfolge)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Dauer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Erstgespräch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Bedarf verstehen, Vertrauen aufbauen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7, 12, 13, 27, 29, 18, 21, 85, 86, 141, 143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45–60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Discovery-Workshop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Ausgangslage analysieren, priorisieren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8, 11, 12, 28, 30, 31, 32, 33, 35, 77, 141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3–4 Std.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Lösung &amp; Angebot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Lösung überzeugend präsentieren, Entscheidung vorbereiten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8, 10, 29, 46, 48, 53, 54, 57, 60, 64, 66, 24, 86, 93, 95, 55, 100, 143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60–90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Projekt-Kick-off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Gemeinsames Verständnis, Spielregeln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9, 10, 102, 103, 64, 66, 70, 71, 72, 73, 74, 141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2–3 Std.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Steering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Status transparent machen, entscheiden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9, 10, 104, 105, 106, 107, 108, 110, 141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60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Quartalsreview (QBR)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Wert belegen, Wachstum öffnen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7, 119, 51, 121, 122, 141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60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Account-Planung (intern)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Account steuern, Pipeline entwickeln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115, 38, 39, 40, 116, 117, 120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90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Einstieg | Storytelling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Gute Folien folgen der Pyramide: erst Botschaft, dann Argumente, dann Belege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7607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Kernbotschaft = Action Title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2286000"/>
            <a:ext cx="18288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Argument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3108960"/>
            <a:ext cx="86868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Beleg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3108960"/>
            <a:ext cx="86868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Beleg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2286000"/>
            <a:ext cx="18288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Argument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3108960"/>
            <a:ext cx="86868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Beleg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3108960"/>
            <a:ext cx="86868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Beleg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2286000"/>
            <a:ext cx="18288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Argument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3108960"/>
            <a:ext cx="86868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Beleg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0368" y="3108960"/>
            <a:ext cx="86868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Beleg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794760"/>
            <a:ext cx="57607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Eine Folie = eine Botschaft. Der Titel ist ein vollständiger Satz mit dem Ergebnis – nicht das Thema.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371600"/>
            <a:ext cx="52760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VOM THEMENTITEL ZUM ACTION TITLE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0" y="1737360"/>
            <a:ext cx="52760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583680" y="1828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84831"/>
            <a:ext cx="52760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OEE-Analyse Linie 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0" y="2651760"/>
            <a:ext cx="52760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583680" y="27432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3"/>
                </a:solidFill>
              </a:rPr>
              <a:t>Besser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99232"/>
            <a:ext cx="52760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Die OEE von Linie 3 liegt bei 54 %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0" y="3566160"/>
            <a:ext cx="52760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0" y="3657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Action Title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13632"/>
            <a:ext cx="527608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Die OEE liegt 14 pp unter Benchmark – Rüstzeiten sind der größte Hebel</a:t>
            </a:r>
          </a:p>
        </p:txBody>
      </p:sp>
      <p:sp>
        <p:nvSpPr>
          <p:cNvPr id="2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Wer nur die Titel liest, muss die gesamte Story verstehen – das ist der Qualitätstest für jedes Deck.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Titel &amp;</a:t>
            </a:r>
          </a:p>
          <a:p>
            <a:r>
              <a:t>Agenda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Kapazitätserweiterung</a:t>
            </a:r>
          </a:p>
          <a:p>
            <a:r>
              <a:t>sterile Abfüllung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[TT. Monat JJJJ], [Ort]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Erstgespräch mit [Kunde] | Vorschlag für das weitere Vorgehen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12.jpe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7845" b="7845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Gemeinsam zur</a:t>
            </a:r>
          </a:p>
          <a:p>
            <a:r>
              <a:t>validierten Anlage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[TT. Monat JJJJ], [Ort]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Lösungspräsentation für [Kunde] | [Projektname]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Confidential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[TT. Monat JJJJ], [Ort]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Projekt-Kick-off</a:t>
            </a:r>
          </a:p>
          <a:p>
            <a:r>
              <a:t>[Projektname]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[Kunde] und Körber Pharma Consulting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Ziele für heute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Ihre Ausgangslage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Lösungsansatz und Vorgehen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1" sz="quarter"/>
          </p:nvPr>
        </p:nvSpPr>
        <p:spPr/>
        <p:txBody>
          <a:bodyPr/>
          <a:lstStyle/>
          <a:p>
            <a:r>
              <a:t>Referenzen und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Nächste Schritte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Titel &amp; Agenda | Agenda mit Zeitplan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Agenda: In 90 Minuten von Ihrer Ausgangslage zu konkreten nächsten Schritten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9" cy="318211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17044"/>
                <a:gridCol w="3234088"/>
                <a:gridCol w="4649002"/>
                <a:gridCol w="2021305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Zeit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Thema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Ergebnis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Wer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10:00 – 10:10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Begrüßung und Ziele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Gemeinsames Verständnis der Erwartungen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[Name], 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10:10 – 10:35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Ihre Ausgangslage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Bestätigte Herausforderungen und Prioritäten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[Kunde]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10:35 – 11:00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Lösungsansatz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Bewertete Lösungsoptionen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11:00 – 11:15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Referenzen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Übertragbare Erfahrungen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11:15 – 11:30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Nächste Schritte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Vereinbarte Aktivitäten mit Terminen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Alle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Jeder Agendapunkt hat ein Ergebnis – so wird aus der Präsentation ein Arbeitstermin.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Titel &amp; Agenda | Ziele des Termins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Heute wollen wir gemeinsam drei Ergebnisse erreichen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41732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forum"/>
          <p:cNvSpPr/>
          <p:nvPr/>
        </p:nvSpPr>
        <p:spPr>
          <a:xfrm>
            <a:off x="491947" y="1570939"/>
            <a:ext cx="424281" cy="42428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923" y="64923"/>
                </a:moveTo>
                <a:quadBezTo>
                  <a:pt x="27615" y="64923"/>
                  <a:pt x="26731" y="64039"/>
                </a:quadBezTo>
                <a:quadBezTo>
                  <a:pt x="25846" y="63154"/>
                  <a:pt x="25846" y="61846"/>
                </a:quadBezTo>
                <a:lnTo>
                  <a:pt x="25846" y="57846"/>
                </a:lnTo>
                <a:lnTo>
                  <a:pt x="72846" y="57846"/>
                </a:lnTo>
                <a:lnTo>
                  <a:pt x="75385" y="60385"/>
                </a:lnTo>
                <a:lnTo>
                  <a:pt x="75385" y="24000"/>
                </a:lnTo>
                <a:lnTo>
                  <a:pt x="79385" y="24000"/>
                </a:lnTo>
                <a:quadBezTo>
                  <a:pt x="80692" y="24000"/>
                  <a:pt x="81577" y="24885"/>
                </a:quadBezTo>
                <a:quadBezTo>
                  <a:pt x="82462" y="25769"/>
                  <a:pt x="82462" y="27077"/>
                </a:quadBezTo>
                <a:lnTo>
                  <a:pt x="82462" y="77231"/>
                </a:lnTo>
                <a:lnTo>
                  <a:pt x="70154" y="64923"/>
                </a:lnTo>
                <a:lnTo>
                  <a:pt x="28923" y="64923"/>
                </a:lnTo>
                <a:close/>
                <a:moveTo>
                  <a:pt x="13538" y="62154"/>
                </a:moveTo>
                <a:lnTo>
                  <a:pt x="13538" y="15077"/>
                </a:lnTo>
                <a:quadBezTo>
                  <a:pt x="13538" y="13769"/>
                  <a:pt x="14423" y="12885"/>
                </a:quadBezTo>
                <a:quadBezTo>
                  <a:pt x="15308" y="12000"/>
                  <a:pt x="16615" y="12000"/>
                </a:quadBezTo>
                <a:lnTo>
                  <a:pt x="64308" y="12000"/>
                </a:lnTo>
                <a:quadBezTo>
                  <a:pt x="65615" y="12000"/>
                  <a:pt x="66500" y="12885"/>
                </a:quadBezTo>
                <a:quadBezTo>
                  <a:pt x="67385" y="13769"/>
                  <a:pt x="67385" y="15077"/>
                </a:quadBezTo>
                <a:lnTo>
                  <a:pt x="67385" y="46769"/>
                </a:lnTo>
                <a:quadBezTo>
                  <a:pt x="67385" y="48077"/>
                  <a:pt x="66500" y="48962"/>
                </a:quadBezTo>
                <a:quadBezTo>
                  <a:pt x="65615" y="49846"/>
                  <a:pt x="64308" y="49846"/>
                </a:quadBezTo>
                <a:lnTo>
                  <a:pt x="25846" y="49846"/>
                </a:lnTo>
                <a:lnTo>
                  <a:pt x="13538" y="62154"/>
                </a:lnTo>
                <a:close/>
                <a:moveTo>
                  <a:pt x="63385" y="45846"/>
                </a:moveTo>
                <a:lnTo>
                  <a:pt x="63385" y="16000"/>
                </a:lnTo>
                <a:lnTo>
                  <a:pt x="17538" y="16000"/>
                </a:lnTo>
                <a:lnTo>
                  <a:pt x="17538" y="51385"/>
                </a:lnTo>
                <a:lnTo>
                  <a:pt x="23077" y="45846"/>
                </a:lnTo>
                <a:lnTo>
                  <a:pt x="63385" y="45846"/>
                </a:lnTo>
                <a:close/>
                <a:moveTo>
                  <a:pt x="17538" y="45846"/>
                </a:moveTo>
                <a:lnTo>
                  <a:pt x="17538" y="16000"/>
                </a:lnTo>
                <a:lnTo>
                  <a:pt x="17538" y="458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cxnSp>
        <p:nvCxnSpPr>
          <p:cNvPr id="8" name="Connector 7"/>
          <p:cNvCxnSpPr/>
          <p:nvPr/>
        </p:nvCxnSpPr>
        <p:spPr>
          <a:xfrm>
            <a:off x="338328" y="23774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338328" y="2514600"/>
            <a:ext cx="3535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ERGEBNIS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788920"/>
            <a:ext cx="35356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Verständnis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291840"/>
            <a:ext cx="353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Ihre Ausgangslage, Ziele und Rahmenbedingungen sind gemeinsam bestätigt.</a:t>
            </a:r>
          </a:p>
        </p:txBody>
      </p:sp>
      <p:sp>
        <p:nvSpPr>
          <p:cNvPr id="12" name="Oval 11"/>
          <p:cNvSpPr/>
          <p:nvPr/>
        </p:nvSpPr>
        <p:spPr>
          <a:xfrm>
            <a:off x="4331208" y="141732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target"/>
          <p:cNvSpPr/>
          <p:nvPr/>
        </p:nvSpPr>
        <p:spPr>
          <a:xfrm>
            <a:off x="4484827" y="1570939"/>
            <a:ext cx="424281" cy="42428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18" y="68000"/>
                </a:moveTo>
                <a:quadBezTo>
                  <a:pt x="39692" y="68000"/>
                  <a:pt x="33846" y="62172"/>
                </a:quadBezTo>
                <a:quadBezTo>
                  <a:pt x="28000" y="56344"/>
                  <a:pt x="28000" y="48018"/>
                </a:quadBezTo>
                <a:quadBezTo>
                  <a:pt x="28000" y="39692"/>
                  <a:pt x="33828" y="33846"/>
                </a:quadBezTo>
                <a:quadBezTo>
                  <a:pt x="39656" y="28000"/>
                  <a:pt x="47982" y="28000"/>
                </a:quadBezTo>
                <a:quadBezTo>
                  <a:pt x="56308" y="28000"/>
                  <a:pt x="62154" y="33828"/>
                </a:quadBezTo>
                <a:quadBezTo>
                  <a:pt x="68000" y="39656"/>
                  <a:pt x="68000" y="47982"/>
                </a:quadBezTo>
                <a:quadBezTo>
                  <a:pt x="68000" y="56308"/>
                  <a:pt x="62172" y="62154"/>
                </a:quadBezTo>
                <a:quadBezTo>
                  <a:pt x="56344" y="68000"/>
                  <a:pt x="48018" y="68000"/>
                </a:quadBezTo>
                <a:close/>
                <a:moveTo>
                  <a:pt x="48000" y="64000"/>
                </a:moveTo>
                <a:quadBezTo>
                  <a:pt x="54600" y="64000"/>
                  <a:pt x="59300" y="59300"/>
                </a:quadBezTo>
                <a:quadBezTo>
                  <a:pt x="64000" y="54600"/>
                  <a:pt x="64000" y="48000"/>
                </a:quadBezTo>
                <a:quadBezTo>
                  <a:pt x="64000" y="41400"/>
                  <a:pt x="59300" y="36700"/>
                </a:quadBezTo>
                <a:quadBezTo>
                  <a:pt x="54600" y="32000"/>
                  <a:pt x="48000" y="32000"/>
                </a:quadBezTo>
                <a:quadBezTo>
                  <a:pt x="41400" y="32000"/>
                  <a:pt x="36700" y="36700"/>
                </a:quadBezTo>
                <a:quadBezTo>
                  <a:pt x="32000" y="41400"/>
                  <a:pt x="32000" y="48000"/>
                </a:quadBezTo>
                <a:quadBezTo>
                  <a:pt x="32000" y="54600"/>
                  <a:pt x="36700" y="59300"/>
                </a:quadBezTo>
                <a:quadBezTo>
                  <a:pt x="41400" y="64000"/>
                  <a:pt x="48000" y="64000"/>
                </a:quadBezTo>
                <a:close/>
                <a:moveTo>
                  <a:pt x="48000" y="52000"/>
                </a:moveTo>
                <a:quadBezTo>
                  <a:pt x="46392" y="52000"/>
                  <a:pt x="45196" y="50804"/>
                </a:quadBezTo>
                <a:quadBezTo>
                  <a:pt x="44000" y="49608"/>
                  <a:pt x="44000" y="48000"/>
                </a:quadBezTo>
                <a:quadBezTo>
                  <a:pt x="44000" y="46392"/>
                  <a:pt x="45196" y="45196"/>
                </a:quadBezTo>
                <a:quadBezTo>
                  <a:pt x="46392" y="44000"/>
                  <a:pt x="48000" y="44000"/>
                </a:quadBezTo>
                <a:quadBezTo>
                  <a:pt x="49608" y="44000"/>
                  <a:pt x="50804" y="45196"/>
                </a:quadBezTo>
                <a:quadBezTo>
                  <a:pt x="52000" y="46392"/>
                  <a:pt x="52000" y="48000"/>
                </a:quadBezTo>
                <a:quadBezTo>
                  <a:pt x="52000" y="49608"/>
                  <a:pt x="50804" y="50804"/>
                </a:quadBezTo>
                <a:quadBezTo>
                  <a:pt x="49608" y="52000"/>
                  <a:pt x="48000" y="52000"/>
                </a:quad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cxnSp>
        <p:nvCxnSpPr>
          <p:cNvPr id="14" name="Connector 13"/>
          <p:cNvCxnSpPr/>
          <p:nvPr/>
        </p:nvCxnSpPr>
        <p:spPr>
          <a:xfrm>
            <a:off x="4331208" y="23774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331208" y="2514600"/>
            <a:ext cx="3535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ERGEBNIS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1208" y="2788920"/>
            <a:ext cx="35356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Priorisierung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208" y="3291840"/>
            <a:ext cx="353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Die zwei bis drei wichtigsten Handlungsfelder sind identifiziert.</a:t>
            </a:r>
          </a:p>
        </p:txBody>
      </p:sp>
      <p:sp>
        <p:nvSpPr>
          <p:cNvPr id="18" name="Oval 17"/>
          <p:cNvSpPr/>
          <p:nvPr/>
        </p:nvSpPr>
        <p:spPr>
          <a:xfrm>
            <a:off x="8324088" y="141732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flag"/>
          <p:cNvSpPr/>
          <p:nvPr/>
        </p:nvSpPr>
        <p:spPr>
          <a:xfrm>
            <a:off x="8477707" y="1570939"/>
            <a:ext cx="424281" cy="42428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2000"/>
                </a:moveTo>
                <a:lnTo>
                  <a:pt x="24000" y="20000"/>
                </a:lnTo>
                <a:lnTo>
                  <a:pt x="52769" y="20000"/>
                </a:lnTo>
                <a:lnTo>
                  <a:pt x="54369" y="28000"/>
                </a:lnTo>
                <a:lnTo>
                  <a:pt x="76000" y="28000"/>
                </a:lnTo>
                <a:lnTo>
                  <a:pt x="76000" y="60000"/>
                </a:lnTo>
                <a:lnTo>
                  <a:pt x="55231" y="60000"/>
                </a:lnTo>
                <a:lnTo>
                  <a:pt x="53631" y="52000"/>
                </a:lnTo>
                <a:lnTo>
                  <a:pt x="28000" y="52000"/>
                </a:lnTo>
                <a:lnTo>
                  <a:pt x="28000" y="82000"/>
                </a:lnTo>
                <a:lnTo>
                  <a:pt x="24000" y="82000"/>
                </a:lnTo>
                <a:close/>
                <a:moveTo>
                  <a:pt x="50000" y="40000"/>
                </a:moveTo>
                <a:close/>
                <a:moveTo>
                  <a:pt x="58600" y="56000"/>
                </a:moveTo>
                <a:lnTo>
                  <a:pt x="72000" y="56000"/>
                </a:lnTo>
                <a:lnTo>
                  <a:pt x="72000" y="32000"/>
                </a:lnTo>
                <a:lnTo>
                  <a:pt x="51000" y="32000"/>
                </a:lnTo>
                <a:lnTo>
                  <a:pt x="49400" y="24000"/>
                </a:lnTo>
                <a:lnTo>
                  <a:pt x="28000" y="24000"/>
                </a:lnTo>
                <a:lnTo>
                  <a:pt x="28000" y="48000"/>
                </a:lnTo>
                <a:lnTo>
                  <a:pt x="57000" y="48000"/>
                </a:lnTo>
                <a:lnTo>
                  <a:pt x="58600" y="56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cxnSp>
        <p:nvCxnSpPr>
          <p:cNvPr id="20" name="Connector 19"/>
          <p:cNvCxnSpPr/>
          <p:nvPr/>
        </p:nvCxnSpPr>
        <p:spPr>
          <a:xfrm>
            <a:off x="8324088" y="23774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324088" y="2514600"/>
            <a:ext cx="3535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ERGEBNIS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088" y="2788920"/>
            <a:ext cx="35356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Vereinbarung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088" y="3291840"/>
            <a:ext cx="35356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Nächste Schritte, Verantwortliche und Termine sind festgelegt.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572000"/>
            <a:ext cx="11521440" cy="7315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7" y="45720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Nicht Ziel heute:  </a:t>
            </a:r>
            <a:r>
              <a:rPr sz="1300" b="0" i="0">
                <a:solidFill>
                  <a:schemeClr val="tx1"/>
                </a:solidFill>
              </a:rPr>
              <a:t>ein finales Angebot oder eine Detailplanung – beides folgt nach Klärung des Umfangs.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Titel &amp; Agenda | Teilnehmende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 Tisch: Entscheider und Fachexperten beider Seiten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71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[KUNDE]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1645920"/>
            <a:ext cx="55778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Oval 7"/>
          <p:cNvSpPr/>
          <p:nvPr/>
        </p:nvSpPr>
        <p:spPr>
          <a:xfrm>
            <a:off x="338328" y="1874519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person"/>
          <p:cNvSpPr/>
          <p:nvPr/>
        </p:nvSpPr>
        <p:spPr>
          <a:xfrm>
            <a:off x="521208" y="205740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1435607" y="198424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286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12" name="Oval 11"/>
          <p:cNvSpPr/>
          <p:nvPr/>
        </p:nvSpPr>
        <p:spPr>
          <a:xfrm>
            <a:off x="3172968" y="1874519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person"/>
          <p:cNvSpPr/>
          <p:nvPr/>
        </p:nvSpPr>
        <p:spPr>
          <a:xfrm>
            <a:off x="3355848" y="205740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4270248" y="198424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286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16" name="Oval 15"/>
          <p:cNvSpPr/>
          <p:nvPr/>
        </p:nvSpPr>
        <p:spPr>
          <a:xfrm>
            <a:off x="338328" y="3566160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person"/>
          <p:cNvSpPr/>
          <p:nvPr/>
        </p:nvSpPr>
        <p:spPr>
          <a:xfrm>
            <a:off x="521208" y="3749039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1435607" y="3675887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977639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20" name="Oval 19"/>
          <p:cNvSpPr/>
          <p:nvPr/>
        </p:nvSpPr>
        <p:spPr>
          <a:xfrm>
            <a:off x="3172968" y="3566160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 person"/>
          <p:cNvSpPr/>
          <p:nvPr/>
        </p:nvSpPr>
        <p:spPr>
          <a:xfrm>
            <a:off x="3355848" y="3749039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4270248" y="3675887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3977639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13716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KÖRBER PHARMA CONSULTING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81928" y="1645920"/>
            <a:ext cx="557783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6281928" y="1874519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person"/>
          <p:cNvSpPr/>
          <p:nvPr/>
        </p:nvSpPr>
        <p:spPr>
          <a:xfrm>
            <a:off x="6464808" y="205740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7379208" y="198424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2286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30" name="Oval 29"/>
          <p:cNvSpPr/>
          <p:nvPr/>
        </p:nvSpPr>
        <p:spPr>
          <a:xfrm>
            <a:off x="9116568" y="1874519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Icon person"/>
          <p:cNvSpPr/>
          <p:nvPr/>
        </p:nvSpPr>
        <p:spPr>
          <a:xfrm>
            <a:off x="9299448" y="2057400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10213848" y="198424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22860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34" name="Oval 33"/>
          <p:cNvSpPr/>
          <p:nvPr/>
        </p:nvSpPr>
        <p:spPr>
          <a:xfrm>
            <a:off x="6281928" y="3566160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Icon person"/>
          <p:cNvSpPr/>
          <p:nvPr/>
        </p:nvSpPr>
        <p:spPr>
          <a:xfrm>
            <a:off x="6464808" y="3749039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6" name="TextBox 35"/>
          <p:cNvSpPr txBox="1"/>
          <p:nvPr/>
        </p:nvSpPr>
        <p:spPr>
          <a:xfrm>
            <a:off x="7379208" y="3675887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3977639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  <p:sp>
        <p:nvSpPr>
          <p:cNvPr id="38" name="Oval 37"/>
          <p:cNvSpPr/>
          <p:nvPr/>
        </p:nvSpPr>
        <p:spPr>
          <a:xfrm>
            <a:off x="9116568" y="3566160"/>
            <a:ext cx="914400" cy="914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Icon person"/>
          <p:cNvSpPr/>
          <p:nvPr/>
        </p:nvSpPr>
        <p:spPr>
          <a:xfrm>
            <a:off x="9299448" y="3749039"/>
            <a:ext cx="548640" cy="54864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40" name="TextBox 39"/>
          <p:cNvSpPr txBox="1"/>
          <p:nvPr/>
        </p:nvSpPr>
        <p:spPr>
          <a:xfrm>
            <a:off x="10213848" y="3675887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3848" y="3977639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[Funktion]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[Bereich]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Über uns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19.png"/>
          <p:cNvPicPr>
            <a:picLocks noGrp="1" noChangeAspect="1"/>
          </p:cNvPicPr>
          <p:nvPr>
            <p:ph type="pic" idx="27" sz="quarter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Komplexität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wird Vorsprung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Kennzahlen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[Körber Geschäftsbericht / Brand Hub, Jahr]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Körber auf einen Blick: Pharma-Expertise mit der Stärke eines Konzerns</a:t>
            </a:r>
          </a:p>
        </p:txBody>
      </p:sp>
      <p:sp>
        <p:nvSpPr>
          <p:cNvPr id="6" name="Sticker"/>
          <p:cNvSpPr/>
          <p:nvPr/>
        </p:nvSpPr>
        <p:spPr>
          <a:xfrm>
            <a:off x="10268712" y="713232"/>
            <a:ext cx="159105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ZAHLEN EINSETZEN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371600"/>
            <a:ext cx="3840480" cy="3291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Wir planen, bauen, qualifizieren und optimieren pharmazeutische Produktionsanlagen – unabhängig vom Hersteller der Ausrüstung.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Als Teil der Körber-Gruppe verbinden wir Beratung mit Maschinen-, Software- und Service-Know-how.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429000" cy="1783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6002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0" i="0">
                <a:solidFill>
                  <a:schemeClr val="bg1"/>
                </a:solidFill>
              </a:rPr>
              <a:t>[xx]+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774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Jahre Erfahrung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700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in der Pharma-Produktion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4290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0020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0" i="0">
                <a:solidFill>
                  <a:schemeClr val="accent1"/>
                </a:solidFill>
              </a:rPr>
              <a:t>[xxx]+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774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Projekte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700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weltweit umgesetzt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337560"/>
            <a:ext cx="34290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0" i="0">
                <a:solidFill>
                  <a:schemeClr val="accent1"/>
                </a:solidFill>
              </a:rPr>
              <a:t>[xx]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3434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Länder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6360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mit Kundenprojekten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337560"/>
            <a:ext cx="34290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56616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000" b="0" i="0">
                <a:solidFill>
                  <a:schemeClr val="accent1"/>
                </a:solidFill>
              </a:rPr>
              <a:t>[x.xxx]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3434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Expertinnen &amp; Experten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6360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 der Körber-Gruppe Pharma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Leistungsportfolio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 begleiten Ihre Anlage über den gesamten Lebenszyklus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25880"/>
            <a:ext cx="2424988" cy="566928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Strategie &amp; Machbarkeit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25880"/>
            <a:ext cx="2424988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Konzept &amp; Basic Design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25880"/>
            <a:ext cx="2424988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Detail Design &amp; Umsetzung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25880"/>
            <a:ext cx="2424988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Qualifizierung &amp; Validierung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25880"/>
            <a:ext cx="2260396" cy="566928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Betrieb &amp; Optimierung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011680"/>
            <a:ext cx="2260396" cy="2011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Standort- und Kapazitätsstrategie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Machbarkeitsstudien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Investitionsrechnung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160520"/>
            <a:ext cx="216895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„Wo und wie viel sollen wir investieren?“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3588" y="2011680"/>
            <a:ext cx="2260396" cy="2011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8180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Prozess- und Layoutplanung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GMP-Zonenkonzepte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User Requirements (URS)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9308" y="4160520"/>
            <a:ext cx="216895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„Wie sieht die optimale Anlage aus?“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68849" y="2011680"/>
            <a:ext cx="2260396" cy="2011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3441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Ausschreibung und Vergabe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Projekt- und Baumanagement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Lieferantensteuerung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4569" y="4160520"/>
            <a:ext cx="216895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„Wie bleiben wir in Zeit und Budget?“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4110" y="2011680"/>
            <a:ext cx="2260396" cy="2011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8702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CQV-Strategie und -Pläne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IQ / OQ / PQ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Computer-System-Validierung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9830" y="4160520"/>
            <a:ext cx="216895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„Wie kommen wir sicher zur Freigabe?“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99371" y="2011680"/>
            <a:ext cx="2260396" cy="2011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3963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OEE- und Lean-Programme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Digitalisierung &amp; MES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Re-Qualifizierung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5091" y="4160520"/>
            <a:ext cx="216895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„Wie holen wir mehr aus der Anlage?“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023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/>
            </a:r>
          </a:p>
        </p:txBody>
      </p:sp>
      <p:sp>
        <p:nvSpPr>
          <p:cNvPr id="2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Ein Partner über alle Phasen vermeidet Wissensverluste an den Übergaben – dort entstehen die meisten Verzögerungen.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Kompetenzfelder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Sechs Kompetenzfelder decken alle Fragestellungen der Pharma-Produktion ab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25880"/>
            <a:ext cx="36576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554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Icon factory"/>
          <p:cNvSpPr/>
          <p:nvPr/>
        </p:nvSpPr>
        <p:spPr>
          <a:xfrm>
            <a:off x="682142" y="1669694"/>
            <a:ext cx="318211" cy="31821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84000"/>
                </a:moveTo>
                <a:lnTo>
                  <a:pt x="12000" y="42592"/>
                </a:lnTo>
                <a:lnTo>
                  <a:pt x="32000" y="34077"/>
                </a:lnTo>
                <a:lnTo>
                  <a:pt x="32000" y="41923"/>
                </a:lnTo>
                <a:lnTo>
                  <a:pt x="52000" y="33923"/>
                </a:lnTo>
                <a:lnTo>
                  <a:pt x="52000" y="44000"/>
                </a:lnTo>
                <a:lnTo>
                  <a:pt x="84000" y="44000"/>
                </a:lnTo>
                <a:lnTo>
                  <a:pt x="84000" y="84000"/>
                </a:lnTo>
                <a:lnTo>
                  <a:pt x="12000" y="8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80000" y="48000"/>
                </a:lnTo>
                <a:lnTo>
                  <a:pt x="48000" y="48000"/>
                </a:lnTo>
                <a:lnTo>
                  <a:pt x="48000" y="39800"/>
                </a:lnTo>
                <a:lnTo>
                  <a:pt x="28000" y="47800"/>
                </a:lnTo>
                <a:lnTo>
                  <a:pt x="28000" y="40000"/>
                </a:lnTo>
                <a:lnTo>
                  <a:pt x="16000" y="45300"/>
                </a:lnTo>
                <a:lnTo>
                  <a:pt x="16000" y="80000"/>
                </a:lnTo>
                <a:close/>
                <a:moveTo>
                  <a:pt x="44923" y="70154"/>
                </a:moveTo>
                <a:lnTo>
                  <a:pt x="51077" y="70154"/>
                </a:lnTo>
                <a:lnTo>
                  <a:pt x="51077" y="57846"/>
                </a:lnTo>
                <a:lnTo>
                  <a:pt x="44923" y="57846"/>
                </a:lnTo>
                <a:lnTo>
                  <a:pt x="44923" y="70154"/>
                </a:lnTo>
                <a:close/>
                <a:moveTo>
                  <a:pt x="28923" y="70154"/>
                </a:moveTo>
                <a:lnTo>
                  <a:pt x="35077" y="70154"/>
                </a:lnTo>
                <a:lnTo>
                  <a:pt x="35077" y="57846"/>
                </a:lnTo>
                <a:lnTo>
                  <a:pt x="28923" y="57846"/>
                </a:lnTo>
                <a:lnTo>
                  <a:pt x="28923" y="70154"/>
                </a:lnTo>
                <a:close/>
                <a:moveTo>
                  <a:pt x="60923" y="70154"/>
                </a:moveTo>
                <a:lnTo>
                  <a:pt x="67077" y="70154"/>
                </a:lnTo>
                <a:lnTo>
                  <a:pt x="67077" y="57846"/>
                </a:lnTo>
                <a:lnTo>
                  <a:pt x="60923" y="57846"/>
                </a:lnTo>
                <a:lnTo>
                  <a:pt x="60923" y="70154"/>
                </a:lnTo>
                <a:close/>
                <a:moveTo>
                  <a:pt x="84000" y="44000"/>
                </a:moveTo>
                <a:lnTo>
                  <a:pt x="71538" y="44000"/>
                </a:lnTo>
                <a:lnTo>
                  <a:pt x="75538" y="15077"/>
                </a:lnTo>
                <a:lnTo>
                  <a:pt x="80462" y="15077"/>
                </a:lnTo>
                <a:lnTo>
                  <a:pt x="84000" y="4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16000" y="8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566928" y="2221991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Facility &amp; Process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603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Konzept-, Basic- und Detailplanung für feste, sterile und biologische Darreichungsformen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325880"/>
            <a:ext cx="36576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98848" y="1554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verified"/>
          <p:cNvSpPr/>
          <p:nvPr/>
        </p:nvSpPr>
        <p:spPr>
          <a:xfrm>
            <a:off x="4614062" y="1669694"/>
            <a:ext cx="318211" cy="31821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4498848" y="2221991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GMP Compliance &amp; CQV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5603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Commissioning, Qualifizierung und Validierung nach EU-GMP und FDA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2168" y="1325880"/>
            <a:ext cx="36576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5544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con memory"/>
          <p:cNvSpPr/>
          <p:nvPr/>
        </p:nvSpPr>
        <p:spPr>
          <a:xfrm>
            <a:off x="8545982" y="1669694"/>
            <a:ext cx="318211" cy="31821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0" y="56000"/>
                </a:moveTo>
                <a:lnTo>
                  <a:pt x="40000" y="40000"/>
                </a:lnTo>
                <a:lnTo>
                  <a:pt x="56000" y="40000"/>
                </a:lnTo>
                <a:lnTo>
                  <a:pt x="56000" y="56000"/>
                </a:lnTo>
                <a:lnTo>
                  <a:pt x="40000" y="56000"/>
                </a:lnTo>
                <a:close/>
                <a:moveTo>
                  <a:pt x="44000" y="52000"/>
                </a:moveTo>
                <a:lnTo>
                  <a:pt x="52000" y="52000"/>
                </a:lnTo>
                <a:lnTo>
                  <a:pt x="52000" y="44000"/>
                </a:lnTo>
                <a:lnTo>
                  <a:pt x="44000" y="44000"/>
                </a:lnTo>
                <a:lnTo>
                  <a:pt x="44000" y="52000"/>
                </a:lnTo>
                <a:close/>
                <a:moveTo>
                  <a:pt x="38000" y="78154"/>
                </a:moveTo>
                <a:lnTo>
                  <a:pt x="38000" y="72000"/>
                </a:lnTo>
                <a:lnTo>
                  <a:pt x="30462" y="72000"/>
                </a:lnTo>
                <a:quadBezTo>
                  <a:pt x="27700" y="72000"/>
                  <a:pt x="25850" y="70150"/>
                </a:quadBezTo>
                <a:quadBezTo>
                  <a:pt x="24000" y="68300"/>
                  <a:pt x="24000" y="65538"/>
                </a:quadBezTo>
                <a:lnTo>
                  <a:pt x="24000" y="58000"/>
                </a:lnTo>
                <a:lnTo>
                  <a:pt x="17846" y="58000"/>
                </a:lnTo>
                <a:lnTo>
                  <a:pt x="17846" y="54000"/>
                </a:lnTo>
                <a:lnTo>
                  <a:pt x="24000" y="54000"/>
                </a:lnTo>
                <a:lnTo>
                  <a:pt x="24000" y="42000"/>
                </a:lnTo>
                <a:lnTo>
                  <a:pt x="17846" y="42000"/>
                </a:lnTo>
                <a:lnTo>
                  <a:pt x="17846" y="38000"/>
                </a:lnTo>
                <a:lnTo>
                  <a:pt x="24000" y="38000"/>
                </a:lnTo>
                <a:lnTo>
                  <a:pt x="24000" y="30462"/>
                </a:lnTo>
                <a:quadBezTo>
                  <a:pt x="24000" y="27700"/>
                  <a:pt x="25850" y="25850"/>
                </a:quadBezTo>
                <a:quadBezTo>
                  <a:pt x="27700" y="24000"/>
                  <a:pt x="30462" y="24000"/>
                </a:quadBezTo>
                <a:lnTo>
                  <a:pt x="38000" y="24000"/>
                </a:lnTo>
                <a:lnTo>
                  <a:pt x="38000" y="17846"/>
                </a:lnTo>
                <a:lnTo>
                  <a:pt x="42000" y="17846"/>
                </a:lnTo>
                <a:lnTo>
                  <a:pt x="42000" y="24000"/>
                </a:lnTo>
                <a:lnTo>
                  <a:pt x="54000" y="24000"/>
                </a:lnTo>
                <a:lnTo>
                  <a:pt x="54000" y="17846"/>
                </a:lnTo>
                <a:lnTo>
                  <a:pt x="58000" y="17846"/>
                </a:lnTo>
                <a:lnTo>
                  <a:pt x="58000" y="24000"/>
                </a:lnTo>
                <a:lnTo>
                  <a:pt x="65538" y="24000"/>
                </a:lnTo>
                <a:quadBezTo>
                  <a:pt x="68300" y="24000"/>
                  <a:pt x="70150" y="25850"/>
                </a:quadBezTo>
                <a:quadBezTo>
                  <a:pt x="72000" y="27700"/>
                  <a:pt x="72000" y="30462"/>
                </a:quadBezTo>
                <a:lnTo>
                  <a:pt x="72000" y="38000"/>
                </a:lnTo>
                <a:lnTo>
                  <a:pt x="78154" y="38000"/>
                </a:lnTo>
                <a:lnTo>
                  <a:pt x="78154" y="42000"/>
                </a:lnTo>
                <a:lnTo>
                  <a:pt x="72000" y="42000"/>
                </a:lnTo>
                <a:lnTo>
                  <a:pt x="72000" y="54000"/>
                </a:lnTo>
                <a:lnTo>
                  <a:pt x="78154" y="54000"/>
                </a:lnTo>
                <a:lnTo>
                  <a:pt x="78154" y="58000"/>
                </a:lnTo>
                <a:lnTo>
                  <a:pt x="72000" y="58000"/>
                </a:lnTo>
                <a:lnTo>
                  <a:pt x="72000" y="65538"/>
                </a:lnTo>
                <a:quadBezTo>
                  <a:pt x="72000" y="68300"/>
                  <a:pt x="70150" y="70150"/>
                </a:quadBezTo>
                <a:quadBezTo>
                  <a:pt x="68300" y="72000"/>
                  <a:pt x="65538" y="72000"/>
                </a:quadBezTo>
                <a:lnTo>
                  <a:pt x="58000" y="72000"/>
                </a:lnTo>
                <a:lnTo>
                  <a:pt x="58000" y="78154"/>
                </a:lnTo>
                <a:lnTo>
                  <a:pt x="54000" y="78154"/>
                </a:lnTo>
                <a:lnTo>
                  <a:pt x="54000" y="72000"/>
                </a:lnTo>
                <a:lnTo>
                  <a:pt x="42000" y="72000"/>
                </a:lnTo>
                <a:lnTo>
                  <a:pt x="42000" y="78154"/>
                </a:lnTo>
                <a:lnTo>
                  <a:pt x="38000" y="78154"/>
                </a:lnTo>
                <a:close/>
                <a:moveTo>
                  <a:pt x="65538" y="68000"/>
                </a:moveTo>
                <a:quadBezTo>
                  <a:pt x="66462" y="68000"/>
                  <a:pt x="67231" y="67231"/>
                </a:quadBezTo>
                <a:quadBezTo>
                  <a:pt x="68000" y="66462"/>
                  <a:pt x="68000" y="65538"/>
                </a:quadBezTo>
                <a:lnTo>
                  <a:pt x="68000" y="30462"/>
                </a:lnTo>
                <a:quadBezTo>
                  <a:pt x="68000" y="29538"/>
                  <a:pt x="67231" y="28769"/>
                </a:quadBezTo>
                <a:quadBezTo>
                  <a:pt x="66462" y="28000"/>
                  <a:pt x="65538" y="28000"/>
                </a:quadBezTo>
                <a:lnTo>
                  <a:pt x="30462" y="28000"/>
                </a:lnTo>
                <a:quadBezTo>
                  <a:pt x="29538" y="28000"/>
                  <a:pt x="28769" y="28769"/>
                </a:quadBezTo>
                <a:quadBezTo>
                  <a:pt x="28000" y="29538"/>
                  <a:pt x="28000" y="30462"/>
                </a:quadBezTo>
                <a:lnTo>
                  <a:pt x="28000" y="65538"/>
                </a:lnTo>
                <a:quadBezTo>
                  <a:pt x="28000" y="66462"/>
                  <a:pt x="28769" y="67231"/>
                </a:quadBezTo>
                <a:quadBezTo>
                  <a:pt x="29538" y="68000"/>
                  <a:pt x="30462" y="68000"/>
                </a:quadBezTo>
                <a:lnTo>
                  <a:pt x="65538" y="68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8430768" y="2221991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Digitalisierung &amp; 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5603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MES-Einführung, Pharma 4.0, Data Integrity und OT-Sicherheit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6576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" y="36118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Icon local_shipping"/>
          <p:cNvSpPr/>
          <p:nvPr/>
        </p:nvSpPr>
        <p:spPr>
          <a:xfrm>
            <a:off x="682142" y="3727094"/>
            <a:ext cx="318211" cy="31821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751" y="76462"/>
                </a:moveTo>
                <a:quadBezTo>
                  <a:pt x="18385" y="76462"/>
                  <a:pt x="15346" y="73410"/>
                </a:quadBezTo>
                <a:quadBezTo>
                  <a:pt x="12308" y="70359"/>
                  <a:pt x="12308" y="66000"/>
                </a:quadBezTo>
                <a:lnTo>
                  <a:pt x="6769" y="66000"/>
                </a:lnTo>
                <a:lnTo>
                  <a:pt x="6769" y="26462"/>
                </a:lnTo>
                <a:quadBezTo>
                  <a:pt x="6769" y="23700"/>
                  <a:pt x="8619" y="21850"/>
                </a:quadBezTo>
                <a:quadBezTo>
                  <a:pt x="10469" y="20000"/>
                  <a:pt x="13231" y="20000"/>
                </a:quadBezTo>
                <a:lnTo>
                  <a:pt x="66154" y="20000"/>
                </a:lnTo>
                <a:lnTo>
                  <a:pt x="66154" y="34462"/>
                </a:lnTo>
                <a:lnTo>
                  <a:pt x="75385" y="34462"/>
                </a:lnTo>
                <a:lnTo>
                  <a:pt x="89231" y="53077"/>
                </a:lnTo>
                <a:lnTo>
                  <a:pt x="89231" y="66000"/>
                </a:lnTo>
                <a:lnTo>
                  <a:pt x="82769" y="66000"/>
                </a:lnTo>
                <a:quadBezTo>
                  <a:pt x="82769" y="70359"/>
                  <a:pt x="79713" y="73410"/>
                </a:quadBezTo>
                <a:quadBezTo>
                  <a:pt x="76656" y="76462"/>
                  <a:pt x="72290" y="76462"/>
                </a:quadBezTo>
                <a:quadBezTo>
                  <a:pt x="67923" y="76462"/>
                  <a:pt x="64885" y="73410"/>
                </a:quadBezTo>
                <a:quadBezTo>
                  <a:pt x="61846" y="70359"/>
                  <a:pt x="61846" y="66000"/>
                </a:quadBezTo>
                <a:lnTo>
                  <a:pt x="33231" y="66000"/>
                </a:lnTo>
                <a:quadBezTo>
                  <a:pt x="33231" y="70385"/>
                  <a:pt x="30174" y="73423"/>
                </a:quadBezTo>
                <a:quadBezTo>
                  <a:pt x="27118" y="76462"/>
                  <a:pt x="22751" y="76462"/>
                </a:quadBezTo>
                <a:close/>
                <a:moveTo>
                  <a:pt x="22769" y="72462"/>
                </a:moveTo>
                <a:quadBezTo>
                  <a:pt x="25469" y="72462"/>
                  <a:pt x="27350" y="70581"/>
                </a:quadBezTo>
                <a:quadBezTo>
                  <a:pt x="29231" y="68700"/>
                  <a:pt x="29231" y="66000"/>
                </a:quadBezTo>
                <a:quadBezTo>
                  <a:pt x="29231" y="63300"/>
                  <a:pt x="27350" y="61419"/>
                </a:quadBezTo>
                <a:quadBezTo>
                  <a:pt x="25469" y="59538"/>
                  <a:pt x="22769" y="59538"/>
                </a:quadBezTo>
                <a:quadBezTo>
                  <a:pt x="20069" y="59538"/>
                  <a:pt x="18188" y="61419"/>
                </a:quadBezTo>
                <a:quadBezTo>
                  <a:pt x="16308" y="63300"/>
                  <a:pt x="16308" y="66000"/>
                </a:quadBezTo>
                <a:quadBezTo>
                  <a:pt x="16308" y="68700"/>
                  <a:pt x="18188" y="70581"/>
                </a:quadBezTo>
                <a:quadBezTo>
                  <a:pt x="20069" y="72462"/>
                  <a:pt x="22769" y="72462"/>
                </a:quadBezTo>
                <a:close/>
                <a:moveTo>
                  <a:pt x="10769" y="62000"/>
                </a:moveTo>
                <a:lnTo>
                  <a:pt x="13354" y="62000"/>
                </a:lnTo>
                <a:quadBezTo>
                  <a:pt x="14208" y="59354"/>
                  <a:pt x="16831" y="57446"/>
                </a:quadBezTo>
                <a:quadBezTo>
                  <a:pt x="19454" y="55538"/>
                  <a:pt x="22769" y="55538"/>
                </a:quadBezTo>
                <a:quadBezTo>
                  <a:pt x="25931" y="55538"/>
                  <a:pt x="28631" y="57408"/>
                </a:quadBezTo>
                <a:quadBezTo>
                  <a:pt x="31331" y="59277"/>
                  <a:pt x="32185" y="62000"/>
                </a:quadBezTo>
                <a:lnTo>
                  <a:pt x="62154" y="62000"/>
                </a:lnTo>
                <a:lnTo>
                  <a:pt x="62154" y="24000"/>
                </a:lnTo>
                <a:lnTo>
                  <a:pt x="13231" y="24000"/>
                </a:lnTo>
                <a:quadBezTo>
                  <a:pt x="12308" y="24000"/>
                  <a:pt x="11538" y="24769"/>
                </a:quadBezTo>
                <a:quadBezTo>
                  <a:pt x="10769" y="25538"/>
                  <a:pt x="10769" y="26462"/>
                </a:quadBezTo>
                <a:lnTo>
                  <a:pt x="10769" y="62000"/>
                </a:lnTo>
                <a:close/>
                <a:moveTo>
                  <a:pt x="72308" y="72462"/>
                </a:moveTo>
                <a:quadBezTo>
                  <a:pt x="75008" y="72462"/>
                  <a:pt x="76888" y="70581"/>
                </a:quadBezTo>
                <a:quadBezTo>
                  <a:pt x="78769" y="68700"/>
                  <a:pt x="78769" y="66000"/>
                </a:quadBezTo>
                <a:quadBezTo>
                  <a:pt x="78769" y="63300"/>
                  <a:pt x="76888" y="61419"/>
                </a:quadBezTo>
                <a:quadBezTo>
                  <a:pt x="75008" y="59538"/>
                  <a:pt x="72308" y="59538"/>
                </a:quadBezTo>
                <a:quadBezTo>
                  <a:pt x="69608" y="59538"/>
                  <a:pt x="67727" y="61419"/>
                </a:quadBezTo>
                <a:quadBezTo>
                  <a:pt x="65846" y="63300"/>
                  <a:pt x="65846" y="66000"/>
                </a:quadBezTo>
                <a:quadBezTo>
                  <a:pt x="65846" y="68700"/>
                  <a:pt x="67727" y="70581"/>
                </a:quadBezTo>
                <a:quadBezTo>
                  <a:pt x="69608" y="72462"/>
                  <a:pt x="72308" y="72462"/>
                </a:quadBezTo>
                <a:close/>
                <a:moveTo>
                  <a:pt x="66154" y="54000"/>
                </a:moveTo>
                <a:lnTo>
                  <a:pt x="85000" y="54000"/>
                </a:lnTo>
                <a:lnTo>
                  <a:pt x="73231" y="38462"/>
                </a:lnTo>
                <a:lnTo>
                  <a:pt x="66154" y="38462"/>
                </a:lnTo>
                <a:lnTo>
                  <a:pt x="66154" y="54000"/>
                </a:lnTo>
                <a:close/>
                <a:moveTo>
                  <a:pt x="36462" y="43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566928" y="4279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Supply Chain &amp; Logistik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6177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Material-, Lager- und Distributionskonzepte, Serialisierung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3383280"/>
            <a:ext cx="36576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98848" y="36118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Icon account_tree"/>
          <p:cNvSpPr/>
          <p:nvPr/>
        </p:nvSpPr>
        <p:spPr>
          <a:xfrm>
            <a:off x="4614062" y="3727094"/>
            <a:ext cx="318211" cy="31821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000" y="82000"/>
                </a:moveTo>
                <a:lnTo>
                  <a:pt x="62000" y="70000"/>
                </a:lnTo>
                <a:lnTo>
                  <a:pt x="46000" y="70000"/>
                </a:lnTo>
                <a:lnTo>
                  <a:pt x="46000" y="30000"/>
                </a:lnTo>
                <a:lnTo>
                  <a:pt x="34000" y="30000"/>
                </a:lnTo>
                <a:lnTo>
                  <a:pt x="34000" y="42000"/>
                </a:lnTo>
                <a:lnTo>
                  <a:pt x="10000" y="42000"/>
                </a:lnTo>
                <a:lnTo>
                  <a:pt x="10000" y="14000"/>
                </a:lnTo>
                <a:lnTo>
                  <a:pt x="34000" y="14000"/>
                </a:lnTo>
                <a:lnTo>
                  <a:pt x="34000" y="26000"/>
                </a:lnTo>
                <a:lnTo>
                  <a:pt x="62000" y="26000"/>
                </a:lnTo>
                <a:lnTo>
                  <a:pt x="62000" y="14000"/>
                </a:lnTo>
                <a:lnTo>
                  <a:pt x="86000" y="14000"/>
                </a:lnTo>
                <a:lnTo>
                  <a:pt x="86000" y="42000"/>
                </a:lnTo>
                <a:lnTo>
                  <a:pt x="62000" y="42000"/>
                </a:lnTo>
                <a:lnTo>
                  <a:pt x="62000" y="30000"/>
                </a:lnTo>
                <a:lnTo>
                  <a:pt x="50000" y="30000"/>
                </a:lnTo>
                <a:lnTo>
                  <a:pt x="50000" y="66000"/>
                </a:lnTo>
                <a:lnTo>
                  <a:pt x="62000" y="66000"/>
                </a:lnTo>
                <a:lnTo>
                  <a:pt x="62000" y="54000"/>
                </a:lnTo>
                <a:lnTo>
                  <a:pt x="86000" y="54000"/>
                </a:lnTo>
                <a:lnTo>
                  <a:pt x="86000" y="82000"/>
                </a:lnTo>
                <a:lnTo>
                  <a:pt x="62000" y="82000"/>
                </a:lnTo>
                <a:close/>
                <a:moveTo>
                  <a:pt x="14000" y="18000"/>
                </a:moveTo>
                <a:lnTo>
                  <a:pt x="14000" y="38000"/>
                </a:lnTo>
                <a:lnTo>
                  <a:pt x="14000" y="18000"/>
                </a:lnTo>
                <a:close/>
                <a:moveTo>
                  <a:pt x="66000" y="58000"/>
                </a:moveTo>
                <a:lnTo>
                  <a:pt x="66000" y="78000"/>
                </a:lnTo>
                <a:lnTo>
                  <a:pt x="66000" y="58000"/>
                </a:lnTo>
                <a:close/>
                <a:moveTo>
                  <a:pt x="66000" y="18000"/>
                </a:moveTo>
                <a:lnTo>
                  <a:pt x="66000" y="38000"/>
                </a:lnTo>
                <a:lnTo>
                  <a:pt x="66000" y="18000"/>
                </a:lnTo>
                <a:close/>
                <a:moveTo>
                  <a:pt x="66000" y="38000"/>
                </a:moveTo>
                <a:lnTo>
                  <a:pt x="82000" y="38000"/>
                </a:lnTo>
                <a:lnTo>
                  <a:pt x="82000" y="18000"/>
                </a:lnTo>
                <a:lnTo>
                  <a:pt x="66000" y="18000"/>
                </a:lnTo>
                <a:lnTo>
                  <a:pt x="66000" y="38000"/>
                </a:lnTo>
                <a:close/>
                <a:moveTo>
                  <a:pt x="66000" y="78000"/>
                </a:moveTo>
                <a:lnTo>
                  <a:pt x="82000" y="78000"/>
                </a:lnTo>
                <a:lnTo>
                  <a:pt x="82000" y="58000"/>
                </a:lnTo>
                <a:lnTo>
                  <a:pt x="66000" y="58000"/>
                </a:lnTo>
                <a:lnTo>
                  <a:pt x="66000" y="78000"/>
                </a:lnTo>
                <a:close/>
                <a:moveTo>
                  <a:pt x="14000" y="38000"/>
                </a:moveTo>
                <a:lnTo>
                  <a:pt x="30000" y="38000"/>
                </a:lnTo>
                <a:lnTo>
                  <a:pt x="30000" y="18000"/>
                </a:lnTo>
                <a:lnTo>
                  <a:pt x="14000" y="18000"/>
                </a:lnTo>
                <a:lnTo>
                  <a:pt x="14000" y="3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4498848" y="4279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Projektmanagement &amp; PMO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6177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Steuerung von Investitionsprojekten bis zur Übergabe an den Betrieb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2168" y="3383280"/>
            <a:ext cx="365760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361188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Icon speed"/>
          <p:cNvSpPr/>
          <p:nvPr/>
        </p:nvSpPr>
        <p:spPr>
          <a:xfrm>
            <a:off x="8545982" y="3727094"/>
            <a:ext cx="318211" cy="318211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3031" y="60769"/>
                </a:moveTo>
                <a:quadBezTo>
                  <a:pt x="44892" y="62631"/>
                  <a:pt x="47808" y="62465"/>
                </a:quadBezTo>
                <a:quadBezTo>
                  <a:pt x="50723" y="62300"/>
                  <a:pt x="52062" y="60369"/>
                </a:quadBezTo>
                <a:lnTo>
                  <a:pt x="73077" y="31077"/>
                </a:lnTo>
                <a:lnTo>
                  <a:pt x="43631" y="51938"/>
                </a:lnTo>
                <a:quadBezTo>
                  <a:pt x="41623" y="53277"/>
                  <a:pt x="41396" y="56092"/>
                </a:quadBezTo>
                <a:quadBezTo>
                  <a:pt x="41169" y="58908"/>
                  <a:pt x="43031" y="60769"/>
                </a:quadBezTo>
                <a:close/>
                <a:moveTo>
                  <a:pt x="48000" y="20000"/>
                </a:moveTo>
                <a:quadBezTo>
                  <a:pt x="53515" y="20000"/>
                  <a:pt x="58042" y="21342"/>
                </a:quadBezTo>
                <a:quadBezTo>
                  <a:pt x="62569" y="22685"/>
                  <a:pt x="67062" y="25446"/>
                </a:quadBezTo>
                <a:lnTo>
                  <a:pt x="63385" y="27938"/>
                </a:lnTo>
                <a:quadBezTo>
                  <a:pt x="59854" y="26008"/>
                  <a:pt x="56073" y="25004"/>
                </a:quadBezTo>
                <a:quadBezTo>
                  <a:pt x="52292" y="24000"/>
                  <a:pt x="48000" y="24000"/>
                </a:quadBezTo>
                <a:quadBezTo>
                  <a:pt x="34700" y="24000"/>
                  <a:pt x="25350" y="33350"/>
                </a:quadBezTo>
                <a:quadBezTo>
                  <a:pt x="16000" y="42700"/>
                  <a:pt x="16000" y="56000"/>
                </a:quadBezTo>
                <a:quadBezTo>
                  <a:pt x="16000" y="60200"/>
                  <a:pt x="17150" y="64300"/>
                </a:quadBezTo>
                <a:quadBezTo>
                  <a:pt x="18300" y="68400"/>
                  <a:pt x="20400" y="72000"/>
                </a:quadBezTo>
                <a:lnTo>
                  <a:pt x="75600" y="72000"/>
                </a:lnTo>
                <a:quadBezTo>
                  <a:pt x="77900" y="68200"/>
                  <a:pt x="78950" y="64100"/>
                </a:quadBezTo>
                <a:quadBezTo>
                  <a:pt x="80000" y="60000"/>
                  <a:pt x="80000" y="55600"/>
                </a:quadBezTo>
                <a:quadBezTo>
                  <a:pt x="80000" y="52000"/>
                  <a:pt x="79073" y="48023"/>
                </a:quadBezTo>
                <a:quadBezTo>
                  <a:pt x="78146" y="44046"/>
                  <a:pt x="76138" y="40615"/>
                </a:quadBezTo>
                <a:lnTo>
                  <a:pt x="78631" y="36938"/>
                </a:lnTo>
                <a:quadBezTo>
                  <a:pt x="81554" y="41946"/>
                  <a:pt x="82765" y="46362"/>
                </a:quadBezTo>
                <a:quadBezTo>
                  <a:pt x="83977" y="50777"/>
                  <a:pt x="84000" y="55554"/>
                </a:quadBezTo>
                <a:quadBezTo>
                  <a:pt x="84023" y="60715"/>
                  <a:pt x="82854" y="65185"/>
                </a:quadBezTo>
                <a:quadBezTo>
                  <a:pt x="81685" y="69654"/>
                  <a:pt x="79215" y="74200"/>
                </a:quadBezTo>
                <a:quadBezTo>
                  <a:pt x="78731" y="75000"/>
                  <a:pt x="77754" y="75500"/>
                </a:quadBezTo>
                <a:quadBezTo>
                  <a:pt x="76777" y="76000"/>
                  <a:pt x="75600" y="76000"/>
                </a:quadBezTo>
                <a:lnTo>
                  <a:pt x="20400" y="76000"/>
                </a:lnTo>
                <a:quadBezTo>
                  <a:pt x="19300" y="76000"/>
                  <a:pt x="18362" y="75462"/>
                </a:quadBezTo>
                <a:quadBezTo>
                  <a:pt x="17423" y="74923"/>
                  <a:pt x="16785" y="73892"/>
                </a:quadBezTo>
                <a:quadBezTo>
                  <a:pt x="14800" y="70392"/>
                  <a:pt x="13400" y="65996"/>
                </a:quadBezTo>
                <a:quadBezTo>
                  <a:pt x="12000" y="61600"/>
                  <a:pt x="12000" y="56000"/>
                </a:quadBezTo>
                <a:quadBezTo>
                  <a:pt x="12000" y="48623"/>
                  <a:pt x="14798" y="42076"/>
                </a:quadBezTo>
                <a:quadBezTo>
                  <a:pt x="17596" y="35528"/>
                  <a:pt x="22436" y="30606"/>
                </a:quadBezTo>
                <a:quadBezTo>
                  <a:pt x="27277" y="25685"/>
                  <a:pt x="33885" y="22842"/>
                </a:quadBezTo>
                <a:quadBezTo>
                  <a:pt x="40492" y="20000"/>
                  <a:pt x="48000" y="20000"/>
                </a:quadBezTo>
                <a:close/>
                <a:moveTo>
                  <a:pt x="48162" y="4783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4" name="TextBox 33"/>
          <p:cNvSpPr txBox="1"/>
          <p:nvPr/>
        </p:nvSpPr>
        <p:spPr>
          <a:xfrm>
            <a:off x="8430768" y="427939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Operational Excellence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46177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OEE-Steigerung, Lean Lab, Kapazitäts- und Personalplanung</a:t>
            </a:r>
          </a:p>
        </p:txBody>
      </p:sp>
      <p:sp>
        <p:nvSpPr>
          <p:cNvPr id="36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Ein Ansprechpartner für Planung, Umsetzung und Qualifizierung reduziert Schnittstellen und Time-to-Market.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Kundensegmente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Vier Kundensegmente – vier unterschiedliche Prioritäten</a:t>
            </a:r>
          </a:p>
        </p:txBody>
      </p:sp>
      <p:sp>
        <p:nvSpPr>
          <p:cNvPr id="6" name="Icon medication"/>
          <p:cNvSpPr/>
          <p:nvPr/>
        </p:nvSpPr>
        <p:spPr>
          <a:xfrm>
            <a:off x="338328" y="13716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5538" y="66000"/>
                </a:moveTo>
                <a:lnTo>
                  <a:pt x="50462" y="66000"/>
                </a:lnTo>
                <a:lnTo>
                  <a:pt x="50462" y="56000"/>
                </a:lnTo>
                <a:lnTo>
                  <a:pt x="60462" y="56000"/>
                </a:lnTo>
                <a:lnTo>
                  <a:pt x="60462" y="51077"/>
                </a:lnTo>
                <a:lnTo>
                  <a:pt x="50462" y="51077"/>
                </a:lnTo>
                <a:lnTo>
                  <a:pt x="50462" y="41077"/>
                </a:lnTo>
                <a:lnTo>
                  <a:pt x="45538" y="41077"/>
                </a:lnTo>
                <a:lnTo>
                  <a:pt x="45538" y="51077"/>
                </a:lnTo>
                <a:lnTo>
                  <a:pt x="35538" y="51077"/>
                </a:lnTo>
                <a:lnTo>
                  <a:pt x="35538" y="56000"/>
                </a:lnTo>
                <a:lnTo>
                  <a:pt x="45538" y="56000"/>
                </a:lnTo>
                <a:lnTo>
                  <a:pt x="45538" y="66000"/>
                </a:lnTo>
                <a:close/>
                <a:moveTo>
                  <a:pt x="30462" y="79538"/>
                </a:moveTo>
                <a:quadBezTo>
                  <a:pt x="27796" y="79538"/>
                  <a:pt x="25898" y="77640"/>
                </a:quadBezTo>
                <a:quadBezTo>
                  <a:pt x="24000" y="75742"/>
                  <a:pt x="24000" y="73077"/>
                </a:quadBezTo>
                <a:lnTo>
                  <a:pt x="24000" y="34000"/>
                </a:lnTo>
                <a:quadBezTo>
                  <a:pt x="24000" y="31335"/>
                  <a:pt x="25898" y="29437"/>
                </a:quadBezTo>
                <a:quadBezTo>
                  <a:pt x="27796" y="27538"/>
                  <a:pt x="30462" y="27538"/>
                </a:quadBezTo>
                <a:lnTo>
                  <a:pt x="65538" y="27538"/>
                </a:lnTo>
                <a:quadBezTo>
                  <a:pt x="68204" y="27538"/>
                  <a:pt x="70102" y="29437"/>
                </a:quadBezTo>
                <a:quadBezTo>
                  <a:pt x="72000" y="31335"/>
                  <a:pt x="72000" y="34000"/>
                </a:quadBezTo>
                <a:lnTo>
                  <a:pt x="72000" y="73077"/>
                </a:lnTo>
                <a:quadBezTo>
                  <a:pt x="72000" y="75742"/>
                  <a:pt x="70102" y="77640"/>
                </a:quadBezTo>
                <a:quadBezTo>
                  <a:pt x="68204" y="79538"/>
                  <a:pt x="65538" y="79538"/>
                </a:quadBezTo>
                <a:lnTo>
                  <a:pt x="30462" y="79538"/>
                </a:lnTo>
                <a:close/>
                <a:moveTo>
                  <a:pt x="30462" y="75538"/>
                </a:moveTo>
                <a:lnTo>
                  <a:pt x="65538" y="75538"/>
                </a:lnTo>
                <a:quadBezTo>
                  <a:pt x="66462" y="75538"/>
                  <a:pt x="67231" y="74769"/>
                </a:quadBezTo>
                <a:quadBezTo>
                  <a:pt x="68000" y="74000"/>
                  <a:pt x="68000" y="73077"/>
                </a:quadBezTo>
                <a:lnTo>
                  <a:pt x="68000" y="34000"/>
                </a:lnTo>
                <a:quadBezTo>
                  <a:pt x="68000" y="33077"/>
                  <a:pt x="67231" y="32308"/>
                </a:quadBezTo>
                <a:quadBezTo>
                  <a:pt x="66462" y="31538"/>
                  <a:pt x="65538" y="31538"/>
                </a:quadBezTo>
                <a:lnTo>
                  <a:pt x="30462" y="31538"/>
                </a:lnTo>
                <a:quadBezTo>
                  <a:pt x="29538" y="31538"/>
                  <a:pt x="28769" y="32308"/>
                </a:quadBezTo>
                <a:quadBezTo>
                  <a:pt x="28000" y="33077"/>
                  <a:pt x="28000" y="34000"/>
                </a:quadBezTo>
                <a:lnTo>
                  <a:pt x="28000" y="73077"/>
                </a:lnTo>
                <a:quadBezTo>
                  <a:pt x="28000" y="74000"/>
                  <a:pt x="28769" y="74769"/>
                </a:quadBezTo>
                <a:quadBezTo>
                  <a:pt x="29538" y="75538"/>
                  <a:pt x="30462" y="75538"/>
                </a:quadBezTo>
                <a:close/>
                <a:moveTo>
                  <a:pt x="25846" y="20462"/>
                </a:moveTo>
                <a:lnTo>
                  <a:pt x="25846" y="16462"/>
                </a:lnTo>
                <a:lnTo>
                  <a:pt x="70154" y="16462"/>
                </a:lnTo>
                <a:lnTo>
                  <a:pt x="70154" y="20462"/>
                </a:lnTo>
                <a:lnTo>
                  <a:pt x="25846" y="20462"/>
                </a:lnTo>
                <a:close/>
                <a:moveTo>
                  <a:pt x="28000" y="31538"/>
                </a:moveTo>
                <a:lnTo>
                  <a:pt x="28000" y="75538"/>
                </a:lnTo>
                <a:lnTo>
                  <a:pt x="28000" y="31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7" name="Connector 6"/>
          <p:cNvCxnSpPr/>
          <p:nvPr/>
        </p:nvCxnSpPr>
        <p:spPr>
          <a:xfrm>
            <a:off x="338328" y="19659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84831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Big Pharma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5603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TYPISCHE HERAUSFORDERUNGEN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834640"/>
            <a:ext cx="26746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Globale Netzwerk-Harmonisierung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Portfolio-Shift zu Biologika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Kostendruck in reifen Produkten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4160520"/>
            <a:ext cx="26746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79392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 BEITRAG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53712"/>
            <a:ext cx="24003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Standardisierte Werkskonzepte und Programm-PMO</a:t>
            </a:r>
          </a:p>
        </p:txBody>
      </p:sp>
      <p:sp>
        <p:nvSpPr>
          <p:cNvPr id="14" name="Icon biotech"/>
          <p:cNvSpPr/>
          <p:nvPr/>
        </p:nvSpPr>
        <p:spPr>
          <a:xfrm>
            <a:off x="3287268" y="13716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538" y="82000"/>
                </a:moveTo>
                <a:lnTo>
                  <a:pt x="23538" y="78000"/>
                </a:lnTo>
                <a:lnTo>
                  <a:pt x="43538" y="78000"/>
                </a:lnTo>
                <a:lnTo>
                  <a:pt x="43538" y="66000"/>
                </a:lnTo>
                <a:lnTo>
                  <a:pt x="41538" y="66000"/>
                </a:lnTo>
                <a:quadBezTo>
                  <a:pt x="34068" y="66000"/>
                  <a:pt x="28803" y="60735"/>
                </a:quadBezTo>
                <a:quadBezTo>
                  <a:pt x="23538" y="55470"/>
                  <a:pt x="23538" y="48000"/>
                </a:quadBezTo>
                <a:quadBezTo>
                  <a:pt x="23538" y="42454"/>
                  <a:pt x="26735" y="37908"/>
                </a:quadBezTo>
                <a:quadBezTo>
                  <a:pt x="29931" y="33362"/>
                  <a:pt x="35169" y="31292"/>
                </a:quadBezTo>
                <a:quadBezTo>
                  <a:pt x="35354" y="27200"/>
                  <a:pt x="38681" y="24946"/>
                </a:quadBezTo>
                <a:quadBezTo>
                  <a:pt x="42008" y="22692"/>
                  <a:pt x="45738" y="24000"/>
                </a:quadBezTo>
                <a:lnTo>
                  <a:pt x="43077" y="16723"/>
                </a:lnTo>
                <a:lnTo>
                  <a:pt x="46877" y="15323"/>
                </a:lnTo>
                <a:lnTo>
                  <a:pt x="45477" y="11569"/>
                </a:lnTo>
                <a:lnTo>
                  <a:pt x="50154" y="9846"/>
                </a:lnTo>
                <a:lnTo>
                  <a:pt x="51508" y="13646"/>
                </a:lnTo>
                <a:lnTo>
                  <a:pt x="55000" y="12400"/>
                </a:lnTo>
                <a:lnTo>
                  <a:pt x="64923" y="39477"/>
                </a:lnTo>
                <a:lnTo>
                  <a:pt x="61431" y="40877"/>
                </a:lnTo>
                <a:lnTo>
                  <a:pt x="62831" y="44677"/>
                </a:lnTo>
                <a:lnTo>
                  <a:pt x="58154" y="46400"/>
                </a:lnTo>
                <a:lnTo>
                  <a:pt x="56800" y="42600"/>
                </a:lnTo>
                <a:lnTo>
                  <a:pt x="53000" y="44154"/>
                </a:lnTo>
                <a:lnTo>
                  <a:pt x="50446" y="36785"/>
                </a:lnTo>
                <a:quadBezTo>
                  <a:pt x="49254" y="38492"/>
                  <a:pt x="47381" y="39500"/>
                </a:quadBezTo>
                <a:quadBezTo>
                  <a:pt x="45508" y="40508"/>
                  <a:pt x="43354" y="40462"/>
                </a:quadBezTo>
                <a:quadBezTo>
                  <a:pt x="40846" y="40415"/>
                  <a:pt x="38831" y="38996"/>
                </a:quadBezTo>
                <a:quadBezTo>
                  <a:pt x="36815" y="37577"/>
                  <a:pt x="35800" y="35338"/>
                </a:quadBezTo>
                <a:quadBezTo>
                  <a:pt x="32023" y="37015"/>
                  <a:pt x="29781" y="40408"/>
                </a:quadBezTo>
                <a:quadBezTo>
                  <a:pt x="27538" y="43800"/>
                  <a:pt x="27538" y="48000"/>
                </a:quadBezTo>
                <a:quadBezTo>
                  <a:pt x="27538" y="53833"/>
                  <a:pt x="31622" y="57917"/>
                </a:quadBezTo>
                <a:quadBezTo>
                  <a:pt x="35705" y="62000"/>
                  <a:pt x="41538" y="62000"/>
                </a:quadBezTo>
                <a:lnTo>
                  <a:pt x="71538" y="62000"/>
                </a:lnTo>
                <a:lnTo>
                  <a:pt x="71538" y="66000"/>
                </a:lnTo>
                <a:lnTo>
                  <a:pt x="48462" y="66000"/>
                </a:lnTo>
                <a:lnTo>
                  <a:pt x="48462" y="78000"/>
                </a:lnTo>
                <a:lnTo>
                  <a:pt x="72462" y="78000"/>
                </a:lnTo>
                <a:lnTo>
                  <a:pt x="72462" y="82000"/>
                </a:lnTo>
                <a:lnTo>
                  <a:pt x="23538" y="82000"/>
                </a:lnTo>
                <a:close/>
                <a:moveTo>
                  <a:pt x="55215" y="39431"/>
                </a:moveTo>
                <a:lnTo>
                  <a:pt x="60354" y="37415"/>
                </a:lnTo>
                <a:lnTo>
                  <a:pt x="52938" y="16923"/>
                </a:lnTo>
                <a:lnTo>
                  <a:pt x="47600" y="18785"/>
                </a:lnTo>
                <a:lnTo>
                  <a:pt x="55215" y="39431"/>
                </a:lnTo>
                <a:close/>
                <a:moveTo>
                  <a:pt x="43533" y="36923"/>
                </a:moveTo>
                <a:quadBezTo>
                  <a:pt x="45623" y="36923"/>
                  <a:pt x="47042" y="35509"/>
                </a:quadBezTo>
                <a:quadBezTo>
                  <a:pt x="48462" y="34095"/>
                  <a:pt x="48462" y="32005"/>
                </a:quadBezTo>
                <a:quadBezTo>
                  <a:pt x="48462" y="29915"/>
                  <a:pt x="47048" y="28496"/>
                </a:quadBezTo>
                <a:quadBezTo>
                  <a:pt x="45634" y="27077"/>
                  <a:pt x="43544" y="27077"/>
                </a:quadBezTo>
                <a:quadBezTo>
                  <a:pt x="41454" y="27077"/>
                  <a:pt x="40035" y="28491"/>
                </a:quadBezTo>
                <a:quadBezTo>
                  <a:pt x="38615" y="29905"/>
                  <a:pt x="38615" y="31995"/>
                </a:quadBezTo>
                <a:quadBezTo>
                  <a:pt x="38615" y="34085"/>
                  <a:pt x="40029" y="35504"/>
                </a:quadBezTo>
                <a:quadBezTo>
                  <a:pt x="41443" y="36923"/>
                  <a:pt x="43533" y="36923"/>
                </a:quadBezTo>
                <a:close/>
                <a:moveTo>
                  <a:pt x="55215" y="39431"/>
                </a:moveTo>
                <a:close/>
                <a:moveTo>
                  <a:pt x="43538" y="32000"/>
                </a:moveTo>
                <a:close/>
                <a:moveTo>
                  <a:pt x="43538" y="32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5" name="Connector 14"/>
          <p:cNvCxnSpPr/>
          <p:nvPr/>
        </p:nvCxnSpPr>
        <p:spPr>
          <a:xfrm>
            <a:off x="3287268" y="19659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3287268" y="2084831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Biotech &amp; ATMP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7268" y="25603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TYPISCHE HERAUSFORDERUNGEN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7268" y="2834640"/>
            <a:ext cx="26746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Schneller Scale-up aus der Klinik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Begrenzte interne Ressourcen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Neue regulatorische Pfade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7268" y="4160520"/>
            <a:ext cx="26746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1860" y="4279392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 BEITRAG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1860" y="4553712"/>
            <a:ext cx="24003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Flexible, modulare Anlagen und Ramp-up-Begleitung</a:t>
            </a:r>
          </a:p>
        </p:txBody>
      </p:sp>
      <p:sp>
        <p:nvSpPr>
          <p:cNvPr id="22" name="Icon precision_manufacturing"/>
          <p:cNvSpPr/>
          <p:nvPr/>
        </p:nvSpPr>
        <p:spPr>
          <a:xfrm>
            <a:off x="6236208" y="13716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9054" y="77846"/>
                </a:moveTo>
                <a:lnTo>
                  <a:pt x="19054" y="71385"/>
                </a:lnTo>
                <a:lnTo>
                  <a:pt x="31146" y="71385"/>
                </a:lnTo>
                <a:lnTo>
                  <a:pt x="20792" y="37523"/>
                </a:lnTo>
                <a:quadBezTo>
                  <a:pt x="18169" y="36254"/>
                  <a:pt x="16612" y="33892"/>
                </a:quadBezTo>
                <a:quadBezTo>
                  <a:pt x="15054" y="31531"/>
                  <a:pt x="15054" y="28462"/>
                </a:quadBezTo>
                <a:quadBezTo>
                  <a:pt x="15054" y="24308"/>
                  <a:pt x="17977" y="21385"/>
                </a:quadBezTo>
                <a:quadBezTo>
                  <a:pt x="20900" y="18462"/>
                  <a:pt x="25054" y="18462"/>
                </a:quadBezTo>
                <a:quadBezTo>
                  <a:pt x="28723" y="18462"/>
                  <a:pt x="31350" y="20712"/>
                </a:quadBezTo>
                <a:quadBezTo>
                  <a:pt x="33977" y="22962"/>
                  <a:pt x="34869" y="26462"/>
                </a:quadBezTo>
                <a:lnTo>
                  <a:pt x="49515" y="26462"/>
                </a:lnTo>
                <a:lnTo>
                  <a:pt x="49515" y="20462"/>
                </a:lnTo>
                <a:quadBezTo>
                  <a:pt x="49515" y="19608"/>
                  <a:pt x="50088" y="19035"/>
                </a:quadBezTo>
                <a:quadBezTo>
                  <a:pt x="50662" y="18462"/>
                  <a:pt x="51515" y="18462"/>
                </a:quadBezTo>
                <a:quadBezTo>
                  <a:pt x="52185" y="18462"/>
                  <a:pt x="52688" y="18862"/>
                </a:quadBezTo>
                <a:quadBezTo>
                  <a:pt x="53192" y="19262"/>
                  <a:pt x="53331" y="19908"/>
                </a:quadBezTo>
                <a:lnTo>
                  <a:pt x="53331" y="20985"/>
                </a:lnTo>
                <a:lnTo>
                  <a:pt x="60592" y="14277"/>
                </a:lnTo>
                <a:quadBezTo>
                  <a:pt x="61415" y="13454"/>
                  <a:pt x="62435" y="13281"/>
                </a:quadBezTo>
                <a:quadBezTo>
                  <a:pt x="63454" y="13108"/>
                  <a:pt x="64423" y="13631"/>
                </a:quadBezTo>
                <a:lnTo>
                  <a:pt x="79562" y="20677"/>
                </a:lnTo>
                <a:quadBezTo>
                  <a:pt x="80300" y="21046"/>
                  <a:pt x="80673" y="21735"/>
                </a:quadBezTo>
                <a:quadBezTo>
                  <a:pt x="81046" y="22423"/>
                  <a:pt x="80700" y="23138"/>
                </a:quadBezTo>
                <a:quadBezTo>
                  <a:pt x="80331" y="23877"/>
                  <a:pt x="79642" y="24073"/>
                </a:quadBezTo>
                <a:quadBezTo>
                  <a:pt x="78954" y="24269"/>
                  <a:pt x="78238" y="23923"/>
                </a:quadBezTo>
                <a:lnTo>
                  <a:pt x="63069" y="16862"/>
                </a:lnTo>
                <a:lnTo>
                  <a:pt x="53515" y="25662"/>
                </a:lnTo>
                <a:lnTo>
                  <a:pt x="53515" y="31262"/>
                </a:lnTo>
                <a:lnTo>
                  <a:pt x="63069" y="39862"/>
                </a:lnTo>
                <a:lnTo>
                  <a:pt x="78238" y="32800"/>
                </a:lnTo>
                <a:quadBezTo>
                  <a:pt x="78954" y="32454"/>
                  <a:pt x="79654" y="32662"/>
                </a:quadBezTo>
                <a:quadBezTo>
                  <a:pt x="80354" y="32869"/>
                  <a:pt x="80700" y="33585"/>
                </a:quadBezTo>
                <a:quadBezTo>
                  <a:pt x="81069" y="34323"/>
                  <a:pt x="80685" y="35000"/>
                </a:quadBezTo>
                <a:quadBezTo>
                  <a:pt x="80300" y="35677"/>
                  <a:pt x="79562" y="36046"/>
                </a:quadBezTo>
                <a:lnTo>
                  <a:pt x="64423" y="43138"/>
                </a:lnTo>
                <a:quadBezTo>
                  <a:pt x="63454" y="43662"/>
                  <a:pt x="62435" y="43450"/>
                </a:quadBezTo>
                <a:quadBezTo>
                  <a:pt x="61415" y="43238"/>
                  <a:pt x="60592" y="42492"/>
                </a:quadBezTo>
                <a:lnTo>
                  <a:pt x="53331" y="35938"/>
                </a:lnTo>
                <a:lnTo>
                  <a:pt x="53331" y="37015"/>
                </a:lnTo>
                <a:quadBezTo>
                  <a:pt x="53192" y="37615"/>
                  <a:pt x="52688" y="38038"/>
                </a:quadBezTo>
                <a:quadBezTo>
                  <a:pt x="52185" y="38462"/>
                  <a:pt x="51515" y="38462"/>
                </a:quadBezTo>
                <a:quadBezTo>
                  <a:pt x="50662" y="38462"/>
                  <a:pt x="50088" y="37888"/>
                </a:quadBezTo>
                <a:quadBezTo>
                  <a:pt x="49515" y="37315"/>
                  <a:pt x="49515" y="36462"/>
                </a:quadBezTo>
                <a:lnTo>
                  <a:pt x="49515" y="30462"/>
                </a:lnTo>
                <a:lnTo>
                  <a:pt x="34869" y="30462"/>
                </a:lnTo>
                <a:quadBezTo>
                  <a:pt x="34569" y="31800"/>
                  <a:pt x="33873" y="33115"/>
                </a:quadBezTo>
                <a:quadBezTo>
                  <a:pt x="33177" y="34431"/>
                  <a:pt x="32346" y="35308"/>
                </a:quadBezTo>
                <a:lnTo>
                  <a:pt x="51731" y="71385"/>
                </a:lnTo>
                <a:lnTo>
                  <a:pt x="67054" y="71385"/>
                </a:lnTo>
                <a:lnTo>
                  <a:pt x="67054" y="77846"/>
                </a:lnTo>
                <a:lnTo>
                  <a:pt x="19054" y="77846"/>
                </a:lnTo>
                <a:close/>
                <a:moveTo>
                  <a:pt x="25054" y="34462"/>
                </a:moveTo>
                <a:quadBezTo>
                  <a:pt x="27523" y="34462"/>
                  <a:pt x="29288" y="32696"/>
                </a:quadBezTo>
                <a:quadBezTo>
                  <a:pt x="31054" y="30931"/>
                  <a:pt x="31054" y="28462"/>
                </a:quadBezTo>
                <a:quadBezTo>
                  <a:pt x="31054" y="25992"/>
                  <a:pt x="29288" y="24227"/>
                </a:quadBezTo>
                <a:quadBezTo>
                  <a:pt x="27523" y="22462"/>
                  <a:pt x="25054" y="22462"/>
                </a:quadBezTo>
                <a:quadBezTo>
                  <a:pt x="22585" y="22462"/>
                  <a:pt x="20819" y="24227"/>
                </a:quadBezTo>
                <a:quadBezTo>
                  <a:pt x="19054" y="25992"/>
                  <a:pt x="19054" y="28462"/>
                </a:quadBezTo>
                <a:quadBezTo>
                  <a:pt x="19054" y="30931"/>
                  <a:pt x="20819" y="32696"/>
                </a:quadBezTo>
                <a:quadBezTo>
                  <a:pt x="22585" y="34462"/>
                  <a:pt x="25054" y="34462"/>
                </a:quadBezTo>
                <a:close/>
                <a:moveTo>
                  <a:pt x="35346" y="71385"/>
                </a:moveTo>
                <a:lnTo>
                  <a:pt x="47146" y="71385"/>
                </a:lnTo>
                <a:lnTo>
                  <a:pt x="29023" y="37692"/>
                </a:lnTo>
                <a:quadBezTo>
                  <a:pt x="28408" y="38077"/>
                  <a:pt x="27285" y="38346"/>
                </a:quadBezTo>
                <a:quadBezTo>
                  <a:pt x="26162" y="38615"/>
                  <a:pt x="25238" y="38462"/>
                </a:quadBezTo>
                <a:lnTo>
                  <a:pt x="35346" y="71385"/>
                </a:lnTo>
                <a:close/>
                <a:moveTo>
                  <a:pt x="47146" y="7138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3" name="Connector 22"/>
          <p:cNvCxnSpPr/>
          <p:nvPr/>
        </p:nvCxnSpPr>
        <p:spPr>
          <a:xfrm>
            <a:off x="6236208" y="19659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236208" y="2084831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CDMO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5603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TYPISCHE HERAUSFORDERUNGEN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834640"/>
            <a:ext cx="26746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Auslastung und Multi-Produkt-Fähigkeit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Schnelle Technologietransfers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Kundenaudits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4160520"/>
            <a:ext cx="26746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79392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 BEITRAG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53712"/>
            <a:ext cx="24003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Rüst- und Reinigungskonzepte, Transfer-Playbooks</a:t>
            </a:r>
          </a:p>
        </p:txBody>
      </p:sp>
      <p:sp>
        <p:nvSpPr>
          <p:cNvPr id="30" name="Icon vaccines"/>
          <p:cNvSpPr/>
          <p:nvPr/>
        </p:nvSpPr>
        <p:spPr>
          <a:xfrm>
            <a:off x="9185148" y="13716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000" y="86000"/>
                </a:moveTo>
                <a:lnTo>
                  <a:pt x="26000" y="83000"/>
                </a:lnTo>
                <a:lnTo>
                  <a:pt x="26000" y="66000"/>
                </a:lnTo>
                <a:lnTo>
                  <a:pt x="18000" y="66000"/>
                </a:lnTo>
                <a:quadBezTo>
                  <a:pt x="16162" y="66000"/>
                  <a:pt x="15081" y="64919"/>
                </a:quadBezTo>
                <a:quadBezTo>
                  <a:pt x="14000" y="63838"/>
                  <a:pt x="14000" y="62000"/>
                </a:quadBezTo>
                <a:lnTo>
                  <a:pt x="14000" y="28000"/>
                </a:lnTo>
                <a:lnTo>
                  <a:pt x="12000" y="28000"/>
                </a:lnTo>
                <a:quadBezTo>
                  <a:pt x="11150" y="28000"/>
                  <a:pt x="10575" y="27424"/>
                </a:quadBezTo>
                <a:quadBezTo>
                  <a:pt x="10000" y="26848"/>
                  <a:pt x="10000" y="25997"/>
                </a:quadBezTo>
                <a:quadBezTo>
                  <a:pt x="10000" y="25146"/>
                  <a:pt x="10575" y="24573"/>
                </a:quadBezTo>
                <a:quadBezTo>
                  <a:pt x="11150" y="24000"/>
                  <a:pt x="12000" y="24000"/>
                </a:quadBezTo>
                <a:lnTo>
                  <a:pt x="26000" y="24000"/>
                </a:lnTo>
                <a:lnTo>
                  <a:pt x="26000" y="14000"/>
                </a:lnTo>
                <a:lnTo>
                  <a:pt x="22000" y="14000"/>
                </a:lnTo>
                <a:quadBezTo>
                  <a:pt x="21150" y="14000"/>
                  <a:pt x="20575" y="13424"/>
                </a:quadBezTo>
                <a:quadBezTo>
                  <a:pt x="20000" y="12848"/>
                  <a:pt x="20000" y="11997"/>
                </a:quadBezTo>
                <a:quadBezTo>
                  <a:pt x="20000" y="11146"/>
                  <a:pt x="20575" y="10573"/>
                </a:quadBezTo>
                <a:quadBezTo>
                  <a:pt x="21150" y="10000"/>
                  <a:pt x="22000" y="10000"/>
                </a:quadBezTo>
                <a:lnTo>
                  <a:pt x="34000" y="10000"/>
                </a:lnTo>
                <a:quadBezTo>
                  <a:pt x="34850" y="10000"/>
                  <a:pt x="35425" y="10576"/>
                </a:quadBezTo>
                <a:quadBezTo>
                  <a:pt x="36000" y="11152"/>
                  <a:pt x="36000" y="12003"/>
                </a:quadBezTo>
                <a:quadBezTo>
                  <a:pt x="36000" y="12854"/>
                  <a:pt x="35425" y="13427"/>
                </a:quadBezTo>
                <a:quadBezTo>
                  <a:pt x="34850" y="14000"/>
                  <a:pt x="34000" y="14000"/>
                </a:quadBezTo>
                <a:lnTo>
                  <a:pt x="30000" y="14000"/>
                </a:lnTo>
                <a:lnTo>
                  <a:pt x="30000" y="24000"/>
                </a:lnTo>
                <a:lnTo>
                  <a:pt x="44000" y="24000"/>
                </a:lnTo>
                <a:quadBezTo>
                  <a:pt x="44850" y="24000"/>
                  <a:pt x="45425" y="24576"/>
                </a:quadBezTo>
                <a:quadBezTo>
                  <a:pt x="46000" y="25152"/>
                  <a:pt x="46000" y="26003"/>
                </a:quadBezTo>
                <a:quadBezTo>
                  <a:pt x="46000" y="26854"/>
                  <a:pt x="45425" y="27427"/>
                </a:quadBezTo>
                <a:quadBezTo>
                  <a:pt x="44850" y="28000"/>
                  <a:pt x="44000" y="28000"/>
                </a:quadBezTo>
                <a:lnTo>
                  <a:pt x="42000" y="28000"/>
                </a:lnTo>
                <a:lnTo>
                  <a:pt x="42000" y="62000"/>
                </a:lnTo>
                <a:quadBezTo>
                  <a:pt x="42000" y="63838"/>
                  <a:pt x="40919" y="64919"/>
                </a:quadBezTo>
                <a:quadBezTo>
                  <a:pt x="39838" y="66000"/>
                  <a:pt x="38000" y="66000"/>
                </a:quadBezTo>
                <a:lnTo>
                  <a:pt x="30000" y="66000"/>
                </a:lnTo>
                <a:lnTo>
                  <a:pt x="30000" y="86000"/>
                </a:lnTo>
                <a:close/>
                <a:moveTo>
                  <a:pt x="18000" y="62000"/>
                </a:moveTo>
                <a:lnTo>
                  <a:pt x="38000" y="62000"/>
                </a:lnTo>
                <a:lnTo>
                  <a:pt x="38000" y="52769"/>
                </a:lnTo>
                <a:lnTo>
                  <a:pt x="29000" y="52769"/>
                </a:lnTo>
                <a:quadBezTo>
                  <a:pt x="28292" y="52769"/>
                  <a:pt x="27762" y="52238"/>
                </a:quadBezTo>
                <a:quadBezTo>
                  <a:pt x="27231" y="51708"/>
                  <a:pt x="27231" y="51000"/>
                </a:quadBezTo>
                <a:quadBezTo>
                  <a:pt x="27231" y="50292"/>
                  <a:pt x="27762" y="49762"/>
                </a:quadBezTo>
                <a:quadBezTo>
                  <a:pt x="28292" y="49231"/>
                  <a:pt x="29000" y="49231"/>
                </a:quadBezTo>
                <a:lnTo>
                  <a:pt x="38000" y="49231"/>
                </a:lnTo>
                <a:lnTo>
                  <a:pt x="38000" y="40769"/>
                </a:lnTo>
                <a:lnTo>
                  <a:pt x="29000" y="40769"/>
                </a:lnTo>
                <a:quadBezTo>
                  <a:pt x="28292" y="40769"/>
                  <a:pt x="27762" y="40238"/>
                </a:quadBezTo>
                <a:quadBezTo>
                  <a:pt x="27231" y="39708"/>
                  <a:pt x="27231" y="39000"/>
                </a:quadBezTo>
                <a:quadBezTo>
                  <a:pt x="27231" y="38292"/>
                  <a:pt x="27762" y="37762"/>
                </a:quadBezTo>
                <a:quadBezTo>
                  <a:pt x="28292" y="37231"/>
                  <a:pt x="29000" y="37231"/>
                </a:quadBezTo>
                <a:lnTo>
                  <a:pt x="38000" y="37231"/>
                </a:lnTo>
                <a:lnTo>
                  <a:pt x="38000" y="28000"/>
                </a:lnTo>
                <a:lnTo>
                  <a:pt x="18000" y="28000"/>
                </a:lnTo>
                <a:lnTo>
                  <a:pt x="18000" y="62000"/>
                </a:lnTo>
                <a:close/>
                <a:moveTo>
                  <a:pt x="58000" y="86000"/>
                </a:moveTo>
                <a:quadBezTo>
                  <a:pt x="56162" y="86000"/>
                  <a:pt x="55081" y="84919"/>
                </a:quadBezTo>
                <a:quadBezTo>
                  <a:pt x="54000" y="83838"/>
                  <a:pt x="54000" y="82000"/>
                </a:quadBezTo>
                <a:lnTo>
                  <a:pt x="54000" y="54000"/>
                </a:lnTo>
                <a:quadBezTo>
                  <a:pt x="54000" y="51133"/>
                  <a:pt x="55231" y="49255"/>
                </a:quadBezTo>
                <a:quadBezTo>
                  <a:pt x="56462" y="47377"/>
                  <a:pt x="57562" y="46131"/>
                </a:quadBezTo>
                <a:quadBezTo>
                  <a:pt x="58585" y="44962"/>
                  <a:pt x="59292" y="44073"/>
                </a:quadBezTo>
                <a:quadBezTo>
                  <a:pt x="60000" y="43185"/>
                  <a:pt x="60000" y="42000"/>
                </a:quadBezTo>
                <a:lnTo>
                  <a:pt x="60000" y="38000"/>
                </a:lnTo>
                <a:lnTo>
                  <a:pt x="58000" y="38000"/>
                </a:lnTo>
                <a:quadBezTo>
                  <a:pt x="57150" y="38000"/>
                  <a:pt x="56575" y="37424"/>
                </a:quadBezTo>
                <a:quadBezTo>
                  <a:pt x="56000" y="36848"/>
                  <a:pt x="56000" y="35997"/>
                </a:quadBezTo>
                <a:quadBezTo>
                  <a:pt x="56000" y="35146"/>
                  <a:pt x="56575" y="34573"/>
                </a:quadBezTo>
                <a:quadBezTo>
                  <a:pt x="57150" y="34000"/>
                  <a:pt x="58000" y="34000"/>
                </a:quadBezTo>
                <a:lnTo>
                  <a:pt x="78000" y="34000"/>
                </a:lnTo>
                <a:quadBezTo>
                  <a:pt x="78850" y="34000"/>
                  <a:pt x="79425" y="34576"/>
                </a:quadBezTo>
                <a:quadBezTo>
                  <a:pt x="80000" y="35152"/>
                  <a:pt x="80000" y="36003"/>
                </a:quadBezTo>
                <a:quadBezTo>
                  <a:pt x="80000" y="36854"/>
                  <a:pt x="79425" y="37427"/>
                </a:quadBezTo>
                <a:quadBezTo>
                  <a:pt x="78850" y="38000"/>
                  <a:pt x="78000" y="38000"/>
                </a:quadBezTo>
                <a:lnTo>
                  <a:pt x="76000" y="38000"/>
                </a:lnTo>
                <a:lnTo>
                  <a:pt x="76000" y="42000"/>
                </a:lnTo>
                <a:quadBezTo>
                  <a:pt x="76000" y="43185"/>
                  <a:pt x="76731" y="44108"/>
                </a:quadBezTo>
                <a:quadBezTo>
                  <a:pt x="77462" y="45031"/>
                  <a:pt x="78508" y="46200"/>
                </a:quadBezTo>
                <a:quadBezTo>
                  <a:pt x="79608" y="47446"/>
                  <a:pt x="80804" y="49308"/>
                </a:quadBezTo>
                <a:quadBezTo>
                  <a:pt x="82000" y="51169"/>
                  <a:pt x="82000" y="53972"/>
                </a:quadBezTo>
                <a:lnTo>
                  <a:pt x="82000" y="82000"/>
                </a:lnTo>
                <a:quadBezTo>
                  <a:pt x="82000" y="83838"/>
                  <a:pt x="80919" y="84919"/>
                </a:quadBezTo>
                <a:quadBezTo>
                  <a:pt x="79838" y="86000"/>
                  <a:pt x="78000" y="86000"/>
                </a:quadBezTo>
                <a:lnTo>
                  <a:pt x="58000" y="86000"/>
                </a:lnTo>
                <a:close/>
                <a:moveTo>
                  <a:pt x="58000" y="57231"/>
                </a:moveTo>
                <a:lnTo>
                  <a:pt x="78000" y="57231"/>
                </a:lnTo>
                <a:lnTo>
                  <a:pt x="78000" y="54000"/>
                </a:lnTo>
                <a:quadBezTo>
                  <a:pt x="78000" y="52038"/>
                  <a:pt x="77100" y="50708"/>
                </a:quadBezTo>
                <a:quadBezTo>
                  <a:pt x="76200" y="49377"/>
                  <a:pt x="74946" y="48000"/>
                </a:quadBezTo>
                <a:quadBezTo>
                  <a:pt x="73901" y="46878"/>
                  <a:pt x="72950" y="45497"/>
                </a:quadBezTo>
                <a:quadBezTo>
                  <a:pt x="72000" y="44115"/>
                  <a:pt x="72000" y="42000"/>
                </a:quadBezTo>
                <a:lnTo>
                  <a:pt x="72000" y="38000"/>
                </a:lnTo>
                <a:lnTo>
                  <a:pt x="64000" y="38000"/>
                </a:lnTo>
                <a:lnTo>
                  <a:pt x="64000" y="42000"/>
                </a:lnTo>
                <a:quadBezTo>
                  <a:pt x="64000" y="44070"/>
                  <a:pt x="63050" y="45451"/>
                </a:quadBezTo>
                <a:quadBezTo>
                  <a:pt x="62100" y="46831"/>
                  <a:pt x="61077" y="47977"/>
                </a:quadBezTo>
                <a:quadBezTo>
                  <a:pt x="59823" y="49354"/>
                  <a:pt x="58912" y="50696"/>
                </a:quadBezTo>
                <a:quadBezTo>
                  <a:pt x="58000" y="52038"/>
                  <a:pt x="58000" y="54000"/>
                </a:quadBezTo>
                <a:lnTo>
                  <a:pt x="58000" y="57231"/>
                </a:lnTo>
                <a:close/>
                <a:moveTo>
                  <a:pt x="58000" y="69231"/>
                </a:moveTo>
                <a:lnTo>
                  <a:pt x="78000" y="69231"/>
                </a:lnTo>
                <a:lnTo>
                  <a:pt x="78000" y="60769"/>
                </a:lnTo>
                <a:lnTo>
                  <a:pt x="58000" y="60769"/>
                </a:lnTo>
                <a:lnTo>
                  <a:pt x="58000" y="69231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72769"/>
                </a:lnTo>
                <a:lnTo>
                  <a:pt x="58000" y="72769"/>
                </a:lnTo>
                <a:lnTo>
                  <a:pt x="58000" y="82000"/>
                </a:lnTo>
                <a:close/>
                <a:moveTo>
                  <a:pt x="58000" y="69231"/>
                </a:moveTo>
                <a:lnTo>
                  <a:pt x="78000" y="69231"/>
                </a:lnTo>
                <a:lnTo>
                  <a:pt x="58000" y="69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31" name="Connector 30"/>
          <p:cNvCxnSpPr/>
          <p:nvPr/>
        </p:nvCxnSpPr>
        <p:spPr>
          <a:xfrm>
            <a:off x="9185148" y="196596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185148" y="2084831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Generika &amp; OTC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5148" y="256032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TYPISCHE HERAUSFORDERUNGEN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5148" y="2834640"/>
            <a:ext cx="26746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Margendruck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Hohe Volumina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Lieferfähigkeit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5148" y="4160520"/>
            <a:ext cx="267462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9740" y="4279392"/>
            <a:ext cx="24003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 BEITRAG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9740" y="4553712"/>
            <a:ext cx="240030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OEE-Programme und Automatisierung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Körber-Ökosystem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Beratung, Technik und Software aus einer Hand verkürzen Schnittstellen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2468880"/>
            <a:ext cx="1920240" cy="19202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Ihr Projekt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1920240" y="2514600"/>
            <a:ext cx="658368" cy="20116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8" name="Oval 7"/>
          <p:cNvSpPr/>
          <p:nvPr/>
        </p:nvSpPr>
        <p:spPr>
          <a:xfrm>
            <a:off x="777240" y="1417319"/>
            <a:ext cx="1371600" cy="13716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psychology"/>
          <p:cNvSpPr/>
          <p:nvPr/>
        </p:nvSpPr>
        <p:spPr>
          <a:xfrm>
            <a:off x="1280160" y="1618487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000" y="84000"/>
                </a:moveTo>
                <a:lnTo>
                  <a:pt x="28000" y="68954"/>
                </a:lnTo>
                <a:quadBezTo>
                  <a:pt x="22300" y="63754"/>
                  <a:pt x="19150" y="57265"/>
                </a:quadBezTo>
                <a:quadBezTo>
                  <a:pt x="16000" y="50777"/>
                  <a:pt x="16000" y="43944"/>
                </a:quadBezTo>
                <a:quadBezTo>
                  <a:pt x="16000" y="30634"/>
                  <a:pt x="25333" y="21317"/>
                </a:quadBezTo>
                <a:quadBezTo>
                  <a:pt x="34667" y="12000"/>
                  <a:pt x="48000" y="12000"/>
                </a:quadBezTo>
                <a:quadBezTo>
                  <a:pt x="58808" y="12000"/>
                  <a:pt x="67535" y="18581"/>
                </a:quadBezTo>
                <a:quadBezTo>
                  <a:pt x="76262" y="25162"/>
                  <a:pt x="78854" y="35577"/>
                </a:quadBezTo>
                <a:lnTo>
                  <a:pt x="83001" y="51994"/>
                </a:lnTo>
                <a:quadBezTo>
                  <a:pt x="83400" y="53515"/>
                  <a:pt x="82431" y="54758"/>
                </a:quadBezTo>
                <a:quadBezTo>
                  <a:pt x="81462" y="56000"/>
                  <a:pt x="79846" y="56000"/>
                </a:quadBezTo>
                <a:lnTo>
                  <a:pt x="72000" y="56000"/>
                </a:lnTo>
                <a:lnTo>
                  <a:pt x="72000" y="69538"/>
                </a:lnTo>
                <a:quadBezTo>
                  <a:pt x="72000" y="72204"/>
                  <a:pt x="70102" y="74102"/>
                </a:quadBezTo>
                <a:quadBezTo>
                  <a:pt x="68204" y="76000"/>
                  <a:pt x="65538" y="76000"/>
                </a:quadBezTo>
                <a:lnTo>
                  <a:pt x="56000" y="76000"/>
                </a:lnTo>
                <a:lnTo>
                  <a:pt x="56000" y="84000"/>
                </a:lnTo>
                <a:lnTo>
                  <a:pt x="52000" y="84000"/>
                </a:lnTo>
                <a:lnTo>
                  <a:pt x="52000" y="72000"/>
                </a:lnTo>
                <a:lnTo>
                  <a:pt x="65538" y="72000"/>
                </a:lnTo>
                <a:quadBezTo>
                  <a:pt x="66615" y="72000"/>
                  <a:pt x="67308" y="71308"/>
                </a:quadBezTo>
                <a:quadBezTo>
                  <a:pt x="68000" y="70615"/>
                  <a:pt x="68000" y="69538"/>
                </a:quadBezTo>
                <a:lnTo>
                  <a:pt x="68000" y="52000"/>
                </a:lnTo>
                <a:lnTo>
                  <a:pt x="78800" y="52000"/>
                </a:lnTo>
                <a:lnTo>
                  <a:pt x="75000" y="36500"/>
                </a:lnTo>
                <a:quadBezTo>
                  <a:pt x="72700" y="27323"/>
                  <a:pt x="65123" y="21662"/>
                </a:quadBezTo>
                <a:quadBezTo>
                  <a:pt x="57546" y="16000"/>
                  <a:pt x="48000" y="16000"/>
                </a:quadBezTo>
                <a:quadBezTo>
                  <a:pt x="36400" y="16000"/>
                  <a:pt x="28200" y="24122"/>
                </a:quadBezTo>
                <a:quadBezTo>
                  <a:pt x="20000" y="32245"/>
                  <a:pt x="20000" y="43877"/>
                </a:quadBezTo>
                <a:quadBezTo>
                  <a:pt x="20000" y="49857"/>
                  <a:pt x="22450" y="55239"/>
                </a:quadBezTo>
                <a:quadBezTo>
                  <a:pt x="24900" y="60622"/>
                  <a:pt x="29400" y="64808"/>
                </a:quadBezTo>
                <a:lnTo>
                  <a:pt x="32000" y="67200"/>
                </a:lnTo>
                <a:lnTo>
                  <a:pt x="32000" y="84000"/>
                </a:lnTo>
                <a:lnTo>
                  <a:pt x="28000" y="84000"/>
                </a:lnTo>
                <a:close/>
                <a:moveTo>
                  <a:pt x="49400" y="50000"/>
                </a:moveTo>
                <a:close/>
                <a:moveTo>
                  <a:pt x="45769" y="58308"/>
                </a:moveTo>
                <a:lnTo>
                  <a:pt x="50231" y="58308"/>
                </a:lnTo>
                <a:lnTo>
                  <a:pt x="50523" y="54615"/>
                </a:lnTo>
                <a:quadBezTo>
                  <a:pt x="52092" y="54315"/>
                  <a:pt x="53512" y="53569"/>
                </a:quadBezTo>
                <a:quadBezTo>
                  <a:pt x="54931" y="52823"/>
                  <a:pt x="55892" y="51631"/>
                </a:quadBezTo>
                <a:lnTo>
                  <a:pt x="59108" y="53246"/>
                </a:lnTo>
                <a:lnTo>
                  <a:pt x="61338" y="49446"/>
                </a:lnTo>
                <a:lnTo>
                  <a:pt x="58415" y="47292"/>
                </a:lnTo>
                <a:quadBezTo>
                  <a:pt x="59077" y="45646"/>
                  <a:pt x="59077" y="44000"/>
                </a:quadBezTo>
                <a:quadBezTo>
                  <a:pt x="59077" y="42354"/>
                  <a:pt x="58415" y="40708"/>
                </a:quadBezTo>
                <a:lnTo>
                  <a:pt x="61338" y="38554"/>
                </a:lnTo>
                <a:lnTo>
                  <a:pt x="59108" y="34754"/>
                </a:lnTo>
                <a:lnTo>
                  <a:pt x="55892" y="36369"/>
                </a:lnTo>
                <a:quadBezTo>
                  <a:pt x="54931" y="35177"/>
                  <a:pt x="53512" y="34431"/>
                </a:quadBezTo>
                <a:quadBezTo>
                  <a:pt x="52092" y="33685"/>
                  <a:pt x="50523" y="33385"/>
                </a:quadBezTo>
                <a:lnTo>
                  <a:pt x="50231" y="29692"/>
                </a:lnTo>
                <a:lnTo>
                  <a:pt x="45769" y="29692"/>
                </a:lnTo>
                <a:lnTo>
                  <a:pt x="45477" y="33385"/>
                </a:lnTo>
                <a:quadBezTo>
                  <a:pt x="43908" y="33685"/>
                  <a:pt x="42488" y="34431"/>
                </a:quadBezTo>
                <a:quadBezTo>
                  <a:pt x="41069" y="35177"/>
                  <a:pt x="40108" y="36369"/>
                </a:quadBezTo>
                <a:lnTo>
                  <a:pt x="36892" y="34754"/>
                </a:lnTo>
                <a:lnTo>
                  <a:pt x="34662" y="38554"/>
                </a:lnTo>
                <a:lnTo>
                  <a:pt x="37585" y="40708"/>
                </a:lnTo>
                <a:quadBezTo>
                  <a:pt x="36923" y="42354"/>
                  <a:pt x="36923" y="44000"/>
                </a:quadBezTo>
                <a:quadBezTo>
                  <a:pt x="36923" y="45646"/>
                  <a:pt x="37585" y="47292"/>
                </a:quadBezTo>
                <a:lnTo>
                  <a:pt x="34662" y="49446"/>
                </a:lnTo>
                <a:lnTo>
                  <a:pt x="36892" y="53246"/>
                </a:lnTo>
                <a:lnTo>
                  <a:pt x="40108" y="51631"/>
                </a:lnTo>
                <a:quadBezTo>
                  <a:pt x="41069" y="52823"/>
                  <a:pt x="42488" y="53569"/>
                </a:quadBezTo>
                <a:quadBezTo>
                  <a:pt x="43908" y="54315"/>
                  <a:pt x="45477" y="54615"/>
                </a:quadBezTo>
                <a:lnTo>
                  <a:pt x="45769" y="58308"/>
                </a:lnTo>
                <a:close/>
                <a:moveTo>
                  <a:pt x="47995" y="51462"/>
                </a:moveTo>
                <a:quadBezTo>
                  <a:pt x="44885" y="51462"/>
                  <a:pt x="42712" y="49284"/>
                </a:quadBezTo>
                <a:quadBezTo>
                  <a:pt x="40538" y="47106"/>
                  <a:pt x="40538" y="43995"/>
                </a:quadBezTo>
                <a:quadBezTo>
                  <a:pt x="40538" y="40885"/>
                  <a:pt x="42716" y="38712"/>
                </a:quadBezTo>
                <a:quadBezTo>
                  <a:pt x="44894" y="36538"/>
                  <a:pt x="48005" y="36538"/>
                </a:quadBezTo>
                <a:quadBezTo>
                  <a:pt x="51115" y="36538"/>
                  <a:pt x="53288" y="38716"/>
                </a:quadBezTo>
                <a:quadBezTo>
                  <a:pt x="55462" y="40894"/>
                  <a:pt x="55462" y="44005"/>
                </a:quadBezTo>
                <a:quadBezTo>
                  <a:pt x="55462" y="47115"/>
                  <a:pt x="53284" y="49288"/>
                </a:quadBezTo>
                <a:quadBezTo>
                  <a:pt x="51106" y="51462"/>
                  <a:pt x="47995" y="51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868680" y="203911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Consulting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005072" y="2514600"/>
            <a:ext cx="658368" cy="20116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2" name="Oval 11"/>
          <p:cNvSpPr/>
          <p:nvPr/>
        </p:nvSpPr>
        <p:spPr>
          <a:xfrm>
            <a:off x="4434840" y="1417319"/>
            <a:ext cx="1371600" cy="13716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con precision_manufacturing"/>
          <p:cNvSpPr/>
          <p:nvPr/>
        </p:nvSpPr>
        <p:spPr>
          <a:xfrm>
            <a:off x="4937759" y="1618487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9054" y="77846"/>
                </a:moveTo>
                <a:lnTo>
                  <a:pt x="19054" y="71385"/>
                </a:lnTo>
                <a:lnTo>
                  <a:pt x="31146" y="71385"/>
                </a:lnTo>
                <a:lnTo>
                  <a:pt x="20792" y="37523"/>
                </a:lnTo>
                <a:quadBezTo>
                  <a:pt x="18169" y="36254"/>
                  <a:pt x="16612" y="33892"/>
                </a:quadBezTo>
                <a:quadBezTo>
                  <a:pt x="15054" y="31531"/>
                  <a:pt x="15054" y="28462"/>
                </a:quadBezTo>
                <a:quadBezTo>
                  <a:pt x="15054" y="24308"/>
                  <a:pt x="17977" y="21385"/>
                </a:quadBezTo>
                <a:quadBezTo>
                  <a:pt x="20900" y="18462"/>
                  <a:pt x="25054" y="18462"/>
                </a:quadBezTo>
                <a:quadBezTo>
                  <a:pt x="28723" y="18462"/>
                  <a:pt x="31350" y="20712"/>
                </a:quadBezTo>
                <a:quadBezTo>
                  <a:pt x="33977" y="22962"/>
                  <a:pt x="34869" y="26462"/>
                </a:quadBezTo>
                <a:lnTo>
                  <a:pt x="49515" y="26462"/>
                </a:lnTo>
                <a:lnTo>
                  <a:pt x="49515" y="20462"/>
                </a:lnTo>
                <a:quadBezTo>
                  <a:pt x="49515" y="19608"/>
                  <a:pt x="50088" y="19035"/>
                </a:quadBezTo>
                <a:quadBezTo>
                  <a:pt x="50662" y="18462"/>
                  <a:pt x="51515" y="18462"/>
                </a:quadBezTo>
                <a:quadBezTo>
                  <a:pt x="52185" y="18462"/>
                  <a:pt x="52688" y="18862"/>
                </a:quadBezTo>
                <a:quadBezTo>
                  <a:pt x="53192" y="19262"/>
                  <a:pt x="53331" y="19908"/>
                </a:quadBezTo>
                <a:lnTo>
                  <a:pt x="53331" y="20985"/>
                </a:lnTo>
                <a:lnTo>
                  <a:pt x="60592" y="14277"/>
                </a:lnTo>
                <a:quadBezTo>
                  <a:pt x="61415" y="13454"/>
                  <a:pt x="62435" y="13281"/>
                </a:quadBezTo>
                <a:quadBezTo>
                  <a:pt x="63454" y="13108"/>
                  <a:pt x="64423" y="13631"/>
                </a:quadBezTo>
                <a:lnTo>
                  <a:pt x="79562" y="20677"/>
                </a:lnTo>
                <a:quadBezTo>
                  <a:pt x="80300" y="21046"/>
                  <a:pt x="80673" y="21735"/>
                </a:quadBezTo>
                <a:quadBezTo>
                  <a:pt x="81046" y="22423"/>
                  <a:pt x="80700" y="23138"/>
                </a:quadBezTo>
                <a:quadBezTo>
                  <a:pt x="80331" y="23877"/>
                  <a:pt x="79642" y="24073"/>
                </a:quadBezTo>
                <a:quadBezTo>
                  <a:pt x="78954" y="24269"/>
                  <a:pt x="78238" y="23923"/>
                </a:quadBezTo>
                <a:lnTo>
                  <a:pt x="63069" y="16862"/>
                </a:lnTo>
                <a:lnTo>
                  <a:pt x="53515" y="25662"/>
                </a:lnTo>
                <a:lnTo>
                  <a:pt x="53515" y="31262"/>
                </a:lnTo>
                <a:lnTo>
                  <a:pt x="63069" y="39862"/>
                </a:lnTo>
                <a:lnTo>
                  <a:pt x="78238" y="32800"/>
                </a:lnTo>
                <a:quadBezTo>
                  <a:pt x="78954" y="32454"/>
                  <a:pt x="79654" y="32662"/>
                </a:quadBezTo>
                <a:quadBezTo>
                  <a:pt x="80354" y="32869"/>
                  <a:pt x="80700" y="33585"/>
                </a:quadBezTo>
                <a:quadBezTo>
                  <a:pt x="81069" y="34323"/>
                  <a:pt x="80685" y="35000"/>
                </a:quadBezTo>
                <a:quadBezTo>
                  <a:pt x="80300" y="35677"/>
                  <a:pt x="79562" y="36046"/>
                </a:quadBezTo>
                <a:lnTo>
                  <a:pt x="64423" y="43138"/>
                </a:lnTo>
                <a:quadBezTo>
                  <a:pt x="63454" y="43662"/>
                  <a:pt x="62435" y="43450"/>
                </a:quadBezTo>
                <a:quadBezTo>
                  <a:pt x="61415" y="43238"/>
                  <a:pt x="60592" y="42492"/>
                </a:quadBezTo>
                <a:lnTo>
                  <a:pt x="53331" y="35938"/>
                </a:lnTo>
                <a:lnTo>
                  <a:pt x="53331" y="37015"/>
                </a:lnTo>
                <a:quadBezTo>
                  <a:pt x="53192" y="37615"/>
                  <a:pt x="52688" y="38038"/>
                </a:quadBezTo>
                <a:quadBezTo>
                  <a:pt x="52185" y="38462"/>
                  <a:pt x="51515" y="38462"/>
                </a:quadBezTo>
                <a:quadBezTo>
                  <a:pt x="50662" y="38462"/>
                  <a:pt x="50088" y="37888"/>
                </a:quadBezTo>
                <a:quadBezTo>
                  <a:pt x="49515" y="37315"/>
                  <a:pt x="49515" y="36462"/>
                </a:quadBezTo>
                <a:lnTo>
                  <a:pt x="49515" y="30462"/>
                </a:lnTo>
                <a:lnTo>
                  <a:pt x="34869" y="30462"/>
                </a:lnTo>
                <a:quadBezTo>
                  <a:pt x="34569" y="31800"/>
                  <a:pt x="33873" y="33115"/>
                </a:quadBezTo>
                <a:quadBezTo>
                  <a:pt x="33177" y="34431"/>
                  <a:pt x="32346" y="35308"/>
                </a:quadBezTo>
                <a:lnTo>
                  <a:pt x="51731" y="71385"/>
                </a:lnTo>
                <a:lnTo>
                  <a:pt x="67054" y="71385"/>
                </a:lnTo>
                <a:lnTo>
                  <a:pt x="67054" y="77846"/>
                </a:lnTo>
                <a:lnTo>
                  <a:pt x="19054" y="77846"/>
                </a:lnTo>
                <a:close/>
                <a:moveTo>
                  <a:pt x="25054" y="34462"/>
                </a:moveTo>
                <a:quadBezTo>
                  <a:pt x="27523" y="34462"/>
                  <a:pt x="29288" y="32696"/>
                </a:quadBezTo>
                <a:quadBezTo>
                  <a:pt x="31054" y="30931"/>
                  <a:pt x="31054" y="28462"/>
                </a:quadBezTo>
                <a:quadBezTo>
                  <a:pt x="31054" y="25992"/>
                  <a:pt x="29288" y="24227"/>
                </a:quadBezTo>
                <a:quadBezTo>
                  <a:pt x="27523" y="22462"/>
                  <a:pt x="25054" y="22462"/>
                </a:quadBezTo>
                <a:quadBezTo>
                  <a:pt x="22585" y="22462"/>
                  <a:pt x="20819" y="24227"/>
                </a:quadBezTo>
                <a:quadBezTo>
                  <a:pt x="19054" y="25992"/>
                  <a:pt x="19054" y="28462"/>
                </a:quadBezTo>
                <a:quadBezTo>
                  <a:pt x="19054" y="30931"/>
                  <a:pt x="20819" y="32696"/>
                </a:quadBezTo>
                <a:quadBezTo>
                  <a:pt x="22585" y="34462"/>
                  <a:pt x="25054" y="34462"/>
                </a:quadBezTo>
                <a:close/>
                <a:moveTo>
                  <a:pt x="35346" y="71385"/>
                </a:moveTo>
                <a:lnTo>
                  <a:pt x="47146" y="71385"/>
                </a:lnTo>
                <a:lnTo>
                  <a:pt x="29023" y="37692"/>
                </a:lnTo>
                <a:quadBezTo>
                  <a:pt x="28408" y="38077"/>
                  <a:pt x="27285" y="38346"/>
                </a:quadBezTo>
                <a:quadBezTo>
                  <a:pt x="26162" y="38615"/>
                  <a:pt x="25238" y="38462"/>
                </a:quadBezTo>
                <a:lnTo>
                  <a:pt x="35346" y="71385"/>
                </a:lnTo>
                <a:close/>
                <a:moveTo>
                  <a:pt x="47146" y="7138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4526279" y="203911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Maschinen &amp; Anlagen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920240" y="4142232"/>
            <a:ext cx="658368" cy="20116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6" name="Oval 15"/>
          <p:cNvSpPr/>
          <p:nvPr/>
        </p:nvSpPr>
        <p:spPr>
          <a:xfrm>
            <a:off x="777240" y="4069080"/>
            <a:ext cx="1371600" cy="13716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memory"/>
          <p:cNvSpPr/>
          <p:nvPr/>
        </p:nvSpPr>
        <p:spPr>
          <a:xfrm>
            <a:off x="1280160" y="427024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0" y="56000"/>
                </a:moveTo>
                <a:lnTo>
                  <a:pt x="40000" y="40000"/>
                </a:lnTo>
                <a:lnTo>
                  <a:pt x="56000" y="40000"/>
                </a:lnTo>
                <a:lnTo>
                  <a:pt x="56000" y="56000"/>
                </a:lnTo>
                <a:lnTo>
                  <a:pt x="40000" y="56000"/>
                </a:lnTo>
                <a:close/>
                <a:moveTo>
                  <a:pt x="44000" y="52000"/>
                </a:moveTo>
                <a:lnTo>
                  <a:pt x="52000" y="52000"/>
                </a:lnTo>
                <a:lnTo>
                  <a:pt x="52000" y="44000"/>
                </a:lnTo>
                <a:lnTo>
                  <a:pt x="44000" y="44000"/>
                </a:lnTo>
                <a:lnTo>
                  <a:pt x="44000" y="52000"/>
                </a:lnTo>
                <a:close/>
                <a:moveTo>
                  <a:pt x="38000" y="78154"/>
                </a:moveTo>
                <a:lnTo>
                  <a:pt x="38000" y="72000"/>
                </a:lnTo>
                <a:lnTo>
                  <a:pt x="30462" y="72000"/>
                </a:lnTo>
                <a:quadBezTo>
                  <a:pt x="27700" y="72000"/>
                  <a:pt x="25850" y="70150"/>
                </a:quadBezTo>
                <a:quadBezTo>
                  <a:pt x="24000" y="68300"/>
                  <a:pt x="24000" y="65538"/>
                </a:quadBezTo>
                <a:lnTo>
                  <a:pt x="24000" y="58000"/>
                </a:lnTo>
                <a:lnTo>
                  <a:pt x="17846" y="58000"/>
                </a:lnTo>
                <a:lnTo>
                  <a:pt x="17846" y="54000"/>
                </a:lnTo>
                <a:lnTo>
                  <a:pt x="24000" y="54000"/>
                </a:lnTo>
                <a:lnTo>
                  <a:pt x="24000" y="42000"/>
                </a:lnTo>
                <a:lnTo>
                  <a:pt x="17846" y="42000"/>
                </a:lnTo>
                <a:lnTo>
                  <a:pt x="17846" y="38000"/>
                </a:lnTo>
                <a:lnTo>
                  <a:pt x="24000" y="38000"/>
                </a:lnTo>
                <a:lnTo>
                  <a:pt x="24000" y="30462"/>
                </a:lnTo>
                <a:quadBezTo>
                  <a:pt x="24000" y="27700"/>
                  <a:pt x="25850" y="25850"/>
                </a:quadBezTo>
                <a:quadBezTo>
                  <a:pt x="27700" y="24000"/>
                  <a:pt x="30462" y="24000"/>
                </a:quadBezTo>
                <a:lnTo>
                  <a:pt x="38000" y="24000"/>
                </a:lnTo>
                <a:lnTo>
                  <a:pt x="38000" y="17846"/>
                </a:lnTo>
                <a:lnTo>
                  <a:pt x="42000" y="17846"/>
                </a:lnTo>
                <a:lnTo>
                  <a:pt x="42000" y="24000"/>
                </a:lnTo>
                <a:lnTo>
                  <a:pt x="54000" y="24000"/>
                </a:lnTo>
                <a:lnTo>
                  <a:pt x="54000" y="17846"/>
                </a:lnTo>
                <a:lnTo>
                  <a:pt x="58000" y="17846"/>
                </a:lnTo>
                <a:lnTo>
                  <a:pt x="58000" y="24000"/>
                </a:lnTo>
                <a:lnTo>
                  <a:pt x="65538" y="24000"/>
                </a:lnTo>
                <a:quadBezTo>
                  <a:pt x="68300" y="24000"/>
                  <a:pt x="70150" y="25850"/>
                </a:quadBezTo>
                <a:quadBezTo>
                  <a:pt x="72000" y="27700"/>
                  <a:pt x="72000" y="30462"/>
                </a:quadBezTo>
                <a:lnTo>
                  <a:pt x="72000" y="38000"/>
                </a:lnTo>
                <a:lnTo>
                  <a:pt x="78154" y="38000"/>
                </a:lnTo>
                <a:lnTo>
                  <a:pt x="78154" y="42000"/>
                </a:lnTo>
                <a:lnTo>
                  <a:pt x="72000" y="42000"/>
                </a:lnTo>
                <a:lnTo>
                  <a:pt x="72000" y="54000"/>
                </a:lnTo>
                <a:lnTo>
                  <a:pt x="78154" y="54000"/>
                </a:lnTo>
                <a:lnTo>
                  <a:pt x="78154" y="58000"/>
                </a:lnTo>
                <a:lnTo>
                  <a:pt x="72000" y="58000"/>
                </a:lnTo>
                <a:lnTo>
                  <a:pt x="72000" y="65538"/>
                </a:lnTo>
                <a:quadBezTo>
                  <a:pt x="72000" y="68300"/>
                  <a:pt x="70150" y="70150"/>
                </a:quadBezTo>
                <a:quadBezTo>
                  <a:pt x="68300" y="72000"/>
                  <a:pt x="65538" y="72000"/>
                </a:quadBezTo>
                <a:lnTo>
                  <a:pt x="58000" y="72000"/>
                </a:lnTo>
                <a:lnTo>
                  <a:pt x="58000" y="78154"/>
                </a:lnTo>
                <a:lnTo>
                  <a:pt x="54000" y="78154"/>
                </a:lnTo>
                <a:lnTo>
                  <a:pt x="54000" y="72000"/>
                </a:lnTo>
                <a:lnTo>
                  <a:pt x="42000" y="72000"/>
                </a:lnTo>
                <a:lnTo>
                  <a:pt x="42000" y="78154"/>
                </a:lnTo>
                <a:lnTo>
                  <a:pt x="38000" y="78154"/>
                </a:lnTo>
                <a:close/>
                <a:moveTo>
                  <a:pt x="65538" y="68000"/>
                </a:moveTo>
                <a:quadBezTo>
                  <a:pt x="66462" y="68000"/>
                  <a:pt x="67231" y="67231"/>
                </a:quadBezTo>
                <a:quadBezTo>
                  <a:pt x="68000" y="66462"/>
                  <a:pt x="68000" y="65538"/>
                </a:quadBezTo>
                <a:lnTo>
                  <a:pt x="68000" y="30462"/>
                </a:lnTo>
                <a:quadBezTo>
                  <a:pt x="68000" y="29538"/>
                  <a:pt x="67231" y="28769"/>
                </a:quadBezTo>
                <a:quadBezTo>
                  <a:pt x="66462" y="28000"/>
                  <a:pt x="65538" y="28000"/>
                </a:quadBezTo>
                <a:lnTo>
                  <a:pt x="30462" y="28000"/>
                </a:lnTo>
                <a:quadBezTo>
                  <a:pt x="29538" y="28000"/>
                  <a:pt x="28769" y="28769"/>
                </a:quadBezTo>
                <a:quadBezTo>
                  <a:pt x="28000" y="29538"/>
                  <a:pt x="28000" y="30462"/>
                </a:quadBezTo>
                <a:lnTo>
                  <a:pt x="28000" y="65538"/>
                </a:lnTo>
                <a:quadBezTo>
                  <a:pt x="28000" y="66462"/>
                  <a:pt x="28769" y="67231"/>
                </a:quadBezTo>
                <a:quadBezTo>
                  <a:pt x="29538" y="68000"/>
                  <a:pt x="30462" y="68000"/>
                </a:quadBezTo>
                <a:lnTo>
                  <a:pt x="65538" y="68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868680" y="469087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Software &amp; MES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05072" y="4142232"/>
            <a:ext cx="658368" cy="20116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0" name="Oval 19"/>
          <p:cNvSpPr/>
          <p:nvPr/>
        </p:nvSpPr>
        <p:spPr>
          <a:xfrm>
            <a:off x="4434840" y="4069080"/>
            <a:ext cx="1371600" cy="13716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Icon support_agent"/>
          <p:cNvSpPr/>
          <p:nvPr/>
        </p:nvSpPr>
        <p:spPr>
          <a:xfrm>
            <a:off x="4937759" y="427024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7077" y="80000"/>
                </a:moveTo>
                <a:lnTo>
                  <a:pt x="47077" y="76000"/>
                </a:lnTo>
                <a:lnTo>
                  <a:pt x="73538" y="76000"/>
                </a:lnTo>
                <a:quadBezTo>
                  <a:pt x="74538" y="76000"/>
                  <a:pt x="75269" y="75385"/>
                </a:quadBezTo>
                <a:quadBezTo>
                  <a:pt x="76000" y="74769"/>
                  <a:pt x="76000" y="73769"/>
                </a:quadBezTo>
                <a:lnTo>
                  <a:pt x="76000" y="46215"/>
                </a:lnTo>
                <a:quadBezTo>
                  <a:pt x="76000" y="34977"/>
                  <a:pt x="67735" y="27442"/>
                </a:quadBezTo>
                <a:quadBezTo>
                  <a:pt x="59469" y="19908"/>
                  <a:pt x="48000" y="19908"/>
                </a:quadBezTo>
                <a:quadBezTo>
                  <a:pt x="36531" y="19908"/>
                  <a:pt x="28265" y="27442"/>
                </a:quadBezTo>
                <a:quadBezTo>
                  <a:pt x="20000" y="34977"/>
                  <a:pt x="20000" y="46215"/>
                </a:quadBezTo>
                <a:lnTo>
                  <a:pt x="20000" y="68923"/>
                </a:lnTo>
                <a:lnTo>
                  <a:pt x="18000" y="68923"/>
                </a:lnTo>
                <a:quadBezTo>
                  <a:pt x="15546" y="68923"/>
                  <a:pt x="13773" y="67265"/>
                </a:quadBezTo>
                <a:quadBezTo>
                  <a:pt x="12000" y="65608"/>
                  <a:pt x="12000" y="63154"/>
                </a:quadBezTo>
                <a:lnTo>
                  <a:pt x="12000" y="55615"/>
                </a:lnTo>
                <a:quadBezTo>
                  <a:pt x="12000" y="53823"/>
                  <a:pt x="13165" y="52435"/>
                </a:quadBezTo>
                <a:quadBezTo>
                  <a:pt x="14331" y="51046"/>
                  <a:pt x="16000" y="50177"/>
                </a:quadBezTo>
                <a:lnTo>
                  <a:pt x="16069" y="45262"/>
                </a:lnTo>
                <a:quadBezTo>
                  <a:pt x="16254" y="39000"/>
                  <a:pt x="18904" y="33662"/>
                </a:quadBezTo>
                <a:quadBezTo>
                  <a:pt x="21554" y="28323"/>
                  <a:pt x="25881" y="24369"/>
                </a:quadBezTo>
                <a:quadBezTo>
                  <a:pt x="30208" y="20415"/>
                  <a:pt x="35935" y="18208"/>
                </a:quadBezTo>
                <a:quadBezTo>
                  <a:pt x="41662" y="16000"/>
                  <a:pt x="48000" y="16000"/>
                </a:quadBezTo>
                <a:quadBezTo>
                  <a:pt x="54338" y="16000"/>
                  <a:pt x="60054" y="18208"/>
                </a:quadBezTo>
                <a:quadBezTo>
                  <a:pt x="65769" y="20415"/>
                  <a:pt x="70108" y="24358"/>
                </a:quadBezTo>
                <a:quadBezTo>
                  <a:pt x="74446" y="28300"/>
                  <a:pt x="77085" y="33638"/>
                </a:quadBezTo>
                <a:quadBezTo>
                  <a:pt x="79723" y="38977"/>
                  <a:pt x="79931" y="45238"/>
                </a:quadBezTo>
                <a:lnTo>
                  <a:pt x="80000" y="50054"/>
                </a:lnTo>
                <a:quadBezTo>
                  <a:pt x="81592" y="50800"/>
                  <a:pt x="82796" y="52062"/>
                </a:quadBezTo>
                <a:quadBezTo>
                  <a:pt x="84000" y="53323"/>
                  <a:pt x="84000" y="55092"/>
                </a:quadBezTo>
                <a:lnTo>
                  <a:pt x="84000" y="63754"/>
                </a:lnTo>
                <a:quadBezTo>
                  <a:pt x="84000" y="65523"/>
                  <a:pt x="82796" y="66785"/>
                </a:quadBezTo>
                <a:quadBezTo>
                  <a:pt x="81592" y="68046"/>
                  <a:pt x="80000" y="68792"/>
                </a:quadBezTo>
                <a:lnTo>
                  <a:pt x="80000" y="73769"/>
                </a:lnTo>
                <a:quadBezTo>
                  <a:pt x="80000" y="76377"/>
                  <a:pt x="78112" y="78188"/>
                </a:quadBezTo>
                <a:quadBezTo>
                  <a:pt x="76223" y="80000"/>
                  <a:pt x="73538" y="80000"/>
                </a:quadBezTo>
                <a:lnTo>
                  <a:pt x="47077" y="80000"/>
                </a:lnTo>
                <a:close/>
                <a:moveTo>
                  <a:pt x="37538" y="54154"/>
                </a:moveTo>
                <a:quadBezTo>
                  <a:pt x="36300" y="54154"/>
                  <a:pt x="35381" y="53312"/>
                </a:quadBezTo>
                <a:quadBezTo>
                  <a:pt x="34462" y="52469"/>
                  <a:pt x="34462" y="51231"/>
                </a:quadBezTo>
                <a:quadBezTo>
                  <a:pt x="34462" y="49992"/>
                  <a:pt x="35381" y="49112"/>
                </a:quadBezTo>
                <a:quadBezTo>
                  <a:pt x="36300" y="48231"/>
                  <a:pt x="37538" y="48231"/>
                </a:quadBezTo>
                <a:quadBezTo>
                  <a:pt x="38777" y="48231"/>
                  <a:pt x="39696" y="49112"/>
                </a:quadBezTo>
                <a:quadBezTo>
                  <a:pt x="40615" y="49992"/>
                  <a:pt x="40615" y="51231"/>
                </a:quadBezTo>
                <a:quadBezTo>
                  <a:pt x="40615" y="52469"/>
                  <a:pt x="39696" y="53312"/>
                </a:quadBezTo>
                <a:quadBezTo>
                  <a:pt x="38777" y="54154"/>
                  <a:pt x="37538" y="54154"/>
                </a:quadBezTo>
                <a:close/>
                <a:moveTo>
                  <a:pt x="58462" y="54154"/>
                </a:moveTo>
                <a:quadBezTo>
                  <a:pt x="57223" y="54154"/>
                  <a:pt x="56304" y="53312"/>
                </a:quadBezTo>
                <a:quadBezTo>
                  <a:pt x="55385" y="52469"/>
                  <a:pt x="55385" y="51231"/>
                </a:quadBezTo>
                <a:quadBezTo>
                  <a:pt x="55385" y="49992"/>
                  <a:pt x="56304" y="49112"/>
                </a:quadBezTo>
                <a:quadBezTo>
                  <a:pt x="57223" y="48231"/>
                  <a:pt x="58462" y="48231"/>
                </a:quadBezTo>
                <a:quadBezTo>
                  <a:pt x="59700" y="48231"/>
                  <a:pt x="60619" y="49112"/>
                </a:quadBezTo>
                <a:quadBezTo>
                  <a:pt x="61538" y="49992"/>
                  <a:pt x="61538" y="51231"/>
                </a:quadBezTo>
                <a:quadBezTo>
                  <a:pt x="61538" y="52469"/>
                  <a:pt x="60619" y="53312"/>
                </a:quadBezTo>
                <a:quadBezTo>
                  <a:pt x="59700" y="54154"/>
                  <a:pt x="58462" y="54154"/>
                </a:quadBezTo>
                <a:close/>
                <a:moveTo>
                  <a:pt x="26869" y="47800"/>
                </a:moveTo>
                <a:quadBezTo>
                  <a:pt x="26323" y="38815"/>
                  <a:pt x="32654" y="32485"/>
                </a:quadBezTo>
                <a:quadBezTo>
                  <a:pt x="38985" y="26154"/>
                  <a:pt x="48200" y="26154"/>
                </a:quadBezTo>
                <a:quadBezTo>
                  <a:pt x="55946" y="26154"/>
                  <a:pt x="61927" y="30804"/>
                </a:quadBezTo>
                <a:quadBezTo>
                  <a:pt x="67908" y="35454"/>
                  <a:pt x="69231" y="43023"/>
                </a:quadBezTo>
                <a:quadBezTo>
                  <a:pt x="61285" y="42923"/>
                  <a:pt x="54481" y="38969"/>
                </a:quadBezTo>
                <a:quadBezTo>
                  <a:pt x="47677" y="35015"/>
                  <a:pt x="44038" y="27969"/>
                </a:quadBezTo>
                <a:quadBezTo>
                  <a:pt x="42592" y="34892"/>
                  <a:pt x="38019" y="40104"/>
                </a:quadBezTo>
                <a:quadBezTo>
                  <a:pt x="33446" y="45315"/>
                  <a:pt x="26869" y="478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4526279" y="4690872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Service &amp; Lifecycle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1371600"/>
            <a:ext cx="51846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675120" y="1463040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Consulting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783080"/>
            <a:ext cx="51846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Herstellerunabhängige Planung, Qualifizierung und Projektsteuerung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2331720"/>
            <a:ext cx="51846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675120" y="2423160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Maschinen &amp; Anlagen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743200"/>
            <a:ext cx="51846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Prozess-, Inspektions- und Verpackungstechnologie aus der Gruppe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3291840"/>
            <a:ext cx="51846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675120" y="3383280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Software &amp; 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703320"/>
            <a:ext cx="51846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Integrierte Lösungen für papierlose, validierte Produktion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75120" y="4251960"/>
            <a:ext cx="51846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675120" y="4343400"/>
            <a:ext cx="51846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Service &amp; Lifecycle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663440"/>
            <a:ext cx="51846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Wartung, Ersatzteile und Modernisierung über die Lebensdauer</a:t>
            </a:r>
          </a:p>
        </p:txBody>
      </p:sp>
      <p:sp>
        <p:nvSpPr>
          <p:cNvPr id="35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8" name="TextBox 37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Weniger Schnittstellen bedeuten weniger Abstimmungsschleifen – und eine schnellere Freigabe.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Differenzierung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Gründe, warum Kunden mit uns arbeiten</a:t>
            </a:r>
          </a:p>
        </p:txBody>
      </p:sp>
      <p:sp>
        <p:nvSpPr>
          <p:cNvPr id="6" name="Icon engineering"/>
          <p:cNvSpPr/>
          <p:nvPr/>
        </p:nvSpPr>
        <p:spPr>
          <a:xfrm>
            <a:off x="3383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7" name="Connector 6"/>
          <p:cNvCxnSpPr/>
          <p:nvPr/>
        </p:nvCxnSpPr>
        <p:spPr>
          <a:xfrm>
            <a:off x="33832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29968"/>
            <a:ext cx="3535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GRUND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30428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Umsetzungsstärke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706624"/>
            <a:ext cx="35356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Wir planen nicht nur – wir begleiten bis zur validierten Anlage und übernehmen Verantwortung für das Ergebnis.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4160520"/>
            <a:ext cx="3535680" cy="685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4160520"/>
            <a:ext cx="316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Beleg: [xx] % der Projekte in Zeit und Budget</a:t>
            </a:r>
          </a:p>
        </p:txBody>
      </p:sp>
      <p:sp>
        <p:nvSpPr>
          <p:cNvPr id="13" name="Icon verified"/>
          <p:cNvSpPr/>
          <p:nvPr/>
        </p:nvSpPr>
        <p:spPr>
          <a:xfrm>
            <a:off x="433120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4" name="Connector 13"/>
          <p:cNvCxnSpPr/>
          <p:nvPr/>
        </p:nvCxnSpPr>
        <p:spPr>
          <a:xfrm>
            <a:off x="433120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331208" y="2029968"/>
            <a:ext cx="3535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GRUND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1208" y="230428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Regulatorische Tiefe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1208" y="2706624"/>
            <a:ext cx="35356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Unsere Teams kennen EU-GMP, FDA und lokale Behörden aus der Praxis – Inspektionen inklusive.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1208" y="4160520"/>
            <a:ext cx="3535680" cy="685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4088" y="4160520"/>
            <a:ext cx="316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Beleg: [xx] Inspektionen ohne kritische Beobachtung</a:t>
            </a:r>
          </a:p>
        </p:txBody>
      </p:sp>
      <p:sp>
        <p:nvSpPr>
          <p:cNvPr id="20" name="Icon hub"/>
          <p:cNvSpPr/>
          <p:nvPr/>
        </p:nvSpPr>
        <p:spPr>
          <a:xfrm>
            <a:off x="832408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9" y="90000"/>
                </a:moveTo>
                <a:quadBezTo>
                  <a:pt x="19846" y="90000"/>
                  <a:pt x="16923" y="87086"/>
                </a:quadBezTo>
                <a:quadBezTo>
                  <a:pt x="14000" y="84172"/>
                  <a:pt x="14000" y="80009"/>
                </a:quadBezTo>
                <a:quadBezTo>
                  <a:pt x="14000" y="75846"/>
                  <a:pt x="16917" y="72923"/>
                </a:quadBezTo>
                <a:quadBezTo>
                  <a:pt x="19835" y="70000"/>
                  <a:pt x="24002" y="70000"/>
                </a:quadBezTo>
                <a:quadBezTo>
                  <a:pt x="25169" y="70000"/>
                  <a:pt x="26446" y="70338"/>
                </a:quadBezTo>
                <a:quadBezTo>
                  <a:pt x="27723" y="70677"/>
                  <a:pt x="28823" y="71254"/>
                </a:quadBezTo>
                <a:lnTo>
                  <a:pt x="38985" y="58615"/>
                </a:lnTo>
                <a:quadBezTo>
                  <a:pt x="36800" y="56285"/>
                  <a:pt x="36008" y="53462"/>
                </a:quadBezTo>
                <a:quadBezTo>
                  <a:pt x="35215" y="50638"/>
                  <a:pt x="35738" y="47738"/>
                </a:quadBezTo>
                <a:lnTo>
                  <a:pt x="20792" y="42808"/>
                </a:lnTo>
                <a:quadBezTo>
                  <a:pt x="19477" y="45154"/>
                  <a:pt x="17163" y="46577"/>
                </a:quadBezTo>
                <a:quadBezTo>
                  <a:pt x="14848" y="48000"/>
                  <a:pt x="12000" y="48000"/>
                </a:quadBezTo>
                <a:quadBezTo>
                  <a:pt x="7833" y="48000"/>
                  <a:pt x="4917" y="45086"/>
                </a:quadBezTo>
                <a:quadBezTo>
                  <a:pt x="2000" y="42172"/>
                  <a:pt x="2000" y="38009"/>
                </a:quadBezTo>
                <a:quadBezTo>
                  <a:pt x="2000" y="33846"/>
                  <a:pt x="4914" y="30923"/>
                </a:quadBezTo>
                <a:quadBezTo>
                  <a:pt x="7828" y="28000"/>
                  <a:pt x="11991" y="28000"/>
                </a:quadBezTo>
                <a:quadBezTo>
                  <a:pt x="16154" y="28000"/>
                  <a:pt x="19077" y="30917"/>
                </a:quadBezTo>
                <a:quadBezTo>
                  <a:pt x="22000" y="33833"/>
                  <a:pt x="22000" y="38000"/>
                </a:quadBezTo>
                <a:quadBezTo>
                  <a:pt x="22000" y="38508"/>
                  <a:pt x="21962" y="38785"/>
                </a:quadBezTo>
                <a:quadBezTo>
                  <a:pt x="21923" y="39062"/>
                  <a:pt x="21923" y="39338"/>
                </a:quadBezTo>
                <a:lnTo>
                  <a:pt x="36792" y="44523"/>
                </a:lnTo>
                <a:quadBezTo>
                  <a:pt x="38100" y="42000"/>
                  <a:pt x="40527" y="40115"/>
                </a:quadBezTo>
                <a:quadBezTo>
                  <a:pt x="42954" y="38231"/>
                  <a:pt x="46231" y="37685"/>
                </a:quadBezTo>
                <a:lnTo>
                  <a:pt x="46231" y="21831"/>
                </a:lnTo>
                <a:quadBezTo>
                  <a:pt x="42408" y="21115"/>
                  <a:pt x="40204" y="18273"/>
                </a:quadBezTo>
                <a:quadBezTo>
                  <a:pt x="38000" y="15431"/>
                  <a:pt x="38000" y="11968"/>
                </a:quadBezTo>
                <a:quadBezTo>
                  <a:pt x="38000" y="7846"/>
                  <a:pt x="40914" y="4923"/>
                </a:quadBezTo>
                <a:quadBezTo>
                  <a:pt x="43828" y="2000"/>
                  <a:pt x="47991" y="2000"/>
                </a:quadBezTo>
                <a:quadBezTo>
                  <a:pt x="52154" y="2000"/>
                  <a:pt x="55077" y="4917"/>
                </a:quadBezTo>
                <a:quadBezTo>
                  <a:pt x="58000" y="7833"/>
                  <a:pt x="58000" y="12000"/>
                </a:quadBezTo>
                <a:quadBezTo>
                  <a:pt x="58000" y="15431"/>
                  <a:pt x="55785" y="18273"/>
                </a:quadBezTo>
                <a:quadBezTo>
                  <a:pt x="53569" y="21115"/>
                  <a:pt x="49769" y="21831"/>
                </a:quadBezTo>
                <a:lnTo>
                  <a:pt x="49769" y="37685"/>
                </a:lnTo>
                <a:quadBezTo>
                  <a:pt x="53046" y="38231"/>
                  <a:pt x="55435" y="40115"/>
                </a:quadBezTo>
                <a:quadBezTo>
                  <a:pt x="57823" y="42000"/>
                  <a:pt x="59208" y="44523"/>
                </a:quadBezTo>
                <a:lnTo>
                  <a:pt x="74077" y="39338"/>
                </a:lnTo>
                <a:quadBezTo>
                  <a:pt x="74000" y="38985"/>
                  <a:pt x="74000" y="38746"/>
                </a:quadBezTo>
                <a:lnTo>
                  <a:pt x="74000" y="38000"/>
                </a:lnTo>
                <a:quadBezTo>
                  <a:pt x="74000" y="33833"/>
                  <a:pt x="76914" y="30917"/>
                </a:quadBezTo>
                <a:quadBezTo>
                  <a:pt x="79828" y="28000"/>
                  <a:pt x="83991" y="28000"/>
                </a:quadBezTo>
                <a:quadBezTo>
                  <a:pt x="88154" y="28000"/>
                  <a:pt x="91077" y="30914"/>
                </a:quadBezTo>
                <a:quadBezTo>
                  <a:pt x="94000" y="33828"/>
                  <a:pt x="94000" y="37991"/>
                </a:quadBezTo>
                <a:quadBezTo>
                  <a:pt x="94000" y="42154"/>
                  <a:pt x="91083" y="45077"/>
                </a:quadBezTo>
                <a:quadBezTo>
                  <a:pt x="88167" y="48000"/>
                  <a:pt x="84000" y="48000"/>
                </a:quadBezTo>
                <a:quadBezTo>
                  <a:pt x="81176" y="48000"/>
                  <a:pt x="78838" y="46577"/>
                </a:quadBezTo>
                <a:quadBezTo>
                  <a:pt x="76500" y="45154"/>
                  <a:pt x="75208" y="42808"/>
                </a:quadBezTo>
                <a:lnTo>
                  <a:pt x="60262" y="47738"/>
                </a:lnTo>
                <a:quadBezTo>
                  <a:pt x="60785" y="50638"/>
                  <a:pt x="59992" y="53450"/>
                </a:quadBezTo>
                <a:quadBezTo>
                  <a:pt x="59200" y="56262"/>
                  <a:pt x="57015" y="58538"/>
                </a:quadBezTo>
                <a:lnTo>
                  <a:pt x="67177" y="71154"/>
                </a:lnTo>
                <a:quadBezTo>
                  <a:pt x="68277" y="70654"/>
                  <a:pt x="69554" y="70327"/>
                </a:quadBezTo>
                <a:quadBezTo>
                  <a:pt x="70831" y="70000"/>
                  <a:pt x="71998" y="70000"/>
                </a:quadBezTo>
                <a:quadBezTo>
                  <a:pt x="76165" y="70000"/>
                  <a:pt x="79083" y="72914"/>
                </a:quadBezTo>
                <a:quadBezTo>
                  <a:pt x="82000" y="75828"/>
                  <a:pt x="82000" y="79991"/>
                </a:quadBezTo>
                <a:quadBezTo>
                  <a:pt x="82000" y="84154"/>
                  <a:pt x="79086" y="87077"/>
                </a:quadBezTo>
                <a:quadBezTo>
                  <a:pt x="76172" y="90000"/>
                  <a:pt x="72009" y="90000"/>
                </a:quadBezTo>
                <a:quadBezTo>
                  <a:pt x="67846" y="90000"/>
                  <a:pt x="64923" y="87083"/>
                </a:quadBezTo>
                <a:quadBezTo>
                  <a:pt x="62000" y="84167"/>
                  <a:pt x="62000" y="80000"/>
                </a:quadBezTo>
                <a:quadBezTo>
                  <a:pt x="62000" y="78216"/>
                  <a:pt x="62573" y="76566"/>
                </a:quadBezTo>
                <a:quadBezTo>
                  <a:pt x="63146" y="74915"/>
                  <a:pt x="64477" y="73492"/>
                </a:quadBezTo>
                <a:lnTo>
                  <a:pt x="54315" y="60700"/>
                </a:lnTo>
                <a:quadBezTo>
                  <a:pt x="51600" y="62462"/>
                  <a:pt x="48027" y="62462"/>
                </a:quadBezTo>
                <a:quadBezTo>
                  <a:pt x="44454" y="62462"/>
                  <a:pt x="41662" y="60700"/>
                </a:quadBezTo>
                <a:lnTo>
                  <a:pt x="31523" y="73492"/>
                </a:lnTo>
                <a:quadBezTo>
                  <a:pt x="32777" y="74915"/>
                  <a:pt x="33388" y="76566"/>
                </a:quadBezTo>
                <a:quadBezTo>
                  <a:pt x="34000" y="78216"/>
                  <a:pt x="34000" y="80000"/>
                </a:quadBezTo>
                <a:quadBezTo>
                  <a:pt x="34000" y="84167"/>
                  <a:pt x="31086" y="87083"/>
                </a:quadBezTo>
                <a:quadBezTo>
                  <a:pt x="28172" y="90000"/>
                  <a:pt x="24009" y="90000"/>
                </a:quadBezTo>
                <a:close/>
                <a:moveTo>
                  <a:pt x="12000" y="44000"/>
                </a:moveTo>
                <a:quadBezTo>
                  <a:pt x="14469" y="44000"/>
                  <a:pt x="16235" y="42235"/>
                </a:quadBezTo>
                <a:quadBezTo>
                  <a:pt x="18000" y="40469"/>
                  <a:pt x="18000" y="38000"/>
                </a:quadBezTo>
                <a:quadBezTo>
                  <a:pt x="18000" y="35531"/>
                  <a:pt x="16235" y="33765"/>
                </a:quadBezTo>
                <a:quadBezTo>
                  <a:pt x="14469" y="32000"/>
                  <a:pt x="12000" y="32000"/>
                </a:quadBezTo>
                <a:quadBezTo>
                  <a:pt x="9531" y="32000"/>
                  <a:pt x="7765" y="33765"/>
                </a:quadBezTo>
                <a:quadBezTo>
                  <a:pt x="6000" y="35531"/>
                  <a:pt x="6000" y="38000"/>
                </a:quadBezTo>
                <a:quadBezTo>
                  <a:pt x="6000" y="40469"/>
                  <a:pt x="7765" y="42235"/>
                </a:quadBezTo>
                <a:quadBezTo>
                  <a:pt x="9531" y="44000"/>
                  <a:pt x="12000" y="44000"/>
                </a:quadBezTo>
                <a:close/>
                <a:moveTo>
                  <a:pt x="24000" y="86000"/>
                </a:moveTo>
                <a:quadBezTo>
                  <a:pt x="26469" y="86000"/>
                  <a:pt x="28235" y="84235"/>
                </a:quadBezTo>
                <a:quadBezTo>
                  <a:pt x="30000" y="82469"/>
                  <a:pt x="30000" y="80000"/>
                </a:quadBezTo>
                <a:quadBezTo>
                  <a:pt x="30000" y="77531"/>
                  <a:pt x="28235" y="75765"/>
                </a:quadBezTo>
                <a:quadBezTo>
                  <a:pt x="26469" y="74000"/>
                  <a:pt x="24000" y="74000"/>
                </a:quadBezTo>
                <a:quadBezTo>
                  <a:pt x="21531" y="74000"/>
                  <a:pt x="19765" y="75765"/>
                </a:quadBezTo>
                <a:quadBezTo>
                  <a:pt x="18000" y="77531"/>
                  <a:pt x="18000" y="80000"/>
                </a:quadBezTo>
                <a:quadBezTo>
                  <a:pt x="18000" y="82469"/>
                  <a:pt x="19765" y="84235"/>
                </a:quadBezTo>
                <a:quadBezTo>
                  <a:pt x="21531" y="86000"/>
                  <a:pt x="24000" y="86000"/>
                </a:quadBezTo>
                <a:close/>
                <a:moveTo>
                  <a:pt x="48000" y="18000"/>
                </a:moveTo>
                <a:quadBezTo>
                  <a:pt x="50469" y="18000"/>
                  <a:pt x="52235" y="16235"/>
                </a:quadBezTo>
                <a:quadBezTo>
                  <a:pt x="54000" y="14469"/>
                  <a:pt x="54000" y="12000"/>
                </a:quadBezTo>
                <a:quadBezTo>
                  <a:pt x="54000" y="9531"/>
                  <a:pt x="52235" y="7765"/>
                </a:quadBezTo>
                <a:quadBezTo>
                  <a:pt x="50469" y="6000"/>
                  <a:pt x="48000" y="6000"/>
                </a:quadBezTo>
                <a:quadBezTo>
                  <a:pt x="45531" y="6000"/>
                  <a:pt x="43765" y="7765"/>
                </a:quadBezTo>
                <a:quadBezTo>
                  <a:pt x="42000" y="9531"/>
                  <a:pt x="42000" y="12000"/>
                </a:quadBezTo>
                <a:quadBezTo>
                  <a:pt x="42000" y="14469"/>
                  <a:pt x="43765" y="16235"/>
                </a:quadBezTo>
                <a:quadBezTo>
                  <a:pt x="45531" y="18000"/>
                  <a:pt x="48000" y="18000"/>
                </a:quadBezTo>
                <a:close/>
                <a:moveTo>
                  <a:pt x="48000" y="58462"/>
                </a:moveTo>
                <a:quadBezTo>
                  <a:pt x="51508" y="58462"/>
                  <a:pt x="53985" y="55985"/>
                </a:quadBezTo>
                <a:quadBezTo>
                  <a:pt x="56462" y="53508"/>
                  <a:pt x="56462" y="50000"/>
                </a:quadBezTo>
                <a:quadBezTo>
                  <a:pt x="56462" y="46492"/>
                  <a:pt x="53985" y="44015"/>
                </a:quadBezTo>
                <a:quadBezTo>
                  <a:pt x="51508" y="41538"/>
                  <a:pt x="48000" y="41538"/>
                </a:quadBezTo>
                <a:quadBezTo>
                  <a:pt x="44492" y="41538"/>
                  <a:pt x="42015" y="44015"/>
                </a:quadBezTo>
                <a:quadBezTo>
                  <a:pt x="39538" y="46492"/>
                  <a:pt x="39538" y="50000"/>
                </a:quadBezTo>
                <a:quadBezTo>
                  <a:pt x="39538" y="53508"/>
                  <a:pt x="42015" y="55985"/>
                </a:quadBezTo>
                <a:quadBezTo>
                  <a:pt x="44492" y="58462"/>
                  <a:pt x="48000" y="58462"/>
                </a:quadBezTo>
                <a:close/>
                <a:moveTo>
                  <a:pt x="72000" y="86000"/>
                </a:moveTo>
                <a:quadBezTo>
                  <a:pt x="74469" y="86000"/>
                  <a:pt x="76235" y="84235"/>
                </a:quadBezTo>
                <a:quadBezTo>
                  <a:pt x="78000" y="82469"/>
                  <a:pt x="78000" y="80000"/>
                </a:quadBezTo>
                <a:quadBezTo>
                  <a:pt x="78000" y="77531"/>
                  <a:pt x="76235" y="75765"/>
                </a:quadBezTo>
                <a:quadBezTo>
                  <a:pt x="74469" y="74000"/>
                  <a:pt x="72000" y="74000"/>
                </a:quadBezTo>
                <a:quadBezTo>
                  <a:pt x="69531" y="74000"/>
                  <a:pt x="67765" y="75765"/>
                </a:quadBezTo>
                <a:quadBezTo>
                  <a:pt x="66000" y="77531"/>
                  <a:pt x="66000" y="80000"/>
                </a:quadBezTo>
                <a:quadBezTo>
                  <a:pt x="66000" y="82469"/>
                  <a:pt x="67765" y="84235"/>
                </a:quadBezTo>
                <a:quadBezTo>
                  <a:pt x="69531" y="86000"/>
                  <a:pt x="72000" y="86000"/>
                </a:quadBezTo>
                <a:close/>
                <a:moveTo>
                  <a:pt x="84000" y="44000"/>
                </a:moveTo>
                <a:quadBezTo>
                  <a:pt x="86469" y="44000"/>
                  <a:pt x="88235" y="42235"/>
                </a:quadBezTo>
                <a:quadBezTo>
                  <a:pt x="90000" y="40469"/>
                  <a:pt x="90000" y="38000"/>
                </a:quadBezTo>
                <a:quadBezTo>
                  <a:pt x="90000" y="35531"/>
                  <a:pt x="88235" y="33765"/>
                </a:quadBezTo>
                <a:quadBezTo>
                  <a:pt x="86469" y="32000"/>
                  <a:pt x="84000" y="32000"/>
                </a:quadBezTo>
                <a:quadBezTo>
                  <a:pt x="81531" y="32000"/>
                  <a:pt x="79765" y="33765"/>
                </a:quadBezTo>
                <a:quadBezTo>
                  <a:pt x="78000" y="35531"/>
                  <a:pt x="78000" y="38000"/>
                </a:quadBezTo>
                <a:quadBezTo>
                  <a:pt x="78000" y="40469"/>
                  <a:pt x="79765" y="42235"/>
                </a:quadBezTo>
                <a:quadBezTo>
                  <a:pt x="81531" y="44000"/>
                  <a:pt x="84000" y="44000"/>
                </a:quadBezTo>
                <a:close/>
                <a:moveTo>
                  <a:pt x="48000" y="12000"/>
                </a:moveTo>
                <a:close/>
                <a:moveTo>
                  <a:pt x="12000" y="38000"/>
                </a:moveTo>
                <a:close/>
                <a:moveTo>
                  <a:pt x="48000" y="50000"/>
                </a:moveTo>
                <a:close/>
                <a:moveTo>
                  <a:pt x="84000" y="38000"/>
                </a:moveTo>
                <a:close/>
                <a:moveTo>
                  <a:pt x="24000" y="80000"/>
                </a:moveTo>
                <a:close/>
                <a:moveTo>
                  <a:pt x="72000" y="8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1" name="Connector 20"/>
          <p:cNvCxnSpPr/>
          <p:nvPr/>
        </p:nvCxnSpPr>
        <p:spPr>
          <a:xfrm>
            <a:off x="832408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324088" y="2029968"/>
            <a:ext cx="3535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GRUND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088" y="230428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Körber-Ökosystem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88" y="2706624"/>
            <a:ext cx="353568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Zugriff auf Maschinen-, Software- und Service-Know-how der Gruppe – herstellerunabhängig eingesetzt.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4088" y="4160520"/>
            <a:ext cx="3535680" cy="685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6968" y="4160520"/>
            <a:ext cx="316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Beleg: [xx] Projekte mit integriertem Lösungsansatz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Wettbewerbsposition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Eigene Einschätzung; Positionierung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 verbinden strategische Beratung mit technischer Umsetzungstiefe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1371600"/>
            <a:ext cx="310896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04487" y="1371600"/>
            <a:ext cx="3108960" cy="19659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8" y="3337560"/>
            <a:ext cx="310896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04487" y="3337560"/>
            <a:ext cx="310896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95528" y="5303520"/>
            <a:ext cx="6309360" cy="0"/>
          </a:xfrm>
          <a:prstGeom prst="line">
            <a:avLst/>
          </a:prstGeom>
          <a:ln w="12700">
            <a:solidFill>
              <a:schemeClr val="tx1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 flipV="1">
            <a:off x="795528" y="1280160"/>
            <a:ext cx="0" cy="4023360"/>
          </a:xfrm>
          <a:prstGeom prst="line">
            <a:avLst/>
          </a:prstGeom>
          <a:ln w="12700">
            <a:solidFill>
              <a:schemeClr val="tx1"/>
            </a:solidFill>
            <a:tailEnd type="triangle" w="med" len="med"/>
          </a:ln>
        </p:spPr>
      </p:cxnSp>
      <p:sp>
        <p:nvSpPr>
          <p:cNvPr id="13" name="TextBox 12"/>
          <p:cNvSpPr txBox="1"/>
          <p:nvPr/>
        </p:nvSpPr>
        <p:spPr>
          <a:xfrm>
            <a:off x="795528" y="5376672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Strategische Beratungstiefe →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-1444752" y="3154679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Umsetzungs- und Technologiekompetenz →</a:t>
            </a:r>
          </a:p>
        </p:txBody>
      </p:sp>
      <p:sp>
        <p:nvSpPr>
          <p:cNvPr id="15" name="Oval 14"/>
          <p:cNvSpPr/>
          <p:nvPr/>
        </p:nvSpPr>
        <p:spPr>
          <a:xfrm>
            <a:off x="1892807" y="2194560"/>
            <a:ext cx="640080" cy="6400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7" y="2880359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Engineering-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Dienstleister</a:t>
            </a:r>
          </a:p>
        </p:txBody>
      </p:sp>
      <p:sp>
        <p:nvSpPr>
          <p:cNvPr id="17" name="Oval 16"/>
          <p:cNvSpPr/>
          <p:nvPr/>
        </p:nvSpPr>
        <p:spPr>
          <a:xfrm>
            <a:off x="5733288" y="4023360"/>
            <a:ext cx="640080" cy="6400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470916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Strategie-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beratungen</a:t>
            </a:r>
          </a:p>
        </p:txBody>
      </p:sp>
      <p:sp>
        <p:nvSpPr>
          <p:cNvPr id="19" name="Oval 18"/>
          <p:cNvSpPr/>
          <p:nvPr/>
        </p:nvSpPr>
        <p:spPr>
          <a:xfrm>
            <a:off x="3813048" y="3749039"/>
            <a:ext cx="640080" cy="6400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443484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Wirtschafts-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prüfer</a:t>
            </a:r>
          </a:p>
        </p:txBody>
      </p:sp>
      <p:sp>
        <p:nvSpPr>
          <p:cNvPr id="21" name="Oval 20"/>
          <p:cNvSpPr/>
          <p:nvPr/>
        </p:nvSpPr>
        <p:spPr>
          <a:xfrm>
            <a:off x="5733288" y="210312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8" y="2971799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Körber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371600"/>
            <a:ext cx="42702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WAS DAS FÜR SIE BEDEUTET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89520" y="1737360"/>
            <a:ext cx="42702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589520" y="182880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Keine Lücke zwischen Konzept und Realität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304288"/>
            <a:ext cx="42702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Unsere Empfehlungen sind von Anfang an baubar und qualifizierbar.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89520" y="2926080"/>
            <a:ext cx="42702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589520" y="301752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Ein Team über alle Phasen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493008"/>
            <a:ext cx="42702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Wissen bleibt im Projekt – keine Übergabeverluste.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589520" y="4114800"/>
            <a:ext cx="42702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589520" y="4206240"/>
            <a:ext cx="42702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Messbare Ergebnisse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681728"/>
            <a:ext cx="42702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Wir werden am Betriebsergebnis gemessen, nicht an Konzeptpapieren.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Präsenz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[Körber, Stand JJJJ]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Lokal präsent in Ihren Kernmärkten – global vernetzt</a:t>
            </a:r>
          </a:p>
        </p:txBody>
      </p:sp>
      <p:sp>
        <p:nvSpPr>
          <p:cNvPr id="6" name="Sticker"/>
          <p:cNvSpPr/>
          <p:nvPr/>
        </p:nvSpPr>
        <p:spPr>
          <a:xfrm>
            <a:off x="10008108" y="713232"/>
            <a:ext cx="1851660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STANDORTE EINSETZEN</a:t>
            </a:r>
          </a:p>
        </p:txBody>
      </p:sp>
      <p:pic>
        <p:nvPicPr>
          <p:cNvPr id="7" name="Picture 6" descr="worldmap.png"/>
          <p:cNvPicPr>
            <a:picLocks noChangeAspect="1"/>
          </p:cNvPicPr>
          <p:nvPr/>
        </p:nvPicPr>
        <p:blipFill>
          <a:blip r:embed="rId3"/>
          <a:srcRect t="111" b="111"/>
          <a:stretch>
            <a:fillRect/>
          </a:stretch>
        </p:blipFill>
        <p:spPr>
          <a:xfrm>
            <a:off x="338328" y="1371600"/>
            <a:ext cx="7498079" cy="4572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041648" y="352044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58768" y="370332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70248" y="361188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4248" y="3886200"/>
            <a:ext cx="292608" cy="2926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7688" y="411480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58968" y="443484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229600" y="14630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229600" y="1572768"/>
            <a:ext cx="36301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[xx]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80768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Standorte in Europa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28346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0" y="2944368"/>
            <a:ext cx="36301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[xx]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52368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Standorte in Nordamerika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4206240"/>
            <a:ext cx="3630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229600" y="4315968"/>
            <a:ext cx="36301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[xx]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23968"/>
            <a:ext cx="36301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Standorte in Asien-Pazifik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Team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Ihr Kernteam vereint Prozess-, Qualitäts- und Digitalisierungsexpertise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674620" cy="4206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1278" y="1600200"/>
            <a:ext cx="1188720" cy="11887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Icon person"/>
          <p:cNvSpPr/>
          <p:nvPr/>
        </p:nvSpPr>
        <p:spPr>
          <a:xfrm>
            <a:off x="1319022" y="1837943"/>
            <a:ext cx="713232" cy="7132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521208" y="297180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329184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Projektleitung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37033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66928" y="38404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[xx] Jahre Pharma-Projekte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PMP / IPMA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Referenz: [Projekt]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7268" y="1371600"/>
            <a:ext cx="2674620" cy="4206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0218" y="1600200"/>
            <a:ext cx="1188720" cy="11887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person"/>
          <p:cNvSpPr/>
          <p:nvPr/>
        </p:nvSpPr>
        <p:spPr>
          <a:xfrm>
            <a:off x="4267962" y="1837943"/>
            <a:ext cx="713232" cy="7132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3470148" y="297180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0148" y="329184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Lead Process Engineering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15868" y="37033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515868" y="38404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Sterile Abfüllung, Isolatoren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Layout und Materialfluss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Referenz: [Projekt]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1371600"/>
            <a:ext cx="2674620" cy="4206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79158" y="1600200"/>
            <a:ext cx="1188720" cy="11887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con person"/>
          <p:cNvSpPr/>
          <p:nvPr/>
        </p:nvSpPr>
        <p:spPr>
          <a:xfrm>
            <a:off x="7216902" y="1837943"/>
            <a:ext cx="713232" cy="7132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6419088" y="297180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29184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Lead CQV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64808" y="37033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64808" y="38404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Qualifizierungsstrategie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EU-GMP, FDA, Annex 1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Referenz: [Projekt]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5148" y="1371600"/>
            <a:ext cx="2674620" cy="4206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28098" y="1600200"/>
            <a:ext cx="1188720" cy="118872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person"/>
          <p:cNvSpPr/>
          <p:nvPr/>
        </p:nvSpPr>
        <p:spPr>
          <a:xfrm>
            <a:off x="10165842" y="1837943"/>
            <a:ext cx="713232" cy="7132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9368028" y="297180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[Vorname Name]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8028" y="3291840"/>
            <a:ext cx="23088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Lead Digitalisierung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13748" y="37033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9413748" y="38404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MES, Pharma 4.0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CSV / CSA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Referenz: [Projekt]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Über uns | Arbeitsweise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Fünf Prinzipien prägen unsere Zusammenarbeit mit Ihnen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46304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5087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Ergebnis vor Konzept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4568" y="1508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Jede Empfehlung wird an ihrem Beitrag zu Zeit, Kosten und Qualität gemessen.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9848" y="2121408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338328" y="22860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331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Ein Team mit Ihnen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31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Gemischte Teams und gemeinsame Workshops statt Black-Box-Beratung.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2944368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38328" y="310896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15467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Transparenz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79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Wöchentlicher Status, offene Risiken und klare Entscheidungsvorlagen.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9848" y="3767328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338328" y="393192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9776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Befähigung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9776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Wissenstransfer an Ihr Team ist fester Bestandteil jedes Projekts.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9848" y="4590288"/>
            <a:ext cx="10789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338328" y="4754879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8006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Compliance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8006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GMP-Anforderungen sind von Anfang an mitgedacht – nicht nachträglich ergänzt.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Markt &amp;</a:t>
            </a:r>
          </a:p>
          <a:p>
            <a:r>
              <a:t>Kunden-</a:t>
            </a:r>
          </a:p>
          <a:p>
            <a:r>
              <a:t>verständnis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Trends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[Quelle, Jahr]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Sechs Trends verändern die pharmazeutische Produktion bis 2030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biotech"/>
          <p:cNvSpPr/>
          <p:nvPr/>
        </p:nvSpPr>
        <p:spPr>
          <a:xfrm>
            <a:off x="45738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538" y="82000"/>
                </a:moveTo>
                <a:lnTo>
                  <a:pt x="23538" y="78000"/>
                </a:lnTo>
                <a:lnTo>
                  <a:pt x="43538" y="78000"/>
                </a:lnTo>
                <a:lnTo>
                  <a:pt x="43538" y="66000"/>
                </a:lnTo>
                <a:lnTo>
                  <a:pt x="41538" y="66000"/>
                </a:lnTo>
                <a:quadBezTo>
                  <a:pt x="34068" y="66000"/>
                  <a:pt x="28803" y="60735"/>
                </a:quadBezTo>
                <a:quadBezTo>
                  <a:pt x="23538" y="55470"/>
                  <a:pt x="23538" y="48000"/>
                </a:quadBezTo>
                <a:quadBezTo>
                  <a:pt x="23538" y="42454"/>
                  <a:pt x="26735" y="37908"/>
                </a:quadBezTo>
                <a:quadBezTo>
                  <a:pt x="29931" y="33362"/>
                  <a:pt x="35169" y="31292"/>
                </a:quadBezTo>
                <a:quadBezTo>
                  <a:pt x="35354" y="27200"/>
                  <a:pt x="38681" y="24946"/>
                </a:quadBezTo>
                <a:quadBezTo>
                  <a:pt x="42008" y="22692"/>
                  <a:pt x="45738" y="24000"/>
                </a:quadBezTo>
                <a:lnTo>
                  <a:pt x="43077" y="16723"/>
                </a:lnTo>
                <a:lnTo>
                  <a:pt x="46877" y="15323"/>
                </a:lnTo>
                <a:lnTo>
                  <a:pt x="45477" y="11569"/>
                </a:lnTo>
                <a:lnTo>
                  <a:pt x="50154" y="9846"/>
                </a:lnTo>
                <a:lnTo>
                  <a:pt x="51508" y="13646"/>
                </a:lnTo>
                <a:lnTo>
                  <a:pt x="55000" y="12400"/>
                </a:lnTo>
                <a:lnTo>
                  <a:pt x="64923" y="39477"/>
                </a:lnTo>
                <a:lnTo>
                  <a:pt x="61431" y="40877"/>
                </a:lnTo>
                <a:lnTo>
                  <a:pt x="62831" y="44677"/>
                </a:lnTo>
                <a:lnTo>
                  <a:pt x="58154" y="46400"/>
                </a:lnTo>
                <a:lnTo>
                  <a:pt x="56800" y="42600"/>
                </a:lnTo>
                <a:lnTo>
                  <a:pt x="53000" y="44154"/>
                </a:lnTo>
                <a:lnTo>
                  <a:pt x="50446" y="36785"/>
                </a:lnTo>
                <a:quadBezTo>
                  <a:pt x="49254" y="38492"/>
                  <a:pt x="47381" y="39500"/>
                </a:quadBezTo>
                <a:quadBezTo>
                  <a:pt x="45508" y="40508"/>
                  <a:pt x="43354" y="40462"/>
                </a:quadBezTo>
                <a:quadBezTo>
                  <a:pt x="40846" y="40415"/>
                  <a:pt x="38831" y="38996"/>
                </a:quadBezTo>
                <a:quadBezTo>
                  <a:pt x="36815" y="37577"/>
                  <a:pt x="35800" y="35338"/>
                </a:quadBezTo>
                <a:quadBezTo>
                  <a:pt x="32023" y="37015"/>
                  <a:pt x="29781" y="40408"/>
                </a:quadBezTo>
                <a:quadBezTo>
                  <a:pt x="27538" y="43800"/>
                  <a:pt x="27538" y="48000"/>
                </a:quadBezTo>
                <a:quadBezTo>
                  <a:pt x="27538" y="53833"/>
                  <a:pt x="31622" y="57917"/>
                </a:quadBezTo>
                <a:quadBezTo>
                  <a:pt x="35705" y="62000"/>
                  <a:pt x="41538" y="62000"/>
                </a:quadBezTo>
                <a:lnTo>
                  <a:pt x="71538" y="62000"/>
                </a:lnTo>
                <a:lnTo>
                  <a:pt x="71538" y="66000"/>
                </a:lnTo>
                <a:lnTo>
                  <a:pt x="48462" y="66000"/>
                </a:lnTo>
                <a:lnTo>
                  <a:pt x="48462" y="78000"/>
                </a:lnTo>
                <a:lnTo>
                  <a:pt x="72462" y="78000"/>
                </a:lnTo>
                <a:lnTo>
                  <a:pt x="72462" y="82000"/>
                </a:lnTo>
                <a:lnTo>
                  <a:pt x="23538" y="82000"/>
                </a:lnTo>
                <a:close/>
                <a:moveTo>
                  <a:pt x="55215" y="39431"/>
                </a:moveTo>
                <a:lnTo>
                  <a:pt x="60354" y="37415"/>
                </a:lnTo>
                <a:lnTo>
                  <a:pt x="52938" y="16923"/>
                </a:lnTo>
                <a:lnTo>
                  <a:pt x="47600" y="18785"/>
                </a:lnTo>
                <a:lnTo>
                  <a:pt x="55215" y="39431"/>
                </a:lnTo>
                <a:close/>
                <a:moveTo>
                  <a:pt x="43533" y="36923"/>
                </a:moveTo>
                <a:quadBezTo>
                  <a:pt x="45623" y="36923"/>
                  <a:pt x="47042" y="35509"/>
                </a:quadBezTo>
                <a:quadBezTo>
                  <a:pt x="48462" y="34095"/>
                  <a:pt x="48462" y="32005"/>
                </a:quadBezTo>
                <a:quadBezTo>
                  <a:pt x="48462" y="29915"/>
                  <a:pt x="47048" y="28496"/>
                </a:quadBezTo>
                <a:quadBezTo>
                  <a:pt x="45634" y="27077"/>
                  <a:pt x="43544" y="27077"/>
                </a:quadBezTo>
                <a:quadBezTo>
                  <a:pt x="41454" y="27077"/>
                  <a:pt x="40035" y="28491"/>
                </a:quadBezTo>
                <a:quadBezTo>
                  <a:pt x="38615" y="29905"/>
                  <a:pt x="38615" y="31995"/>
                </a:quadBezTo>
                <a:quadBezTo>
                  <a:pt x="38615" y="34085"/>
                  <a:pt x="40029" y="35504"/>
                </a:quadBezTo>
                <a:quadBezTo>
                  <a:pt x="41443" y="36923"/>
                  <a:pt x="43533" y="36923"/>
                </a:quadBezTo>
                <a:close/>
                <a:moveTo>
                  <a:pt x="55215" y="39431"/>
                </a:moveTo>
                <a:close/>
                <a:moveTo>
                  <a:pt x="43538" y="32000"/>
                </a:moveTo>
                <a:close/>
                <a:moveTo>
                  <a:pt x="43538" y="32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111556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Biologika &amp; ATMP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286000"/>
            <a:ext cx="3535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Kleinere Chargen, höhere Komplexität: Anlagen müssen flexibel und multi-produktfähig werden.</a:t>
            </a:r>
          </a:p>
        </p:txBody>
      </p:sp>
      <p:sp>
        <p:nvSpPr>
          <p:cNvPr id="11" name="Oval 10"/>
          <p:cNvSpPr/>
          <p:nvPr/>
        </p:nvSpPr>
        <p:spPr>
          <a:xfrm>
            <a:off x="433120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Icon verified"/>
          <p:cNvSpPr/>
          <p:nvPr/>
        </p:nvSpPr>
        <p:spPr>
          <a:xfrm>
            <a:off x="445026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10844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Regulatorischer Druck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3120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4331208" y="2286000"/>
            <a:ext cx="3535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Annex 1, Data Integrity und KI-Regulierung erhöhen den Qualifizierungsaufwand.</a:t>
            </a:r>
          </a:p>
        </p:txBody>
      </p:sp>
      <p:sp>
        <p:nvSpPr>
          <p:cNvPr id="16" name="Oval 15"/>
          <p:cNvSpPr/>
          <p:nvPr/>
        </p:nvSpPr>
        <p:spPr>
          <a:xfrm>
            <a:off x="8324088" y="137160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memory"/>
          <p:cNvSpPr/>
          <p:nvPr/>
        </p:nvSpPr>
        <p:spPr>
          <a:xfrm>
            <a:off x="8443142" y="149065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0" y="56000"/>
                </a:moveTo>
                <a:lnTo>
                  <a:pt x="40000" y="40000"/>
                </a:lnTo>
                <a:lnTo>
                  <a:pt x="56000" y="40000"/>
                </a:lnTo>
                <a:lnTo>
                  <a:pt x="56000" y="56000"/>
                </a:lnTo>
                <a:lnTo>
                  <a:pt x="40000" y="56000"/>
                </a:lnTo>
                <a:close/>
                <a:moveTo>
                  <a:pt x="44000" y="52000"/>
                </a:moveTo>
                <a:lnTo>
                  <a:pt x="52000" y="52000"/>
                </a:lnTo>
                <a:lnTo>
                  <a:pt x="52000" y="44000"/>
                </a:lnTo>
                <a:lnTo>
                  <a:pt x="44000" y="44000"/>
                </a:lnTo>
                <a:lnTo>
                  <a:pt x="44000" y="52000"/>
                </a:lnTo>
                <a:close/>
                <a:moveTo>
                  <a:pt x="38000" y="78154"/>
                </a:moveTo>
                <a:lnTo>
                  <a:pt x="38000" y="72000"/>
                </a:lnTo>
                <a:lnTo>
                  <a:pt x="30462" y="72000"/>
                </a:lnTo>
                <a:quadBezTo>
                  <a:pt x="27700" y="72000"/>
                  <a:pt x="25850" y="70150"/>
                </a:quadBezTo>
                <a:quadBezTo>
                  <a:pt x="24000" y="68300"/>
                  <a:pt x="24000" y="65538"/>
                </a:quadBezTo>
                <a:lnTo>
                  <a:pt x="24000" y="58000"/>
                </a:lnTo>
                <a:lnTo>
                  <a:pt x="17846" y="58000"/>
                </a:lnTo>
                <a:lnTo>
                  <a:pt x="17846" y="54000"/>
                </a:lnTo>
                <a:lnTo>
                  <a:pt x="24000" y="54000"/>
                </a:lnTo>
                <a:lnTo>
                  <a:pt x="24000" y="42000"/>
                </a:lnTo>
                <a:lnTo>
                  <a:pt x="17846" y="42000"/>
                </a:lnTo>
                <a:lnTo>
                  <a:pt x="17846" y="38000"/>
                </a:lnTo>
                <a:lnTo>
                  <a:pt x="24000" y="38000"/>
                </a:lnTo>
                <a:lnTo>
                  <a:pt x="24000" y="30462"/>
                </a:lnTo>
                <a:quadBezTo>
                  <a:pt x="24000" y="27700"/>
                  <a:pt x="25850" y="25850"/>
                </a:quadBezTo>
                <a:quadBezTo>
                  <a:pt x="27700" y="24000"/>
                  <a:pt x="30462" y="24000"/>
                </a:quadBezTo>
                <a:lnTo>
                  <a:pt x="38000" y="24000"/>
                </a:lnTo>
                <a:lnTo>
                  <a:pt x="38000" y="17846"/>
                </a:lnTo>
                <a:lnTo>
                  <a:pt x="42000" y="17846"/>
                </a:lnTo>
                <a:lnTo>
                  <a:pt x="42000" y="24000"/>
                </a:lnTo>
                <a:lnTo>
                  <a:pt x="54000" y="24000"/>
                </a:lnTo>
                <a:lnTo>
                  <a:pt x="54000" y="17846"/>
                </a:lnTo>
                <a:lnTo>
                  <a:pt x="58000" y="17846"/>
                </a:lnTo>
                <a:lnTo>
                  <a:pt x="58000" y="24000"/>
                </a:lnTo>
                <a:lnTo>
                  <a:pt x="65538" y="24000"/>
                </a:lnTo>
                <a:quadBezTo>
                  <a:pt x="68300" y="24000"/>
                  <a:pt x="70150" y="25850"/>
                </a:quadBezTo>
                <a:quadBezTo>
                  <a:pt x="72000" y="27700"/>
                  <a:pt x="72000" y="30462"/>
                </a:quadBezTo>
                <a:lnTo>
                  <a:pt x="72000" y="38000"/>
                </a:lnTo>
                <a:lnTo>
                  <a:pt x="78154" y="38000"/>
                </a:lnTo>
                <a:lnTo>
                  <a:pt x="78154" y="42000"/>
                </a:lnTo>
                <a:lnTo>
                  <a:pt x="72000" y="42000"/>
                </a:lnTo>
                <a:lnTo>
                  <a:pt x="72000" y="54000"/>
                </a:lnTo>
                <a:lnTo>
                  <a:pt x="78154" y="54000"/>
                </a:lnTo>
                <a:lnTo>
                  <a:pt x="78154" y="58000"/>
                </a:lnTo>
                <a:lnTo>
                  <a:pt x="72000" y="58000"/>
                </a:lnTo>
                <a:lnTo>
                  <a:pt x="72000" y="65538"/>
                </a:lnTo>
                <a:quadBezTo>
                  <a:pt x="72000" y="68300"/>
                  <a:pt x="70150" y="70150"/>
                </a:quadBezTo>
                <a:quadBezTo>
                  <a:pt x="68300" y="72000"/>
                  <a:pt x="65538" y="72000"/>
                </a:quadBezTo>
                <a:lnTo>
                  <a:pt x="58000" y="72000"/>
                </a:lnTo>
                <a:lnTo>
                  <a:pt x="58000" y="78154"/>
                </a:lnTo>
                <a:lnTo>
                  <a:pt x="54000" y="78154"/>
                </a:lnTo>
                <a:lnTo>
                  <a:pt x="54000" y="72000"/>
                </a:lnTo>
                <a:lnTo>
                  <a:pt x="42000" y="72000"/>
                </a:lnTo>
                <a:lnTo>
                  <a:pt x="42000" y="78154"/>
                </a:lnTo>
                <a:lnTo>
                  <a:pt x="38000" y="78154"/>
                </a:lnTo>
                <a:close/>
                <a:moveTo>
                  <a:pt x="65538" y="68000"/>
                </a:moveTo>
                <a:quadBezTo>
                  <a:pt x="66462" y="68000"/>
                  <a:pt x="67231" y="67231"/>
                </a:quadBezTo>
                <a:quadBezTo>
                  <a:pt x="68000" y="66462"/>
                  <a:pt x="68000" y="65538"/>
                </a:quadBezTo>
                <a:lnTo>
                  <a:pt x="68000" y="30462"/>
                </a:lnTo>
                <a:quadBezTo>
                  <a:pt x="68000" y="29538"/>
                  <a:pt x="67231" y="28769"/>
                </a:quadBezTo>
                <a:quadBezTo>
                  <a:pt x="66462" y="28000"/>
                  <a:pt x="65538" y="28000"/>
                </a:quadBezTo>
                <a:lnTo>
                  <a:pt x="30462" y="28000"/>
                </a:lnTo>
                <a:quadBezTo>
                  <a:pt x="29538" y="28000"/>
                  <a:pt x="28769" y="28769"/>
                </a:quadBezTo>
                <a:quadBezTo>
                  <a:pt x="28000" y="29538"/>
                  <a:pt x="28000" y="30462"/>
                </a:quadBezTo>
                <a:lnTo>
                  <a:pt x="28000" y="65538"/>
                </a:lnTo>
                <a:quadBezTo>
                  <a:pt x="28000" y="66462"/>
                  <a:pt x="28769" y="67231"/>
                </a:quadBezTo>
                <a:quadBezTo>
                  <a:pt x="29538" y="68000"/>
                  <a:pt x="30462" y="68000"/>
                </a:quadBezTo>
                <a:lnTo>
                  <a:pt x="65538" y="68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9101328" y="148132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Pharma 4.0 &amp; KI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4088" y="2148840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324088" y="2286000"/>
            <a:ext cx="3535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Papierlose Produktion und datenbasierte Freigabe werden zum Wettbewerbsfaktor.</a:t>
            </a:r>
          </a:p>
        </p:txBody>
      </p:sp>
      <p:sp>
        <p:nvSpPr>
          <p:cNvPr id="21" name="Oval 20"/>
          <p:cNvSpPr/>
          <p:nvPr/>
        </p:nvSpPr>
        <p:spPr>
          <a:xfrm>
            <a:off x="338328" y="347472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con eco"/>
          <p:cNvSpPr/>
          <p:nvPr/>
        </p:nvSpPr>
        <p:spPr>
          <a:xfrm>
            <a:off x="457382" y="359377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369" y="75592"/>
                </a:moveTo>
                <a:quadBezTo>
                  <a:pt x="20408" y="71592"/>
                  <a:pt x="18204" y="66445"/>
                </a:quadBezTo>
                <a:quadBezTo>
                  <a:pt x="16000" y="61297"/>
                  <a:pt x="16000" y="55800"/>
                </a:quadBezTo>
                <a:quadBezTo>
                  <a:pt x="16000" y="50269"/>
                  <a:pt x="18131" y="44773"/>
                </a:quadBezTo>
                <a:quadBezTo>
                  <a:pt x="20262" y="39277"/>
                  <a:pt x="24969" y="34569"/>
                </a:quadBezTo>
                <a:quadBezTo>
                  <a:pt x="28777" y="30762"/>
                  <a:pt x="34619" y="28531"/>
                </a:quadBezTo>
                <a:quadBezTo>
                  <a:pt x="40462" y="26300"/>
                  <a:pt x="47319" y="25273"/>
                </a:quadBezTo>
                <a:quadBezTo>
                  <a:pt x="54177" y="24246"/>
                  <a:pt x="61535" y="24138"/>
                </a:quadBezTo>
                <a:quadBezTo>
                  <a:pt x="68892" y="24031"/>
                  <a:pt x="75708" y="24492"/>
                </a:quadBezTo>
                <a:quadBezTo>
                  <a:pt x="76200" y="31092"/>
                  <a:pt x="76092" y="38415"/>
                </a:quadBezTo>
                <a:quadBezTo>
                  <a:pt x="75985" y="45738"/>
                  <a:pt x="74904" y="52619"/>
                </a:quadBezTo>
                <a:quadBezTo>
                  <a:pt x="73823" y="59500"/>
                  <a:pt x="71604" y="65388"/>
                </a:quadBezTo>
                <a:quadBezTo>
                  <a:pt x="69385" y="71277"/>
                  <a:pt x="65631" y="75031"/>
                </a:quadBezTo>
                <a:quadBezTo>
                  <a:pt x="61023" y="79715"/>
                  <a:pt x="55688" y="81858"/>
                </a:quadBezTo>
                <a:quadBezTo>
                  <a:pt x="50354" y="84000"/>
                  <a:pt x="44980" y="84000"/>
                </a:quadBezTo>
                <a:quadBezTo>
                  <a:pt x="39346" y="84000"/>
                  <a:pt x="33838" y="81796"/>
                </a:quadBezTo>
                <a:quadBezTo>
                  <a:pt x="28331" y="79592"/>
                  <a:pt x="24369" y="75592"/>
                </a:quadBezTo>
                <a:close/>
                <a:moveTo>
                  <a:pt x="31108" y="75877"/>
                </a:moveTo>
                <a:quadBezTo>
                  <a:pt x="34238" y="77962"/>
                  <a:pt x="37904" y="78981"/>
                </a:quadBezTo>
                <a:quadBezTo>
                  <a:pt x="41569" y="80000"/>
                  <a:pt x="45000" y="80000"/>
                </a:quadBezTo>
                <a:quadBezTo>
                  <a:pt x="49652" y="80000"/>
                  <a:pt x="54203" y="78188"/>
                </a:quadBezTo>
                <a:quadBezTo>
                  <a:pt x="58754" y="76377"/>
                  <a:pt x="62777" y="72200"/>
                </a:quadBezTo>
                <a:quadBezTo>
                  <a:pt x="64563" y="70400"/>
                  <a:pt x="66398" y="67150"/>
                </a:quadBezTo>
                <a:quadBezTo>
                  <a:pt x="68233" y="63900"/>
                  <a:pt x="69572" y="58650"/>
                </a:quadBezTo>
                <a:quadBezTo>
                  <a:pt x="70911" y="53400"/>
                  <a:pt x="71606" y="45950"/>
                </a:quadBezTo>
                <a:quadBezTo>
                  <a:pt x="72300" y="38500"/>
                  <a:pt x="71954" y="28200"/>
                </a:quadBezTo>
                <a:quadBezTo>
                  <a:pt x="67054" y="28000"/>
                  <a:pt x="60827" y="28127"/>
                </a:quadBezTo>
                <a:quadBezTo>
                  <a:pt x="54600" y="28254"/>
                  <a:pt x="48385" y="29192"/>
                </a:quadBezTo>
                <a:quadBezTo>
                  <a:pt x="42169" y="30131"/>
                  <a:pt x="36708" y="32054"/>
                </a:quadBezTo>
                <a:quadBezTo>
                  <a:pt x="31246" y="33977"/>
                  <a:pt x="27977" y="37246"/>
                </a:quadBezTo>
                <a:quadBezTo>
                  <a:pt x="23554" y="41669"/>
                  <a:pt x="21777" y="46415"/>
                </a:quadBezTo>
                <a:quadBezTo>
                  <a:pt x="20000" y="51162"/>
                  <a:pt x="20000" y="55262"/>
                </a:quadBezTo>
                <a:quadBezTo>
                  <a:pt x="20000" y="60700"/>
                  <a:pt x="22173" y="65419"/>
                </a:quadBezTo>
                <a:quadBezTo>
                  <a:pt x="24346" y="70138"/>
                  <a:pt x="27431" y="72785"/>
                </a:quadBezTo>
                <a:quadBezTo>
                  <a:pt x="29938" y="65708"/>
                  <a:pt x="35185" y="59204"/>
                </a:quadBezTo>
                <a:quadBezTo>
                  <a:pt x="40431" y="52700"/>
                  <a:pt x="49862" y="47077"/>
                </a:quadBezTo>
                <a:quadBezTo>
                  <a:pt x="42969" y="53069"/>
                  <a:pt x="38273" y="59827"/>
                </a:quadBezTo>
                <a:quadBezTo>
                  <a:pt x="33577" y="66585"/>
                  <a:pt x="31108" y="75877"/>
                </a:quadBezTo>
                <a:close/>
                <a:moveTo>
                  <a:pt x="31108" y="75877"/>
                </a:moveTo>
                <a:close/>
                <a:moveTo>
                  <a:pt x="31108" y="75877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1115568" y="358444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Nachhaltigkeit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8328" y="4251959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338328" y="4389120"/>
            <a:ext cx="3535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Energie- und Wasserverbrauch rücken in den Fokus von Investoren und Behörden.</a:t>
            </a:r>
          </a:p>
        </p:txBody>
      </p:sp>
      <p:sp>
        <p:nvSpPr>
          <p:cNvPr id="26" name="Oval 25"/>
          <p:cNvSpPr/>
          <p:nvPr/>
        </p:nvSpPr>
        <p:spPr>
          <a:xfrm>
            <a:off x="4331208" y="347472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local_shipping"/>
          <p:cNvSpPr/>
          <p:nvPr/>
        </p:nvSpPr>
        <p:spPr>
          <a:xfrm>
            <a:off x="4450262" y="359377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751" y="76462"/>
                </a:moveTo>
                <a:quadBezTo>
                  <a:pt x="18385" y="76462"/>
                  <a:pt x="15346" y="73410"/>
                </a:quadBezTo>
                <a:quadBezTo>
                  <a:pt x="12308" y="70359"/>
                  <a:pt x="12308" y="66000"/>
                </a:quadBezTo>
                <a:lnTo>
                  <a:pt x="6769" y="66000"/>
                </a:lnTo>
                <a:lnTo>
                  <a:pt x="6769" y="26462"/>
                </a:lnTo>
                <a:quadBezTo>
                  <a:pt x="6769" y="23700"/>
                  <a:pt x="8619" y="21850"/>
                </a:quadBezTo>
                <a:quadBezTo>
                  <a:pt x="10469" y="20000"/>
                  <a:pt x="13231" y="20000"/>
                </a:quadBezTo>
                <a:lnTo>
                  <a:pt x="66154" y="20000"/>
                </a:lnTo>
                <a:lnTo>
                  <a:pt x="66154" y="34462"/>
                </a:lnTo>
                <a:lnTo>
                  <a:pt x="75385" y="34462"/>
                </a:lnTo>
                <a:lnTo>
                  <a:pt x="89231" y="53077"/>
                </a:lnTo>
                <a:lnTo>
                  <a:pt x="89231" y="66000"/>
                </a:lnTo>
                <a:lnTo>
                  <a:pt x="82769" y="66000"/>
                </a:lnTo>
                <a:quadBezTo>
                  <a:pt x="82769" y="70359"/>
                  <a:pt x="79713" y="73410"/>
                </a:quadBezTo>
                <a:quadBezTo>
                  <a:pt x="76656" y="76462"/>
                  <a:pt x="72290" y="76462"/>
                </a:quadBezTo>
                <a:quadBezTo>
                  <a:pt x="67923" y="76462"/>
                  <a:pt x="64885" y="73410"/>
                </a:quadBezTo>
                <a:quadBezTo>
                  <a:pt x="61846" y="70359"/>
                  <a:pt x="61846" y="66000"/>
                </a:quadBezTo>
                <a:lnTo>
                  <a:pt x="33231" y="66000"/>
                </a:lnTo>
                <a:quadBezTo>
                  <a:pt x="33231" y="70385"/>
                  <a:pt x="30174" y="73423"/>
                </a:quadBezTo>
                <a:quadBezTo>
                  <a:pt x="27118" y="76462"/>
                  <a:pt x="22751" y="76462"/>
                </a:quadBezTo>
                <a:close/>
                <a:moveTo>
                  <a:pt x="22769" y="72462"/>
                </a:moveTo>
                <a:quadBezTo>
                  <a:pt x="25469" y="72462"/>
                  <a:pt x="27350" y="70581"/>
                </a:quadBezTo>
                <a:quadBezTo>
                  <a:pt x="29231" y="68700"/>
                  <a:pt x="29231" y="66000"/>
                </a:quadBezTo>
                <a:quadBezTo>
                  <a:pt x="29231" y="63300"/>
                  <a:pt x="27350" y="61419"/>
                </a:quadBezTo>
                <a:quadBezTo>
                  <a:pt x="25469" y="59538"/>
                  <a:pt x="22769" y="59538"/>
                </a:quadBezTo>
                <a:quadBezTo>
                  <a:pt x="20069" y="59538"/>
                  <a:pt x="18188" y="61419"/>
                </a:quadBezTo>
                <a:quadBezTo>
                  <a:pt x="16308" y="63300"/>
                  <a:pt x="16308" y="66000"/>
                </a:quadBezTo>
                <a:quadBezTo>
                  <a:pt x="16308" y="68700"/>
                  <a:pt x="18188" y="70581"/>
                </a:quadBezTo>
                <a:quadBezTo>
                  <a:pt x="20069" y="72462"/>
                  <a:pt x="22769" y="72462"/>
                </a:quadBezTo>
                <a:close/>
                <a:moveTo>
                  <a:pt x="10769" y="62000"/>
                </a:moveTo>
                <a:lnTo>
                  <a:pt x="13354" y="62000"/>
                </a:lnTo>
                <a:quadBezTo>
                  <a:pt x="14208" y="59354"/>
                  <a:pt x="16831" y="57446"/>
                </a:quadBezTo>
                <a:quadBezTo>
                  <a:pt x="19454" y="55538"/>
                  <a:pt x="22769" y="55538"/>
                </a:quadBezTo>
                <a:quadBezTo>
                  <a:pt x="25931" y="55538"/>
                  <a:pt x="28631" y="57408"/>
                </a:quadBezTo>
                <a:quadBezTo>
                  <a:pt x="31331" y="59277"/>
                  <a:pt x="32185" y="62000"/>
                </a:quadBezTo>
                <a:lnTo>
                  <a:pt x="62154" y="62000"/>
                </a:lnTo>
                <a:lnTo>
                  <a:pt x="62154" y="24000"/>
                </a:lnTo>
                <a:lnTo>
                  <a:pt x="13231" y="24000"/>
                </a:lnTo>
                <a:quadBezTo>
                  <a:pt x="12308" y="24000"/>
                  <a:pt x="11538" y="24769"/>
                </a:quadBezTo>
                <a:quadBezTo>
                  <a:pt x="10769" y="25538"/>
                  <a:pt x="10769" y="26462"/>
                </a:quadBezTo>
                <a:lnTo>
                  <a:pt x="10769" y="62000"/>
                </a:lnTo>
                <a:close/>
                <a:moveTo>
                  <a:pt x="72308" y="72462"/>
                </a:moveTo>
                <a:quadBezTo>
                  <a:pt x="75008" y="72462"/>
                  <a:pt x="76888" y="70581"/>
                </a:quadBezTo>
                <a:quadBezTo>
                  <a:pt x="78769" y="68700"/>
                  <a:pt x="78769" y="66000"/>
                </a:quadBezTo>
                <a:quadBezTo>
                  <a:pt x="78769" y="63300"/>
                  <a:pt x="76888" y="61419"/>
                </a:quadBezTo>
                <a:quadBezTo>
                  <a:pt x="75008" y="59538"/>
                  <a:pt x="72308" y="59538"/>
                </a:quadBezTo>
                <a:quadBezTo>
                  <a:pt x="69608" y="59538"/>
                  <a:pt x="67727" y="61419"/>
                </a:quadBezTo>
                <a:quadBezTo>
                  <a:pt x="65846" y="63300"/>
                  <a:pt x="65846" y="66000"/>
                </a:quadBezTo>
                <a:quadBezTo>
                  <a:pt x="65846" y="68700"/>
                  <a:pt x="67727" y="70581"/>
                </a:quadBezTo>
                <a:quadBezTo>
                  <a:pt x="69608" y="72462"/>
                  <a:pt x="72308" y="72462"/>
                </a:quadBezTo>
                <a:close/>
                <a:moveTo>
                  <a:pt x="66154" y="54000"/>
                </a:moveTo>
                <a:lnTo>
                  <a:pt x="85000" y="54000"/>
                </a:lnTo>
                <a:lnTo>
                  <a:pt x="73231" y="38462"/>
                </a:lnTo>
                <a:lnTo>
                  <a:pt x="66154" y="38462"/>
                </a:lnTo>
                <a:lnTo>
                  <a:pt x="66154" y="54000"/>
                </a:lnTo>
                <a:close/>
                <a:moveTo>
                  <a:pt x="36462" y="4300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5108448" y="358444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Resiliente Lieferketten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31208" y="4251959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331208" y="4389120"/>
            <a:ext cx="3535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Regionalisierung und Second-Source-Strategien verändern Standortentscheidungen.</a:t>
            </a:r>
          </a:p>
        </p:txBody>
      </p:sp>
      <p:sp>
        <p:nvSpPr>
          <p:cNvPr id="31" name="Oval 30"/>
          <p:cNvSpPr/>
          <p:nvPr/>
        </p:nvSpPr>
        <p:spPr>
          <a:xfrm>
            <a:off x="8324088" y="347472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con groups"/>
          <p:cNvSpPr/>
          <p:nvPr/>
        </p:nvSpPr>
        <p:spPr>
          <a:xfrm>
            <a:off x="8443142" y="359377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9101328" y="3584448"/>
            <a:ext cx="2758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Fachkräftemangel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24088" y="4251959"/>
            <a:ext cx="353568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324088" y="4389120"/>
            <a:ext cx="353568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Automatisierung und Wissenssicherung werden zur Voraussetzung für Wachstum.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Trend-Relevanz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Workshop mit [Kunde], [Datum]; Bewertung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Digitalisierung und Annex 1 haben für [Kunde] die höchste Priorität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325880"/>
            <a:ext cx="6766560" cy="4114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24528" y="1325880"/>
            <a:ext cx="3383280" cy="205740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41248" y="3383280"/>
            <a:ext cx="6766560" cy="0"/>
          </a:xfrm>
          <a:prstGeom prst="line">
            <a:avLst/>
          </a:prstGeom>
          <a:ln w="19050">
            <a:solidFill>
              <a:schemeClr val="bg1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4224528" y="1325880"/>
            <a:ext cx="0" cy="4114800"/>
          </a:xfrm>
          <a:prstGeom prst="line">
            <a:avLst/>
          </a:prstGeom>
          <a:ln w="19050">
            <a:solidFill>
              <a:schemeClr val="bg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41248" y="551383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Dringlichkeit (Zeithorizont) →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-1581912" y="32278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Auswirkung auf das Geschäft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Jetzt handeln</a:t>
            </a:r>
          </a:p>
        </p:txBody>
      </p:sp>
      <p:sp>
        <p:nvSpPr>
          <p:cNvPr id="14" name="Oval 13"/>
          <p:cNvSpPr/>
          <p:nvPr/>
        </p:nvSpPr>
        <p:spPr>
          <a:xfrm>
            <a:off x="5687568" y="1645919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9659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Pharma 4.0 &amp; KI</a:t>
            </a:r>
          </a:p>
        </p:txBody>
      </p:sp>
      <p:sp>
        <p:nvSpPr>
          <p:cNvPr id="16" name="Oval 15"/>
          <p:cNvSpPr/>
          <p:nvPr/>
        </p:nvSpPr>
        <p:spPr>
          <a:xfrm>
            <a:off x="4498848" y="2377439"/>
            <a:ext cx="777240" cy="7772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62889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Regulatorik</a:t>
            </a:r>
          </a:p>
        </p:txBody>
      </p:sp>
      <p:sp>
        <p:nvSpPr>
          <p:cNvPr id="18" name="Oval 17"/>
          <p:cNvSpPr/>
          <p:nvPr/>
        </p:nvSpPr>
        <p:spPr>
          <a:xfrm>
            <a:off x="3218688" y="2148840"/>
            <a:ext cx="685800" cy="685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3545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Biologika</a:t>
            </a:r>
          </a:p>
        </p:txBody>
      </p:sp>
      <p:sp>
        <p:nvSpPr>
          <p:cNvPr id="20" name="Oval 19"/>
          <p:cNvSpPr/>
          <p:nvPr/>
        </p:nvSpPr>
        <p:spPr>
          <a:xfrm>
            <a:off x="4590288" y="3703320"/>
            <a:ext cx="548640" cy="54864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384047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Fachkräfte</a:t>
            </a:r>
          </a:p>
        </p:txBody>
      </p:sp>
      <p:sp>
        <p:nvSpPr>
          <p:cNvPr id="22" name="Oval 21"/>
          <p:cNvSpPr/>
          <p:nvPr/>
        </p:nvSpPr>
        <p:spPr>
          <a:xfrm>
            <a:off x="2304288" y="3977639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409193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Lieferketten</a:t>
            </a:r>
          </a:p>
        </p:txBody>
      </p:sp>
      <p:sp>
        <p:nvSpPr>
          <p:cNvPr id="24" name="Oval 23"/>
          <p:cNvSpPr/>
          <p:nvPr/>
        </p:nvSpPr>
        <p:spPr>
          <a:xfrm>
            <a:off x="2944368" y="443484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526279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Nachhaltigkeit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1371600"/>
            <a:ext cx="372160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IMPLIKATIONEN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691640"/>
            <a:ext cx="3721608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Digitalisierung der Chargenfreigabe als Hebel für Durchlaufzeit und Data Integrity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Annex-1-Gap-Assessment vor der nächsten Inspektion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Biologika-Strategie in der Standortplanung berücksichtigen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480560"/>
            <a:ext cx="37216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Kreisgröße = erwarteter Investitionsbedarf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Situation – Komplikation – Lösung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Ausgangslage: Wachstum trifft auf eine Anlage am Kapazitätslimit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566160" cy="35661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600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" y="1965960"/>
            <a:ext cx="30175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Die Nachfrage nach [Produkt] wächst um [xx] % p. 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34290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Die Abfülllinie läuft im Drei-Schicht-Betrieb bei [xx] % Auslastung.</a:t>
            </a:r>
          </a:p>
        </p:txBody>
      </p:sp>
      <p:sp>
        <p:nvSpPr>
          <p:cNvPr id="10" name="Oval 9"/>
          <p:cNvSpPr/>
          <p:nvPr/>
        </p:nvSpPr>
        <p:spPr>
          <a:xfrm>
            <a:off x="3941064" y="2990088"/>
            <a:ext cx="338328" cy="3383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arrow_forward"/>
          <p:cNvSpPr/>
          <p:nvPr/>
        </p:nvSpPr>
        <p:spPr>
          <a:xfrm>
            <a:off x="3995928" y="3044952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4315968" y="1371600"/>
            <a:ext cx="3566160" cy="35661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00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KOMPLIKATION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65960"/>
            <a:ext cx="30175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Ab [Jahr] fehlen [xx] Mio. Einheiten Kapazität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4290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Annex 1 erfordert zudem Investitionen in die bestehende Linie.</a:t>
            </a:r>
          </a:p>
        </p:txBody>
      </p:sp>
      <p:sp>
        <p:nvSpPr>
          <p:cNvPr id="16" name="Oval 15"/>
          <p:cNvSpPr/>
          <p:nvPr/>
        </p:nvSpPr>
        <p:spPr>
          <a:xfrm>
            <a:off x="7918704" y="2990088"/>
            <a:ext cx="338328" cy="33832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Icon arrow_forward"/>
          <p:cNvSpPr/>
          <p:nvPr/>
        </p:nvSpPr>
        <p:spPr>
          <a:xfrm>
            <a:off x="7973568" y="3044952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8293608" y="1371600"/>
            <a:ext cx="3566160" cy="3566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60020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LÖSUNG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1965960"/>
            <a:ext cx="30175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bg1"/>
                </a:solidFill>
              </a:rPr>
              <a:t>Neue Isolator-Linie plus Ertüchtigung der Bestandslinie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34290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Gestaffelte Umsetzung sichert die Lieferfähigkeit in jeder Phase.</a:t>
            </a:r>
          </a:p>
        </p:txBody>
      </p:sp>
      <p:sp>
        <p:nvSpPr>
          <p:cNvPr id="2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Ohne Entscheidung bis [Quartal] entsteht ab [Jahr] eine Lieferlücke – der kritische Pfad beginnt heute.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Interview-Synthese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[x] Interviews mit [Kunde], [Zeitraum]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wir gehört haben: Drei Themen ziehen sich durch alle Gespräche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603504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800" b="0" i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55448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„Wir verlieren pro Rüstvorgang fast eine ganze Schicht.“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17627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 Leitung Produktion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743200"/>
            <a:ext cx="603504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889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800" b="0" i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92608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„Jede Abweichung kostet uns Wochen in der Freigabe.“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54787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 Leitung Qualitätssicherung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4114800"/>
            <a:ext cx="603504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160520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800" b="0" i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29768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„Wir haben die Daten – aber nicht dort, wo wir sie brauchen.“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91947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 Leitung IT/OT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71600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UNSERE SCHLUSSFOLGERUNG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17373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19072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accent1"/>
                </a:solidFill>
              </a:rPr>
              <a:t>Rüstzeiten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084831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sind der größte Kapazitätshebel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292608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907792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accent1"/>
                </a:solidFill>
              </a:rPr>
              <a:t>Freigabeprozess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73552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ist der Engpass für die Durchlaufzeit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411480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096512"/>
            <a:ext cx="44988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accent1"/>
                </a:solidFill>
              </a:rPr>
              <a:t>Datenintegration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462272"/>
            <a:ext cx="4498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ist die Voraussetzung für beides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Issue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Kernfrage lässt sich in drei prüfbare Teilfragen zerlegen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2743200"/>
            <a:ext cx="256032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Wie steigern wir die Kapazität um 30 % bis [Jahr] bei gleichbleibender Compliance?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898648" y="1920240"/>
            <a:ext cx="548640" cy="150876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3447288" y="1645920"/>
            <a:ext cx="237744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Bestehende Linie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824728" y="1618488"/>
            <a:ext cx="457200" cy="30175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6281928" y="1371600"/>
            <a:ext cx="356616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Wie stark lässt sich die OEE steigern?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30967" y="137160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Analyse: [Methode]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24728" y="1920240"/>
            <a:ext cx="457200" cy="33832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6281928" y="2011680"/>
            <a:ext cx="356616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Welche Rüstzeiten sind vermeidbar?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0967" y="2011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Analyse: [Methode]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98648" y="3383280"/>
            <a:ext cx="548640" cy="4572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3447288" y="3108960"/>
            <a:ext cx="237744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Neue Kapazität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824728" y="3081528"/>
            <a:ext cx="457200" cy="30175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6281928" y="2834640"/>
            <a:ext cx="356616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Welche Technologie ist zukunftsfähig?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0967" y="283464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Analyse: [Methode]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24728" y="3383280"/>
            <a:ext cx="457200" cy="33832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6281928" y="3474720"/>
            <a:ext cx="356616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Welcher Standort ist optimal?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30967" y="34747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Analyse: [Methode]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98648" y="3429000"/>
            <a:ext cx="548640" cy="141732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3447288" y="4572000"/>
            <a:ext cx="237744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Organisation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824728" y="4544568"/>
            <a:ext cx="457200" cy="30175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6281928" y="4297680"/>
            <a:ext cx="356616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Welche Schichtmodelle sind möglich?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7" y="429768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Analyse: [Methode]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24728" y="4846320"/>
            <a:ext cx="457200" cy="338328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6281928" y="4937760"/>
            <a:ext cx="3566160" cy="5029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Welche Qualifikationen fehlen?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49377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Analyse: [Methode]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7" y="1097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ANALYSE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Hypothesen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Hypothesen strukturieren die Analyse – zwei sind bereits bestätigt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27432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3840480"/>
                <a:gridCol w="2926080"/>
                <a:gridCol w="2926080"/>
                <a:gridCol w="1280160"/>
              </a:tblGrid>
              <a:tr h="4114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Hypothese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Prüfung durch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Ergebnis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77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H1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Rüst- und Reinigungszeiten verursachen &gt; 50 % der OEE-Verluste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Auswertung Linienstillstände (12 Monate)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62 % der Verluste – bestätigt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bg1"/>
                          </a:solidFill>
                        </a:rPr>
                        <a:t>Bestätigt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H2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Die Chargenfreigabe ist der Engpass der Durchlaufzeit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Prozessaufnahme, Wertstromanalyse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Ø 18 Tage Freigabe – bestätigt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bg1"/>
                          </a:solidFill>
                        </a:rPr>
                        <a:t>Bestätigt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H3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Ein Zwei-Schicht-Modell reicht nach Optimierung aus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Kapazitätsmodell, Szenarien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In Prüfung bis [Datum]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100" b="0" i="0">
                          <a:solidFill>
                            <a:schemeClr val="tx1"/>
                          </a:solidFill>
                        </a:rPr>
                        <a:t>Offen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Die bestätigten Hypothesen H1 und H2 bilden den Kern des Lösungsansatzes; H3 entscheidet über die Personalplanung.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Reifegrad-Assessment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Assessment mit [Kunde], [Datum];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größte Reifegrad-Abstand liegt bei Daten &amp; Systemen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048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0888" y="1325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1572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Initial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5727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Best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0116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Strategie &amp; Governance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47288" y="2194560"/>
            <a:ext cx="640080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647688" y="2194560"/>
            <a:ext cx="1600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6519672" y="2066544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19871" y="206654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96728" y="2011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+1.0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26700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Prozesse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47288" y="2852928"/>
            <a:ext cx="640080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847588" y="2852928"/>
            <a:ext cx="24003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5719572" y="2724912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19871" y="2724912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96728" y="267004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+1.5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332841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Daten &amp; Systeme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47288" y="3511296"/>
            <a:ext cx="640080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4247388" y="3511296"/>
            <a:ext cx="48006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4119372" y="3383280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19972" y="3383280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96728" y="332841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+3.0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398678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Organisation &amp; Skills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447288" y="4169664"/>
            <a:ext cx="640080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5047488" y="4169664"/>
            <a:ext cx="24003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919472" y="4041648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319771" y="4041648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96728" y="398678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+1.5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464515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Compliance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47288" y="4828032"/>
            <a:ext cx="640080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7447788" y="4828032"/>
            <a:ext cx="16002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319771" y="4700016"/>
            <a:ext cx="256032" cy="2560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919972" y="4700016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96728" y="464515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+1.0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96728" y="157276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ABSTAND</a:t>
            </a:r>
          </a:p>
        </p:txBody>
      </p:sp>
      <p:sp>
        <p:nvSpPr>
          <p:cNvPr id="45" name="Oval 44"/>
          <p:cNvSpPr/>
          <p:nvPr/>
        </p:nvSpPr>
        <p:spPr>
          <a:xfrm>
            <a:off x="338328" y="5394960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3583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Ist</a:t>
            </a:r>
          </a:p>
        </p:txBody>
      </p:sp>
      <p:sp>
        <p:nvSpPr>
          <p:cNvPr id="47" name="Oval 46"/>
          <p:cNvSpPr/>
          <p:nvPr/>
        </p:nvSpPr>
        <p:spPr>
          <a:xfrm>
            <a:off x="1252728" y="5394960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35838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Ziel ([Jahr])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Benchmark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[Benchmark-Datenbank, n = xx];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Gesamtanlageneffektivität liegt 14 Prozentpunkte unter dem Benchmark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37160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EINORDNUNG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1691640"/>
            <a:ext cx="40873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772400" y="180136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–14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5000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Abstand zum Top-Quartil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0" y="2880360"/>
            <a:ext cx="40873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772400" y="29900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€ 3,2 Mio.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53872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Ergebnispotenzial p. a. bei Schließung der Lücke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4069080"/>
            <a:ext cx="40873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772400" y="417880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62 %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27448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der Verluste durch Rüst- und Reinigungszeiten</a:t>
            </a:r>
          </a:p>
        </p:txBody>
      </p:sp>
      <p:sp>
        <p:nvSpPr>
          <p:cNvPr id="1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Rüst- und Reinigungsprozesse sind der größte Hebel – hier setzt Phase 1 an.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Pain Points entlang der Wertschöpfung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Prozessaufnahme bei [Kunde],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Engpässe konzentrieren sich auf Abfüllung sowie Prüfung und Freigabe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25880"/>
            <a:ext cx="2424988" cy="54864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Wareneingang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25880"/>
            <a:ext cx="2424988" cy="5486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Herstellung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25880"/>
            <a:ext cx="2424988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Abfüllung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25880"/>
            <a:ext cx="2424988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Prüfung &amp; Freigabe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25880"/>
            <a:ext cx="2260396" cy="5486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011680"/>
            <a:ext cx="2260396" cy="32461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Manuelle Musterzüge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Doppelte Erfassung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80060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502920" y="4800600"/>
            <a:ext cx="292608" cy="292608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818888"/>
            <a:ext cx="16203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3588" y="2011680"/>
            <a:ext cx="2260396" cy="32461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8180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Papierbasierte Chargenprotokolle</a:t>
            </a:r>
          </a:p>
        </p:txBody>
      </p:sp>
      <p:sp>
        <p:nvSpPr>
          <p:cNvPr id="18" name="Oval 17"/>
          <p:cNvSpPr/>
          <p:nvPr/>
        </p:nvSpPr>
        <p:spPr>
          <a:xfrm>
            <a:off x="2818180" y="480060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2818180" y="4800600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2228" y="4818888"/>
            <a:ext cx="16203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mittel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68849" y="2011680"/>
            <a:ext cx="2260396" cy="324612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3441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Rüstzeit Ø 7 h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Reinigungsvalidierung je Produkt</a:t>
            </a:r>
          </a:p>
        </p:txBody>
      </p:sp>
      <p:sp>
        <p:nvSpPr>
          <p:cNvPr id="23" name="Oval 22"/>
          <p:cNvSpPr/>
          <p:nvPr/>
        </p:nvSpPr>
        <p:spPr>
          <a:xfrm>
            <a:off x="5133441" y="480060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33441" y="480060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7489" y="4818888"/>
            <a:ext cx="16203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hoch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4110" y="2011680"/>
            <a:ext cx="2260396" cy="324612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8702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Freigabe Ø 18 Tage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Abweichungen ohne Ursachenanalyse</a:t>
            </a:r>
          </a:p>
        </p:txBody>
      </p:sp>
      <p:sp>
        <p:nvSpPr>
          <p:cNvPr id="28" name="Oval 27"/>
          <p:cNvSpPr/>
          <p:nvPr/>
        </p:nvSpPr>
        <p:spPr>
          <a:xfrm>
            <a:off x="7448702" y="480060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48702" y="480060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2750" y="4818888"/>
            <a:ext cx="16203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hoch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99371" y="2011680"/>
            <a:ext cx="2260396" cy="32461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3963" y="2148840"/>
            <a:ext cx="1986076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Kühlkette manuell überwacht</a:t>
            </a:r>
          </a:p>
        </p:txBody>
      </p:sp>
      <p:sp>
        <p:nvSpPr>
          <p:cNvPr id="33" name="Oval 32"/>
          <p:cNvSpPr/>
          <p:nvPr/>
        </p:nvSpPr>
        <p:spPr>
          <a:xfrm>
            <a:off x="9763963" y="480060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ie 33"/>
          <p:cNvSpPr/>
          <p:nvPr/>
        </p:nvSpPr>
        <p:spPr>
          <a:xfrm>
            <a:off x="9763963" y="4800600"/>
            <a:ext cx="292608" cy="292608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8011" y="4818888"/>
            <a:ext cx="162031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gering</a:t>
            </a:r>
          </a:p>
        </p:txBody>
      </p:sp>
      <p:sp>
        <p:nvSpPr>
          <p:cNvPr id="36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Zwei von fünf Prozessschritten verursachen über 80 % der Durchlaufzeit – dort konzentrieren wir die Analyse.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Markt &amp; Kunde | Regulatorische Treiber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EMA, EU-Kommission; Stand [Datum] – vor Verwendung prüfen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Regulatorische Anforderungen steigen – vier Meilensteine prägen Ihre Planung</a:t>
            </a:r>
          </a:p>
        </p:txBody>
      </p:sp>
      <p:sp>
        <p:nvSpPr>
          <p:cNvPr id="6" name="Sticker"/>
          <p:cNvSpPr/>
          <p:nvPr/>
        </p:nvSpPr>
        <p:spPr>
          <a:xfrm>
            <a:off x="10094976" y="713232"/>
            <a:ext cx="1764792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VOR NUTZUNG PRÜFEN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2926080"/>
            <a:ext cx="11521440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8" name="Oval 7"/>
          <p:cNvSpPr/>
          <p:nvPr/>
        </p:nvSpPr>
        <p:spPr>
          <a:xfrm>
            <a:off x="356616" y="28072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87452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08/2023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3774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EU-GMP Annex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246120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Revidierte Anforderungen an die sterile Herstellung, inkl. Contamination Control Strategy</a:t>
            </a:r>
          </a:p>
        </p:txBody>
      </p:sp>
      <p:sp>
        <p:nvSpPr>
          <p:cNvPr id="12" name="Oval 11"/>
          <p:cNvSpPr/>
          <p:nvPr/>
        </p:nvSpPr>
        <p:spPr>
          <a:xfrm>
            <a:off x="2660904" y="28072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42616" y="187452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08/2024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3774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EU AI 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3246120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Inkrafttreten; gestaffelte Pflichten für KI-Systeme in den Folgejahren</a:t>
            </a:r>
          </a:p>
        </p:txBody>
      </p:sp>
      <p:sp>
        <p:nvSpPr>
          <p:cNvPr id="16" name="Oval 15"/>
          <p:cNvSpPr/>
          <p:nvPr/>
        </p:nvSpPr>
        <p:spPr>
          <a:xfrm>
            <a:off x="4965192" y="28072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187452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10/2024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23774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NIS2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4" y="3246120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Frist zur nationalen Umsetzung – höhere Anforderungen an die OT-Sicherheit</a:t>
            </a:r>
          </a:p>
        </p:txBody>
      </p:sp>
      <p:sp>
        <p:nvSpPr>
          <p:cNvPr id="20" name="Oval 19"/>
          <p:cNvSpPr/>
          <p:nvPr/>
        </p:nvSpPr>
        <p:spPr>
          <a:xfrm>
            <a:off x="7269480" y="280720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187452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2025+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3774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EU-GMP Annex 11 / Annex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246120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Überarbeitung computergestützter Systeme, neuer Anhang zu KI (Entwurf)</a:t>
            </a:r>
          </a:p>
        </p:txBody>
      </p:sp>
      <p:sp>
        <p:nvSpPr>
          <p:cNvPr id="24" name="Oval 23"/>
          <p:cNvSpPr/>
          <p:nvPr/>
        </p:nvSpPr>
        <p:spPr>
          <a:xfrm>
            <a:off x="9573768" y="2807208"/>
            <a:ext cx="237744" cy="2377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1874520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[JJJJ]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377440"/>
            <a:ext cx="21214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[Weitere Regularie]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246120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[Beschreibung und Relevanz für den Kunden]</a:t>
            </a:r>
          </a:p>
        </p:txBody>
      </p:sp>
      <p:sp>
        <p:nvSpPr>
          <p:cNvPr id="2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Compliance-Anforderungen frühzeitig in die Anlagenplanung integrieren – Nachrüsten kostet ein Vielfaches.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Buying</a:t>
            </a:r>
          </a:p>
          <a:p>
            <a:r>
              <a:t>Center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Rollen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 Buying Center entscheiden sechs Rollen – jede mit eigener Erfolgslogik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Oval 6"/>
          <p:cNvSpPr/>
          <p:nvPr/>
        </p:nvSpPr>
        <p:spPr>
          <a:xfrm>
            <a:off x="4818888" y="2057400"/>
            <a:ext cx="2560320" cy="2560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Investitions-</a:t>
            </a:r>
          </a:p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entscheidung</a:t>
            </a:r>
          </a:p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[Projekt]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325880"/>
            <a:ext cx="4114800" cy="120700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person"/>
          <p:cNvSpPr/>
          <p:nvPr/>
        </p:nvSpPr>
        <p:spPr>
          <a:xfrm>
            <a:off x="521208" y="1508760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1069848" y="15087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ENTSCHEIDER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1737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Site Head / COO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103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„Sichert das unsere Lieferfähigkeit?“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2679191"/>
            <a:ext cx="4114800" cy="120700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con euro"/>
          <p:cNvSpPr/>
          <p:nvPr/>
        </p:nvSpPr>
        <p:spPr>
          <a:xfrm>
            <a:off x="521208" y="2862072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1069848" y="28620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906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CFO / Controlling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45643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„Wann rechnet sich das?“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4032504"/>
            <a:ext cx="4114800" cy="120700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engineering"/>
          <p:cNvSpPr/>
          <p:nvPr/>
        </p:nvSpPr>
        <p:spPr>
          <a:xfrm>
            <a:off x="521208" y="4215384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1069848" y="4215384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FACHBEREICH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44398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Produktion /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80974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„Funktioniert das im Betrieb?“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4968" y="1325880"/>
            <a:ext cx="4114800" cy="120700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Icon verified"/>
          <p:cNvSpPr/>
          <p:nvPr/>
        </p:nvSpPr>
        <p:spPr>
          <a:xfrm>
            <a:off x="7927848" y="1508760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8476488" y="15087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QUALITÄT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17373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Head of QA / QP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103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„Bestehen wir die Inspektion?“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4968" y="2679191"/>
            <a:ext cx="4114800" cy="120700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Icon lan"/>
          <p:cNvSpPr/>
          <p:nvPr/>
        </p:nvSpPr>
        <p:spPr>
          <a:xfrm>
            <a:off x="7927848" y="2862072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86000"/>
                </a:moveTo>
                <a:lnTo>
                  <a:pt x="14000" y="62000"/>
                </a:lnTo>
                <a:lnTo>
                  <a:pt x="26000" y="62000"/>
                </a:lnTo>
                <a:lnTo>
                  <a:pt x="26000" y="46000"/>
                </a:lnTo>
                <a:lnTo>
                  <a:pt x="46000" y="46000"/>
                </a:lnTo>
                <a:lnTo>
                  <a:pt x="46000" y="34000"/>
                </a:lnTo>
                <a:lnTo>
                  <a:pt x="34000" y="34000"/>
                </a:lnTo>
                <a:lnTo>
                  <a:pt x="34000" y="10000"/>
                </a:lnTo>
                <a:lnTo>
                  <a:pt x="62000" y="10000"/>
                </a:lnTo>
                <a:lnTo>
                  <a:pt x="62000" y="34000"/>
                </a:lnTo>
                <a:lnTo>
                  <a:pt x="50000" y="34000"/>
                </a:lnTo>
                <a:lnTo>
                  <a:pt x="50000" y="46000"/>
                </a:lnTo>
                <a:lnTo>
                  <a:pt x="70000" y="46000"/>
                </a:lnTo>
                <a:lnTo>
                  <a:pt x="70000" y="62000"/>
                </a:lnTo>
                <a:lnTo>
                  <a:pt x="82000" y="62000"/>
                </a:lnTo>
                <a:lnTo>
                  <a:pt x="82000" y="86000"/>
                </a:lnTo>
                <a:lnTo>
                  <a:pt x="54000" y="86000"/>
                </a:lnTo>
                <a:lnTo>
                  <a:pt x="54000" y="62000"/>
                </a:lnTo>
                <a:lnTo>
                  <a:pt x="66000" y="62000"/>
                </a:lnTo>
                <a:lnTo>
                  <a:pt x="66000" y="50000"/>
                </a:lnTo>
                <a:lnTo>
                  <a:pt x="30000" y="50000"/>
                </a:lnTo>
                <a:lnTo>
                  <a:pt x="30000" y="62000"/>
                </a:lnTo>
                <a:lnTo>
                  <a:pt x="42000" y="62000"/>
                </a:lnTo>
                <a:lnTo>
                  <a:pt x="42000" y="86000"/>
                </a:lnTo>
                <a:lnTo>
                  <a:pt x="14000" y="86000"/>
                </a:lnTo>
                <a:close/>
                <a:moveTo>
                  <a:pt x="38000" y="30000"/>
                </a:moveTo>
                <a:lnTo>
                  <a:pt x="58000" y="30000"/>
                </a:lnTo>
                <a:lnTo>
                  <a:pt x="58000" y="14000"/>
                </a:lnTo>
                <a:lnTo>
                  <a:pt x="38000" y="14000"/>
                </a:lnTo>
                <a:lnTo>
                  <a:pt x="38000" y="30000"/>
                </a:lnTo>
                <a:close/>
                <a:moveTo>
                  <a:pt x="18000" y="82000"/>
                </a:moveTo>
                <a:lnTo>
                  <a:pt x="38000" y="82000"/>
                </a:lnTo>
                <a:lnTo>
                  <a:pt x="38000" y="66000"/>
                </a:lnTo>
                <a:lnTo>
                  <a:pt x="18000" y="66000"/>
                </a:lnTo>
                <a:lnTo>
                  <a:pt x="18000" y="82000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66000"/>
                </a:lnTo>
                <a:lnTo>
                  <a:pt x="58000" y="66000"/>
                </a:lnTo>
                <a:lnTo>
                  <a:pt x="58000" y="82000"/>
                </a:lnTo>
                <a:close/>
                <a:moveTo>
                  <a:pt x="48000" y="30000"/>
                </a:moveTo>
                <a:close/>
                <a:moveTo>
                  <a:pt x="38000" y="66000"/>
                </a:moveTo>
                <a:close/>
                <a:moveTo>
                  <a:pt x="58000" y="6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8476488" y="28620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IT / 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30906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CIO / OT-Leitung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345643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„Passt das in unsere Architektur?“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4968" y="4032504"/>
            <a:ext cx="4114800" cy="120700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Icon shopping_cart"/>
          <p:cNvSpPr/>
          <p:nvPr/>
        </p:nvSpPr>
        <p:spPr>
          <a:xfrm>
            <a:off x="7927848" y="4215384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84462"/>
                </a:moveTo>
                <a:quadBezTo>
                  <a:pt x="26700" y="84462"/>
                  <a:pt x="24965" y="82727"/>
                </a:quadBezTo>
                <a:quadBezTo>
                  <a:pt x="23231" y="80992"/>
                  <a:pt x="23231" y="78462"/>
                </a:quadBezTo>
                <a:quadBezTo>
                  <a:pt x="23231" y="75931"/>
                  <a:pt x="24965" y="74196"/>
                </a:quadBezTo>
                <a:quadBezTo>
                  <a:pt x="26700" y="72462"/>
                  <a:pt x="29231" y="72462"/>
                </a:quadBezTo>
                <a:quadBezTo>
                  <a:pt x="31762" y="72462"/>
                  <a:pt x="33496" y="74196"/>
                </a:quadBezTo>
                <a:quadBezTo>
                  <a:pt x="35231" y="75931"/>
                  <a:pt x="35231" y="78462"/>
                </a:quadBezTo>
                <a:quadBezTo>
                  <a:pt x="35231" y="80992"/>
                  <a:pt x="33496" y="82727"/>
                </a:quadBezTo>
                <a:quadBezTo>
                  <a:pt x="31762" y="84462"/>
                  <a:pt x="29231" y="84462"/>
                </a:quadBezTo>
                <a:close/>
                <a:moveTo>
                  <a:pt x="66769" y="84462"/>
                </a:moveTo>
                <a:quadBezTo>
                  <a:pt x="64238" y="84462"/>
                  <a:pt x="62504" y="82727"/>
                </a:quadBezTo>
                <a:quadBezTo>
                  <a:pt x="60769" y="80992"/>
                  <a:pt x="60769" y="78462"/>
                </a:quadBezTo>
                <a:quadBezTo>
                  <a:pt x="60769" y="75931"/>
                  <a:pt x="62504" y="74196"/>
                </a:quadBezTo>
                <a:quadBezTo>
                  <a:pt x="64238" y="72462"/>
                  <a:pt x="66769" y="72462"/>
                </a:quadBezTo>
                <a:quadBezTo>
                  <a:pt x="69300" y="72462"/>
                  <a:pt x="71035" y="74196"/>
                </a:quadBezTo>
                <a:quadBezTo>
                  <a:pt x="72769" y="75931"/>
                  <a:pt x="72769" y="78462"/>
                </a:quadBezTo>
                <a:quadBezTo>
                  <a:pt x="72769" y="80992"/>
                  <a:pt x="71035" y="82727"/>
                </a:quadBezTo>
                <a:quadBezTo>
                  <a:pt x="69300" y="84462"/>
                  <a:pt x="66769" y="84462"/>
                </a:quadBezTo>
                <a:close/>
                <a:moveTo>
                  <a:pt x="23523" y="22000"/>
                </a:moveTo>
                <a:lnTo>
                  <a:pt x="34200" y="44462"/>
                </a:lnTo>
                <a:lnTo>
                  <a:pt x="60738" y="44462"/>
                </a:lnTo>
                <a:quadBezTo>
                  <a:pt x="61431" y="44462"/>
                  <a:pt x="61969" y="44115"/>
                </a:quadBezTo>
                <a:quadBezTo>
                  <a:pt x="62508" y="43769"/>
                  <a:pt x="62892" y="43154"/>
                </a:quadBezTo>
                <a:lnTo>
                  <a:pt x="73354" y="24154"/>
                </a:lnTo>
                <a:quadBezTo>
                  <a:pt x="73815" y="23308"/>
                  <a:pt x="73431" y="22654"/>
                </a:quadBezTo>
                <a:quadBezTo>
                  <a:pt x="73046" y="22000"/>
                  <a:pt x="72123" y="22000"/>
                </a:quadBezTo>
                <a:lnTo>
                  <a:pt x="23523" y="22000"/>
                </a:lnTo>
                <a:close/>
                <a:moveTo>
                  <a:pt x="21569" y="18000"/>
                </a:moveTo>
                <a:lnTo>
                  <a:pt x="73646" y="18000"/>
                </a:lnTo>
                <a:quadBezTo>
                  <a:pt x="76254" y="18000"/>
                  <a:pt x="77569" y="20127"/>
                </a:quadBezTo>
                <a:quadBezTo>
                  <a:pt x="78885" y="22254"/>
                  <a:pt x="77708" y="24508"/>
                </a:quadBezTo>
                <a:lnTo>
                  <a:pt x="66277" y="45338"/>
                </a:lnTo>
                <a:quadBezTo>
                  <a:pt x="65408" y="46800"/>
                  <a:pt x="64019" y="47631"/>
                </a:quadBezTo>
                <a:quadBezTo>
                  <a:pt x="62631" y="48462"/>
                  <a:pt x="60969" y="48462"/>
                </a:quadBezTo>
                <a:lnTo>
                  <a:pt x="32400" y="48462"/>
                </a:lnTo>
                <a:lnTo>
                  <a:pt x="27538" y="57385"/>
                </a:lnTo>
                <a:quadBezTo>
                  <a:pt x="26923" y="58308"/>
                  <a:pt x="27500" y="59385"/>
                </a:quadBezTo>
                <a:quadBezTo>
                  <a:pt x="28077" y="60462"/>
                  <a:pt x="29231" y="60462"/>
                </a:quadBezTo>
                <a:lnTo>
                  <a:pt x="72769" y="60462"/>
                </a:lnTo>
                <a:lnTo>
                  <a:pt x="72769" y="64462"/>
                </a:lnTo>
                <a:lnTo>
                  <a:pt x="29231" y="64462"/>
                </a:lnTo>
                <a:quadBezTo>
                  <a:pt x="25731" y="64462"/>
                  <a:pt x="24008" y="61512"/>
                </a:quadBezTo>
                <a:quadBezTo>
                  <a:pt x="22285" y="58562"/>
                  <a:pt x="23923" y="55585"/>
                </a:quadBezTo>
                <a:lnTo>
                  <a:pt x="29938" y="44862"/>
                </a:lnTo>
                <a:lnTo>
                  <a:pt x="15231" y="14000"/>
                </a:lnTo>
                <a:lnTo>
                  <a:pt x="8000" y="14000"/>
                </a:lnTo>
                <a:lnTo>
                  <a:pt x="8000" y="10000"/>
                </a:lnTo>
                <a:lnTo>
                  <a:pt x="17769" y="10000"/>
                </a:lnTo>
                <a:lnTo>
                  <a:pt x="21569" y="18000"/>
                </a:lnTo>
                <a:close/>
                <a:moveTo>
                  <a:pt x="34200" y="44462"/>
                </a:moveTo>
                <a:lnTo>
                  <a:pt x="62200" y="44462"/>
                </a:lnTo>
                <a:lnTo>
                  <a:pt x="34200" y="4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8476488" y="4215384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EINKAUF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6488" y="444398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Procurement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6488" y="480974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>
                    <a:lumMod val="65000"/>
                    <a:lumOff val="35000"/>
                  </a:schemeClr>
                </a:solidFill>
              </a:rPr>
              <a:t>„Ist das Angebot vergleichbar und fair?“</a:t>
            </a:r>
          </a:p>
        </p:txBody>
      </p:sp>
      <p:sp>
        <p:nvSpPr>
          <p:cNvPr id="3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Wir brauchen zu jeder Rolle einen Kontakt und ein passendes Nutzenargument – Lücken sind Deal-Risiken.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Einfluss und Haltung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[Datum]; Einschätzung Account-Team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Stakeholder-Matrix: Zwei Schlüsselpersonen müssen wir enger einbinden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325880"/>
            <a:ext cx="3264408" cy="20299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Zufriedenstellen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3088" y="1325880"/>
            <a:ext cx="3264408" cy="2029968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Eng einbinden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383280"/>
            <a:ext cx="3264408" cy="20299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474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Beobachten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8" y="3383280"/>
            <a:ext cx="3264408" cy="20299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34747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Informieren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513832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Interesse am Projekt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581912" y="32278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Einfluss auf die Entscheidung →</a:t>
            </a:r>
          </a:p>
        </p:txBody>
      </p:sp>
      <p:sp>
        <p:nvSpPr>
          <p:cNvPr id="17" name="Oval 16"/>
          <p:cNvSpPr/>
          <p:nvPr/>
        </p:nvSpPr>
        <p:spPr>
          <a:xfrm>
            <a:off x="1938528" y="1874519"/>
            <a:ext cx="384048" cy="384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192023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COO</a:t>
            </a:r>
          </a:p>
        </p:txBody>
      </p:sp>
      <p:sp>
        <p:nvSpPr>
          <p:cNvPr id="19" name="Oval 18"/>
          <p:cNvSpPr/>
          <p:nvPr/>
        </p:nvSpPr>
        <p:spPr>
          <a:xfrm>
            <a:off x="3035808" y="233172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37743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CFO</a:t>
            </a:r>
          </a:p>
        </p:txBody>
      </p:sp>
      <p:sp>
        <p:nvSpPr>
          <p:cNvPr id="21" name="Oval 20"/>
          <p:cNvSpPr/>
          <p:nvPr/>
        </p:nvSpPr>
        <p:spPr>
          <a:xfrm>
            <a:off x="5413248" y="20574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103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Head of QA</a:t>
            </a:r>
          </a:p>
        </p:txBody>
      </p:sp>
      <p:sp>
        <p:nvSpPr>
          <p:cNvPr id="23" name="Oval 22"/>
          <p:cNvSpPr/>
          <p:nvPr/>
        </p:nvSpPr>
        <p:spPr>
          <a:xfrm>
            <a:off x="5961888" y="278892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834639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Leitung Produktion</a:t>
            </a:r>
          </a:p>
        </p:txBody>
      </p:sp>
      <p:sp>
        <p:nvSpPr>
          <p:cNvPr id="25" name="Oval 24"/>
          <p:cNvSpPr/>
          <p:nvPr/>
        </p:nvSpPr>
        <p:spPr>
          <a:xfrm>
            <a:off x="2670048" y="40690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41148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Einkauf</a:t>
            </a:r>
          </a:p>
        </p:txBody>
      </p:sp>
      <p:sp>
        <p:nvSpPr>
          <p:cNvPr id="27" name="Oval 26"/>
          <p:cNvSpPr/>
          <p:nvPr/>
        </p:nvSpPr>
        <p:spPr>
          <a:xfrm>
            <a:off x="5047488" y="416052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42062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IT/OT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1371600"/>
            <a:ext cx="3904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HALTUNG ZU KÖRBER</a:t>
            </a:r>
          </a:p>
        </p:txBody>
      </p:sp>
      <p:sp>
        <p:nvSpPr>
          <p:cNvPr id="30" name="Oval 29"/>
          <p:cNvSpPr/>
          <p:nvPr/>
        </p:nvSpPr>
        <p:spPr>
          <a:xfrm>
            <a:off x="7955279" y="171907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1" y="16824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Befürworter</a:t>
            </a:r>
          </a:p>
        </p:txBody>
      </p:sp>
      <p:sp>
        <p:nvSpPr>
          <p:cNvPr id="32" name="Oval 31"/>
          <p:cNvSpPr/>
          <p:nvPr/>
        </p:nvSpPr>
        <p:spPr>
          <a:xfrm>
            <a:off x="9235440" y="1719072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16824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Neutral</a:t>
            </a:r>
          </a:p>
        </p:txBody>
      </p:sp>
      <p:sp>
        <p:nvSpPr>
          <p:cNvPr id="34" name="Oval 33"/>
          <p:cNvSpPr/>
          <p:nvPr/>
        </p:nvSpPr>
        <p:spPr>
          <a:xfrm>
            <a:off x="10515600" y="1719072"/>
            <a:ext cx="182880" cy="1828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71632" y="168249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Kritisch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286000"/>
            <a:ext cx="39044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NÄCHSTE SCHRITTE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606040"/>
            <a:ext cx="3904488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COO: Executive-Termin mit [Körber-Geschäftsführung] bis [Datum]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CFO: Business Case gemeinsam mit Controlling validieren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Einkauf: frühzeitig Vergabekriterien abstimmen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Beziehungen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Beziehungen: Starker Zugang im Betrieb, Lücke in der Geschäftsführung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7488" y="1371600"/>
            <a:ext cx="210312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Geschäftsführung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39" y="2468880"/>
            <a:ext cx="7680961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099048" y="21488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148839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1097280" y="2743200"/>
            <a:ext cx="21031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Produktion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260604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3657600" y="2743200"/>
            <a:ext cx="21031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Qualität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15" name="Oval 14"/>
          <p:cNvSpPr/>
          <p:nvPr/>
        </p:nvSpPr>
        <p:spPr>
          <a:xfrm>
            <a:off x="5532120" y="260604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AB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79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6217920" y="2743200"/>
            <a:ext cx="2103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Finanzen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29800" y="246888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8778240" y="2743200"/>
            <a:ext cx="2103120" cy="777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IT / OT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20" name="Oval 19"/>
          <p:cNvSpPr/>
          <p:nvPr/>
        </p:nvSpPr>
        <p:spPr>
          <a:xfrm>
            <a:off x="10652759" y="260604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8839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1097280" y="3840480"/>
            <a:ext cx="21031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Engineering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[Name]</a:t>
            </a:r>
          </a:p>
        </p:txBody>
      </p:sp>
      <p:sp>
        <p:nvSpPr>
          <p:cNvPr id="23" name="Oval 22"/>
          <p:cNvSpPr/>
          <p:nvPr/>
        </p:nvSpPr>
        <p:spPr>
          <a:xfrm>
            <a:off x="2971800" y="3703320"/>
            <a:ext cx="347472" cy="34747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48839" y="448056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1097280" y="4800600"/>
            <a:ext cx="2103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Instandhaltung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09160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3657600" y="3840480"/>
            <a:ext cx="2103120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QA Operations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[Name]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9479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6217920" y="3840480"/>
            <a:ext cx="2103120" cy="777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Einkauf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[Name]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29800" y="352044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8778240" y="3840480"/>
            <a:ext cx="210312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Digitalisierung</a:t>
            </a:r>
          </a:p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576072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7" y="57332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Befürworter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84248" y="5760720"/>
            <a:ext cx="201168" cy="201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58568" y="57332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Neutral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0168" y="5760720"/>
            <a:ext cx="201168" cy="20116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04488" y="57332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Kritisch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76088" y="576072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0408" y="57332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Kein Kontakt</a:t>
            </a:r>
          </a:p>
        </p:txBody>
      </p:sp>
      <p:sp>
        <p:nvSpPr>
          <p:cNvPr id="40" name="Oval 39"/>
          <p:cNvSpPr/>
          <p:nvPr/>
        </p:nvSpPr>
        <p:spPr>
          <a:xfrm>
            <a:off x="7104888" y="5733288"/>
            <a:ext cx="256032" cy="25603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accent1"/>
                </a:solidFill>
              </a:rPr>
              <a:t>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927" y="57332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Körber-Kontakt (Kürzel)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Nutzenargumente je Rolle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Jede Rolle braucht ein eigenes Nutzenargument mit messbarem KPI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840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2194560"/>
                <a:gridCol w="4572000"/>
                <a:gridCol w="274320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Rolle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Priorität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Unser Nutzenargument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Beleg / 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Site Head / COO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Lieferfähigkeit, Wachstum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Kapazität 6 Monate früher am Markt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Time-to-Market –25 %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CFO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Rendite, Planbarkeit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Investition amortisiert sich in unter 3 Jahren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Payback 2,8 Jahre, IRR 24 %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Produktion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Stabile Prozesse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Weniger Rüst- und Reinigungszeit, höhere OEE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OEE +12 pp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Qualität (QA)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Inspektionssicherheit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Annex-1-konforme Anlage von Beginn 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0 kritische Beobachtungen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IT / 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Integration, Sicherheit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Validierte MES-Integration in die bestehende Architektur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CSV-Aufwand –30 %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Einkauf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Vergleichbarkeit, Kosten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Transparente Festpreis-Pakete mit Meilensteinen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100 % Leistungsbeschreibung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Discovery-Fragen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Discovery-Leitfaden: Mit offenen Fragen den wahren Bedarf je Rolle verstehen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371600"/>
            <a:ext cx="365760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57276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Entscheider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956816"/>
            <a:ext cx="3255264" cy="1280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Woran wird Ihr Erfolg in drei Jahren gemessen?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Was passiert, wenn das Projekt ein Jahr später kommt?</a:t>
            </a:r>
          </a:p>
        </p:txBody>
      </p:sp>
      <p:sp>
        <p:nvSpPr>
          <p:cNvPr id="10" name="Icon person"/>
          <p:cNvSpPr/>
          <p:nvPr/>
        </p:nvSpPr>
        <p:spPr>
          <a:xfrm>
            <a:off x="3447288" y="155448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Rectangle 10"/>
          <p:cNvSpPr/>
          <p:nvPr/>
        </p:nvSpPr>
        <p:spPr>
          <a:xfrm>
            <a:off x="4270248" y="1371600"/>
            <a:ext cx="365760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57276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1956816"/>
            <a:ext cx="3255264" cy="1280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Welche Renditeerwartung gilt für Investitionen?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Wie läuft der Freigabeprozess für CAPEX?</a:t>
            </a:r>
          </a:p>
        </p:txBody>
      </p:sp>
      <p:sp>
        <p:nvSpPr>
          <p:cNvPr id="14" name="Icon euro"/>
          <p:cNvSpPr/>
          <p:nvPr/>
        </p:nvSpPr>
        <p:spPr>
          <a:xfrm>
            <a:off x="7379208" y="155448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8202168" y="1371600"/>
            <a:ext cx="365760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57276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Fachbereich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956816"/>
            <a:ext cx="3255264" cy="1280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Wo verlieren Sie heute die meiste Zeit?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Was hat bei früheren Projekten nicht funktioniert?</a:t>
            </a:r>
          </a:p>
        </p:txBody>
      </p:sp>
      <p:sp>
        <p:nvSpPr>
          <p:cNvPr id="18" name="Icon engineering"/>
          <p:cNvSpPr/>
          <p:nvPr/>
        </p:nvSpPr>
        <p:spPr>
          <a:xfrm>
            <a:off x="11311128" y="1554480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338328" y="3566160"/>
            <a:ext cx="365760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76732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Qualität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4151376"/>
            <a:ext cx="3255264" cy="1280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Welche Beobachtungen gab es bei der letzten Inspektion?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Wie bewerten Sie Ihre Annex-1-Readiness?</a:t>
            </a:r>
          </a:p>
        </p:txBody>
      </p:sp>
      <p:sp>
        <p:nvSpPr>
          <p:cNvPr id="22" name="Icon verified"/>
          <p:cNvSpPr/>
          <p:nvPr/>
        </p:nvSpPr>
        <p:spPr>
          <a:xfrm>
            <a:off x="3447288" y="3749039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4270248" y="3566160"/>
            <a:ext cx="365760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376732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IT / 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151376"/>
            <a:ext cx="3255264" cy="1280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Welche Systeme sind gesetzt, welche offen?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Wie ist die OT-Sicherheit organisiert?</a:t>
            </a:r>
          </a:p>
        </p:txBody>
      </p:sp>
      <p:sp>
        <p:nvSpPr>
          <p:cNvPr id="26" name="Icon lan"/>
          <p:cNvSpPr/>
          <p:nvPr/>
        </p:nvSpPr>
        <p:spPr>
          <a:xfrm>
            <a:off x="7379208" y="3749039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86000"/>
                </a:moveTo>
                <a:lnTo>
                  <a:pt x="14000" y="62000"/>
                </a:lnTo>
                <a:lnTo>
                  <a:pt x="26000" y="62000"/>
                </a:lnTo>
                <a:lnTo>
                  <a:pt x="26000" y="46000"/>
                </a:lnTo>
                <a:lnTo>
                  <a:pt x="46000" y="46000"/>
                </a:lnTo>
                <a:lnTo>
                  <a:pt x="46000" y="34000"/>
                </a:lnTo>
                <a:lnTo>
                  <a:pt x="34000" y="34000"/>
                </a:lnTo>
                <a:lnTo>
                  <a:pt x="34000" y="10000"/>
                </a:lnTo>
                <a:lnTo>
                  <a:pt x="62000" y="10000"/>
                </a:lnTo>
                <a:lnTo>
                  <a:pt x="62000" y="34000"/>
                </a:lnTo>
                <a:lnTo>
                  <a:pt x="50000" y="34000"/>
                </a:lnTo>
                <a:lnTo>
                  <a:pt x="50000" y="46000"/>
                </a:lnTo>
                <a:lnTo>
                  <a:pt x="70000" y="46000"/>
                </a:lnTo>
                <a:lnTo>
                  <a:pt x="70000" y="62000"/>
                </a:lnTo>
                <a:lnTo>
                  <a:pt x="82000" y="62000"/>
                </a:lnTo>
                <a:lnTo>
                  <a:pt x="82000" y="86000"/>
                </a:lnTo>
                <a:lnTo>
                  <a:pt x="54000" y="86000"/>
                </a:lnTo>
                <a:lnTo>
                  <a:pt x="54000" y="62000"/>
                </a:lnTo>
                <a:lnTo>
                  <a:pt x="66000" y="62000"/>
                </a:lnTo>
                <a:lnTo>
                  <a:pt x="66000" y="50000"/>
                </a:lnTo>
                <a:lnTo>
                  <a:pt x="30000" y="50000"/>
                </a:lnTo>
                <a:lnTo>
                  <a:pt x="30000" y="62000"/>
                </a:lnTo>
                <a:lnTo>
                  <a:pt x="42000" y="62000"/>
                </a:lnTo>
                <a:lnTo>
                  <a:pt x="42000" y="86000"/>
                </a:lnTo>
                <a:lnTo>
                  <a:pt x="14000" y="86000"/>
                </a:lnTo>
                <a:close/>
                <a:moveTo>
                  <a:pt x="38000" y="30000"/>
                </a:moveTo>
                <a:lnTo>
                  <a:pt x="58000" y="30000"/>
                </a:lnTo>
                <a:lnTo>
                  <a:pt x="58000" y="14000"/>
                </a:lnTo>
                <a:lnTo>
                  <a:pt x="38000" y="14000"/>
                </a:lnTo>
                <a:lnTo>
                  <a:pt x="38000" y="30000"/>
                </a:lnTo>
                <a:close/>
                <a:moveTo>
                  <a:pt x="18000" y="82000"/>
                </a:moveTo>
                <a:lnTo>
                  <a:pt x="38000" y="82000"/>
                </a:lnTo>
                <a:lnTo>
                  <a:pt x="38000" y="66000"/>
                </a:lnTo>
                <a:lnTo>
                  <a:pt x="18000" y="66000"/>
                </a:lnTo>
                <a:lnTo>
                  <a:pt x="18000" y="82000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66000"/>
                </a:lnTo>
                <a:lnTo>
                  <a:pt x="58000" y="66000"/>
                </a:lnTo>
                <a:lnTo>
                  <a:pt x="58000" y="82000"/>
                </a:lnTo>
                <a:close/>
                <a:moveTo>
                  <a:pt x="48000" y="30000"/>
                </a:moveTo>
                <a:close/>
                <a:moveTo>
                  <a:pt x="38000" y="66000"/>
                </a:moveTo>
                <a:close/>
                <a:moveTo>
                  <a:pt x="58000" y="6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Rectangle 26"/>
          <p:cNvSpPr/>
          <p:nvPr/>
        </p:nvSpPr>
        <p:spPr>
          <a:xfrm>
            <a:off x="8202168" y="3566160"/>
            <a:ext cx="3657600" cy="1965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3336" y="376732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Einkauf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4151376"/>
            <a:ext cx="3255264" cy="128015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Nach welchen Kriterien wird vergeben?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Welche Vertragsmodelle bevorzugen Sie?</a:t>
            </a:r>
          </a:p>
        </p:txBody>
      </p:sp>
      <p:sp>
        <p:nvSpPr>
          <p:cNvPr id="30" name="Icon shopping_cart"/>
          <p:cNvSpPr/>
          <p:nvPr/>
        </p:nvSpPr>
        <p:spPr>
          <a:xfrm>
            <a:off x="11311128" y="3749039"/>
            <a:ext cx="347472" cy="34747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84462"/>
                </a:moveTo>
                <a:quadBezTo>
                  <a:pt x="26700" y="84462"/>
                  <a:pt x="24965" y="82727"/>
                </a:quadBezTo>
                <a:quadBezTo>
                  <a:pt x="23231" y="80992"/>
                  <a:pt x="23231" y="78462"/>
                </a:quadBezTo>
                <a:quadBezTo>
                  <a:pt x="23231" y="75931"/>
                  <a:pt x="24965" y="74196"/>
                </a:quadBezTo>
                <a:quadBezTo>
                  <a:pt x="26700" y="72462"/>
                  <a:pt x="29231" y="72462"/>
                </a:quadBezTo>
                <a:quadBezTo>
                  <a:pt x="31762" y="72462"/>
                  <a:pt x="33496" y="74196"/>
                </a:quadBezTo>
                <a:quadBezTo>
                  <a:pt x="35231" y="75931"/>
                  <a:pt x="35231" y="78462"/>
                </a:quadBezTo>
                <a:quadBezTo>
                  <a:pt x="35231" y="80992"/>
                  <a:pt x="33496" y="82727"/>
                </a:quadBezTo>
                <a:quadBezTo>
                  <a:pt x="31762" y="84462"/>
                  <a:pt x="29231" y="84462"/>
                </a:quadBezTo>
                <a:close/>
                <a:moveTo>
                  <a:pt x="66769" y="84462"/>
                </a:moveTo>
                <a:quadBezTo>
                  <a:pt x="64238" y="84462"/>
                  <a:pt x="62504" y="82727"/>
                </a:quadBezTo>
                <a:quadBezTo>
                  <a:pt x="60769" y="80992"/>
                  <a:pt x="60769" y="78462"/>
                </a:quadBezTo>
                <a:quadBezTo>
                  <a:pt x="60769" y="75931"/>
                  <a:pt x="62504" y="74196"/>
                </a:quadBezTo>
                <a:quadBezTo>
                  <a:pt x="64238" y="72462"/>
                  <a:pt x="66769" y="72462"/>
                </a:quadBezTo>
                <a:quadBezTo>
                  <a:pt x="69300" y="72462"/>
                  <a:pt x="71035" y="74196"/>
                </a:quadBezTo>
                <a:quadBezTo>
                  <a:pt x="72769" y="75931"/>
                  <a:pt x="72769" y="78462"/>
                </a:quadBezTo>
                <a:quadBezTo>
                  <a:pt x="72769" y="80992"/>
                  <a:pt x="71035" y="82727"/>
                </a:quadBezTo>
                <a:quadBezTo>
                  <a:pt x="69300" y="84462"/>
                  <a:pt x="66769" y="84462"/>
                </a:quadBezTo>
                <a:close/>
                <a:moveTo>
                  <a:pt x="23523" y="22000"/>
                </a:moveTo>
                <a:lnTo>
                  <a:pt x="34200" y="44462"/>
                </a:lnTo>
                <a:lnTo>
                  <a:pt x="60738" y="44462"/>
                </a:lnTo>
                <a:quadBezTo>
                  <a:pt x="61431" y="44462"/>
                  <a:pt x="61969" y="44115"/>
                </a:quadBezTo>
                <a:quadBezTo>
                  <a:pt x="62508" y="43769"/>
                  <a:pt x="62892" y="43154"/>
                </a:quadBezTo>
                <a:lnTo>
                  <a:pt x="73354" y="24154"/>
                </a:lnTo>
                <a:quadBezTo>
                  <a:pt x="73815" y="23308"/>
                  <a:pt x="73431" y="22654"/>
                </a:quadBezTo>
                <a:quadBezTo>
                  <a:pt x="73046" y="22000"/>
                  <a:pt x="72123" y="22000"/>
                </a:quadBezTo>
                <a:lnTo>
                  <a:pt x="23523" y="22000"/>
                </a:lnTo>
                <a:close/>
                <a:moveTo>
                  <a:pt x="21569" y="18000"/>
                </a:moveTo>
                <a:lnTo>
                  <a:pt x="73646" y="18000"/>
                </a:lnTo>
                <a:quadBezTo>
                  <a:pt x="76254" y="18000"/>
                  <a:pt x="77569" y="20127"/>
                </a:quadBezTo>
                <a:quadBezTo>
                  <a:pt x="78885" y="22254"/>
                  <a:pt x="77708" y="24508"/>
                </a:quadBezTo>
                <a:lnTo>
                  <a:pt x="66277" y="45338"/>
                </a:lnTo>
                <a:quadBezTo>
                  <a:pt x="65408" y="46800"/>
                  <a:pt x="64019" y="47631"/>
                </a:quadBezTo>
                <a:quadBezTo>
                  <a:pt x="62631" y="48462"/>
                  <a:pt x="60969" y="48462"/>
                </a:quadBezTo>
                <a:lnTo>
                  <a:pt x="32400" y="48462"/>
                </a:lnTo>
                <a:lnTo>
                  <a:pt x="27538" y="57385"/>
                </a:lnTo>
                <a:quadBezTo>
                  <a:pt x="26923" y="58308"/>
                  <a:pt x="27500" y="59385"/>
                </a:quadBezTo>
                <a:quadBezTo>
                  <a:pt x="28077" y="60462"/>
                  <a:pt x="29231" y="60462"/>
                </a:quadBezTo>
                <a:lnTo>
                  <a:pt x="72769" y="60462"/>
                </a:lnTo>
                <a:lnTo>
                  <a:pt x="72769" y="64462"/>
                </a:lnTo>
                <a:lnTo>
                  <a:pt x="29231" y="64462"/>
                </a:lnTo>
                <a:quadBezTo>
                  <a:pt x="25731" y="64462"/>
                  <a:pt x="24008" y="61512"/>
                </a:quadBezTo>
                <a:quadBezTo>
                  <a:pt x="22285" y="58562"/>
                  <a:pt x="23923" y="55585"/>
                </a:quadBezTo>
                <a:lnTo>
                  <a:pt x="29938" y="44862"/>
                </a:lnTo>
                <a:lnTo>
                  <a:pt x="15231" y="14000"/>
                </a:lnTo>
                <a:lnTo>
                  <a:pt x="8000" y="14000"/>
                </a:lnTo>
                <a:lnTo>
                  <a:pt x="8000" y="10000"/>
                </a:lnTo>
                <a:lnTo>
                  <a:pt x="17769" y="10000"/>
                </a:lnTo>
                <a:lnTo>
                  <a:pt x="21569" y="18000"/>
                </a:lnTo>
                <a:close/>
                <a:moveTo>
                  <a:pt x="34200" y="44462"/>
                </a:moveTo>
                <a:lnTo>
                  <a:pt x="62200" y="44462"/>
                </a:lnTo>
                <a:lnTo>
                  <a:pt x="34200" y="4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Entscheidungsprozess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Werte illustrativ; je Opportunity anpassen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Entscheidung dauert 9 bis 15 Monate – wir begleiten jede Phase aktiv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Pentagon 6"/>
          <p:cNvSpPr/>
          <p:nvPr/>
        </p:nvSpPr>
        <p:spPr>
          <a:xfrm>
            <a:off x="2350008" y="1325880"/>
            <a:ext cx="2022652" cy="54864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Problem erkannt</a:t>
            </a:r>
          </a:p>
        </p:txBody>
      </p:sp>
      <p:sp>
        <p:nvSpPr>
          <p:cNvPr id="8" name="Chevron 7"/>
          <p:cNvSpPr/>
          <p:nvPr/>
        </p:nvSpPr>
        <p:spPr>
          <a:xfrm>
            <a:off x="4262932" y="1325880"/>
            <a:ext cx="2022652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Lösungssuche</a:t>
            </a:r>
          </a:p>
        </p:txBody>
      </p:sp>
      <p:sp>
        <p:nvSpPr>
          <p:cNvPr id="9" name="Chevron 8"/>
          <p:cNvSpPr/>
          <p:nvPr/>
        </p:nvSpPr>
        <p:spPr>
          <a:xfrm>
            <a:off x="6175857" y="1325880"/>
            <a:ext cx="2022652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Anforderungen</a:t>
            </a:r>
          </a:p>
        </p:txBody>
      </p:sp>
      <p:sp>
        <p:nvSpPr>
          <p:cNvPr id="10" name="Chevron 9"/>
          <p:cNvSpPr/>
          <p:nvPr/>
        </p:nvSpPr>
        <p:spPr>
          <a:xfrm>
            <a:off x="8088782" y="1325880"/>
            <a:ext cx="2022652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Anbieterauswahl</a:t>
            </a:r>
          </a:p>
        </p:txBody>
      </p:sp>
      <p:sp>
        <p:nvSpPr>
          <p:cNvPr id="11" name="Chevron 10"/>
          <p:cNvSpPr/>
          <p:nvPr/>
        </p:nvSpPr>
        <p:spPr>
          <a:xfrm>
            <a:off x="10001707" y="1325880"/>
            <a:ext cx="1858060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Entscheidung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24028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BEIM KUNDEN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" y="205740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2441448" y="213055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Engpass wird sichtbar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4372" y="213055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Recherche, Gespräche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7297" y="213055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URS, Budgetrahmen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222" y="213055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RFP, Präsentationen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3147" y="213055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CAPEX-Freigabe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01752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BETEILIGTE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" y="283464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2441448" y="290779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Produktion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4372" y="290779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+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7297" y="290779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+ QA, IT, Finanzen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0222" y="290779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+ Einkauf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3147" y="290779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Geschäftsführung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379476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 BEITRAG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8328" y="361188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2350008" y="3685032"/>
            <a:ext cx="1858060" cy="630936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368503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Thought Leadership, Benchmark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62932" y="3685032"/>
            <a:ext cx="1858060" cy="630936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4372" y="368503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Discovery-Workshop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5857" y="3685032"/>
            <a:ext cx="1858060" cy="630936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7297" y="368503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Machbarkeitsstudie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8782" y="3685032"/>
            <a:ext cx="1858060" cy="630936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0222" y="368503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Angebot, Referenzbesuch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01707" y="3685032"/>
            <a:ext cx="1858060" cy="630936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93147" y="368503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Business Case, 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4572000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DAUER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8328" y="438912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2441448" y="446227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1–3 Monate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4372" y="446227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2–3 Monate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7297" y="446227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2–4 Monate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0222" y="446227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2–3 Monate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3147" y="4462272"/>
            <a:ext cx="1675180" cy="6309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1–2 Monate</a:t>
            </a:r>
          </a:p>
        </p:txBody>
      </p:sp>
      <p:sp>
        <p:nvSpPr>
          <p:cNvPr id="45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8" name="TextBox 47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Wer erst bei der Ausschreibung einsteigt, konkurriert über den Preis – wer in Phase 1 präsent ist, prägt die Anforderungen.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Buying Center | Entscheidungskriterien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[Kundenbefragung / Win-Loss-Analyse, n = xx];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Kompetenz und Referenzen entscheiden – der Preis folgt erst auf Platz vier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603504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3716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KÖRBER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WETTBEWERBER A</a:t>
            </a:r>
          </a:p>
        </p:txBody>
      </p:sp>
      <p:sp>
        <p:nvSpPr>
          <p:cNvPr id="10" name="Oval 9"/>
          <p:cNvSpPr/>
          <p:nvPr/>
        </p:nvSpPr>
        <p:spPr>
          <a:xfrm>
            <a:off x="6812280" y="1783080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12280" y="1783080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89720" y="1783080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ie 12"/>
          <p:cNvSpPr/>
          <p:nvPr/>
        </p:nvSpPr>
        <p:spPr>
          <a:xfrm>
            <a:off x="9189720" y="1783080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12280" y="238658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6812280" y="2386584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89720" y="238658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9189720" y="2386584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299008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6812280" y="2990088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89720" y="299008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9189720" y="2990088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12280" y="359359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6812280" y="3593591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359359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9189720" y="3593591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12280" y="41970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12280" y="4197096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89720" y="419709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Pie 28"/>
          <p:cNvSpPr/>
          <p:nvPr/>
        </p:nvSpPr>
        <p:spPr>
          <a:xfrm>
            <a:off x="9189720" y="4197096"/>
            <a:ext cx="329184" cy="329184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12280" y="4800600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Pie 30"/>
          <p:cNvSpPr/>
          <p:nvPr/>
        </p:nvSpPr>
        <p:spPr>
          <a:xfrm>
            <a:off x="6812280" y="4800600"/>
            <a:ext cx="329184" cy="329184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89720" y="4800600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89720" y="4800600"/>
            <a:ext cx="329184" cy="32918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54864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Harvey Balls: Bewertung aus Kundensicht (leer = schwach, voll = stark)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Lösung &amp;</a:t>
            </a:r>
          </a:p>
          <a:p>
            <a:r>
              <a:t>Wert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Wertversprechen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 Versprechen: Mehr Kapazität in kürzerer Zeit – ohne Compliance-Risiko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120640" cy="393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UNSER VERSPRECHEN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4480560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Wir bringen Ihre neue Linie sechs Monate früher in die validierte Produktion – mit einem Team, das Planung, Umsetzung und Qualifizierung verantwortet.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1371600"/>
            <a:ext cx="5916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943600" y="150876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–6 Monate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572768"/>
            <a:ext cx="335584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Time-to-Market durch parallele Planung und Qualifizierung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" y="2697480"/>
            <a:ext cx="5916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943600" y="283464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98648"/>
            <a:ext cx="335584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Annex-1-konformes Design von Anfang 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4023360"/>
            <a:ext cx="59161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943600" y="4160520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1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224528"/>
            <a:ext cx="335584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eine Verantwortung über alle Phasen – keine Übergabeverluste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Value Proposition Canvas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 Canvas: Unsere Leistungen lösen die drei größten Pains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UNSER LEISTUNGSVERSPRECHEN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45920"/>
            <a:ext cx="1661160" cy="36118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828800"/>
            <a:ext cx="1295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Leistungen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286000"/>
            <a:ext cx="1295399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Facility Design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CQV-Management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MES-Integration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2368" y="1645920"/>
            <a:ext cx="1661160" cy="3611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5248" y="1828800"/>
            <a:ext cx="1295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Pain Reliever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5248" y="2286000"/>
            <a:ext cx="1295399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Parallelisierte Planung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Annex-1-Expertise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Ein Verantwortlicher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6408" y="1645920"/>
            <a:ext cx="1661160" cy="36118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9288" y="1828800"/>
            <a:ext cx="1295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Gain Creator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9288" y="2286000"/>
            <a:ext cx="1295399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Benchmark-Wissen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Wiederverwendbare Templates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Befähigung Ihres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325880"/>
            <a:ext cx="5349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KUNDENPROFIL [KUNDE]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1645920"/>
            <a:ext cx="1661160" cy="36118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828800"/>
            <a:ext cx="1295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Kundenaufgaben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286000"/>
            <a:ext cx="1295399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Kapazität ausbauen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Inspektion bestehen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Budget einhalten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54568" y="1645920"/>
            <a:ext cx="1661160" cy="3611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7448" y="1828800"/>
            <a:ext cx="1295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Pains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7448" y="2286000"/>
            <a:ext cx="1295399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Knappe interne Ressourcen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Unklare Anforderungen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Schnittstellen-Chaos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8608" y="1645920"/>
            <a:ext cx="1661160" cy="36118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81488" y="1828800"/>
            <a:ext cx="129539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Gains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1488" y="2286000"/>
            <a:ext cx="1295399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Früherer Marktzugang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Planbare Kosten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Stabiler Betrieb</a:t>
            </a:r>
          </a:p>
        </p:txBody>
      </p:sp>
      <p:sp>
        <p:nvSpPr>
          <p:cNvPr id="26" name="Oval 25"/>
          <p:cNvSpPr/>
          <p:nvPr/>
        </p:nvSpPr>
        <p:spPr>
          <a:xfrm>
            <a:off x="5824728" y="3154680"/>
            <a:ext cx="548640" cy="54864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swap_horiz"/>
          <p:cNvSpPr/>
          <p:nvPr/>
        </p:nvSpPr>
        <p:spPr>
          <a:xfrm>
            <a:off x="5934456" y="3264408"/>
            <a:ext cx="329184" cy="32918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75923"/>
                </a:moveTo>
                <a:lnTo>
                  <a:pt x="12000" y="58692"/>
                </a:lnTo>
                <a:lnTo>
                  <a:pt x="29231" y="41462"/>
                </a:lnTo>
                <a:lnTo>
                  <a:pt x="32062" y="44315"/>
                </a:lnTo>
                <a:lnTo>
                  <a:pt x="19685" y="56692"/>
                </a:lnTo>
                <a:lnTo>
                  <a:pt x="49231" y="56692"/>
                </a:lnTo>
                <a:lnTo>
                  <a:pt x="49231" y="60692"/>
                </a:lnTo>
                <a:lnTo>
                  <a:pt x="19685" y="60692"/>
                </a:lnTo>
                <a:lnTo>
                  <a:pt x="32062" y="73069"/>
                </a:lnTo>
                <a:lnTo>
                  <a:pt x="29231" y="75923"/>
                </a:lnTo>
                <a:close/>
                <a:moveTo>
                  <a:pt x="66769" y="54462"/>
                </a:moveTo>
                <a:lnTo>
                  <a:pt x="63938" y="51608"/>
                </a:lnTo>
                <a:lnTo>
                  <a:pt x="76315" y="39231"/>
                </a:lnTo>
                <a:lnTo>
                  <a:pt x="46769" y="39231"/>
                </a:lnTo>
                <a:lnTo>
                  <a:pt x="46769" y="35231"/>
                </a:lnTo>
                <a:lnTo>
                  <a:pt x="76315" y="35231"/>
                </a:lnTo>
                <a:lnTo>
                  <a:pt x="63938" y="22854"/>
                </a:lnTo>
                <a:lnTo>
                  <a:pt x="66769" y="20000"/>
                </a:lnTo>
                <a:lnTo>
                  <a:pt x="84000" y="37231"/>
                </a:lnTo>
                <a:lnTo>
                  <a:pt x="66769" y="5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Der Fit entsteht dort, wo unsere Pain Reliever die Pains des Kunden direkt adressieren (blau).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Lösungsarchitektur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Lösung verbindet fünf Ebenen zu einem integrierten Zielbild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651760" cy="841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Strategie &amp;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1371600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Kapazitätsstrategie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02808" y="1371600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Investitionsplanung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8367" y="1371600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Projekt-Governance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359152"/>
            <a:ext cx="2651760" cy="841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Prozesse &amp; Organisation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2359152"/>
            <a:ext cx="2438400" cy="841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Soll-Prozesse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02808" y="2359152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Rollen &amp; Schichtmodell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8367" y="2359152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Schulungskonzept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346704"/>
            <a:ext cx="2651760" cy="841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Technologie &amp; Anlagen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3346704"/>
            <a:ext cx="2438400" cy="841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Isolator-Linie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02808" y="3346704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Reinraum &amp; HVAC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8367" y="3346704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Medienversorgung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4334256"/>
            <a:ext cx="2651760" cy="841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18288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Daten &amp; Systeme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27248" y="4334256"/>
            <a:ext cx="2438400" cy="841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MES / eBR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02808" y="4334256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LIMS-Schnittstelle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8367" y="4334256"/>
            <a:ext cx="2438400" cy="84124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Datenplattform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53928" y="1371600"/>
            <a:ext cx="1005840" cy="38039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 rot="16200000">
            <a:off x="9454896" y="3044952"/>
            <a:ext cx="38039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Qualität &amp; Compliance (GMP, Data Integrity)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539496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53583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Im Projektumfang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32888" y="5394960"/>
            <a:ext cx="201168" cy="20116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25496" y="53583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Optional / Folgeprojekt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Leistungsmodule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Vier Module – einzeln buchbar und aufeinander aufbauend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67462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MODUL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4–6 Wochen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7889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6692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Ist-Analyse und Benchmark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Potenzialbewertung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Priorisierte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663440"/>
            <a:ext cx="12344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Basis</a:t>
            </a:r>
          </a:p>
        </p:txBody>
      </p:sp>
      <p:sp>
        <p:nvSpPr>
          <p:cNvPr id="13" name="Icon arrow_forward"/>
          <p:cNvSpPr/>
          <p:nvPr/>
        </p:nvSpPr>
        <p:spPr>
          <a:xfrm>
            <a:off x="3049524" y="31546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4" name="Rectangle 13"/>
          <p:cNvSpPr/>
          <p:nvPr/>
        </p:nvSpPr>
        <p:spPr>
          <a:xfrm>
            <a:off x="3287268" y="1371600"/>
            <a:ext cx="2674620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586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MODUL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Konzept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8–12 Wochen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15868" y="2788920"/>
            <a:ext cx="221742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51586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Zielbild und Layout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URS und Lastenheft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Business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5868" y="4663440"/>
            <a:ext cx="123444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Empfohlen</a:t>
            </a:r>
          </a:p>
        </p:txBody>
      </p:sp>
      <p:sp>
        <p:nvSpPr>
          <p:cNvPr id="21" name="Icon arrow_forward"/>
          <p:cNvSpPr/>
          <p:nvPr/>
        </p:nvSpPr>
        <p:spPr>
          <a:xfrm>
            <a:off x="5998464" y="31546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2" name="Rectangle 21"/>
          <p:cNvSpPr/>
          <p:nvPr/>
        </p:nvSpPr>
        <p:spPr>
          <a:xfrm>
            <a:off x="6236208" y="1371600"/>
            <a:ext cx="267462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MODUL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Umsetzung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9–18 Monate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64808" y="27889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46480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Vergabe und Bauleitung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CQV und Validierung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Inbetriebnahme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4808" y="4663440"/>
            <a:ext cx="12344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Empfohlen</a:t>
            </a:r>
          </a:p>
        </p:txBody>
      </p:sp>
      <p:sp>
        <p:nvSpPr>
          <p:cNvPr id="29" name="Icon arrow_forward"/>
          <p:cNvSpPr/>
          <p:nvPr/>
        </p:nvSpPr>
        <p:spPr>
          <a:xfrm>
            <a:off x="8947404" y="3154680"/>
            <a:ext cx="201168" cy="20116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0" name="Rectangle 29"/>
          <p:cNvSpPr/>
          <p:nvPr/>
        </p:nvSpPr>
        <p:spPr>
          <a:xfrm>
            <a:off x="9185148" y="1371600"/>
            <a:ext cx="2674620" cy="38862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3748" y="1600200"/>
            <a:ext cx="22174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MODUL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3748" y="1874519"/>
            <a:ext cx="22174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Befähigung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3748" y="2377440"/>
            <a:ext cx="22174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laufend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13748" y="2788920"/>
            <a:ext cx="221742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9413748" y="2926080"/>
            <a:ext cx="22174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Schulung und Coaching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Hypercare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KPI-Monitoring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3748" y="4663440"/>
            <a:ext cx="123444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Optional</a:t>
            </a:r>
          </a:p>
        </p:txBody>
      </p:sp>
      <p:sp>
        <p:nvSpPr>
          <p:cNvPr id="3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0" name="TextBox 3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Modul 1 liefert in sechs Wochen eine belastbare Entscheidungsgrundlage – bei überschaubarem Budget.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Werttreiberbaum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Analyse [Kunde];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Werttreiberbaum: Drei Hebel liefern € 4,1 Mio. Ergebnisbeitrag pro Jahr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2788920"/>
            <a:ext cx="21945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EBIT-Effekt p. a.</a:t>
            </a:r>
          </a:p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€ 4,1 Mio.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532888" y="1737360"/>
            <a:ext cx="548640" cy="160020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3081528" y="1417320"/>
            <a:ext cx="219456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Umsatz</a:t>
            </a:r>
          </a:p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€ 2,4 Mio.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5276088" y="1627632"/>
            <a:ext cx="548640" cy="128016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5824728" y="1325880"/>
            <a:ext cx="3108960" cy="60350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Zusätzliche Kapazität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6567" y="1325880"/>
            <a:ext cx="146304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+18 % Ausbringung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7" y="1325880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€ 1,8 Mio.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76088" y="1755648"/>
            <a:ext cx="548640" cy="62179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5824728" y="2075688"/>
            <a:ext cx="3108960" cy="60350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Früherer Marktzugang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075688"/>
            <a:ext cx="146304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–6 Monate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7" y="2075688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€ 0,6 Mio.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532888" y="3291840"/>
            <a:ext cx="548640" cy="4572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3081528" y="2971800"/>
            <a:ext cx="219456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Kosten</a:t>
            </a:r>
          </a:p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€ 1,2 Mio.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276088" y="3182112"/>
            <a:ext cx="548640" cy="128016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5824728" y="2880360"/>
            <a:ext cx="3108960" cy="60350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Weniger Ausschuss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2880360"/>
            <a:ext cx="146304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–1,5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7" y="2880360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€ 0,7 Mio.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76088" y="3310128"/>
            <a:ext cx="548640" cy="621792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5824728" y="3630168"/>
            <a:ext cx="3108960" cy="60350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Kürzere Freigabe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3630168"/>
            <a:ext cx="146304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–40 % Durchlaufzeit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9607" y="3630168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€ 0,5 Mio.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32888" y="3337560"/>
            <a:ext cx="548640" cy="1508760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3081528" y="4526279"/>
            <a:ext cx="2194560" cy="685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Kapital</a:t>
            </a:r>
          </a:p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€ 0,5 Mio.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276088" y="4828031"/>
            <a:ext cx="548640" cy="36576"/>
          </a:xfrm>
          <a:prstGeom prst="line">
            <a:avLst/>
          </a:prstGeom>
          <a:ln w="15875">
            <a:solidFill>
              <a:schemeClr val="tx2"/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5824728" y="4526279"/>
            <a:ext cx="3108960" cy="603504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Geringerer Bestand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526279"/>
            <a:ext cx="146304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–12 Tage Reichweite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79607" y="4526279"/>
            <a:ext cx="128016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€ 0,5 Mio.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105156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9607" y="10515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EFFEKT P. 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Nutzen und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Werte illustrativ; Zielwerte mit [Kunde] abstimmen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Nutzen ist messbar: Vier KPIs belegen den Projekterfolg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371600"/>
            <a:ext cx="2674620" cy="23774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accent1"/>
                </a:solidFill>
              </a:rPr>
              <a:t>+12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OEE Linie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8892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54 % → 66 %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977639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MESSUNG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425196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434340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MES-Auswertung, monatlich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7268" y="1371600"/>
            <a:ext cx="2674620" cy="23774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586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accent1"/>
                </a:solidFill>
              </a:rPr>
              <a:t>–40 %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5868" y="242316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Freigabe-Durchlaufzeit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78892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18 → 11 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7268" y="3977639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MESSUNG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87268" y="425196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287268" y="434340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QA-Tracking, je Charge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1371600"/>
            <a:ext cx="2674620" cy="23774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accent1"/>
                </a:solidFill>
              </a:rPr>
              <a:t>–6 Mon.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42316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Time-to-Market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78892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Go-live Q3 statt Q1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977639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MESSUNG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36208" y="425196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236208" y="434340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Meilensteinplan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5148" y="1371600"/>
            <a:ext cx="2674620" cy="2377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3748" y="1600200"/>
            <a:ext cx="22174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bg1"/>
                </a:solidFill>
              </a:rPr>
              <a:t>€ 4,1 Mio.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3748" y="242316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EBIT-Effekt p. 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3748" y="2788920"/>
            <a:ext cx="22174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ab Jahr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5148" y="3977639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MESSUNG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85148" y="4251960"/>
            <a:ext cx="26746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9185148" y="434340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Controlling, quartalsweise</a:t>
            </a:r>
          </a:p>
        </p:txBody>
      </p:sp>
      <p:sp>
        <p:nvSpPr>
          <p:cNvPr id="35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8" name="TextBox 37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Die vier KPIs werden ab Projektstart im Steering Committee berichtet – Erfolg wird so für alle sichtbar.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Ist und Soll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Vom papierbasierten Betrieb zur integrierten, datengestützten Produktion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1325880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3448" y="13258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ZIELBILD [JAHR]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64592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Dokumentation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1448" y="1645920"/>
            <a:ext cx="4114800" cy="62179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Papierchargenprotokolle, manuelle Prüfung</a:t>
            </a:r>
          </a:p>
        </p:txBody>
      </p:sp>
      <p:sp>
        <p:nvSpPr>
          <p:cNvPr id="10" name="Icon arrow_forward"/>
          <p:cNvSpPr/>
          <p:nvPr/>
        </p:nvSpPr>
        <p:spPr>
          <a:xfrm>
            <a:off x="6665976" y="1847088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Rectangle 10"/>
          <p:cNvSpPr/>
          <p:nvPr/>
        </p:nvSpPr>
        <p:spPr>
          <a:xfrm>
            <a:off x="7013448" y="1645920"/>
            <a:ext cx="4846320" cy="621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Elektronischer Batch Record, Review by Exception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37744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Rüsten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2377440"/>
            <a:ext cx="4114800" cy="62179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Ø 7 Stunden, abhängig von Einzelpersonen</a:t>
            </a:r>
          </a:p>
        </p:txBody>
      </p:sp>
      <p:sp>
        <p:nvSpPr>
          <p:cNvPr id="14" name="Icon arrow_forward"/>
          <p:cNvSpPr/>
          <p:nvPr/>
        </p:nvSpPr>
        <p:spPr>
          <a:xfrm>
            <a:off x="6665976" y="2578608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7013448" y="2377440"/>
            <a:ext cx="4846320" cy="621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Standardisiert, Ø 3 Stunden, SMED-Methodik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310896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Freigabe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3108960"/>
            <a:ext cx="4114800" cy="62179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Ø 18 Tage, sequenziell</a:t>
            </a:r>
          </a:p>
        </p:txBody>
      </p:sp>
      <p:sp>
        <p:nvSpPr>
          <p:cNvPr id="18" name="Icon arrow_forward"/>
          <p:cNvSpPr/>
          <p:nvPr/>
        </p:nvSpPr>
        <p:spPr>
          <a:xfrm>
            <a:off x="6665976" y="3310128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7013448" y="3108960"/>
            <a:ext cx="4846320" cy="621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Ø 11 Tage, parallelisiert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84048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Daten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41448" y="3840480"/>
            <a:ext cx="4114800" cy="62179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Insellösungen, Excel-Auswertungen</a:t>
            </a:r>
          </a:p>
        </p:txBody>
      </p:sp>
      <p:sp>
        <p:nvSpPr>
          <p:cNvPr id="22" name="Icon arrow_forward"/>
          <p:cNvSpPr/>
          <p:nvPr/>
        </p:nvSpPr>
        <p:spPr>
          <a:xfrm>
            <a:off x="6665976" y="4041648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7013448" y="3840480"/>
            <a:ext cx="4846320" cy="621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Integrierte Plattform, Echtzeit-KPIs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572000"/>
            <a:ext cx="201168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1448" y="4572000"/>
            <a:ext cx="4114800" cy="62179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Reaktiv nach Inspektionen</a:t>
            </a:r>
          </a:p>
        </p:txBody>
      </p:sp>
      <p:sp>
        <p:nvSpPr>
          <p:cNvPr id="26" name="Icon arrow_forward"/>
          <p:cNvSpPr/>
          <p:nvPr/>
        </p:nvSpPr>
        <p:spPr>
          <a:xfrm>
            <a:off x="6665976" y="4773168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Rectangle 26"/>
          <p:cNvSpPr/>
          <p:nvPr/>
        </p:nvSpPr>
        <p:spPr>
          <a:xfrm>
            <a:off x="7013448" y="4572000"/>
            <a:ext cx="4846320" cy="621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27432" bIns="27432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Proaktiv, Contamination Control Strategy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Optionen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Optionen – Option B bietet das beste Verhältnis von Nutzen und Risiko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371600"/>
            <a:ext cx="3657600" cy="39319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" y="1600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" y="187451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Option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3317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Ertüchtigung Bestandslinie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7" y="2971800"/>
            <a:ext cx="3108961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2647" y="31089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Investition € 6 Mio.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Kapazität +15 %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Umsetzung 9 Monate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" y="4434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/>
                </a:solidFill>
              </a:rPr>
              <a:t>Geringe Investition, aber Lücke ab [Jahr] bleibt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371600"/>
            <a:ext cx="3657600" cy="393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00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EMPFOHLEN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7451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Option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3317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Neue Isolator-Linie + Ertüchtigung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44568" y="2971800"/>
            <a:ext cx="31089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544568" y="31089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Investition € 18 Mio.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Kapazität +60 %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Umsetzung 20 Monate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434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bg1"/>
                </a:solidFill>
              </a:rPr>
              <a:t>Schließt Lücke dauerhaft, gestaffeltes Risiko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2168" y="1371600"/>
            <a:ext cx="3657600" cy="39319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160020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OPTION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1874519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tx1"/>
                </a:solidFill>
              </a:rPr>
              <a:t>Option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3317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Externe Fertigung (CDMO)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76488" y="2971800"/>
            <a:ext cx="310896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476488" y="310896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Keine CAPEX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Kapazität flexibel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Transfer 12 Monate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43484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1">
                <a:solidFill>
                  <a:schemeClr val="tx1"/>
                </a:solidFill>
              </a:rPr>
              <a:t>Abhängigkeit und höhere Stückkosten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Bewertungsmatrix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Bewertung: Workshop mit [Kunde],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B erfüllt fünf von sechs Kriterien am besten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8808" y="1371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Option 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3368" y="1280160"/>
            <a:ext cx="2194560" cy="406908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371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Option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7928" y="13716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Option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13716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Gewicht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1737360"/>
            <a:ext cx="11521440" cy="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18288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Strategischer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8288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25 %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19019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5120640" y="190195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19019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1901952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09760" y="19019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9509760" y="190195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38328" y="231343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38328" y="2331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Investition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23317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20 %</a:t>
            </a:r>
          </a:p>
        </p:txBody>
      </p:sp>
      <p:sp>
        <p:nvSpPr>
          <p:cNvPr id="23" name="Oval 22"/>
          <p:cNvSpPr/>
          <p:nvPr/>
        </p:nvSpPr>
        <p:spPr>
          <a:xfrm>
            <a:off x="5120640" y="240487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0" y="2404872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0" y="240487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7315200" y="240487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09760" y="240487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60" y="2404872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8328" y="281635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338328" y="28346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Time-to-Market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90088" y="28346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20 %</a:t>
            </a:r>
          </a:p>
        </p:txBody>
      </p:sp>
      <p:sp>
        <p:nvSpPr>
          <p:cNvPr id="32" name="Oval 31"/>
          <p:cNvSpPr/>
          <p:nvPr/>
        </p:nvSpPr>
        <p:spPr>
          <a:xfrm>
            <a:off x="5120640" y="290779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Pie 32"/>
          <p:cNvSpPr/>
          <p:nvPr/>
        </p:nvSpPr>
        <p:spPr>
          <a:xfrm>
            <a:off x="5120640" y="290779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0" y="290779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Pie 34"/>
          <p:cNvSpPr/>
          <p:nvPr/>
        </p:nvSpPr>
        <p:spPr>
          <a:xfrm>
            <a:off x="7315200" y="290779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509760" y="290779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Pie 36"/>
          <p:cNvSpPr/>
          <p:nvPr/>
        </p:nvSpPr>
        <p:spPr>
          <a:xfrm>
            <a:off x="9509760" y="290779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38328" y="331927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338328" y="33375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Umsetzungsrisiko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0088" y="33375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15 %</a:t>
            </a:r>
          </a:p>
        </p:txBody>
      </p:sp>
      <p:sp>
        <p:nvSpPr>
          <p:cNvPr id="41" name="Oval 40"/>
          <p:cNvSpPr/>
          <p:nvPr/>
        </p:nvSpPr>
        <p:spPr>
          <a:xfrm>
            <a:off x="5120640" y="341071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ie 41"/>
          <p:cNvSpPr/>
          <p:nvPr/>
        </p:nvSpPr>
        <p:spPr>
          <a:xfrm>
            <a:off x="5120640" y="341071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200" y="341071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Pie 43"/>
          <p:cNvSpPr/>
          <p:nvPr/>
        </p:nvSpPr>
        <p:spPr>
          <a:xfrm>
            <a:off x="7315200" y="341071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09760" y="341071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ie 45"/>
          <p:cNvSpPr/>
          <p:nvPr/>
        </p:nvSpPr>
        <p:spPr>
          <a:xfrm>
            <a:off x="9509760" y="3410712"/>
            <a:ext cx="310896" cy="310896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8328" y="382219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338328" y="38404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Skalierbarkeit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90088" y="38404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10 %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391363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ie 50"/>
          <p:cNvSpPr/>
          <p:nvPr/>
        </p:nvSpPr>
        <p:spPr>
          <a:xfrm>
            <a:off x="5120640" y="3913632"/>
            <a:ext cx="310896" cy="310896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15200" y="391363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315200" y="3913632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509760" y="391363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ie 54"/>
          <p:cNvSpPr/>
          <p:nvPr/>
        </p:nvSpPr>
        <p:spPr>
          <a:xfrm>
            <a:off x="9509760" y="391363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338328" y="432511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338328" y="43434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0088" y="434340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10 %</a:t>
            </a:r>
          </a:p>
        </p:txBody>
      </p:sp>
      <p:sp>
        <p:nvSpPr>
          <p:cNvPr id="59" name="Oval 58"/>
          <p:cNvSpPr/>
          <p:nvPr/>
        </p:nvSpPr>
        <p:spPr>
          <a:xfrm>
            <a:off x="5120640" y="44165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ie 59"/>
          <p:cNvSpPr/>
          <p:nvPr/>
        </p:nvSpPr>
        <p:spPr>
          <a:xfrm>
            <a:off x="5120640" y="4416552"/>
            <a:ext cx="310896" cy="310896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315200" y="44165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315200" y="4416552"/>
            <a:ext cx="310896" cy="310896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509760" y="4416552"/>
            <a:ext cx="310896" cy="31089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Pie 63"/>
          <p:cNvSpPr/>
          <p:nvPr/>
        </p:nvSpPr>
        <p:spPr>
          <a:xfrm>
            <a:off x="9509760" y="4416552"/>
            <a:ext cx="310896" cy="310896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38328" y="4828032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338328" y="491947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Gewichteter Score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8808" y="491947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2,7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73368" y="491947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accent1"/>
                </a:solidFill>
              </a:rPr>
              <a:t>3,3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7928" y="491947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2,5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Lösung &amp; Wert | Empfehlung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 empfehlen Option B und bitten um Freigabe der 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120640" cy="393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UNSERE EMPFEHLUNG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448056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Option B umsetzen und Phase 1 (Konzept, € [xxx] Tsd.) bis [Datum] freigeben.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526280"/>
            <a:ext cx="3017520" cy="43891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Entscheidung bis [TT.MM.JJJJ]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371600"/>
            <a:ext cx="59161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WARUM WIR DAS EMPFEHLEN</a:t>
            </a:r>
          </a:p>
        </p:txBody>
      </p:sp>
      <p:sp>
        <p:nvSpPr>
          <p:cNvPr id="11" name="Icon check_circle"/>
          <p:cNvSpPr/>
          <p:nvPr/>
        </p:nvSpPr>
        <p:spPr>
          <a:xfrm>
            <a:off x="5943600" y="17373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6492240" y="1737360"/>
            <a:ext cx="53675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Schließt die Kapazitätslücke dauerhaft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3675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+60 % Kapazität ab [Jahr], skalierbar für Biologika</a:t>
            </a:r>
          </a:p>
        </p:txBody>
      </p:sp>
      <p:sp>
        <p:nvSpPr>
          <p:cNvPr id="14" name="Icon check_circle"/>
          <p:cNvSpPr/>
          <p:nvPr/>
        </p:nvSpPr>
        <p:spPr>
          <a:xfrm>
            <a:off x="5943600" y="28803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6492240" y="2880360"/>
            <a:ext cx="53675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Wirtschaftlich überzeugend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53675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Payback 2,8 Jahre, Kapitalwert € 4,8 Mio.</a:t>
            </a:r>
          </a:p>
        </p:txBody>
      </p:sp>
      <p:sp>
        <p:nvSpPr>
          <p:cNvPr id="17" name="Icon check_circle"/>
          <p:cNvSpPr/>
          <p:nvPr/>
        </p:nvSpPr>
        <p:spPr>
          <a:xfrm>
            <a:off x="5943600" y="402336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6492240" y="4023360"/>
            <a:ext cx="536752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Risiko beherrschbar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53675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Gestaffelte Umsetzung mit Entscheidungsgates nach jeder Phase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Business</a:t>
            </a:r>
          </a:p>
          <a:p>
            <a:r>
              <a:t>Case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Zusammenfassung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Business-Case-Modell [Version];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Investition amortisiert sich in 2,8 Jahren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371600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INVESTITION (EINMALIG)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" y="1664208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338328" y="173736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Anlagen und Technik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€ 11,2 Mio.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213055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214884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Bau und Reinraum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€ 4,1 Mio.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" y="254203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38328" y="25603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Engineering und CQV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560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€ 2,7 Mio.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" y="295351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38328" y="30175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17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€ 18,0 Mio.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371600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NUTZEN (P. A. AB JAHR 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7648" y="1664208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327648" y="173736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Zusätzlicher Deckungsbeitrag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728" y="1737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€ 4,9 Mio.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27648" y="213055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327648" y="214884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Kosteneinsparungen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96728" y="21488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€ 1,2 Mio.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27648" y="254203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327648" y="25603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Kapitalbindung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6728" y="2560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€ 0,5 Mio.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27648" y="295351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327648" y="3017520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Summe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96728" y="3017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€ 6,6 Mio.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" y="3611880"/>
            <a:ext cx="3657600" cy="1691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bg1"/>
                </a:solidFill>
              </a:rPr>
              <a:t>€ 4,8 Mio.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" y="4617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Kapitalwert (NPV, 8 % WACC)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0248" y="3611880"/>
            <a:ext cx="3657600" cy="1691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accent1"/>
                </a:solidFill>
              </a:rPr>
              <a:t>2,8 Jahre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4568" y="4617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Amortisationsdauer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2168" y="3611880"/>
            <a:ext cx="3657600" cy="16916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379476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400" b="0" i="0">
                <a:solidFill>
                  <a:schemeClr val="accent1"/>
                </a:solidFill>
              </a:rPr>
              <a:t>24 %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46177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Interner Zinsfuß (IRR)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Cashflow-Verlauf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Business-Case-Modell; € Mio.;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 dem dritten Jahr ist der kumulierte Cashflow positiv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5895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412480" y="1463040"/>
            <a:ext cx="34472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412480" y="1572768"/>
            <a:ext cx="344728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€ –14,5 Mio.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17268"/>
            <a:ext cx="344728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Maximaler Mittelbedarf (2027)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0" y="2926080"/>
            <a:ext cx="34472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412480" y="3035808"/>
            <a:ext cx="344728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Q3 2029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80308"/>
            <a:ext cx="344728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Break-even (kumuliert)</a:t>
            </a:r>
          </a:p>
        </p:txBody>
      </p:sp>
      <p:sp>
        <p:nvSpPr>
          <p:cNvPr id="1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Der Mittelbedarf ist auf zwei Jahre begrenzt – ab 2029 finanziert sich die Linie selbst.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Wertbrücke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Business-Case-Modell; Barwerte in € Mio.;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Vom Nutzen zum Kapitalwert: Mehr Kapazität trägt 55 % des Bruttonutzens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11521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Der Kapazitätsgewinn allein deckt fast 80 % der Investition – die übrigen Hebel machen den Case robust.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Kosten des Nichthandelns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Business-Case-Modell;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Jeder Monat Verzögerung kostet rund € 0,6 Mio. Deckungsbeitrag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Disturber"/>
          <p:cNvSpPr/>
          <p:nvPr/>
        </p:nvSpPr>
        <p:spPr>
          <a:xfrm>
            <a:off x="8595360" y="1645920"/>
            <a:ext cx="2377440" cy="2377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€ 0,6 Mio.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pro Monat Verzögerung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29768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Hinzu kommen Vertragsstrafen und Marktanteilsverluste, die hier nicht quantifiziert sind.</a:t>
            </a:r>
          </a:p>
        </p:txBody>
      </p:sp>
      <p:sp>
        <p:nvSpPr>
          <p:cNvPr id="10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Nicht zu entscheiden ist auch eine Entscheidung – mit dem höchsten Preis.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Sensitivitätsanalyse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Business-Case-Modell; Kapitalwert in € Mio., Basis 4,8;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Business Case bleibt auch bei ungünstigen Annahmen positiv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680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1371600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LESART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91640"/>
            <a:ext cx="3355848" cy="320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Selbst bei –20 % Absatz bleibt der Kapitalwert positiv (€ 0,7 Mio.)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Absatz und Preis sind die kritischen Annahmen</a:t>
            </a:r>
          </a:p>
          <a:p>
            <a:pPr algn="l" marL="164592" indent="-164592">
              <a:spcAft>
                <a:spcPts val="10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Beide werden mit Vertrieb und Marketing von [Kunde] validiert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Business Case | Szenarien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Business-Case-Modell;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Szenarien: Kapitalwert zwischen € 0,9 und 8,1 Mio.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38" cy="35204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716593"/>
                <a:gridCol w="2601615"/>
                <a:gridCol w="2601615"/>
                <a:gridCol w="2601615"/>
              </a:tblGrid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Annahme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Konservativ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Basis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Optimistisch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Absatzwachstum p. a.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Auslastung im Zieljahr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78 %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85 %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Ramp-up-Dauer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12 Monate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9 Monate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 Monate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Investition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€ 20,7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€ 18,0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€ 17,1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Kapitalwert (NPV)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€ 0,9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bg1"/>
                          </a:solidFill>
                        </a:rPr>
                        <a:t>€ 4,8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600" b="0" i="0">
                          <a:solidFill>
                            <a:schemeClr val="tx1"/>
                          </a:solidFill>
                        </a:rPr>
                        <a:t>€ 8,1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Payback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4,6 Jahre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2,8 Jahre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2,1 Jahre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Auch im konservativen Szenario ist der Kapitalwert positiv – das Risiko liegt im Timing, nicht im Grundsatz.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Vorgehen</a:t>
            </a:r>
          </a:p>
          <a:p>
            <a:r>
              <a:t>&amp; Plan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Phasenmodell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fünf Phasen von der Analyse zur validierten Anlage</a:t>
            </a:r>
          </a:p>
        </p:txBody>
      </p:sp>
      <p:sp>
        <p:nvSpPr>
          <p:cNvPr id="6" name="Pentagon 5"/>
          <p:cNvSpPr/>
          <p:nvPr/>
        </p:nvSpPr>
        <p:spPr>
          <a:xfrm>
            <a:off x="1984248" y="1325880"/>
            <a:ext cx="2095804" cy="54864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Analyse</a:t>
            </a:r>
          </a:p>
        </p:txBody>
      </p:sp>
      <p:sp>
        <p:nvSpPr>
          <p:cNvPr id="7" name="Chevron 6"/>
          <p:cNvSpPr/>
          <p:nvPr/>
        </p:nvSpPr>
        <p:spPr>
          <a:xfrm>
            <a:off x="3970324" y="1325880"/>
            <a:ext cx="2095804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Konzept</a:t>
            </a:r>
          </a:p>
        </p:txBody>
      </p:sp>
      <p:sp>
        <p:nvSpPr>
          <p:cNvPr id="8" name="Chevron 7"/>
          <p:cNvSpPr/>
          <p:nvPr/>
        </p:nvSpPr>
        <p:spPr>
          <a:xfrm>
            <a:off x="5956401" y="1325880"/>
            <a:ext cx="2095804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Engineering</a:t>
            </a:r>
          </a:p>
        </p:txBody>
      </p:sp>
      <p:sp>
        <p:nvSpPr>
          <p:cNvPr id="9" name="Chevron 8"/>
          <p:cNvSpPr/>
          <p:nvPr/>
        </p:nvSpPr>
        <p:spPr>
          <a:xfrm>
            <a:off x="7942478" y="1325880"/>
            <a:ext cx="2095804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Realisierung</a:t>
            </a:r>
          </a:p>
        </p:txBody>
      </p:sp>
      <p:sp>
        <p:nvSpPr>
          <p:cNvPr id="10" name="Chevron 9"/>
          <p:cNvSpPr/>
          <p:nvPr/>
        </p:nvSpPr>
        <p:spPr>
          <a:xfrm>
            <a:off x="9928555" y="1325880"/>
            <a:ext cx="1931212" cy="5486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Qualifizierung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" y="201168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338328" y="21214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DAUER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2084832"/>
            <a:ext cx="1711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6 Wochen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0052" y="2084832"/>
            <a:ext cx="1711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3 Monate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6129" y="2084832"/>
            <a:ext cx="1711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5 Monate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2206" y="2084832"/>
            <a:ext cx="1711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8 Monate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38283" y="2084832"/>
            <a:ext cx="1711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4 Monate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" y="246888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38328" y="257860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LEITFRAGE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93976" y="254203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Wo stehen wir, was ist möglich?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0052" y="254203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Wie sieht die Lösung aus?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6129" y="254203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Wie bauen wir sie?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2206" y="254203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Wie setzen wir um?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8283" y="254203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Funktioniert alles GMP-konform?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8328" y="3566160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8328" y="3675888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ERGEBNIS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84248" y="3639312"/>
            <a:ext cx="1931212" cy="95097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93976" y="363931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Potenzialanalyse, 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0324" y="3639312"/>
            <a:ext cx="1931212" cy="95097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80052" y="363931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Zielbild, URS, Business Case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56401" y="3639312"/>
            <a:ext cx="1931212" cy="95097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6129" y="363931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Basic &amp; Detail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42478" y="3639312"/>
            <a:ext cx="1931212" cy="95097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2206" y="363931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Installierte Anlage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8555" y="3639312"/>
            <a:ext cx="1931212" cy="95097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8283" y="3639312"/>
            <a:ext cx="1711756" cy="9509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Qualifizierte Anlage, Freigabe</a:t>
            </a:r>
          </a:p>
        </p:txBody>
      </p:sp>
      <p:sp>
        <p:nvSpPr>
          <p:cNvPr id="3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0" name="TextBox 3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Jede Phase endet mit einem freigegebenen Ergebnis – Sie behalten jederzeit die Kontrolle über Budget und Umfang.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Phasendetail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Analyse: In sechs Wochen zur belastbaren Entscheidungsgrundlage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25880"/>
            <a:ext cx="2424988" cy="411480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Analyse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Konzept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Engineering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Realisierung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25880"/>
            <a:ext cx="2260396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Qualifizierung</a:t>
            </a:r>
          </a:p>
        </p:txBody>
      </p:sp>
      <p:sp>
        <p:nvSpPr>
          <p:cNvPr id="11" name="Icon target"/>
          <p:cNvSpPr/>
          <p:nvPr/>
        </p:nvSpPr>
        <p:spPr>
          <a:xfrm>
            <a:off x="33832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18" y="68000"/>
                </a:moveTo>
                <a:quadBezTo>
                  <a:pt x="39692" y="68000"/>
                  <a:pt x="33846" y="62172"/>
                </a:quadBezTo>
                <a:quadBezTo>
                  <a:pt x="28000" y="56344"/>
                  <a:pt x="28000" y="48018"/>
                </a:quadBezTo>
                <a:quadBezTo>
                  <a:pt x="28000" y="39692"/>
                  <a:pt x="33828" y="33846"/>
                </a:quadBezTo>
                <a:quadBezTo>
                  <a:pt x="39656" y="28000"/>
                  <a:pt x="47982" y="28000"/>
                </a:quadBezTo>
                <a:quadBezTo>
                  <a:pt x="56308" y="28000"/>
                  <a:pt x="62154" y="33828"/>
                </a:quadBezTo>
                <a:quadBezTo>
                  <a:pt x="68000" y="39656"/>
                  <a:pt x="68000" y="47982"/>
                </a:quadBezTo>
                <a:quadBezTo>
                  <a:pt x="68000" y="56308"/>
                  <a:pt x="62172" y="62154"/>
                </a:quadBezTo>
                <a:quadBezTo>
                  <a:pt x="56344" y="68000"/>
                  <a:pt x="48018" y="68000"/>
                </a:quadBezTo>
                <a:close/>
                <a:moveTo>
                  <a:pt x="48000" y="64000"/>
                </a:moveTo>
                <a:quadBezTo>
                  <a:pt x="54600" y="64000"/>
                  <a:pt x="59300" y="59300"/>
                </a:quadBezTo>
                <a:quadBezTo>
                  <a:pt x="64000" y="54600"/>
                  <a:pt x="64000" y="48000"/>
                </a:quadBezTo>
                <a:quadBezTo>
                  <a:pt x="64000" y="41400"/>
                  <a:pt x="59300" y="36700"/>
                </a:quadBezTo>
                <a:quadBezTo>
                  <a:pt x="54600" y="32000"/>
                  <a:pt x="48000" y="32000"/>
                </a:quadBezTo>
                <a:quadBezTo>
                  <a:pt x="41400" y="32000"/>
                  <a:pt x="36700" y="36700"/>
                </a:quadBezTo>
                <a:quadBezTo>
                  <a:pt x="32000" y="41400"/>
                  <a:pt x="32000" y="48000"/>
                </a:quadBezTo>
                <a:quadBezTo>
                  <a:pt x="32000" y="54600"/>
                  <a:pt x="36700" y="59300"/>
                </a:quadBezTo>
                <a:quadBezTo>
                  <a:pt x="41400" y="64000"/>
                  <a:pt x="48000" y="64000"/>
                </a:quadBezTo>
                <a:close/>
                <a:moveTo>
                  <a:pt x="48000" y="52000"/>
                </a:moveTo>
                <a:quadBezTo>
                  <a:pt x="46392" y="52000"/>
                  <a:pt x="45196" y="50804"/>
                </a:quadBezTo>
                <a:quadBezTo>
                  <a:pt x="44000" y="49608"/>
                  <a:pt x="44000" y="48000"/>
                </a:quadBezTo>
                <a:quadBezTo>
                  <a:pt x="44000" y="46392"/>
                  <a:pt x="45196" y="45196"/>
                </a:quadBezTo>
                <a:quadBezTo>
                  <a:pt x="46392" y="44000"/>
                  <a:pt x="48000" y="44000"/>
                </a:quadBezTo>
                <a:quadBezTo>
                  <a:pt x="49608" y="44000"/>
                  <a:pt x="50804" y="45196"/>
                </a:quadBezTo>
                <a:quadBezTo>
                  <a:pt x="52000" y="46392"/>
                  <a:pt x="52000" y="48000"/>
                </a:quadBezTo>
                <a:quadBezTo>
                  <a:pt x="52000" y="49608"/>
                  <a:pt x="50804" y="50804"/>
                </a:quadBezTo>
                <a:quadBezTo>
                  <a:pt x="49608" y="52000"/>
                  <a:pt x="48000" y="5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2" name="Connector 11"/>
          <p:cNvCxnSpPr/>
          <p:nvPr/>
        </p:nvCxnSpPr>
        <p:spPr>
          <a:xfrm>
            <a:off x="338328" y="25603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2670048"/>
            <a:ext cx="26746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Ziele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072384"/>
            <a:ext cx="26746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Transparenz über Ist-Zustand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Quantifiziertes Potenzial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Priorisierte Handlungsfelder</a:t>
            </a:r>
          </a:p>
        </p:txBody>
      </p:sp>
      <p:sp>
        <p:nvSpPr>
          <p:cNvPr id="15" name="Icon checklist"/>
          <p:cNvSpPr/>
          <p:nvPr/>
        </p:nvSpPr>
        <p:spPr>
          <a:xfrm>
            <a:off x="328726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354" y="71615"/>
                </a:moveTo>
                <a:lnTo>
                  <a:pt x="12000" y="60262"/>
                </a:lnTo>
                <a:lnTo>
                  <a:pt x="14754" y="57508"/>
                </a:lnTo>
                <a:lnTo>
                  <a:pt x="23254" y="66008"/>
                </a:lnTo>
                <a:lnTo>
                  <a:pt x="40254" y="49008"/>
                </a:lnTo>
                <a:lnTo>
                  <a:pt x="43008" y="51862"/>
                </a:lnTo>
                <a:lnTo>
                  <a:pt x="23354" y="71615"/>
                </a:lnTo>
                <a:close/>
                <a:moveTo>
                  <a:pt x="23354" y="42692"/>
                </a:moveTo>
                <a:lnTo>
                  <a:pt x="12000" y="31338"/>
                </a:lnTo>
                <a:lnTo>
                  <a:pt x="14754" y="28585"/>
                </a:lnTo>
                <a:lnTo>
                  <a:pt x="23254" y="37085"/>
                </a:lnTo>
                <a:lnTo>
                  <a:pt x="40254" y="20085"/>
                </a:lnTo>
                <a:lnTo>
                  <a:pt x="43008" y="22938"/>
                </a:lnTo>
                <a:lnTo>
                  <a:pt x="23354" y="42692"/>
                </a:lnTo>
                <a:close/>
                <a:moveTo>
                  <a:pt x="52077" y="64462"/>
                </a:moveTo>
                <a:lnTo>
                  <a:pt x="52077" y="60462"/>
                </a:lnTo>
                <a:lnTo>
                  <a:pt x="84077" y="60462"/>
                </a:lnTo>
                <a:lnTo>
                  <a:pt x="84077" y="64462"/>
                </a:lnTo>
                <a:lnTo>
                  <a:pt x="52077" y="64462"/>
                </a:lnTo>
                <a:close/>
                <a:moveTo>
                  <a:pt x="52077" y="35538"/>
                </a:moveTo>
                <a:lnTo>
                  <a:pt x="52077" y="31538"/>
                </a:lnTo>
                <a:lnTo>
                  <a:pt x="84077" y="31538"/>
                </a:lnTo>
                <a:lnTo>
                  <a:pt x="84077" y="35538"/>
                </a:lnTo>
                <a:lnTo>
                  <a:pt x="52077" y="35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6" name="Connector 15"/>
          <p:cNvCxnSpPr/>
          <p:nvPr/>
        </p:nvCxnSpPr>
        <p:spPr>
          <a:xfrm>
            <a:off x="3287268" y="25603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287268" y="2670048"/>
            <a:ext cx="26746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Aktivitäten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7268" y="3072384"/>
            <a:ext cx="26746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Interviews (8–10)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Datenanalyse 12 Monate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Vor-Ort-Begehung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Benchmark-Abgleich</a:t>
            </a:r>
          </a:p>
        </p:txBody>
      </p:sp>
      <p:sp>
        <p:nvSpPr>
          <p:cNvPr id="19" name="Icon description"/>
          <p:cNvSpPr/>
          <p:nvPr/>
        </p:nvSpPr>
        <p:spPr>
          <a:xfrm>
            <a:off x="623620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4000" y="70000"/>
                </a:moveTo>
                <a:lnTo>
                  <a:pt x="62000" y="70000"/>
                </a:lnTo>
                <a:lnTo>
                  <a:pt x="62000" y="66000"/>
                </a:lnTo>
                <a:lnTo>
                  <a:pt x="34000" y="66000"/>
                </a:lnTo>
                <a:lnTo>
                  <a:pt x="34000" y="70000"/>
                </a:lnTo>
                <a:close/>
                <a:moveTo>
                  <a:pt x="34000" y="54000"/>
                </a:moveTo>
                <a:lnTo>
                  <a:pt x="62000" y="54000"/>
                </a:lnTo>
                <a:lnTo>
                  <a:pt x="62000" y="50000"/>
                </a:lnTo>
                <a:lnTo>
                  <a:pt x="34000" y="50000"/>
                </a:lnTo>
                <a:lnTo>
                  <a:pt x="34000" y="54000"/>
                </a:lnTo>
                <a:close/>
                <a:moveTo>
                  <a:pt x="26462" y="84000"/>
                </a:moveTo>
                <a:quadBezTo>
                  <a:pt x="23700" y="84000"/>
                  <a:pt x="21850" y="82150"/>
                </a:quadBezTo>
                <a:quadBezTo>
                  <a:pt x="20000" y="80300"/>
                  <a:pt x="20000" y="77538"/>
                </a:quadBezTo>
                <a:lnTo>
                  <a:pt x="20000" y="18462"/>
                </a:lnTo>
                <a:quadBezTo>
                  <a:pt x="20000" y="15700"/>
                  <a:pt x="21850" y="13850"/>
                </a:quadBezTo>
                <a:quadBezTo>
                  <a:pt x="23700" y="12000"/>
                  <a:pt x="26462" y="12000"/>
                </a:quadBezTo>
                <a:lnTo>
                  <a:pt x="58000" y="12000"/>
                </a:lnTo>
                <a:lnTo>
                  <a:pt x="76000" y="30000"/>
                </a:lnTo>
                <a:lnTo>
                  <a:pt x="76000" y="77538"/>
                </a:lnTo>
                <a:quadBezTo>
                  <a:pt x="76000" y="80300"/>
                  <a:pt x="74150" y="82150"/>
                </a:quadBezTo>
                <a:quadBezTo>
                  <a:pt x="72300" y="84000"/>
                  <a:pt x="69538" y="84000"/>
                </a:quadBezTo>
                <a:lnTo>
                  <a:pt x="26462" y="84000"/>
                </a:lnTo>
                <a:close/>
                <a:moveTo>
                  <a:pt x="56000" y="32000"/>
                </a:moveTo>
                <a:lnTo>
                  <a:pt x="56000" y="16000"/>
                </a:lnTo>
                <a:lnTo>
                  <a:pt x="26462" y="16000"/>
                </a:lnTo>
                <a:quadBezTo>
                  <a:pt x="25538" y="16000"/>
                  <a:pt x="24769" y="16769"/>
                </a:quadBezTo>
                <a:quadBezTo>
                  <a:pt x="24000" y="17538"/>
                  <a:pt x="24000" y="18462"/>
                </a:quadBezTo>
                <a:lnTo>
                  <a:pt x="24000" y="77538"/>
                </a:lnTo>
                <a:quadBezTo>
                  <a:pt x="24000" y="78462"/>
                  <a:pt x="24769" y="79231"/>
                </a:quadBezTo>
                <a:quadBezTo>
                  <a:pt x="25538" y="80000"/>
                  <a:pt x="26462" y="80000"/>
                </a:quadBezTo>
                <a:lnTo>
                  <a:pt x="69538" y="80000"/>
                </a:lnTo>
                <a:quadBezTo>
                  <a:pt x="70462" y="80000"/>
                  <a:pt x="71231" y="79231"/>
                </a:quadBezTo>
                <a:quadBezTo>
                  <a:pt x="72000" y="78462"/>
                  <a:pt x="72000" y="77538"/>
                </a:quadBezTo>
                <a:lnTo>
                  <a:pt x="72000" y="32000"/>
                </a:lnTo>
                <a:lnTo>
                  <a:pt x="56000" y="32000"/>
                </a:lnTo>
                <a:close/>
                <a:moveTo>
                  <a:pt x="24000" y="16000"/>
                </a:moveTo>
                <a:lnTo>
                  <a:pt x="24000" y="32000"/>
                </a:lnTo>
                <a:lnTo>
                  <a:pt x="24000" y="16000"/>
                </a:lnTo>
                <a:lnTo>
                  <a:pt x="24000" y="80000"/>
                </a:lnTo>
                <a:lnTo>
                  <a:pt x="24000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0" name="Connector 19"/>
          <p:cNvCxnSpPr/>
          <p:nvPr/>
        </p:nvCxnSpPr>
        <p:spPr>
          <a:xfrm>
            <a:off x="6236208" y="25603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236208" y="2670048"/>
            <a:ext cx="26746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Ergebnisse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072384"/>
            <a:ext cx="26746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Analysebericht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Potenzial in € und KPIs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Roadmap mit Quick Wins</a:t>
            </a:r>
          </a:p>
        </p:txBody>
      </p:sp>
      <p:sp>
        <p:nvSpPr>
          <p:cNvPr id="23" name="Icon groups"/>
          <p:cNvSpPr/>
          <p:nvPr/>
        </p:nvSpPr>
        <p:spPr>
          <a:xfrm>
            <a:off x="9185148" y="201168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4" name="Connector 23"/>
          <p:cNvCxnSpPr/>
          <p:nvPr/>
        </p:nvCxnSpPr>
        <p:spPr>
          <a:xfrm>
            <a:off x="9185148" y="25603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185148" y="2670048"/>
            <a:ext cx="26746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Ihre Mitwirkung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5148" y="3072384"/>
            <a:ext cx="26746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Ansprechpartner je Bereich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Datenbereitstellung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2 Workshops à 3 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" y="4800600"/>
            <a:ext cx="11521440" cy="5029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80060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Dauer  </a:t>
            </a:r>
            <a:r>
              <a:rPr sz="1300" b="0" i="0">
                <a:solidFill>
                  <a:schemeClr val="tx1"/>
                </a:solidFill>
              </a:rPr>
              <a:t>6 Wochen    </a:t>
            </a:r>
            <a:r>
              <a:rPr sz="1300" b="0" i="0">
                <a:solidFill>
                  <a:schemeClr val="accent1"/>
                </a:solidFill>
              </a:rPr>
              <a:t>Team  </a:t>
            </a:r>
            <a:r>
              <a:rPr sz="1300" b="0" i="0">
                <a:solidFill>
                  <a:schemeClr val="tx1"/>
                </a:solidFill>
              </a:rPr>
              <a:t>2 Berater, 1 Experte    </a:t>
            </a:r>
            <a:r>
              <a:rPr sz="1300" b="0" i="0">
                <a:solidFill>
                  <a:schemeClr val="accent1"/>
                </a:solidFill>
              </a:rPr>
              <a:t>Gate  </a:t>
            </a:r>
            <a:r>
              <a:rPr sz="1300" b="0" i="0">
                <a:solidFill>
                  <a:schemeClr val="tx1"/>
                </a:solidFill>
              </a:rPr>
              <a:t>Steering Committee am [Datum]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Gantt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Projektplan: Go-live der neuen Linie im September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1528" y="1261872"/>
            <a:ext cx="8778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52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304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608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60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20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9672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8248" y="14630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178308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308152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381304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54456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27608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00760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73912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47064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820216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93368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966520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1039672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1112824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11859768" y="1783080"/>
            <a:ext cx="0" cy="3840479"/>
          </a:xfrm>
          <a:prstGeom prst="line">
            <a:avLst/>
          </a:prstGeom>
          <a:ln w="6350">
            <a:solidFill>
              <a:srgbClr val="E6E2DC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38328" y="1874520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Analyse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99816" y="1956816"/>
            <a:ext cx="1060704" cy="210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2249424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Konzept &amp; 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7096" y="2331720"/>
            <a:ext cx="1426464" cy="210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2624328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Gate: Investitionsfreigabe</a:t>
            </a:r>
          </a:p>
        </p:txBody>
      </p:sp>
      <p:sp>
        <p:nvSpPr>
          <p:cNvPr id="38" name="Diamond 37"/>
          <p:cNvSpPr/>
          <p:nvPr/>
        </p:nvSpPr>
        <p:spPr>
          <a:xfrm>
            <a:off x="5532120" y="2702052"/>
            <a:ext cx="219456" cy="219456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" y="2999232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Basic &amp; Detail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0136" y="3081528"/>
            <a:ext cx="2157984" cy="210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" y="3374136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Vergabe &amp; Lieferung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57416" y="3456432"/>
            <a:ext cx="2157984" cy="2103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" y="3749039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Installation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0456" y="3831335"/>
            <a:ext cx="1426464" cy="210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" y="4123944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IQ / OQ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17736" y="4206240"/>
            <a:ext cx="1060704" cy="210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" y="4498848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Go-live</a:t>
            </a:r>
          </a:p>
        </p:txBody>
      </p:sp>
      <p:sp>
        <p:nvSpPr>
          <p:cNvPr id="48" name="Diamond 47"/>
          <p:cNvSpPr/>
          <p:nvPr/>
        </p:nvSpPr>
        <p:spPr>
          <a:xfrm>
            <a:off x="9372600" y="4576572"/>
            <a:ext cx="219456" cy="219456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" y="4873752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PQ &amp; Prozessvalidierung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49256" y="4956048"/>
            <a:ext cx="1426464" cy="2103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" y="5248656"/>
            <a:ext cx="2651760" cy="3749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Schulung &amp; Hypercare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83496" y="5330952"/>
            <a:ext cx="2157984" cy="2103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8328" y="5715000"/>
            <a:ext cx="274320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5669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Kritischer Pfad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67128" y="5715000"/>
            <a:ext cx="274320" cy="1463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32888" y="5669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Weitere Aktivitäten</a:t>
            </a:r>
          </a:p>
        </p:txBody>
      </p:sp>
      <p:sp>
        <p:nvSpPr>
          <p:cNvPr id="57" name="Diamond 56"/>
          <p:cNvSpPr/>
          <p:nvPr/>
        </p:nvSpPr>
        <p:spPr>
          <a:xfrm>
            <a:off x="4270248" y="5678424"/>
            <a:ext cx="201168" cy="201168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62856" y="56692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Meilenstein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Meilensteine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Sechs Meilensteine markieren den Weg zur Marktfreigabe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3246120"/>
            <a:ext cx="11521440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7" name="Oval 6"/>
          <p:cNvSpPr/>
          <p:nvPr/>
        </p:nvSpPr>
        <p:spPr>
          <a:xfrm>
            <a:off x="356616" y="3108960"/>
            <a:ext cx="274320" cy="27432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5087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accent1"/>
                </a:solidFill>
              </a:rPr>
              <a:t>Q4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011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Projektstart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3317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Kick-off und Analyse</a:t>
            </a:r>
          </a:p>
        </p:txBody>
      </p:sp>
      <p:sp>
        <p:nvSpPr>
          <p:cNvPr id="11" name="Oval 10"/>
          <p:cNvSpPr/>
          <p:nvPr/>
        </p:nvSpPr>
        <p:spPr>
          <a:xfrm>
            <a:off x="2276856" y="3108960"/>
            <a:ext cx="274320" cy="274320"/>
          </a:xfrm>
          <a:prstGeom prst="ellipse">
            <a:avLst/>
          </a:prstGeom>
          <a:solidFill>
            <a:schemeClr val="accent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35661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accent1"/>
                </a:solidFill>
              </a:rPr>
              <a:t>Q1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40690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Investitionsfreigabe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43891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Business Case genehmigt</a:t>
            </a:r>
          </a:p>
        </p:txBody>
      </p:sp>
      <p:sp>
        <p:nvSpPr>
          <p:cNvPr id="15" name="Oval 14"/>
          <p:cNvSpPr/>
          <p:nvPr/>
        </p:nvSpPr>
        <p:spPr>
          <a:xfrm>
            <a:off x="4197096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8" y="15087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accent1"/>
                </a:solidFill>
              </a:rPr>
              <a:t>Q2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011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Design Freeze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3317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Detail Design freigegeben</a:t>
            </a:r>
          </a:p>
        </p:txBody>
      </p:sp>
      <p:sp>
        <p:nvSpPr>
          <p:cNvPr id="19" name="Oval 18"/>
          <p:cNvSpPr/>
          <p:nvPr/>
        </p:nvSpPr>
        <p:spPr>
          <a:xfrm>
            <a:off x="6117336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35661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accent1"/>
                </a:solidFill>
              </a:rPr>
              <a:t>Q3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40690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Installation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43891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Mechanical Completion</a:t>
            </a:r>
          </a:p>
        </p:txBody>
      </p:sp>
      <p:sp>
        <p:nvSpPr>
          <p:cNvPr id="23" name="Oval 22"/>
          <p:cNvSpPr/>
          <p:nvPr/>
        </p:nvSpPr>
        <p:spPr>
          <a:xfrm>
            <a:off x="8037575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15087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accent1"/>
                </a:solidFill>
              </a:rPr>
              <a:t>Q4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20116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23317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Erste GMP-Charge</a:t>
            </a:r>
          </a:p>
        </p:txBody>
      </p:sp>
      <p:sp>
        <p:nvSpPr>
          <p:cNvPr id="27" name="Oval 26"/>
          <p:cNvSpPr/>
          <p:nvPr/>
        </p:nvSpPr>
        <p:spPr>
          <a:xfrm>
            <a:off x="9957815" y="3108960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9528" y="356616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0" i="0">
                <a:solidFill>
                  <a:schemeClr val="accent1"/>
                </a:solidFill>
              </a:rPr>
              <a:t>Q1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406908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Marktfreigabe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438912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Behördliche Zulassung</a:t>
            </a:r>
          </a:p>
        </p:txBody>
      </p:sp>
      <p:sp>
        <p:nvSpPr>
          <p:cNvPr id="31" name="Oval 30"/>
          <p:cNvSpPr/>
          <p:nvPr/>
        </p:nvSpPr>
        <p:spPr>
          <a:xfrm>
            <a:off x="338328" y="5733288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6875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Erreicht</a:t>
            </a:r>
          </a:p>
        </p:txBody>
      </p:sp>
      <p:sp>
        <p:nvSpPr>
          <p:cNvPr id="33" name="Oval 32"/>
          <p:cNvSpPr/>
          <p:nvPr/>
        </p:nvSpPr>
        <p:spPr>
          <a:xfrm>
            <a:off x="1527048" y="5733288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56875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Geplant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Stage-Gate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Nach jeder Phase entscheidet ein Gate über das weitere Vorgehen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463040"/>
            <a:ext cx="237744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Analyse</a:t>
            </a:r>
          </a:p>
        </p:txBody>
      </p:sp>
      <p:sp>
        <p:nvSpPr>
          <p:cNvPr id="7" name="Diamond 6"/>
          <p:cNvSpPr/>
          <p:nvPr/>
        </p:nvSpPr>
        <p:spPr>
          <a:xfrm>
            <a:off x="2807208" y="1463040"/>
            <a:ext cx="320040" cy="54864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233172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1 – KRITERIEN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60604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69748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Potenzial &gt; € 2 Mio.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Sponsor bestätigt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63040"/>
            <a:ext cx="237744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Konzept</a:t>
            </a:r>
          </a:p>
        </p:txBody>
      </p:sp>
      <p:sp>
        <p:nvSpPr>
          <p:cNvPr id="12" name="Diamond 11"/>
          <p:cNvSpPr/>
          <p:nvPr/>
        </p:nvSpPr>
        <p:spPr>
          <a:xfrm>
            <a:off x="5687568" y="1463040"/>
            <a:ext cx="320040" cy="54864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233172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2 – KRITERIEN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8688" y="260604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3218688" y="269748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Business Case positiv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CAPEX genehmigt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8" y="1463040"/>
            <a:ext cx="237744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Engineering</a:t>
            </a:r>
          </a:p>
        </p:txBody>
      </p:sp>
      <p:sp>
        <p:nvSpPr>
          <p:cNvPr id="17" name="Diamond 16"/>
          <p:cNvSpPr/>
          <p:nvPr/>
        </p:nvSpPr>
        <p:spPr>
          <a:xfrm>
            <a:off x="8567928" y="1463040"/>
            <a:ext cx="320040" cy="54864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233172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3 – KRITERIEN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260604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099048" y="269748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Design Freeze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Budget ±10 %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1463040"/>
            <a:ext cx="237744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Realisierung</a:t>
            </a:r>
          </a:p>
        </p:txBody>
      </p:sp>
      <p:sp>
        <p:nvSpPr>
          <p:cNvPr id="22" name="Diamond 21"/>
          <p:cNvSpPr/>
          <p:nvPr/>
        </p:nvSpPr>
        <p:spPr>
          <a:xfrm>
            <a:off x="11448288" y="1463040"/>
            <a:ext cx="320040" cy="548640"/>
          </a:xfrm>
          <a:prstGeom prst="diamond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233172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GATE 4 – KRITERIEN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79408" y="2606040"/>
            <a:ext cx="27889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8979408" y="269748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IQ/OQ bestanden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Freigabe QA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" y="4114800"/>
            <a:ext cx="1152144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" y="420624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Am Gate entscheidet das Steering Committee: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Go  </a:t>
            </a:r>
            <a:r>
              <a:rPr sz="1300" b="0" i="0">
                <a:solidFill>
                  <a:schemeClr val="tx1"/>
                </a:solidFill>
              </a:rPr>
              <a:t>nächste Phase starten   </a:t>
            </a:r>
            <a:r>
              <a:rPr sz="1300" b="0" i="0">
                <a:solidFill>
                  <a:schemeClr val="accent1"/>
                </a:solidFill>
              </a:rPr>
              <a:t>Hold  </a:t>
            </a:r>
            <a:r>
              <a:rPr sz="1300" b="0" i="0">
                <a:solidFill>
                  <a:schemeClr val="tx1"/>
                </a:solidFill>
              </a:rPr>
              <a:t>Nacharbeit mit neuem Termin   </a:t>
            </a:r>
            <a:r>
              <a:rPr sz="1300" b="0" i="0">
                <a:solidFill>
                  <a:schemeClr val="accent1"/>
                </a:solidFill>
              </a:rPr>
              <a:t>Stop  </a:t>
            </a:r>
            <a:r>
              <a:rPr sz="1300" b="0" i="0">
                <a:solidFill>
                  <a:schemeClr val="tx1"/>
                </a:solidFill>
              </a:rPr>
              <a:t>Projekt beenden, Ergebnisse sichern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Workshop-Konzept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Vier Workshops binden Ihre Experten gezielt und zeitsparend ein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Zielbild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Woche 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ZIEL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743200"/>
            <a:ext cx="26746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Ziele, Anforderungen und Erfolgskriterien abstimmen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65760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TEILNEHMENDE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93192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Sponsor, Produktion,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448056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DAUER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475488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3 Stunden</a:t>
            </a:r>
          </a:p>
        </p:txBody>
      </p:sp>
      <p:sp>
        <p:nvSpPr>
          <p:cNvPr id="16" name="Icon arrow_forward"/>
          <p:cNvSpPr/>
          <p:nvPr/>
        </p:nvSpPr>
        <p:spPr>
          <a:xfrm>
            <a:off x="3040380" y="16184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Oval 16"/>
          <p:cNvSpPr/>
          <p:nvPr/>
        </p:nvSpPr>
        <p:spPr>
          <a:xfrm>
            <a:off x="328726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W2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5948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Ist-Analyse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5948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Woche 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8726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28726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ZIEL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7268" y="2743200"/>
            <a:ext cx="26746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Ergebnisse der Analyse validieren, Hypothesen prüfen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7268" y="365760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TEILNEHMENDE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7268" y="393192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Fachbereiche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7268" y="448056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DAUER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7268" y="475488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3 Stunden</a:t>
            </a:r>
          </a:p>
        </p:txBody>
      </p:sp>
      <p:sp>
        <p:nvSpPr>
          <p:cNvPr id="27" name="Icon arrow_forward"/>
          <p:cNvSpPr/>
          <p:nvPr/>
        </p:nvSpPr>
        <p:spPr>
          <a:xfrm>
            <a:off x="5989320" y="16184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8" name="Oval 27"/>
          <p:cNvSpPr/>
          <p:nvPr/>
        </p:nvSpPr>
        <p:spPr>
          <a:xfrm>
            <a:off x="623620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W3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Lösungsoptionen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Woche 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3620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23620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ZIEL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743200"/>
            <a:ext cx="26746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Optionen bewerten und priorisieren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65760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TEILNEHMENDE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393192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Kernteam, Finanzen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48056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DAUER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75488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3 Stunden</a:t>
            </a:r>
          </a:p>
        </p:txBody>
      </p:sp>
      <p:sp>
        <p:nvSpPr>
          <p:cNvPr id="38" name="Icon arrow_forward"/>
          <p:cNvSpPr/>
          <p:nvPr/>
        </p:nvSpPr>
        <p:spPr>
          <a:xfrm>
            <a:off x="8938260" y="161848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9" name="Oval 38"/>
          <p:cNvSpPr/>
          <p:nvPr/>
        </p:nvSpPr>
        <p:spPr>
          <a:xfrm>
            <a:off x="9185148" y="1371600"/>
            <a:ext cx="731520" cy="7315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W4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3828" y="1417320"/>
            <a:ext cx="18059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3828" y="1783080"/>
            <a:ext cx="18059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Woche 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85148" y="233172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9185148" y="246888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ZIEL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5148" y="2743200"/>
            <a:ext cx="26746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Umsetzungsplan und Business Case verabschieden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5148" y="365760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TEILNEHMENDE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5148" y="3931920"/>
            <a:ext cx="26746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Steering Committee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5148" y="4480560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DAUER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5148" y="475488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3 Stunden</a:t>
            </a:r>
          </a:p>
        </p:txBody>
      </p:sp>
      <p:sp>
        <p:nvSpPr>
          <p:cNvPr id="49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2" name="TextBox 51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Rund 12 Stunden Workshop-Zeit je Experte – mehr Einbindung ist nicht nötig, weniger gefährdet die Akzeptanz.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Projektorganisation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Tandem-Projektleitung sichert Entscheidungsfähigkeit auf beiden Seiten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5848" y="1325880"/>
            <a:ext cx="5486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Steering Committee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[Sponsor Kunde], [Körber Executive]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2011680"/>
            <a:ext cx="0" cy="32004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3813048" y="2331720"/>
            <a:ext cx="219456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Projektleitung Kunde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0488" y="2331720"/>
            <a:ext cx="219456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Projektleitung Körber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[Name]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331720"/>
            <a:ext cx="2715768" cy="73152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PMO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Planung, Reporting, Risiken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85048" y="2697480"/>
            <a:ext cx="758952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099048" y="3063240"/>
            <a:ext cx="0" cy="36576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692783" y="3429000"/>
            <a:ext cx="8812530" cy="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9278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338328" y="3703320"/>
            <a:ext cx="2708910" cy="16002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Facility &amp;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526280"/>
            <a:ext cx="234315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Kunde: [Name]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3029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3275838" y="3703320"/>
            <a:ext cx="2708910" cy="16002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871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871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CQV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8718" y="4526280"/>
            <a:ext cx="234315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Kunde: [Name]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6780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6213348" y="3703320"/>
            <a:ext cx="2708910" cy="16002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622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622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MES &amp; Daten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6228" y="4526280"/>
            <a:ext cx="234315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Kunde: [Name]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505313" y="3429000"/>
            <a:ext cx="0" cy="274320"/>
          </a:xfrm>
          <a:prstGeom prst="line">
            <a:avLst/>
          </a:prstGeom>
          <a:ln w="9525">
            <a:solidFill>
              <a:schemeClr val="tx2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9150858" y="3703320"/>
            <a:ext cx="2708910" cy="16002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3738" y="3840480"/>
            <a:ext cx="23431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WORKSTREAM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3738" y="4114800"/>
            <a:ext cx="234315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Organisation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3738" y="4526280"/>
            <a:ext cx="234315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Kunde: [Name]</a:t>
            </a:r>
          </a:p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Lead Körber: [Name]</a:t>
            </a:r>
          </a:p>
        </p:txBody>
      </p:sp>
      <p:sp>
        <p:nvSpPr>
          <p:cNvPr id="3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Jede Rolle ist doppelt besetzt – Entscheidungen fallen dort, wo das Wissen sitzt.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RACI-Matrix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Klare Verantwortlichkeiten: RACI für die zentralen Ergebnisse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32841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29184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Ergebnis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Sponsor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PL Kunde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PL 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QA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Produktion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Einkauf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Projektauftrag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User Requirements (URS)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Basic Design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Vergabeentscheidung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Qualifizierungsplan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Freigabe Go-live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8328" y="493776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R </a:t>
            </a:r>
            <a:r>
              <a:rPr sz="1100" b="0" i="0">
                <a:solidFill>
                  <a:schemeClr val="tx1"/>
                </a:solidFill>
              </a:rPr>
              <a:t>Responsible – führt aus    </a:t>
            </a:r>
            <a:r>
              <a:rPr sz="1100" b="0" i="0">
                <a:solidFill>
                  <a:schemeClr val="accent1"/>
                </a:solidFill>
              </a:rPr>
              <a:t>A </a:t>
            </a:r>
            <a:r>
              <a:rPr sz="1100" b="0" i="0">
                <a:solidFill>
                  <a:schemeClr val="tx1"/>
                </a:solidFill>
              </a:rPr>
              <a:t>Accountable – entscheidet    </a:t>
            </a:r>
            <a:r>
              <a:rPr sz="1100" b="0" i="0">
                <a:solidFill>
                  <a:schemeClr val="accent1"/>
                </a:solidFill>
              </a:rPr>
              <a:t>C </a:t>
            </a:r>
            <a:r>
              <a:rPr sz="1100" b="0" i="0">
                <a:solidFill>
                  <a:schemeClr val="tx1"/>
                </a:solidFill>
              </a:rPr>
              <a:t>Consulted – wird gefragt    </a:t>
            </a:r>
            <a:r>
              <a:rPr sz="1100" b="0" i="0">
                <a:solidFill>
                  <a:schemeClr val="accent1"/>
                </a:solidFill>
              </a:rPr>
              <a:t>I </a:t>
            </a:r>
            <a:r>
              <a:rPr sz="1100" b="0" i="0">
                <a:solidFill>
                  <a:schemeClr val="tx1"/>
                </a:solidFill>
              </a:rPr>
              <a:t>Informed – wird informiert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Gremien mit festen Rhythmen steuern das Projekt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38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27035"/>
                <a:gridCol w="2658793"/>
                <a:gridCol w="1772529"/>
                <a:gridCol w="2658793"/>
                <a:gridCol w="2304288"/>
              </a:tblGrid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Gremium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Teilnehmende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Rhythmus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Zweck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Format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Steering Committee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Sponsor, Geschäftsführung, PL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Monatlich, 60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Entscheidungen, Eskalationen, Gates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Statusbericht, Entscheidungsvorlage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Projektleitungsrunde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PL Kunde, PL Körber, PMO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Wöchentlich, 45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Fortschritt, Risiken, Ressourcen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Status-Dashboard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Workstream-Meeting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Workstream-Teams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Wöchentlich, 30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Operative Abstimmung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Aufgabenliste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Daily Stand-up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Team vor Ort (Realisierung)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Täglich, 15 Min.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Tagesplanung, Hindernisse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Board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Entscheidungen fallen im Steering Committee – alle anderen Gremien bereiten vor und setzen um.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Annahmen und Mitwirkung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Annahmen und Mitwirkungsleistungen schaffen Planungssicherheit</a:t>
            </a:r>
          </a:p>
        </p:txBody>
      </p:sp>
      <p:sp>
        <p:nvSpPr>
          <p:cNvPr id="6" name="Icon fact_check"/>
          <p:cNvSpPr/>
          <p:nvPr/>
        </p:nvSpPr>
        <p:spPr>
          <a:xfrm>
            <a:off x="338328" y="137160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80000"/>
                </a:moveTo>
                <a:quadBezTo>
                  <a:pt x="15700" y="80000"/>
                  <a:pt x="13850" y="78150"/>
                </a:quadBezTo>
                <a:quadBezTo>
                  <a:pt x="12000" y="76300"/>
                  <a:pt x="12000" y="73538"/>
                </a:quadBezTo>
                <a:lnTo>
                  <a:pt x="12000" y="22462"/>
                </a:lnTo>
                <a:quadBezTo>
                  <a:pt x="12000" y="19700"/>
                  <a:pt x="13850" y="17850"/>
                </a:quadBezTo>
                <a:quadBezTo>
                  <a:pt x="15700" y="16000"/>
                  <a:pt x="18462" y="16000"/>
                </a:quadBezTo>
                <a:lnTo>
                  <a:pt x="77538" y="16000"/>
                </a:lnTo>
                <a:quadBezTo>
                  <a:pt x="80300" y="16000"/>
                  <a:pt x="82150" y="17850"/>
                </a:quadBezTo>
                <a:quadBezTo>
                  <a:pt x="84000" y="19700"/>
                  <a:pt x="84000" y="22462"/>
                </a:quadBezTo>
                <a:lnTo>
                  <a:pt x="84000" y="73538"/>
                </a:lnTo>
                <a:quadBezTo>
                  <a:pt x="84000" y="76300"/>
                  <a:pt x="82150" y="78150"/>
                </a:quadBezTo>
                <a:quadBezTo>
                  <a:pt x="80300" y="80000"/>
                  <a:pt x="77538" y="80000"/>
                </a:quadBezTo>
                <a:lnTo>
                  <a:pt x="18462" y="80000"/>
                </a:lnTo>
                <a:close/>
                <a:moveTo>
                  <a:pt x="18462" y="76000"/>
                </a:moveTo>
                <a:lnTo>
                  <a:pt x="77538" y="76000"/>
                </a:lnTo>
                <a:quadBezTo>
                  <a:pt x="78462" y="76000"/>
                  <a:pt x="79231" y="75231"/>
                </a:quadBezTo>
                <a:quadBezTo>
                  <a:pt x="80000" y="74462"/>
                  <a:pt x="80000" y="73538"/>
                </a:quadBezTo>
                <a:lnTo>
                  <a:pt x="80000" y="22462"/>
                </a:lnTo>
                <a:quadBezTo>
                  <a:pt x="80000" y="21538"/>
                  <a:pt x="79231" y="20769"/>
                </a:quadBezTo>
                <a:quadBezTo>
                  <a:pt x="78462" y="20000"/>
                  <a:pt x="77538" y="20000"/>
                </a:quadBezTo>
                <a:lnTo>
                  <a:pt x="18462" y="20000"/>
                </a:lnTo>
                <a:quadBezTo>
                  <a:pt x="17538" y="20000"/>
                  <a:pt x="16769" y="20769"/>
                </a:quadBezTo>
                <a:quadBezTo>
                  <a:pt x="16000" y="21538"/>
                  <a:pt x="16000" y="22462"/>
                </a:quadBezTo>
                <a:lnTo>
                  <a:pt x="16000" y="73538"/>
                </a:lnTo>
                <a:quadBezTo>
                  <a:pt x="16000" y="74462"/>
                  <a:pt x="16769" y="75231"/>
                </a:quadBezTo>
                <a:quadBezTo>
                  <a:pt x="17538" y="76000"/>
                  <a:pt x="18462" y="76000"/>
                </a:quadBezTo>
                <a:close/>
                <a:moveTo>
                  <a:pt x="22000" y="66000"/>
                </a:moveTo>
                <a:lnTo>
                  <a:pt x="38000" y="66000"/>
                </a:lnTo>
                <a:lnTo>
                  <a:pt x="38000" y="62000"/>
                </a:lnTo>
                <a:lnTo>
                  <a:pt x="22000" y="62000"/>
                </a:lnTo>
                <a:lnTo>
                  <a:pt x="22000" y="66000"/>
                </a:lnTo>
                <a:close/>
                <a:moveTo>
                  <a:pt x="58200" y="57154"/>
                </a:moveTo>
                <a:lnTo>
                  <a:pt x="75154" y="40200"/>
                </a:lnTo>
                <a:lnTo>
                  <a:pt x="72300" y="37346"/>
                </a:lnTo>
                <a:lnTo>
                  <a:pt x="58200" y="51546"/>
                </a:lnTo>
                <a:lnTo>
                  <a:pt x="52500" y="45846"/>
                </a:lnTo>
                <a:lnTo>
                  <a:pt x="49746" y="48700"/>
                </a:lnTo>
                <a:lnTo>
                  <a:pt x="58200" y="57154"/>
                </a:lnTo>
                <a:close/>
                <a:moveTo>
                  <a:pt x="22000" y="50000"/>
                </a:moveTo>
                <a:lnTo>
                  <a:pt x="38000" y="50000"/>
                </a:lnTo>
                <a:lnTo>
                  <a:pt x="38000" y="46000"/>
                </a:lnTo>
                <a:lnTo>
                  <a:pt x="22000" y="46000"/>
                </a:lnTo>
                <a:lnTo>
                  <a:pt x="22000" y="50000"/>
                </a:lnTo>
                <a:close/>
                <a:moveTo>
                  <a:pt x="22000" y="34000"/>
                </a:moveTo>
                <a:lnTo>
                  <a:pt x="38000" y="34000"/>
                </a:lnTo>
                <a:lnTo>
                  <a:pt x="38000" y="30000"/>
                </a:lnTo>
                <a:lnTo>
                  <a:pt x="22000" y="30000"/>
                </a:lnTo>
                <a:lnTo>
                  <a:pt x="22000" y="34000"/>
                </a:lnTo>
                <a:close/>
                <a:moveTo>
                  <a:pt x="16000" y="76000"/>
                </a:moveTo>
                <a:lnTo>
                  <a:pt x="16000" y="20000"/>
                </a:lnTo>
                <a:lnTo>
                  <a:pt x="16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932688" y="1417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Unsere Annahmen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" y="1965960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Oval 8"/>
          <p:cNvSpPr/>
          <p:nvPr/>
        </p:nvSpPr>
        <p:spPr>
          <a:xfrm>
            <a:off x="338328" y="213055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031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Projektstart spätestens [Datum]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" y="269747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70048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Bestehende Gebäudestruktur wird genutzt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" y="326440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36976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Maximal zwei Produktformate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" y="38313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803904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Entscheidungen innerhalb von 10 Arbeitstagen</a:t>
            </a:r>
          </a:p>
        </p:txBody>
      </p:sp>
      <p:sp>
        <p:nvSpPr>
          <p:cNvPr id="17" name="Oval 16"/>
          <p:cNvSpPr/>
          <p:nvPr/>
        </p:nvSpPr>
        <p:spPr>
          <a:xfrm>
            <a:off x="338328" y="439826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370831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Arbeitssprache Deutsch und Englisch</a:t>
            </a:r>
          </a:p>
        </p:txBody>
      </p:sp>
      <p:sp>
        <p:nvSpPr>
          <p:cNvPr id="19" name="Icon groups"/>
          <p:cNvSpPr/>
          <p:nvPr/>
        </p:nvSpPr>
        <p:spPr>
          <a:xfrm>
            <a:off x="6327648" y="137160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6922008" y="1417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Ihre Mitwirkung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27648" y="1965960"/>
            <a:ext cx="55321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6327648" y="2130551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2103120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Benannte Projektleitung (50 % Kapazität)</a:t>
            </a:r>
          </a:p>
        </p:txBody>
      </p:sp>
      <p:sp>
        <p:nvSpPr>
          <p:cNvPr id="24" name="Oval 23"/>
          <p:cNvSpPr/>
          <p:nvPr/>
        </p:nvSpPr>
        <p:spPr>
          <a:xfrm>
            <a:off x="6327648" y="2697479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2670048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Zugang zu Daten, Systemen und Anlagen</a:t>
            </a:r>
          </a:p>
        </p:txBody>
      </p:sp>
      <p:sp>
        <p:nvSpPr>
          <p:cNvPr id="26" name="Oval 25"/>
          <p:cNvSpPr/>
          <p:nvPr/>
        </p:nvSpPr>
        <p:spPr>
          <a:xfrm>
            <a:off x="6327648" y="3264408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3236976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Fachexperten für Workshops (ca. 2 Tage/Monat)</a:t>
            </a:r>
          </a:p>
        </p:txBody>
      </p:sp>
      <p:sp>
        <p:nvSpPr>
          <p:cNvPr id="28" name="Oval 27"/>
          <p:cNvSpPr/>
          <p:nvPr/>
        </p:nvSpPr>
        <p:spPr>
          <a:xfrm>
            <a:off x="6327648" y="3831336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803904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Freigaben durch QA innerhalb der Fristen</a:t>
            </a:r>
          </a:p>
        </p:txBody>
      </p:sp>
      <p:sp>
        <p:nvSpPr>
          <p:cNvPr id="30" name="Oval 29"/>
          <p:cNvSpPr/>
          <p:nvPr/>
        </p:nvSpPr>
        <p:spPr>
          <a:xfrm>
            <a:off x="6327648" y="4398264"/>
            <a:ext cx="329184" cy="32918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4370831"/>
            <a:ext cx="498348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Arbeitsplätze für das Körber-Team vor Ort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Vorgehen &amp; Plan | 30-60-90-Tage-Plan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ersten 90 Tage: Schnelle Ergebnisse schaffen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65760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Tag 1–30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Verstehen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Kick-off und Interviews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Datenanalyse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Baseline der KPIs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4206240"/>
            <a:ext cx="3657600" cy="822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bolt"/>
          <p:cNvSpPr/>
          <p:nvPr/>
        </p:nvSpPr>
        <p:spPr>
          <a:xfrm>
            <a:off x="521208" y="4416552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00" y="72800"/>
                </a:moveTo>
                <a:lnTo>
                  <a:pt x="62900" y="48000"/>
                </a:lnTo>
                <a:lnTo>
                  <a:pt x="46900" y="48000"/>
                </a:lnTo>
                <a:lnTo>
                  <a:pt x="49800" y="25300"/>
                </a:lnTo>
                <a:lnTo>
                  <a:pt x="31300" y="52000"/>
                </a:lnTo>
                <a:lnTo>
                  <a:pt x="45200" y="52000"/>
                </a:lnTo>
                <a:lnTo>
                  <a:pt x="42200" y="72800"/>
                </a:lnTo>
                <a:close/>
                <a:moveTo>
                  <a:pt x="36615" y="83538"/>
                </a:moveTo>
                <a:lnTo>
                  <a:pt x="40615" y="56000"/>
                </a:lnTo>
                <a:lnTo>
                  <a:pt x="23615" y="56000"/>
                </a:lnTo>
                <a:lnTo>
                  <a:pt x="53538" y="12846"/>
                </a:lnTo>
                <a:lnTo>
                  <a:pt x="55385" y="12846"/>
                </a:lnTo>
                <a:lnTo>
                  <a:pt x="51462" y="44000"/>
                </a:lnTo>
                <a:lnTo>
                  <a:pt x="71462" y="44000"/>
                </a:lnTo>
                <a:lnTo>
                  <a:pt x="38462" y="83538"/>
                </a:lnTo>
                <a:lnTo>
                  <a:pt x="36615" y="83538"/>
                </a:lnTo>
                <a:close/>
                <a:moveTo>
                  <a:pt x="471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1024128" y="42062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Quick Win: Rüst-Standard Linie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371600"/>
            <a:ext cx="365760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Tag 31–60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7190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Gestalten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42316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Zielbild und Optionen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Workshops mit Fachbereichen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Business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4206240"/>
            <a:ext cx="3657600" cy="822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con bolt"/>
          <p:cNvSpPr/>
          <p:nvPr/>
        </p:nvSpPr>
        <p:spPr>
          <a:xfrm>
            <a:off x="4453128" y="4416552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00" y="72800"/>
                </a:moveTo>
                <a:lnTo>
                  <a:pt x="62900" y="48000"/>
                </a:lnTo>
                <a:lnTo>
                  <a:pt x="46900" y="48000"/>
                </a:lnTo>
                <a:lnTo>
                  <a:pt x="49800" y="25300"/>
                </a:lnTo>
                <a:lnTo>
                  <a:pt x="31300" y="52000"/>
                </a:lnTo>
                <a:lnTo>
                  <a:pt x="45200" y="52000"/>
                </a:lnTo>
                <a:lnTo>
                  <a:pt x="42200" y="72800"/>
                </a:lnTo>
                <a:close/>
                <a:moveTo>
                  <a:pt x="36615" y="83538"/>
                </a:moveTo>
                <a:lnTo>
                  <a:pt x="40615" y="56000"/>
                </a:lnTo>
                <a:lnTo>
                  <a:pt x="23615" y="56000"/>
                </a:lnTo>
                <a:lnTo>
                  <a:pt x="53538" y="12846"/>
                </a:lnTo>
                <a:lnTo>
                  <a:pt x="55385" y="12846"/>
                </a:lnTo>
                <a:lnTo>
                  <a:pt x="51462" y="44000"/>
                </a:lnTo>
                <a:lnTo>
                  <a:pt x="71462" y="44000"/>
                </a:lnTo>
                <a:lnTo>
                  <a:pt x="38462" y="83538"/>
                </a:lnTo>
                <a:lnTo>
                  <a:pt x="36615" y="83538"/>
                </a:lnTo>
                <a:close/>
                <a:moveTo>
                  <a:pt x="471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4956048" y="42062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Quick Win: Freigabe-Checkliste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1371600"/>
            <a:ext cx="365760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Tag 61–90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171907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bg1"/>
                </a:solidFill>
              </a:rPr>
              <a:t>Entscheiden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423160"/>
            <a:ext cx="32004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Roadmap verabschieden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Investitionsantrag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Start Umsetzung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4206240"/>
            <a:ext cx="3657600" cy="8229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bolt"/>
          <p:cNvSpPr/>
          <p:nvPr/>
        </p:nvSpPr>
        <p:spPr>
          <a:xfrm>
            <a:off x="8385048" y="4416552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00" y="72800"/>
                </a:moveTo>
                <a:lnTo>
                  <a:pt x="62900" y="48000"/>
                </a:lnTo>
                <a:lnTo>
                  <a:pt x="46900" y="48000"/>
                </a:lnTo>
                <a:lnTo>
                  <a:pt x="49800" y="25300"/>
                </a:lnTo>
                <a:lnTo>
                  <a:pt x="31300" y="52000"/>
                </a:lnTo>
                <a:lnTo>
                  <a:pt x="45200" y="52000"/>
                </a:lnTo>
                <a:lnTo>
                  <a:pt x="42200" y="72800"/>
                </a:lnTo>
                <a:close/>
                <a:moveTo>
                  <a:pt x="36615" y="83538"/>
                </a:moveTo>
                <a:lnTo>
                  <a:pt x="40615" y="56000"/>
                </a:lnTo>
                <a:lnTo>
                  <a:pt x="23615" y="56000"/>
                </a:lnTo>
                <a:lnTo>
                  <a:pt x="53538" y="12846"/>
                </a:lnTo>
                <a:lnTo>
                  <a:pt x="55385" y="12846"/>
                </a:lnTo>
                <a:lnTo>
                  <a:pt x="51462" y="44000"/>
                </a:lnTo>
                <a:lnTo>
                  <a:pt x="71462" y="44000"/>
                </a:lnTo>
                <a:lnTo>
                  <a:pt x="38462" y="83538"/>
                </a:lnTo>
                <a:lnTo>
                  <a:pt x="36615" y="83538"/>
                </a:lnTo>
                <a:close/>
                <a:moveTo>
                  <a:pt x="471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6" name="TextBox 25"/>
          <p:cNvSpPr txBox="1"/>
          <p:nvPr/>
        </p:nvSpPr>
        <p:spPr>
          <a:xfrm>
            <a:off x="8887968" y="42062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Ergebnis: Freigabe Phase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08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Prozesse &amp;</a:t>
            </a:r>
          </a:p>
          <a:p>
            <a:r>
              <a:t>Abläufe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Prozesslandkarte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Prozesslandkarte: Zwölf Prozesse auf drei Ebenen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MANAGEMENTPROZESSE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00200"/>
            <a:ext cx="371856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Strategie &amp; Planung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9768" y="1600200"/>
            <a:ext cx="371856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Qualitätsmanagement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1208" y="1600200"/>
            <a:ext cx="371856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Risikomanagement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468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KERNPROZESSE</a:t>
            </a:r>
          </a:p>
        </p:txBody>
      </p:sp>
      <p:sp>
        <p:nvSpPr>
          <p:cNvPr id="11" name="Pentagon 10"/>
          <p:cNvSpPr/>
          <p:nvPr/>
        </p:nvSpPr>
        <p:spPr>
          <a:xfrm>
            <a:off x="338328" y="2743200"/>
            <a:ext cx="2424988" cy="100584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Beschaffung</a:t>
            </a:r>
          </a:p>
        </p:txBody>
      </p:sp>
      <p:sp>
        <p:nvSpPr>
          <p:cNvPr id="12" name="Chevron 11"/>
          <p:cNvSpPr/>
          <p:nvPr/>
        </p:nvSpPr>
        <p:spPr>
          <a:xfrm>
            <a:off x="2653588" y="2743200"/>
            <a:ext cx="2424988" cy="10058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Herstellung</a:t>
            </a:r>
          </a:p>
        </p:txBody>
      </p:sp>
      <p:sp>
        <p:nvSpPr>
          <p:cNvPr id="13" name="Chevron 12"/>
          <p:cNvSpPr/>
          <p:nvPr/>
        </p:nvSpPr>
        <p:spPr>
          <a:xfrm>
            <a:off x="4968849" y="2743200"/>
            <a:ext cx="2424988" cy="10058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Abfüllung</a:t>
            </a:r>
          </a:p>
        </p:txBody>
      </p:sp>
      <p:sp>
        <p:nvSpPr>
          <p:cNvPr id="14" name="Chevron 13"/>
          <p:cNvSpPr/>
          <p:nvPr/>
        </p:nvSpPr>
        <p:spPr>
          <a:xfrm>
            <a:off x="7284110" y="2743200"/>
            <a:ext cx="2424988" cy="100584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Prüfung &amp; Freigabe</a:t>
            </a:r>
          </a:p>
        </p:txBody>
      </p:sp>
      <p:sp>
        <p:nvSpPr>
          <p:cNvPr id="15" name="Chevron 14"/>
          <p:cNvSpPr/>
          <p:nvPr/>
        </p:nvSpPr>
        <p:spPr>
          <a:xfrm>
            <a:off x="9599371" y="2743200"/>
            <a:ext cx="2260396" cy="100584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40233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UNTERSTÜTZUNGSPROZESSE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Instandhaltung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IT / 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Personal &amp; Schulung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6568" y="4297680"/>
            <a:ext cx="2743200" cy="594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512064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50840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Im Fokus der Analyse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Swimlane (Ist)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Prozessaufnahme [Kunde],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Chargenfreigabe heute: Vier Bereiche, elf Übergaben, 18 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258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Produktion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13258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22402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QC-Labor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2807" y="22402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" y="31546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7" y="31546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4069080"/>
            <a:ext cx="1463040" cy="859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Logistik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92807" y="4069080"/>
            <a:ext cx="9966960" cy="859536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4248" y="1481328"/>
            <a:ext cx="11430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Charge abschließen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4428" y="2395728"/>
            <a:ext cx="11430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Muster prüfen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64608" y="1481328"/>
            <a:ext cx="11430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Protokoll prüfen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4788" y="3310128"/>
            <a:ext cx="114300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Review Protokoll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4788" y="2395728"/>
            <a:ext cx="11430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Prüfbericht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4968" y="3310128"/>
            <a:ext cx="1143000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Abweichung bewerten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5148" y="3310128"/>
            <a:ext cx="11430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QP-Freigabe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25328" y="4224528"/>
            <a:ext cx="1143000" cy="548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Versand freigeben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27248" y="1755648"/>
            <a:ext cx="29718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567428" y="1755648"/>
            <a:ext cx="29718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6007608" y="1755648"/>
            <a:ext cx="297180" cy="18288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5" name="Connector 24"/>
          <p:cNvCxnSpPr/>
          <p:nvPr/>
        </p:nvCxnSpPr>
        <p:spPr>
          <a:xfrm>
            <a:off x="4567428" y="2670048"/>
            <a:ext cx="1737360" cy="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7447788" y="2670048"/>
            <a:ext cx="29718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>
            <a:off x="7447788" y="3584448"/>
            <a:ext cx="297180" cy="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8887968" y="3584448"/>
            <a:ext cx="297180" cy="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10328148" y="3584448"/>
            <a:ext cx="297180" cy="91440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  <p:sp>
        <p:nvSpPr>
          <p:cNvPr id="30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Review des Chargenprotokolls und Bewertung von Abweichungen verursachen zwei Drittel der Durchlaufzeit.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SIPOC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SIPOC: Der Abfüllprozess vom Lieferanten bis zum Kunden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Supplier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2423160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Wirkstoffherstellung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990088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Primärpackmittel-Lieferant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3557015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Medienversorgung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2072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9192" y="2423160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Bulk-Lösung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2990088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Vials, Stopfen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9192" y="3557015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WFI, Reinstdampf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9192" y="4123944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Herstellanweisung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0056" y="1371600"/>
            <a:ext cx="2157984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3016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0056" y="2423160"/>
            <a:ext cx="2157984" cy="47548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Vorbereitung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0056" y="2990088"/>
            <a:ext cx="2157984" cy="47548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Sterilfiltration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3557015"/>
            <a:ext cx="2157984" cy="47548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Abfüllung im Isolator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0056" y="4123944"/>
            <a:ext cx="2157984" cy="47548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Verschließen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4690872"/>
            <a:ext cx="2157984" cy="47548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Inspektion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2423160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Gefüllte Vials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2990088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Chargenprotokoll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3557015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In-Prozess-Daten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01784" y="1371600"/>
            <a:ext cx="2157984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4" y="1417320"/>
            <a:ext cx="73152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600" b="0" i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4744" y="1417320"/>
            <a:ext cx="1243584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Customer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1784" y="2423160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Verpackung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01784" y="2990088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QA / QP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01784" y="3557015"/>
            <a:ext cx="2157984" cy="475488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 wrap="square" lIns="109728" tIns="18288" rIns="73152" bIns="18288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Patient (indirekt)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Prozessschritt-Detail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Prozessschritt Chargenprüfung: Input, Aktivitäten und Output im Überblick</a:t>
            </a:r>
          </a:p>
        </p:txBody>
      </p:sp>
      <p:sp>
        <p:nvSpPr>
          <p:cNvPr id="6" name="Pentagon 5"/>
          <p:cNvSpPr/>
          <p:nvPr/>
        </p:nvSpPr>
        <p:spPr>
          <a:xfrm>
            <a:off x="338328" y="1325880"/>
            <a:ext cx="2424988" cy="41148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1 Vorbereitung</a:t>
            </a:r>
          </a:p>
        </p:txBody>
      </p:sp>
      <p:sp>
        <p:nvSpPr>
          <p:cNvPr id="7" name="Chevron 6"/>
          <p:cNvSpPr/>
          <p:nvPr/>
        </p:nvSpPr>
        <p:spPr>
          <a:xfrm>
            <a:off x="2653588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2 Herstellung</a:t>
            </a:r>
          </a:p>
        </p:txBody>
      </p:sp>
      <p:sp>
        <p:nvSpPr>
          <p:cNvPr id="8" name="Chevron 7"/>
          <p:cNvSpPr/>
          <p:nvPr/>
        </p:nvSpPr>
        <p:spPr>
          <a:xfrm>
            <a:off x="4968849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3 Abfüllung</a:t>
            </a:r>
          </a:p>
        </p:txBody>
      </p:sp>
      <p:sp>
        <p:nvSpPr>
          <p:cNvPr id="9" name="Chevron 8"/>
          <p:cNvSpPr/>
          <p:nvPr/>
        </p:nvSpPr>
        <p:spPr>
          <a:xfrm>
            <a:off x="7284110" y="1325880"/>
            <a:ext cx="2424988" cy="4114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4 Chargenprüfung</a:t>
            </a:r>
          </a:p>
        </p:txBody>
      </p:sp>
      <p:sp>
        <p:nvSpPr>
          <p:cNvPr id="10" name="Chevron 9"/>
          <p:cNvSpPr/>
          <p:nvPr/>
        </p:nvSpPr>
        <p:spPr>
          <a:xfrm>
            <a:off x="9599371" y="1325880"/>
            <a:ext cx="2260396" cy="41148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5 Freigabe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1965960"/>
            <a:ext cx="35052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03120"/>
            <a:ext cx="3139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77440"/>
            <a:ext cx="31394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Chargenprotokoll (eBR)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Prüfergebnisse QC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Abweichungsberichte</a:t>
            </a:r>
          </a:p>
        </p:txBody>
      </p:sp>
      <p:sp>
        <p:nvSpPr>
          <p:cNvPr id="14" name="Icon arrow_forward"/>
          <p:cNvSpPr/>
          <p:nvPr/>
        </p:nvSpPr>
        <p:spPr>
          <a:xfrm>
            <a:off x="3971544" y="274320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4346448" y="1965960"/>
            <a:ext cx="3505200" cy="18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9328" y="2103120"/>
            <a:ext cx="3139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AKTIVITÄTEN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9328" y="2377440"/>
            <a:ext cx="31394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Vollständigkeit prüfen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Abweichungen bewerten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Trends auswerten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Prüfung dokumentieren</a:t>
            </a:r>
          </a:p>
        </p:txBody>
      </p:sp>
      <p:sp>
        <p:nvSpPr>
          <p:cNvPr id="18" name="Icon arrow_forward"/>
          <p:cNvSpPr/>
          <p:nvPr/>
        </p:nvSpPr>
        <p:spPr>
          <a:xfrm>
            <a:off x="7979664" y="2743200"/>
            <a:ext cx="256032" cy="256032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8354568" y="1965960"/>
            <a:ext cx="35052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7448" y="2103120"/>
            <a:ext cx="31394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7448" y="2377440"/>
            <a:ext cx="313944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Geprüftes Protokoll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Freigabeempfehlung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CAPA bei Bedarf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8328" y="406908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8328" y="4178808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VERANTWORTLICH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45312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QA Operations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87268" y="406908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287268" y="4178808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SYSTEME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7268" y="445312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MES, LIMS, QMS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36208" y="406908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236208" y="4178808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45312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Review-Zeit je Charge (Ziel &lt; 2 Tage)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5148" y="406908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185148" y="4178808"/>
            <a:ext cx="26746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RISIKEN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5148" y="4453128"/>
            <a:ext cx="26746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Unvollständige Daten, Rückfragen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Wertstromanalyse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Wertstromaufnahme [Kunde], [Datum];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Wertstrom: Nur 6 % der Durchlaufzeit sind wertschöpfend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Herstellung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PZ 1,0 d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2104263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9943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 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863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Abfüllung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PZ 0,5 d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4584573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0253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4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9894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QC-Prüfung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PZ 2,0 d</a:t>
            </a:r>
          </a:p>
        </p:txBody>
      </p:sp>
      <p:sp>
        <p:nvSpPr>
          <p:cNvPr id="14" name="Isosceles Triangle 13"/>
          <p:cNvSpPr/>
          <p:nvPr/>
        </p:nvSpPr>
        <p:spPr>
          <a:xfrm>
            <a:off x="7064883" y="1783080"/>
            <a:ext cx="548640" cy="457200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0563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6 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925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Protokoll-Review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PZ 0,3 d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9545192" y="1783080"/>
            <a:ext cx="548640" cy="457200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0872" y="22860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3 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59568" y="1554480"/>
            <a:ext cx="1600200" cy="1051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QP-Freigabe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PZ 0,1 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38328" y="3611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1,0 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3852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938528" y="2862072"/>
            <a:ext cx="880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2 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3852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281863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281863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2818638" y="3611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0,5 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1883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4418838" y="2862072"/>
            <a:ext cx="880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4 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1883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529894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529894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298948" y="3611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2,0 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9914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899148" y="2862072"/>
            <a:ext cx="880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6 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9914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777925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777925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7779258" y="3611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0,3 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79458" y="3154680"/>
            <a:ext cx="880110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379458" y="2862072"/>
            <a:ext cx="880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3 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7945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0259568" y="3154680"/>
            <a:ext cx="0" cy="411480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10259568" y="3566160"/>
            <a:ext cx="1600200" cy="0"/>
          </a:xfrm>
          <a:prstGeom prst="line">
            <a:avLst/>
          </a:prstGeom>
          <a:ln w="31750">
            <a:solidFill>
              <a:schemeClr val="accent1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10259568" y="3611880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0,1 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8328" y="4069080"/>
            <a:ext cx="356615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338328" y="417880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18,9 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" y="459155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Durchlaufzeit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270248" y="4069080"/>
            <a:ext cx="356616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4270248" y="417880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3,9 Tage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0248" y="459155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Prozesszeit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02167" y="4069080"/>
            <a:ext cx="3566161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8202167" y="417880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6 %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2167" y="459155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Wertschöpfungsanteil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Ist- und Soll-Prozess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Soll-Prozess: Fünf statt elf Schritte durch Review by 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IST-PROZESS (11 SCHRITTE, 18 TAGE)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645920"/>
            <a:ext cx="980901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Charge abschl.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2381" y="1645920"/>
            <a:ext cx="980901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Papier sammeln</a:t>
            </a:r>
          </a:p>
        </p:txBody>
      </p:sp>
      <p:sp>
        <p:nvSpPr>
          <p:cNvPr id="9" name="Icon cancel"/>
          <p:cNvSpPr/>
          <p:nvPr/>
        </p:nvSpPr>
        <p:spPr>
          <a:xfrm>
            <a:off x="1763960" y="254203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0" name="Rectangle 9"/>
          <p:cNvSpPr/>
          <p:nvPr/>
        </p:nvSpPr>
        <p:spPr>
          <a:xfrm>
            <a:off x="2446435" y="1645920"/>
            <a:ext cx="980901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Muster prüfen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489" y="1645920"/>
            <a:ext cx="980901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Ergebnis übertragen</a:t>
            </a:r>
          </a:p>
        </p:txBody>
      </p:sp>
      <p:sp>
        <p:nvSpPr>
          <p:cNvPr id="12" name="Icon cancel"/>
          <p:cNvSpPr/>
          <p:nvPr/>
        </p:nvSpPr>
        <p:spPr>
          <a:xfrm>
            <a:off x="3872068" y="254203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3" name="Rectangle 12"/>
          <p:cNvSpPr/>
          <p:nvPr/>
        </p:nvSpPr>
        <p:spPr>
          <a:xfrm>
            <a:off x="4554543" y="1645920"/>
            <a:ext cx="980901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Protokoll prüfen</a:t>
            </a:r>
          </a:p>
        </p:txBody>
      </p:sp>
      <p:sp>
        <p:nvSpPr>
          <p:cNvPr id="14" name="Icon cancel"/>
          <p:cNvSpPr/>
          <p:nvPr/>
        </p:nvSpPr>
        <p:spPr>
          <a:xfrm>
            <a:off x="4926122" y="254203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5" name="Rectangle 14"/>
          <p:cNvSpPr/>
          <p:nvPr/>
        </p:nvSpPr>
        <p:spPr>
          <a:xfrm>
            <a:off x="5608597" y="1645920"/>
            <a:ext cx="980901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Rückfragen</a:t>
            </a:r>
          </a:p>
        </p:txBody>
      </p:sp>
      <p:sp>
        <p:nvSpPr>
          <p:cNvPr id="16" name="Icon cancel"/>
          <p:cNvSpPr/>
          <p:nvPr/>
        </p:nvSpPr>
        <p:spPr>
          <a:xfrm>
            <a:off x="5980176" y="254203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Rectangle 16"/>
          <p:cNvSpPr/>
          <p:nvPr/>
        </p:nvSpPr>
        <p:spPr>
          <a:xfrm>
            <a:off x="6662650" y="1645920"/>
            <a:ext cx="980901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Korrektur</a:t>
            </a:r>
          </a:p>
        </p:txBody>
      </p:sp>
      <p:sp>
        <p:nvSpPr>
          <p:cNvPr id="18" name="Icon cancel"/>
          <p:cNvSpPr/>
          <p:nvPr/>
        </p:nvSpPr>
        <p:spPr>
          <a:xfrm>
            <a:off x="7034229" y="254203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9" name="Rectangle 18"/>
          <p:cNvSpPr/>
          <p:nvPr/>
        </p:nvSpPr>
        <p:spPr>
          <a:xfrm>
            <a:off x="7716704" y="1645920"/>
            <a:ext cx="980901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Review QA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0758" y="1645920"/>
            <a:ext cx="980901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Abweichung</a:t>
            </a:r>
          </a:p>
        </p:txBody>
      </p:sp>
      <p:sp>
        <p:nvSpPr>
          <p:cNvPr id="21" name="Icon cancel"/>
          <p:cNvSpPr/>
          <p:nvPr/>
        </p:nvSpPr>
        <p:spPr>
          <a:xfrm>
            <a:off x="9142337" y="2542032"/>
            <a:ext cx="237744" cy="237744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2" name="Rectangle 21"/>
          <p:cNvSpPr/>
          <p:nvPr/>
        </p:nvSpPr>
        <p:spPr>
          <a:xfrm>
            <a:off x="9824812" y="1645920"/>
            <a:ext cx="980901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QP-Freigabe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78866" y="1645920"/>
            <a:ext cx="980901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7432" tIns="27432" rIns="27432" bIns="27432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Versand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06324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SOLL-PROZESS (5 SCHRITTE, 11 TAGE)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" y="3383280"/>
            <a:ext cx="201168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Charge abschließen</a:t>
            </a:r>
          </a:p>
        </p:txBody>
      </p:sp>
      <p:sp>
        <p:nvSpPr>
          <p:cNvPr id="26" name="Icon arrow_forward"/>
          <p:cNvSpPr/>
          <p:nvPr/>
        </p:nvSpPr>
        <p:spPr>
          <a:xfrm>
            <a:off x="2423160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7" name="Rectangle 26"/>
          <p:cNvSpPr/>
          <p:nvPr/>
        </p:nvSpPr>
        <p:spPr>
          <a:xfrm>
            <a:off x="2715768" y="3383280"/>
            <a:ext cx="201168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Automatische Prüfung im MES</a:t>
            </a:r>
          </a:p>
        </p:txBody>
      </p:sp>
      <p:sp>
        <p:nvSpPr>
          <p:cNvPr id="28" name="Icon arrow_forward"/>
          <p:cNvSpPr/>
          <p:nvPr/>
        </p:nvSpPr>
        <p:spPr>
          <a:xfrm>
            <a:off x="4800600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9" name="Rectangle 28"/>
          <p:cNvSpPr/>
          <p:nvPr/>
        </p:nvSpPr>
        <p:spPr>
          <a:xfrm>
            <a:off x="5093208" y="3383280"/>
            <a:ext cx="201168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Musterprüfung QC</a:t>
            </a:r>
          </a:p>
        </p:txBody>
      </p:sp>
      <p:sp>
        <p:nvSpPr>
          <p:cNvPr id="30" name="Icon arrow_forward"/>
          <p:cNvSpPr/>
          <p:nvPr/>
        </p:nvSpPr>
        <p:spPr>
          <a:xfrm>
            <a:off x="7178040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Rectangle 30"/>
          <p:cNvSpPr/>
          <p:nvPr/>
        </p:nvSpPr>
        <p:spPr>
          <a:xfrm>
            <a:off x="7470648" y="3383280"/>
            <a:ext cx="201168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Review by Exception</a:t>
            </a:r>
          </a:p>
        </p:txBody>
      </p:sp>
      <p:sp>
        <p:nvSpPr>
          <p:cNvPr id="32" name="Icon arrow_forward"/>
          <p:cNvSpPr/>
          <p:nvPr/>
        </p:nvSpPr>
        <p:spPr>
          <a:xfrm>
            <a:off x="9555480" y="3694176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3" name="Rectangle 32"/>
          <p:cNvSpPr/>
          <p:nvPr/>
        </p:nvSpPr>
        <p:spPr>
          <a:xfrm>
            <a:off x="9848088" y="3383280"/>
            <a:ext cx="201168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QP-Freigabe &amp; Versand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" y="452628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44897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Neu / digitalisiert</a:t>
            </a:r>
          </a:p>
        </p:txBody>
      </p:sp>
      <p:sp>
        <p:nvSpPr>
          <p:cNvPr id="36" name="Icon cancel"/>
          <p:cNvSpPr/>
          <p:nvPr/>
        </p:nvSpPr>
        <p:spPr>
          <a:xfrm>
            <a:off x="2715768" y="4507992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3035808" y="44897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Entfällt</a:t>
            </a:r>
          </a:p>
        </p:txBody>
      </p:sp>
      <p:sp>
        <p:nvSpPr>
          <p:cNvPr id="3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Digitale Prüfung im MES macht manuelle Übertragungen überflüssig – die Freigabe wird 40 % schneller.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Entscheidungslogik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Abweichungsmanagement: Eindeutige Entscheidungslogik in drei Stufen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" y="1508760"/>
            <a:ext cx="1828800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Abweichung erkannt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1828800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2624328" y="1508760"/>
            <a:ext cx="20116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Erfassen und Sofortmaßnahmen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36008" y="1828800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0" name="Diamond 9"/>
          <p:cNvSpPr/>
          <p:nvPr/>
        </p:nvSpPr>
        <p:spPr>
          <a:xfrm>
            <a:off x="5093208" y="1280160"/>
            <a:ext cx="2011680" cy="10972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Produkt-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qualität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betroffen?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04888" y="1828800"/>
            <a:ext cx="548639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2" name="TextBox 11"/>
          <p:cNvSpPr txBox="1"/>
          <p:nvPr/>
        </p:nvSpPr>
        <p:spPr>
          <a:xfrm>
            <a:off x="7150608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Nein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53527" y="1508760"/>
            <a:ext cx="210312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Minor: Dokumentieren, Trend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56648" y="1828800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10213848" y="1508760"/>
            <a:ext cx="1645920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Abschluss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2377440"/>
            <a:ext cx="0" cy="54864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17" name="TextBox 16"/>
          <p:cNvSpPr txBox="1"/>
          <p:nvPr/>
        </p:nvSpPr>
        <p:spPr>
          <a:xfrm>
            <a:off x="6190488" y="24688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Ja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3208" y="2926080"/>
            <a:ext cx="20116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Ursachenanalyse (Root Cause)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3566160"/>
            <a:ext cx="0" cy="36576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0" name="Diamond 19"/>
          <p:cNvSpPr/>
          <p:nvPr/>
        </p:nvSpPr>
        <p:spPr>
          <a:xfrm>
            <a:off x="5093208" y="3931920"/>
            <a:ext cx="2011680" cy="10972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45720" rIns="4572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Kritisch für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Patienten?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4888" y="4480560"/>
            <a:ext cx="548639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2" name="TextBox 21"/>
          <p:cNvSpPr txBox="1"/>
          <p:nvPr/>
        </p:nvSpPr>
        <p:spPr>
          <a:xfrm>
            <a:off x="7150608" y="4160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Nein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53527" y="4160520"/>
            <a:ext cx="210312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Major: CAPA, QA-Freigabe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636008" y="4480560"/>
            <a:ext cx="45720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4681728" y="4160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Ja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24328" y="4160520"/>
            <a:ext cx="2011680" cy="6400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Critical: Sperren, Behörde informieren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756648" y="2148840"/>
            <a:ext cx="1280159" cy="2331720"/>
          </a:xfrm>
          <a:prstGeom prst="bentConnector3">
            <a:avLst/>
          </a:prstGeom>
          <a:ln w="12700">
            <a:solidFill>
              <a:schemeClr val="accent3"/>
            </a:solidFill>
            <a:tailEnd type="triangle" w="med" len="med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Prozesse | KPI-Steckbrief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[System]; Stand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Fünf Prozess-KPIs machen den Fortschritt messbar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3291840"/>
                <a:gridCol w="914400"/>
                <a:gridCol w="914400"/>
                <a:gridCol w="2194560"/>
                <a:gridCol w="201168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Definition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Ist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Ziel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Quelle / Rhythmus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Durchlaufzeit Freigabe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Chargenende bis QP-Freigabe (Tage)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MES, je Charge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Head of QA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Right First Time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Chargen ohne Abweichung (%)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82 %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95 %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QMS, monatlich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Head of Production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OEE Linie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Verfügbarkeit × Leistung × Qualität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54 %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66 %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MES, wöchentlich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Linienleitung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Rüstzeit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Letzte Gutteil bis erste Gutteil (h)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7,0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3,0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MES, je Rüstvorgang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Linienleitung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Offene CAPAs &gt; 30 Tage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Anzahl überfälliger Maßnahmen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&lt;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QMS, monatlich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00" b="0" i="0">
                          <a:solidFill>
                            <a:schemeClr val="tx1"/>
                          </a:solidFill>
                        </a:rPr>
                        <a:t>QA Operations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09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Referenzen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Referenzen | Übersicht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Kundennamen nur mit Freigabe; sonst anonymisiert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Ausgewählte Referenzen aus vergleichbaren Projekten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657600" cy="187451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Big Pharma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57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Neue Isolator-Linie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146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Qualifizierung 9 Wochen vor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187451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8848" y="1600200"/>
            <a:ext cx="539496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CDMO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57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OEE-Programm, 3 Standorte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146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+18 % Ausbringung in 9 Monaten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1371600"/>
            <a:ext cx="3657600" cy="187451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8" y="1600200"/>
            <a:ext cx="772668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Biotech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57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Scale-up mAb-Produktion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5146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Von Klinik zu Kommerz in 20 Monaten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474720"/>
            <a:ext cx="3657600" cy="187451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703320"/>
            <a:ext cx="85039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Generika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Rüstzeit-Reduktion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177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–55 % Rüstzeit auf zwei Linien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3474720"/>
            <a:ext cx="3657600" cy="187451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98848" y="3703320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Big Pharma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MES-Rollout, 4 Werke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46177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Papierlose Freigabe in 14 Monaten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3474720"/>
            <a:ext cx="3657600" cy="187451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30768" y="3703320"/>
            <a:ext cx="539496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ATMP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1605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Annex-1-Gap-Assessment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6177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0 kritische Beobachtungen bei Inspektion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Referenzen | Case Study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Kunde: Top-20-Pharmaunternehmen, Deutschland; Freigabe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Neue Isolator-Linie neun Wochen vor Plan qualifiziert</a:t>
            </a:r>
          </a:p>
        </p:txBody>
      </p:sp>
      <p:pic>
        <p:nvPicPr>
          <p:cNvPr id="6" name="Picture 5" descr="image21.jpeg"/>
          <p:cNvPicPr>
            <a:picLocks noChangeAspect="1"/>
          </p:cNvPicPr>
          <p:nvPr/>
        </p:nvPicPr>
        <p:blipFill>
          <a:blip r:embed="rId3"/>
          <a:srcRect t="1202" b="1202"/>
          <a:stretch>
            <a:fillRect/>
          </a:stretch>
        </p:blipFill>
        <p:spPr>
          <a:xfrm>
            <a:off x="8229600" y="1325880"/>
            <a:ext cx="3630168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8328" y="1325880"/>
            <a:ext cx="2386584" cy="25146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0876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HERAUSFORDERUNG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810512"/>
            <a:ext cx="2020824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Kapazitätsengpass bei sterilen Injektabilia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Fester Launch-Termin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Erste Isolator-Linie am Standort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2" y="1325880"/>
            <a:ext cx="2386584" cy="25146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6392" y="150876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VORGEHEN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1810512"/>
            <a:ext cx="2020824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Parallelisierte Planung und CQV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Risikobasierte Qualifizierung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tx1"/>
                </a:solidFill>
              </a:rPr>
              <a:t>Tandem-Projektleitung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8696" y="1325880"/>
            <a:ext cx="2386584" cy="251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1576" y="1508760"/>
            <a:ext cx="202082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ERGEBNIS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1810512"/>
            <a:ext cx="2020824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Qualifizierung 9 Wochen vor Plan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Budget eingehalten (–3 %)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chemeClr val="bg1"/>
                </a:solidFill>
              </a:rPr>
              <a:t>Inspektion ohne kritische Beobachtung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" y="4069080"/>
            <a:ext cx="2386584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8328" y="4178808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9 Wochen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4591558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früher qualifiziert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53512" y="4069080"/>
            <a:ext cx="2386584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2953512" y="4178808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–3 %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4591558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unter Budget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68696" y="4069080"/>
            <a:ext cx="2386583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568696" y="4178808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4591558"/>
            <a:ext cx="238658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kritische Beobachtungen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Referenzen | Case Study mit Ergebnissen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Kunde: Europäisches CDMO, 3 Standorte; Werte vor/nach Programm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OEE-Programm steigert die Ausbringung um 18 % in neun Monaten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38328" y="1280160"/>
          <a:ext cx="67665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371600"/>
            <a:ext cx="436168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WAS DEN UNTERSCHIED GEMACHT HAT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17373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71907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SMED-Workshops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084831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Rüstzeiten auf allen Linien halbiert</a:t>
            </a:r>
          </a:p>
        </p:txBody>
      </p:sp>
      <p:sp>
        <p:nvSpPr>
          <p:cNvPr id="11" name="Oval 10"/>
          <p:cNvSpPr/>
          <p:nvPr/>
        </p:nvSpPr>
        <p:spPr>
          <a:xfrm>
            <a:off x="7498079" y="28803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86207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Shopfloor-Management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227832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Tägliche KPI-Runden mit klaren Eskalationen</a:t>
            </a:r>
          </a:p>
        </p:txBody>
      </p:sp>
      <p:sp>
        <p:nvSpPr>
          <p:cNvPr id="14" name="Oval 13"/>
          <p:cNvSpPr/>
          <p:nvPr/>
        </p:nvSpPr>
        <p:spPr>
          <a:xfrm>
            <a:off x="7498079" y="402336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00507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Datenbasis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370832"/>
            <a:ext cx="381304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Stillstandsgründe automatisch im MES erfasst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Referenzen | Case Study als Zeitstrahl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Kunde: Biotech-Unternehmen, Schweiz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Case: Vom Konzept zur bestandenen Inspektion in 20 Monaten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2688336"/>
            <a:ext cx="11521440" cy="1097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" y="2688336"/>
            <a:ext cx="11291011" cy="1097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" y="251460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Kick-off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35204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Zielbild und Scope</a:t>
            </a:r>
          </a:p>
        </p:txBody>
      </p:sp>
      <p:sp>
        <p:nvSpPr>
          <p:cNvPr id="11" name="Oval 10"/>
          <p:cNvSpPr/>
          <p:nvPr/>
        </p:nvSpPr>
        <p:spPr>
          <a:xfrm>
            <a:off x="2258568" y="251460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Konzept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35204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Modulare Anlage, Single-Use</a:t>
            </a:r>
          </a:p>
        </p:txBody>
      </p:sp>
      <p:sp>
        <p:nvSpPr>
          <p:cNvPr id="14" name="Oval 13"/>
          <p:cNvSpPr/>
          <p:nvPr/>
        </p:nvSpPr>
        <p:spPr>
          <a:xfrm>
            <a:off x="4178808" y="251460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Design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35204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Detail Design abgeschlossen</a:t>
            </a:r>
          </a:p>
        </p:txBody>
      </p:sp>
      <p:sp>
        <p:nvSpPr>
          <p:cNvPr id="17" name="Oval 16"/>
          <p:cNvSpPr/>
          <p:nvPr/>
        </p:nvSpPr>
        <p:spPr>
          <a:xfrm>
            <a:off x="6099048" y="251460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Installation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35204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Mechanical Completion in 6 Monaten</a:t>
            </a:r>
          </a:p>
        </p:txBody>
      </p:sp>
      <p:sp>
        <p:nvSpPr>
          <p:cNvPr id="20" name="Oval 19"/>
          <p:cNvSpPr/>
          <p:nvPr/>
        </p:nvSpPr>
        <p:spPr>
          <a:xfrm>
            <a:off x="8019288" y="251460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5204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Prozessvalidierung</a:t>
            </a:r>
          </a:p>
        </p:txBody>
      </p:sp>
      <p:sp>
        <p:nvSpPr>
          <p:cNvPr id="23" name="Oval 22"/>
          <p:cNvSpPr/>
          <p:nvPr/>
        </p:nvSpPr>
        <p:spPr>
          <a:xfrm>
            <a:off x="9939528" y="2514600"/>
            <a:ext cx="457200" cy="457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M20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315468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Inspektion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352044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Ohne kritische Beobachtung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1371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AUSGANGSLAGE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1645920"/>
            <a:ext cx="115214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Kommerzieller Launch eines monoklonalen Antikörpers erforderte eine neue Produktionsanlage – ohne eigene Engineering-Abteilung.</a:t>
            </a:r>
          </a:p>
        </p:txBody>
      </p:sp>
      <p:sp>
        <p:nvSpPr>
          <p:cNvPr id="2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20 Monate vom Konzept zur Inspektion – rund 30 % schneller als der Branchendurchschnitt für vergleichbare Anlagen.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Referenzen | Referenzmatrix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Anzahl Projekte seit [Jahr];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Breite Erfahrung über alle Kundensegmente und Leistungsfelder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657600"/>
                <a:gridCol w="1965960"/>
                <a:gridCol w="1965960"/>
                <a:gridCol w="1965960"/>
                <a:gridCol w="196596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Leistungsfeld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Big Pharma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Biotech &amp; ATMP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CDMO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Generika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Facility &amp; Process Design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GMP Compliance &amp; CQV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bg1"/>
                          </a:solidFill>
                        </a:rPr>
                        <a:t>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Digitalisierung &amp; MES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Supply Chain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Projektmanagement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Operational Excellence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45000"/>
                        <a:lumOff val="5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38328" y="525780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7" y="52212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≥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8488" y="5257800"/>
            <a:ext cx="201168" cy="201168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92807" y="52212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10–19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5257800"/>
            <a:ext cx="201168" cy="201168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52212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5–9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7" y="525780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522122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&lt; 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Referenzen | Kundenlogos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Logos nur mit Freigabe verwenden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Kunden, die uns vertrauen</a:t>
            </a:r>
          </a:p>
        </p:txBody>
      </p:sp>
      <p:sp>
        <p:nvSpPr>
          <p:cNvPr id="6" name="Sticker"/>
          <p:cNvSpPr/>
          <p:nvPr/>
        </p:nvSpPr>
        <p:spPr>
          <a:xfrm>
            <a:off x="10355580" y="713232"/>
            <a:ext cx="1504188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FREIGABE PRÜFEN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726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5148" y="14630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8726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5148" y="28346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726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5148" y="4206240"/>
            <a:ext cx="2674620" cy="10972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accent3"/>
                </a:solidFill>
              </a:rPr>
              <a:t>[Logo]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„Körber hat unser Team befähigt, die Anlage drei Monate früher freizugeben.“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pic>
        <p:nvPicPr>
          <p:cNvPr id="5" name="Picture Placeholder 4" descr="image29.jpeg"/>
          <p:cNvPicPr>
            <a:picLocks noGrp="1" noChangeAspect="1"/>
          </p:cNvPicPr>
          <p:nvPr>
            <p:ph type="pic" idx="34" sz="quarter"/>
          </p:nvPr>
        </p:nvPicPr>
        <p:blipFill>
          <a:blip r:embed="rId3"/>
          <a:srcRect l="16615" r="16615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[Vorname Name]</a:t>
            </a:r>
          </a:p>
          <a:p>
            <a:r>
              <a:t>Head of Manufacturing, [Kunde]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Angebot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Zusammenfassung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Details: Angebot Nr. [xxx] vom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 Angebot auf einen Blick: In 20 Monaten zur validierten Linie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62356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search"/>
          <p:cNvSpPr/>
          <p:nvPr/>
        </p:nvSpPr>
        <p:spPr>
          <a:xfrm>
            <a:off x="612647" y="16459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7938" y="80615"/>
                </a:moveTo>
                <a:lnTo>
                  <a:pt x="52892" y="55569"/>
                </a:lnTo>
                <a:quadBezTo>
                  <a:pt x="49892" y="58123"/>
                  <a:pt x="45992" y="59523"/>
                </a:quadBezTo>
                <a:quadBezTo>
                  <a:pt x="42092" y="60923"/>
                  <a:pt x="38154" y="60923"/>
                </a:quadBezTo>
                <a:quadBezTo>
                  <a:pt x="28544" y="60923"/>
                  <a:pt x="21887" y="54270"/>
                </a:quadBezTo>
                <a:quadBezTo>
                  <a:pt x="15231" y="47617"/>
                  <a:pt x="15231" y="38013"/>
                </a:quadBezTo>
                <a:quadBezTo>
                  <a:pt x="15231" y="28408"/>
                  <a:pt x="21884" y="21742"/>
                </a:quadBezTo>
                <a:quadBezTo>
                  <a:pt x="28537" y="15077"/>
                  <a:pt x="38141" y="15077"/>
                </a:quadBezTo>
                <a:quadBezTo>
                  <a:pt x="47746" y="15077"/>
                  <a:pt x="54412" y="21733"/>
                </a:quadBezTo>
                <a:quadBezTo>
                  <a:pt x="61077" y="28390"/>
                  <a:pt x="61077" y="38000"/>
                </a:quadBezTo>
                <a:quadBezTo>
                  <a:pt x="61077" y="42169"/>
                  <a:pt x="59600" y="46069"/>
                </a:quadBezTo>
                <a:quadBezTo>
                  <a:pt x="58123" y="49969"/>
                  <a:pt x="55723" y="52738"/>
                </a:quadBezTo>
                <a:lnTo>
                  <a:pt x="80769" y="77785"/>
                </a:lnTo>
                <a:lnTo>
                  <a:pt x="77938" y="80615"/>
                </a:lnTo>
                <a:close/>
                <a:moveTo>
                  <a:pt x="38154" y="56923"/>
                </a:moveTo>
                <a:quadBezTo>
                  <a:pt x="46115" y="56923"/>
                  <a:pt x="51596" y="51442"/>
                </a:quadBezTo>
                <a:quadBezTo>
                  <a:pt x="57077" y="45962"/>
                  <a:pt x="57077" y="38000"/>
                </a:quadBezTo>
                <a:quadBezTo>
                  <a:pt x="57077" y="30038"/>
                  <a:pt x="51596" y="24558"/>
                </a:quadBezTo>
                <a:quadBezTo>
                  <a:pt x="46115" y="19077"/>
                  <a:pt x="38154" y="19077"/>
                </a:quadBezTo>
                <a:quadBezTo>
                  <a:pt x="30192" y="19077"/>
                  <a:pt x="24712" y="24558"/>
                </a:quadBezTo>
                <a:quadBezTo>
                  <a:pt x="19231" y="30038"/>
                  <a:pt x="19231" y="38000"/>
                </a:quadBezTo>
                <a:quadBezTo>
                  <a:pt x="19231" y="45962"/>
                  <a:pt x="24712" y="51442"/>
                </a:quadBezTo>
                <a:quadBezTo>
                  <a:pt x="30192" y="56923"/>
                  <a:pt x="38154" y="56923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1252728" y="16459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Ihre Ausgangslage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10312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Kapazitätslücke ab [Jahr], Annex-1-Anpassungen an der Bestandslinie erforderlich.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371600"/>
            <a:ext cx="562356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checklist"/>
          <p:cNvSpPr/>
          <p:nvPr/>
        </p:nvSpPr>
        <p:spPr>
          <a:xfrm>
            <a:off x="6510528" y="16459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354" y="71615"/>
                </a:moveTo>
                <a:lnTo>
                  <a:pt x="12000" y="60262"/>
                </a:lnTo>
                <a:lnTo>
                  <a:pt x="14754" y="57508"/>
                </a:lnTo>
                <a:lnTo>
                  <a:pt x="23254" y="66008"/>
                </a:lnTo>
                <a:lnTo>
                  <a:pt x="40254" y="49008"/>
                </a:lnTo>
                <a:lnTo>
                  <a:pt x="43008" y="51862"/>
                </a:lnTo>
                <a:lnTo>
                  <a:pt x="23354" y="71615"/>
                </a:lnTo>
                <a:close/>
                <a:moveTo>
                  <a:pt x="23354" y="42692"/>
                </a:moveTo>
                <a:lnTo>
                  <a:pt x="12000" y="31338"/>
                </a:lnTo>
                <a:lnTo>
                  <a:pt x="14754" y="28585"/>
                </a:lnTo>
                <a:lnTo>
                  <a:pt x="23254" y="37085"/>
                </a:lnTo>
                <a:lnTo>
                  <a:pt x="40254" y="20085"/>
                </a:lnTo>
                <a:lnTo>
                  <a:pt x="43008" y="22938"/>
                </a:lnTo>
                <a:lnTo>
                  <a:pt x="23354" y="42692"/>
                </a:lnTo>
                <a:close/>
                <a:moveTo>
                  <a:pt x="52077" y="64462"/>
                </a:moveTo>
                <a:lnTo>
                  <a:pt x="52077" y="60462"/>
                </a:lnTo>
                <a:lnTo>
                  <a:pt x="84077" y="60462"/>
                </a:lnTo>
                <a:lnTo>
                  <a:pt x="84077" y="64462"/>
                </a:lnTo>
                <a:lnTo>
                  <a:pt x="52077" y="64462"/>
                </a:lnTo>
                <a:close/>
                <a:moveTo>
                  <a:pt x="52077" y="35538"/>
                </a:moveTo>
                <a:lnTo>
                  <a:pt x="52077" y="31538"/>
                </a:lnTo>
                <a:lnTo>
                  <a:pt x="84077" y="31538"/>
                </a:lnTo>
                <a:lnTo>
                  <a:pt x="84077" y="35538"/>
                </a:lnTo>
                <a:lnTo>
                  <a:pt x="52077" y="35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7150608" y="16459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Unser Leistungsumfang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10312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Planung, Projektmanagement und CQV für die neue Isolator-Linie (Phasen 1–5).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429000"/>
            <a:ext cx="5623560" cy="1783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flag"/>
          <p:cNvSpPr/>
          <p:nvPr/>
        </p:nvSpPr>
        <p:spPr>
          <a:xfrm>
            <a:off x="612647" y="37033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2000"/>
                </a:moveTo>
                <a:lnTo>
                  <a:pt x="24000" y="20000"/>
                </a:lnTo>
                <a:lnTo>
                  <a:pt x="52769" y="20000"/>
                </a:lnTo>
                <a:lnTo>
                  <a:pt x="54369" y="28000"/>
                </a:lnTo>
                <a:lnTo>
                  <a:pt x="76000" y="28000"/>
                </a:lnTo>
                <a:lnTo>
                  <a:pt x="76000" y="60000"/>
                </a:lnTo>
                <a:lnTo>
                  <a:pt x="55231" y="60000"/>
                </a:lnTo>
                <a:lnTo>
                  <a:pt x="53631" y="52000"/>
                </a:lnTo>
                <a:lnTo>
                  <a:pt x="28000" y="52000"/>
                </a:lnTo>
                <a:lnTo>
                  <a:pt x="28000" y="82000"/>
                </a:lnTo>
                <a:lnTo>
                  <a:pt x="24000" y="82000"/>
                </a:lnTo>
                <a:close/>
                <a:moveTo>
                  <a:pt x="50000" y="40000"/>
                </a:moveTo>
                <a:close/>
                <a:moveTo>
                  <a:pt x="58600" y="56000"/>
                </a:moveTo>
                <a:lnTo>
                  <a:pt x="72000" y="56000"/>
                </a:lnTo>
                <a:lnTo>
                  <a:pt x="72000" y="32000"/>
                </a:lnTo>
                <a:lnTo>
                  <a:pt x="51000" y="32000"/>
                </a:lnTo>
                <a:lnTo>
                  <a:pt x="49400" y="24000"/>
                </a:lnTo>
                <a:lnTo>
                  <a:pt x="28000" y="24000"/>
                </a:lnTo>
                <a:lnTo>
                  <a:pt x="28000" y="48000"/>
                </a:lnTo>
                <a:lnTo>
                  <a:pt x="57000" y="48000"/>
                </a:lnTo>
                <a:lnTo>
                  <a:pt x="58600" y="56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1252728" y="3703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Ihr Ergebnis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16052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Validierte, Annex-1-konforme Linie mit +60 % Kapazität – Go-live September 2027.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429000"/>
            <a:ext cx="5623560" cy="1783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euro"/>
          <p:cNvSpPr/>
          <p:nvPr/>
        </p:nvSpPr>
        <p:spPr>
          <a:xfrm>
            <a:off x="6510528" y="3703320"/>
            <a:ext cx="411480" cy="41148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7150608" y="3703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Ihre Investition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416052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Honorar € 1,24 Mio. zzgl. Reisekosten, zahlbar nach abgenommenen Meilensteinen.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Klarer Leistungsumfang: Was enthalten ist – und was nicht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53212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22860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Im Leistungsumfang</a:t>
            </a:r>
          </a:p>
        </p:txBody>
      </p:sp>
      <p:sp>
        <p:nvSpPr>
          <p:cNvPr id="7" name="Icon check_circle"/>
          <p:cNvSpPr/>
          <p:nvPr/>
        </p:nvSpPr>
        <p:spPr>
          <a:xfrm>
            <a:off x="384048" y="2249424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841248" y="2194560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Konzept, Basic und Detail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69748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Icon check_circle"/>
          <p:cNvSpPr/>
          <p:nvPr/>
        </p:nvSpPr>
        <p:spPr>
          <a:xfrm>
            <a:off x="384048" y="2816352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841248" y="2761488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Ausschreibung und Vergabeunterstützung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326440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3" name="Icon check_circle"/>
          <p:cNvSpPr/>
          <p:nvPr/>
        </p:nvSpPr>
        <p:spPr>
          <a:xfrm>
            <a:off x="384048" y="3383279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841248" y="3328415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Projekt- und Terminmanagement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" y="3831335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6" name="Icon check_circle"/>
          <p:cNvSpPr/>
          <p:nvPr/>
        </p:nvSpPr>
        <p:spPr>
          <a:xfrm>
            <a:off x="384048" y="3950207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841248" y="3895344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CQV inkl. Protokolle und Berichte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" y="439826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9" name="Icon check_circle"/>
          <p:cNvSpPr/>
          <p:nvPr/>
        </p:nvSpPr>
        <p:spPr>
          <a:xfrm>
            <a:off x="384048" y="4517136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841248" y="4462272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Schulung des Betriebspersonals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" y="496519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6327648" y="1371600"/>
            <a:ext cx="553212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lIns="22860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Nicht im Leistungsumfang</a:t>
            </a:r>
          </a:p>
        </p:txBody>
      </p:sp>
      <p:sp>
        <p:nvSpPr>
          <p:cNvPr id="23" name="Icon cancel"/>
          <p:cNvSpPr/>
          <p:nvPr/>
        </p:nvSpPr>
        <p:spPr>
          <a:xfrm>
            <a:off x="6373368" y="2249424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6830568" y="2194560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Lieferung von Anlagen und Equipment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27648" y="2697480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6" name="Icon cancel"/>
          <p:cNvSpPr/>
          <p:nvPr/>
        </p:nvSpPr>
        <p:spPr>
          <a:xfrm>
            <a:off x="6373368" y="2816352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6830568" y="2761488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Bauleistungen und Genehmigungsplanung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27648" y="3264408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9" name="Icon cancel"/>
          <p:cNvSpPr/>
          <p:nvPr/>
        </p:nvSpPr>
        <p:spPr>
          <a:xfrm>
            <a:off x="6373368" y="3383279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0" name="TextBox 29"/>
          <p:cNvSpPr txBox="1"/>
          <p:nvPr/>
        </p:nvSpPr>
        <p:spPr>
          <a:xfrm>
            <a:off x="6830568" y="3328415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Prozessvalidierung der Produkte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27648" y="3831335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2" name="Icon cancel"/>
          <p:cNvSpPr/>
          <p:nvPr/>
        </p:nvSpPr>
        <p:spPr>
          <a:xfrm>
            <a:off x="6373368" y="3950207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6830568" y="3895344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Behördliche Zulassungsverfahren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27648" y="4398264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5" name="Icon cancel"/>
          <p:cNvSpPr/>
          <p:nvPr/>
        </p:nvSpPr>
        <p:spPr>
          <a:xfrm>
            <a:off x="6373368" y="4517136"/>
            <a:ext cx="310896" cy="31089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6" name="TextBox 35"/>
          <p:cNvSpPr txBox="1"/>
          <p:nvPr/>
        </p:nvSpPr>
        <p:spPr>
          <a:xfrm>
            <a:off x="6830568" y="4462272"/>
            <a:ext cx="4983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Betrieb nach Hypercare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27648" y="4965192"/>
            <a:ext cx="553212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Optionale Leistungen (z. B. Prozessvalidierung) können jederzeit per Change Request ergänzt werden.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Leistungspakete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Preise netto zzgl. Reisekosten;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Pakete – das Paket „Umsetzung“ bietet das beste Verhältnis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28" y="1325880"/>
            <a:ext cx="2499360" cy="4023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95928" y="1325880"/>
            <a:ext cx="249936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78808" y="16459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Konzept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808" y="201168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€ 240 Tsd.</a:t>
            </a:r>
          </a:p>
        </p:txBody>
      </p:sp>
      <p:sp>
        <p:nvSpPr>
          <p:cNvPr id="11" name="Icon check_circle"/>
          <p:cNvSpPr/>
          <p:nvPr/>
        </p:nvSpPr>
        <p:spPr>
          <a:xfrm>
            <a:off x="5108448" y="26609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Icon check_circle"/>
          <p:cNvSpPr/>
          <p:nvPr/>
        </p:nvSpPr>
        <p:spPr>
          <a:xfrm>
            <a:off x="5108448" y="31181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3" name="Connector 12"/>
          <p:cNvCxnSpPr/>
          <p:nvPr/>
        </p:nvCxnSpPr>
        <p:spPr>
          <a:xfrm>
            <a:off x="5154168" y="3712464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5154168" y="4169663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5154168" y="4626864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5154168" y="5084064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6678168" y="1325880"/>
            <a:ext cx="2499360" cy="40233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8168" y="1325880"/>
            <a:ext cx="24993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1048" y="1417320"/>
            <a:ext cx="213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EMPFOHLEN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1048" y="16459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Umsetzung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1048" y="201168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€ 1,24 Mio.</a:t>
            </a:r>
          </a:p>
        </p:txBody>
      </p:sp>
      <p:sp>
        <p:nvSpPr>
          <p:cNvPr id="22" name="Icon check_circle"/>
          <p:cNvSpPr/>
          <p:nvPr/>
        </p:nvSpPr>
        <p:spPr>
          <a:xfrm>
            <a:off x="7790688" y="26609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Icon check_circle"/>
          <p:cNvSpPr/>
          <p:nvPr/>
        </p:nvSpPr>
        <p:spPr>
          <a:xfrm>
            <a:off x="7790688" y="31181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4" name="Icon check_circle"/>
          <p:cNvSpPr/>
          <p:nvPr/>
        </p:nvSpPr>
        <p:spPr>
          <a:xfrm>
            <a:off x="7790688" y="35753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Icon check_circle"/>
          <p:cNvSpPr/>
          <p:nvPr/>
        </p:nvSpPr>
        <p:spPr>
          <a:xfrm>
            <a:off x="7790688" y="4032503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6" name="Icon check_circle"/>
          <p:cNvSpPr/>
          <p:nvPr/>
        </p:nvSpPr>
        <p:spPr>
          <a:xfrm>
            <a:off x="7790688" y="4489703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27" name="Connector 26"/>
          <p:cNvCxnSpPr/>
          <p:nvPr/>
        </p:nvCxnSpPr>
        <p:spPr>
          <a:xfrm>
            <a:off x="7836408" y="5084064"/>
            <a:ext cx="182880" cy="0"/>
          </a:xfrm>
          <a:prstGeom prst="line">
            <a:avLst/>
          </a:prstGeom>
          <a:ln w="12700">
            <a:solidFill>
              <a:schemeClr val="tx2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9360408" y="1325880"/>
            <a:ext cx="2499360" cy="4023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0408" y="1325880"/>
            <a:ext cx="2499360" cy="1097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3288" y="164592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Komplett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3288" y="2011680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€ 1,45 Mio.</a:t>
            </a:r>
          </a:p>
        </p:txBody>
      </p:sp>
      <p:sp>
        <p:nvSpPr>
          <p:cNvPr id="32" name="Icon check_circle"/>
          <p:cNvSpPr/>
          <p:nvPr/>
        </p:nvSpPr>
        <p:spPr>
          <a:xfrm>
            <a:off x="10472928" y="26609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Icon check_circle"/>
          <p:cNvSpPr/>
          <p:nvPr/>
        </p:nvSpPr>
        <p:spPr>
          <a:xfrm>
            <a:off x="10472928" y="31181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4" name="Icon check_circle"/>
          <p:cNvSpPr/>
          <p:nvPr/>
        </p:nvSpPr>
        <p:spPr>
          <a:xfrm>
            <a:off x="10472928" y="357530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Icon check_circle"/>
          <p:cNvSpPr/>
          <p:nvPr/>
        </p:nvSpPr>
        <p:spPr>
          <a:xfrm>
            <a:off x="10472928" y="4032503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6" name="Icon check_circle"/>
          <p:cNvSpPr/>
          <p:nvPr/>
        </p:nvSpPr>
        <p:spPr>
          <a:xfrm>
            <a:off x="10472928" y="4489703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7" name="Icon check_circle"/>
          <p:cNvSpPr/>
          <p:nvPr/>
        </p:nvSpPr>
        <p:spPr>
          <a:xfrm>
            <a:off x="10472928" y="4946903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8" name="TextBox 37"/>
          <p:cNvSpPr txBox="1"/>
          <p:nvPr/>
        </p:nvSpPr>
        <p:spPr>
          <a:xfrm>
            <a:off x="338328" y="26060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Analyse und Zielbild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38328" y="302666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338328" y="30632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Konzept und Business Case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38328" y="348386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338328" y="35204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Detail Design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38328" y="394106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338328" y="3977639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Projektmanagement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38328" y="439826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338328" y="44348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CQV-Management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38328" y="485546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338328" y="48920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Hypercare (3 Monate)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38328" y="5312664"/>
            <a:ext cx="1152144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Honorar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Tagessätze gemäß Rahmenvertrag;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Honorarübersicht: € 1,24 Mio. über fünf Phasen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40" cy="371246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4206240"/>
                <a:gridCol w="1645920"/>
                <a:gridCol w="1737360"/>
                <a:gridCol w="1737360"/>
              </a:tblGrid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Phase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Leistungen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Personentage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Honorar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Abrechnung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 Analyse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Ist-Analyse, Potenzial, Roadmap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120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€ 156 Tsd.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Festpreis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 Konzept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Zielbild, URS, Business Case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180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€ 234 Tsd.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Festpreis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 Engineering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Basic und Detail Design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260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€ 325 Tsd.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Festpreis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 Realisierung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Projekt- und Baumanagement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220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€ 275 Tsd.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Nach Aufwand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5 Qualifizierung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CQV, Protokolle, Berichte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€ 250 Tsd.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Nach Aufwand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30352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Gesamt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980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€ 1.240 Tsd.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60 % des Honorars sind als Festpreis kalkuliert – das gibt Ihnen Budgetsicherheit in den Planungsphasen.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Aufwand nach Rolle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Personentage je Phase;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Senior-Expertise dort, wo Entscheidungen fallen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5895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412480" y="1463040"/>
            <a:ext cx="34472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412480" y="1572768"/>
            <a:ext cx="344728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15 %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49018"/>
            <a:ext cx="344728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Anteil Partner und Experten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0" y="2926080"/>
            <a:ext cx="344728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412480" y="3035808"/>
            <a:ext cx="344728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45 %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512058"/>
            <a:ext cx="344728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Anteil Senior Consultants</a:t>
            </a:r>
          </a:p>
        </p:txBody>
      </p:sp>
      <p:sp>
        <p:nvSpPr>
          <p:cNvPr id="1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In Analyse und Konzept ist der Senior-Anteil am höchsten – dort entstehen 80 % der Kostenwirkung.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Zahlungsplan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Zahlungsplan: 80 % der Vergütung sind an Ergebnisse gekoppelt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" y="2834640"/>
            <a:ext cx="11521440" cy="0"/>
          </a:xfrm>
          <a:prstGeom prst="line">
            <a:avLst/>
          </a:prstGeom>
          <a:ln w="15875">
            <a:solidFill>
              <a:schemeClr val="tx1"/>
            </a:solidFill>
          </a:ln>
        </p:spPr>
      </p:cxnSp>
      <p:sp>
        <p:nvSpPr>
          <p:cNvPr id="8" name="Oval 7"/>
          <p:cNvSpPr/>
          <p:nvPr/>
        </p:nvSpPr>
        <p:spPr>
          <a:xfrm>
            <a:off x="338328" y="2651760"/>
            <a:ext cx="365760" cy="3657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4630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20 %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148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Auftrag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2004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Bei Beauftragung</a:t>
            </a:r>
          </a:p>
        </p:txBody>
      </p:sp>
      <p:sp>
        <p:nvSpPr>
          <p:cNvPr id="12" name="Oval 11"/>
          <p:cNvSpPr/>
          <p:nvPr/>
        </p:nvSpPr>
        <p:spPr>
          <a:xfrm>
            <a:off x="2258568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14630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15 %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32004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Abnahme Analysebericht</a:t>
            </a:r>
          </a:p>
        </p:txBody>
      </p:sp>
      <p:sp>
        <p:nvSpPr>
          <p:cNvPr id="16" name="Oval 15"/>
          <p:cNvSpPr/>
          <p:nvPr/>
        </p:nvSpPr>
        <p:spPr>
          <a:xfrm>
            <a:off x="4178808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8" y="14630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20 %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148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808" y="32004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Freigabe Business Case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8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14630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20 %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148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32004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Design Freeze</a:t>
            </a:r>
          </a:p>
        </p:txBody>
      </p:sp>
      <p:sp>
        <p:nvSpPr>
          <p:cNvPr id="24" name="Oval 23"/>
          <p:cNvSpPr/>
          <p:nvPr/>
        </p:nvSpPr>
        <p:spPr>
          <a:xfrm>
            <a:off x="8019288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14630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15 %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2148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32004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Mechanical Completion</a:t>
            </a:r>
          </a:p>
        </p:txBody>
      </p:sp>
      <p:sp>
        <p:nvSpPr>
          <p:cNvPr id="28" name="Oval 27"/>
          <p:cNvSpPr/>
          <p:nvPr/>
        </p:nvSpPr>
        <p:spPr>
          <a:xfrm>
            <a:off x="9939528" y="26517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9528" y="146304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21488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32004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Abschluss Qualifizierung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" y="4023360"/>
            <a:ext cx="11521440" cy="12801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7" y="416052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Zahlungsziel 30 Tage nach Rechnungsstellung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Leistungen nach Aufwand: monatliche Abrechnung mit Leistungsnachweis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Reisekosten nach Aufwand, maximal [x] % des Honorars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Konditionen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Es gelten die Allgemeinen Geschäftsbedingungen von Körber [Gesellschaft]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Kommerzielle Rahmenbedingungen im Überblick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Icon description"/>
          <p:cNvSpPr/>
          <p:nvPr/>
        </p:nvSpPr>
        <p:spPr>
          <a:xfrm>
            <a:off x="53949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4000" y="70000"/>
                </a:moveTo>
                <a:lnTo>
                  <a:pt x="62000" y="70000"/>
                </a:lnTo>
                <a:lnTo>
                  <a:pt x="62000" y="66000"/>
                </a:lnTo>
                <a:lnTo>
                  <a:pt x="34000" y="66000"/>
                </a:lnTo>
                <a:lnTo>
                  <a:pt x="34000" y="70000"/>
                </a:lnTo>
                <a:close/>
                <a:moveTo>
                  <a:pt x="34000" y="54000"/>
                </a:moveTo>
                <a:lnTo>
                  <a:pt x="62000" y="54000"/>
                </a:lnTo>
                <a:lnTo>
                  <a:pt x="62000" y="50000"/>
                </a:lnTo>
                <a:lnTo>
                  <a:pt x="34000" y="50000"/>
                </a:lnTo>
                <a:lnTo>
                  <a:pt x="34000" y="54000"/>
                </a:lnTo>
                <a:close/>
                <a:moveTo>
                  <a:pt x="26462" y="84000"/>
                </a:moveTo>
                <a:quadBezTo>
                  <a:pt x="23700" y="84000"/>
                  <a:pt x="21850" y="82150"/>
                </a:quadBezTo>
                <a:quadBezTo>
                  <a:pt x="20000" y="80300"/>
                  <a:pt x="20000" y="77538"/>
                </a:quadBezTo>
                <a:lnTo>
                  <a:pt x="20000" y="18462"/>
                </a:lnTo>
                <a:quadBezTo>
                  <a:pt x="20000" y="15700"/>
                  <a:pt x="21850" y="13850"/>
                </a:quadBezTo>
                <a:quadBezTo>
                  <a:pt x="23700" y="12000"/>
                  <a:pt x="26462" y="12000"/>
                </a:quadBezTo>
                <a:lnTo>
                  <a:pt x="58000" y="12000"/>
                </a:lnTo>
                <a:lnTo>
                  <a:pt x="76000" y="30000"/>
                </a:lnTo>
                <a:lnTo>
                  <a:pt x="76000" y="77538"/>
                </a:lnTo>
                <a:quadBezTo>
                  <a:pt x="76000" y="80300"/>
                  <a:pt x="74150" y="82150"/>
                </a:quadBezTo>
                <a:quadBezTo>
                  <a:pt x="72300" y="84000"/>
                  <a:pt x="69538" y="84000"/>
                </a:quadBezTo>
                <a:lnTo>
                  <a:pt x="26462" y="84000"/>
                </a:lnTo>
                <a:close/>
                <a:moveTo>
                  <a:pt x="56000" y="32000"/>
                </a:moveTo>
                <a:lnTo>
                  <a:pt x="56000" y="16000"/>
                </a:lnTo>
                <a:lnTo>
                  <a:pt x="26462" y="16000"/>
                </a:lnTo>
                <a:quadBezTo>
                  <a:pt x="25538" y="16000"/>
                  <a:pt x="24769" y="16769"/>
                </a:quadBezTo>
                <a:quadBezTo>
                  <a:pt x="24000" y="17538"/>
                  <a:pt x="24000" y="18462"/>
                </a:quadBezTo>
                <a:lnTo>
                  <a:pt x="24000" y="77538"/>
                </a:lnTo>
                <a:quadBezTo>
                  <a:pt x="24000" y="78462"/>
                  <a:pt x="24769" y="79231"/>
                </a:quadBezTo>
                <a:quadBezTo>
                  <a:pt x="25538" y="80000"/>
                  <a:pt x="26462" y="80000"/>
                </a:quadBezTo>
                <a:lnTo>
                  <a:pt x="69538" y="80000"/>
                </a:lnTo>
                <a:quadBezTo>
                  <a:pt x="70462" y="80000"/>
                  <a:pt x="71231" y="79231"/>
                </a:quadBezTo>
                <a:quadBezTo>
                  <a:pt x="72000" y="78462"/>
                  <a:pt x="72000" y="77538"/>
                </a:quadBezTo>
                <a:lnTo>
                  <a:pt x="72000" y="32000"/>
                </a:lnTo>
                <a:lnTo>
                  <a:pt x="56000" y="32000"/>
                </a:lnTo>
                <a:close/>
                <a:moveTo>
                  <a:pt x="24000" y="16000"/>
                </a:moveTo>
                <a:lnTo>
                  <a:pt x="24000" y="32000"/>
                </a:lnTo>
                <a:lnTo>
                  <a:pt x="24000" y="16000"/>
                </a:lnTo>
                <a:lnTo>
                  <a:pt x="24000" y="80000"/>
                </a:lnTo>
                <a:lnTo>
                  <a:pt x="24000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539496" y="207568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Vertragsmodell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459736"/>
            <a:ext cx="32552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Dienstvertrag mit Festpreis-Anteilen je 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37160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Icon calendar_month"/>
          <p:cNvSpPr/>
          <p:nvPr/>
        </p:nvSpPr>
        <p:spPr>
          <a:xfrm>
            <a:off x="447141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4000"/>
                </a:moveTo>
                <a:quadBezTo>
                  <a:pt x="19700" y="84000"/>
                  <a:pt x="17850" y="82150"/>
                </a:quadBezTo>
                <a:quadBezTo>
                  <a:pt x="16000" y="80300"/>
                  <a:pt x="16000" y="77538"/>
                </a:quadBezTo>
                <a:lnTo>
                  <a:pt x="16000" y="26462"/>
                </a:lnTo>
                <a:quadBezTo>
                  <a:pt x="16000" y="23700"/>
                  <a:pt x="17850" y="21850"/>
                </a:quadBezTo>
                <a:quadBezTo>
                  <a:pt x="19700" y="20000"/>
                  <a:pt x="22462" y="20000"/>
                </a:quadBezTo>
                <a:lnTo>
                  <a:pt x="29538" y="20000"/>
                </a:lnTo>
                <a:lnTo>
                  <a:pt x="29538" y="11077"/>
                </a:lnTo>
                <a:lnTo>
                  <a:pt x="33846" y="11077"/>
                </a:lnTo>
                <a:lnTo>
                  <a:pt x="33846" y="20000"/>
                </a:lnTo>
                <a:lnTo>
                  <a:pt x="62462" y="20000"/>
                </a:lnTo>
                <a:lnTo>
                  <a:pt x="62462" y="11077"/>
                </a:lnTo>
                <a:lnTo>
                  <a:pt x="66462" y="11077"/>
                </a:lnTo>
                <a:lnTo>
                  <a:pt x="66462" y="20000"/>
                </a:lnTo>
                <a:lnTo>
                  <a:pt x="73538" y="20000"/>
                </a:lnTo>
                <a:quadBezTo>
                  <a:pt x="76300" y="20000"/>
                  <a:pt x="78150" y="21850"/>
                </a:quadBezTo>
                <a:quadBezTo>
                  <a:pt x="80000" y="23700"/>
                  <a:pt x="80000" y="26462"/>
                </a:quadBezTo>
                <a:lnTo>
                  <a:pt x="80000" y="77538"/>
                </a:lnTo>
                <a:quadBezTo>
                  <a:pt x="80000" y="80300"/>
                  <a:pt x="78150" y="82150"/>
                </a:quadBezTo>
                <a:quadBezTo>
                  <a:pt x="76300" y="84000"/>
                  <a:pt x="73538" y="84000"/>
                </a:quadBezTo>
                <a:lnTo>
                  <a:pt x="22462" y="84000"/>
                </a:lnTo>
                <a:close/>
                <a:moveTo>
                  <a:pt x="22462" y="80000"/>
                </a:moveTo>
                <a:lnTo>
                  <a:pt x="73538" y="80000"/>
                </a:lnTo>
                <a:quadBezTo>
                  <a:pt x="74462" y="80000"/>
                  <a:pt x="75231" y="79231"/>
                </a:quadBezTo>
                <a:quadBezTo>
                  <a:pt x="76000" y="78462"/>
                  <a:pt x="76000" y="77538"/>
                </a:quadBezTo>
                <a:lnTo>
                  <a:pt x="76000" y="42462"/>
                </a:lnTo>
                <a:lnTo>
                  <a:pt x="20000" y="42462"/>
                </a:lnTo>
                <a:lnTo>
                  <a:pt x="20000" y="77538"/>
                </a:lnTo>
                <a:quadBezTo>
                  <a:pt x="20000" y="78462"/>
                  <a:pt x="20769" y="79231"/>
                </a:quadBezTo>
                <a:quadBezTo>
                  <a:pt x="21538" y="80000"/>
                  <a:pt x="22462" y="80000"/>
                </a:quadBezTo>
                <a:close/>
                <a:moveTo>
                  <a:pt x="20000" y="38461"/>
                </a:moveTo>
                <a:lnTo>
                  <a:pt x="76000" y="38461"/>
                </a:lnTo>
                <a:lnTo>
                  <a:pt x="76000" y="26462"/>
                </a:lnTo>
                <a:quadBezTo>
                  <a:pt x="76000" y="25538"/>
                  <a:pt x="75231" y="24769"/>
                </a:quadBezTo>
                <a:quadBezTo>
                  <a:pt x="74462" y="24000"/>
                  <a:pt x="73538" y="24000"/>
                </a:quadBezTo>
                <a:lnTo>
                  <a:pt x="22462" y="24000"/>
                </a:lnTo>
                <a:quadBezTo>
                  <a:pt x="21538" y="24000"/>
                  <a:pt x="20769" y="24769"/>
                </a:quadBezTo>
                <a:quadBezTo>
                  <a:pt x="20000" y="25538"/>
                  <a:pt x="20000" y="26462"/>
                </a:quadBezTo>
                <a:lnTo>
                  <a:pt x="20000" y="38461"/>
                </a:lnTo>
                <a:close/>
                <a:moveTo>
                  <a:pt x="20000" y="38461"/>
                </a:moveTo>
                <a:lnTo>
                  <a:pt x="20000" y="24000"/>
                </a:lnTo>
                <a:lnTo>
                  <a:pt x="20000" y="38461"/>
                </a:lnTo>
                <a:close/>
                <a:moveTo>
                  <a:pt x="48000" y="56615"/>
                </a:moveTo>
                <a:quadBezTo>
                  <a:pt x="46762" y="56615"/>
                  <a:pt x="45842" y="55696"/>
                </a:quadBezTo>
                <a:quadBezTo>
                  <a:pt x="44923" y="54777"/>
                  <a:pt x="44923" y="53538"/>
                </a:quadBezTo>
                <a:quadBezTo>
                  <a:pt x="44923" y="52300"/>
                  <a:pt x="45842" y="51381"/>
                </a:quadBezTo>
                <a:quadBezTo>
                  <a:pt x="46762" y="50462"/>
                  <a:pt x="48000" y="50462"/>
                </a:quadBezTo>
                <a:quadBezTo>
                  <a:pt x="49238" y="50462"/>
                  <a:pt x="50158" y="51381"/>
                </a:quadBezTo>
                <a:quadBezTo>
                  <a:pt x="51077" y="52300"/>
                  <a:pt x="51077" y="53538"/>
                </a:quadBezTo>
                <a:quadBezTo>
                  <a:pt x="51077" y="54777"/>
                  <a:pt x="50158" y="55696"/>
                </a:quadBezTo>
                <a:quadBezTo>
                  <a:pt x="49238" y="56615"/>
                  <a:pt x="48000" y="56615"/>
                </a:quadBezTo>
                <a:close/>
                <a:moveTo>
                  <a:pt x="32000" y="56615"/>
                </a:moveTo>
                <a:quadBezTo>
                  <a:pt x="30762" y="56615"/>
                  <a:pt x="29842" y="55696"/>
                </a:quadBezTo>
                <a:quadBezTo>
                  <a:pt x="28923" y="54777"/>
                  <a:pt x="28923" y="53538"/>
                </a:quadBezTo>
                <a:quadBezTo>
                  <a:pt x="28923" y="52300"/>
                  <a:pt x="29842" y="51381"/>
                </a:quadBezTo>
                <a:quadBezTo>
                  <a:pt x="30762" y="50462"/>
                  <a:pt x="32000" y="50462"/>
                </a:quadBezTo>
                <a:quadBezTo>
                  <a:pt x="33238" y="50462"/>
                  <a:pt x="34158" y="51381"/>
                </a:quadBezTo>
                <a:quadBezTo>
                  <a:pt x="35077" y="52300"/>
                  <a:pt x="35077" y="53538"/>
                </a:quadBezTo>
                <a:quadBezTo>
                  <a:pt x="35077" y="54777"/>
                  <a:pt x="34158" y="55696"/>
                </a:quadBezTo>
                <a:quadBezTo>
                  <a:pt x="33238" y="56615"/>
                  <a:pt x="32000" y="56615"/>
                </a:quadBezTo>
                <a:close/>
                <a:moveTo>
                  <a:pt x="64000" y="56615"/>
                </a:moveTo>
                <a:quadBezTo>
                  <a:pt x="62762" y="56615"/>
                  <a:pt x="61842" y="55696"/>
                </a:quadBezTo>
                <a:quadBezTo>
                  <a:pt x="60923" y="54777"/>
                  <a:pt x="60923" y="53538"/>
                </a:quadBezTo>
                <a:quadBezTo>
                  <a:pt x="60923" y="52300"/>
                  <a:pt x="61842" y="51381"/>
                </a:quadBezTo>
                <a:quadBezTo>
                  <a:pt x="62762" y="50462"/>
                  <a:pt x="64000" y="50462"/>
                </a:quadBezTo>
                <a:quadBezTo>
                  <a:pt x="65238" y="50462"/>
                  <a:pt x="66158" y="51381"/>
                </a:quadBezTo>
                <a:quadBezTo>
                  <a:pt x="67077" y="52300"/>
                  <a:pt x="67077" y="53538"/>
                </a:quadBezTo>
                <a:quadBezTo>
                  <a:pt x="67077" y="54777"/>
                  <a:pt x="66158" y="55696"/>
                </a:quadBezTo>
                <a:quadBezTo>
                  <a:pt x="65238" y="56615"/>
                  <a:pt x="64000" y="56615"/>
                </a:quadBezTo>
                <a:close/>
                <a:moveTo>
                  <a:pt x="48000" y="72000"/>
                </a:moveTo>
                <a:quadBezTo>
                  <a:pt x="46762" y="72000"/>
                  <a:pt x="45842" y="71081"/>
                </a:quadBezTo>
                <a:quadBezTo>
                  <a:pt x="44923" y="70162"/>
                  <a:pt x="44923" y="68923"/>
                </a:quadBezTo>
                <a:quadBezTo>
                  <a:pt x="44923" y="67685"/>
                  <a:pt x="45842" y="66765"/>
                </a:quadBezTo>
                <a:quadBezTo>
                  <a:pt x="46762" y="65846"/>
                  <a:pt x="48000" y="65846"/>
                </a:quadBezTo>
                <a:quadBezTo>
                  <a:pt x="49238" y="65846"/>
                  <a:pt x="50158" y="66765"/>
                </a:quadBezTo>
                <a:quadBezTo>
                  <a:pt x="51077" y="67685"/>
                  <a:pt x="51077" y="68923"/>
                </a:quadBezTo>
                <a:quadBezTo>
                  <a:pt x="51077" y="70162"/>
                  <a:pt x="50158" y="71081"/>
                </a:quadBezTo>
                <a:quadBezTo>
                  <a:pt x="49238" y="72000"/>
                  <a:pt x="48000" y="72000"/>
                </a:quadBezTo>
                <a:close/>
                <a:moveTo>
                  <a:pt x="32000" y="72000"/>
                </a:moveTo>
                <a:quadBezTo>
                  <a:pt x="30762" y="72000"/>
                  <a:pt x="29842" y="71081"/>
                </a:quadBezTo>
                <a:quadBezTo>
                  <a:pt x="28923" y="70162"/>
                  <a:pt x="28923" y="68923"/>
                </a:quadBezTo>
                <a:quadBezTo>
                  <a:pt x="28923" y="67685"/>
                  <a:pt x="29842" y="66765"/>
                </a:quadBezTo>
                <a:quadBezTo>
                  <a:pt x="30762" y="65846"/>
                  <a:pt x="32000" y="65846"/>
                </a:quadBezTo>
                <a:quadBezTo>
                  <a:pt x="33238" y="65846"/>
                  <a:pt x="34158" y="66765"/>
                </a:quadBezTo>
                <a:quadBezTo>
                  <a:pt x="35077" y="67685"/>
                  <a:pt x="35077" y="68923"/>
                </a:quadBezTo>
                <a:quadBezTo>
                  <a:pt x="35077" y="70162"/>
                  <a:pt x="34158" y="71081"/>
                </a:quadBezTo>
                <a:quadBezTo>
                  <a:pt x="33238" y="72000"/>
                  <a:pt x="32000" y="72000"/>
                </a:quadBezTo>
                <a:close/>
                <a:moveTo>
                  <a:pt x="64000" y="72000"/>
                </a:moveTo>
                <a:quadBezTo>
                  <a:pt x="62762" y="72000"/>
                  <a:pt x="61842" y="71081"/>
                </a:quadBezTo>
                <a:quadBezTo>
                  <a:pt x="60923" y="70162"/>
                  <a:pt x="60923" y="68923"/>
                </a:quadBezTo>
                <a:quadBezTo>
                  <a:pt x="60923" y="67685"/>
                  <a:pt x="61842" y="66765"/>
                </a:quadBezTo>
                <a:quadBezTo>
                  <a:pt x="62762" y="65846"/>
                  <a:pt x="64000" y="65846"/>
                </a:quadBezTo>
                <a:quadBezTo>
                  <a:pt x="65238" y="65846"/>
                  <a:pt x="66158" y="66765"/>
                </a:quadBezTo>
                <a:quadBezTo>
                  <a:pt x="67077" y="67685"/>
                  <a:pt x="67077" y="68923"/>
                </a:quadBezTo>
                <a:quadBezTo>
                  <a:pt x="67077" y="70162"/>
                  <a:pt x="66158" y="71081"/>
                </a:quadBezTo>
                <a:quadBezTo>
                  <a:pt x="65238" y="72000"/>
                  <a:pt x="64000" y="7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471416" y="207568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Laufzeit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459736"/>
            <a:ext cx="32552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[Monat JJJJ] bis [Monat JJJJ]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2168" y="137160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Icon swap_horiz"/>
          <p:cNvSpPr/>
          <p:nvPr/>
        </p:nvSpPr>
        <p:spPr>
          <a:xfrm>
            <a:off x="8403336" y="1572768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75923"/>
                </a:moveTo>
                <a:lnTo>
                  <a:pt x="12000" y="58692"/>
                </a:lnTo>
                <a:lnTo>
                  <a:pt x="29231" y="41462"/>
                </a:lnTo>
                <a:lnTo>
                  <a:pt x="32062" y="44315"/>
                </a:lnTo>
                <a:lnTo>
                  <a:pt x="19685" y="56692"/>
                </a:lnTo>
                <a:lnTo>
                  <a:pt x="49231" y="56692"/>
                </a:lnTo>
                <a:lnTo>
                  <a:pt x="49231" y="60692"/>
                </a:lnTo>
                <a:lnTo>
                  <a:pt x="19685" y="60692"/>
                </a:lnTo>
                <a:lnTo>
                  <a:pt x="32062" y="73069"/>
                </a:lnTo>
                <a:lnTo>
                  <a:pt x="29231" y="75923"/>
                </a:lnTo>
                <a:close/>
                <a:moveTo>
                  <a:pt x="66769" y="54462"/>
                </a:moveTo>
                <a:lnTo>
                  <a:pt x="63938" y="51608"/>
                </a:lnTo>
                <a:lnTo>
                  <a:pt x="76315" y="39231"/>
                </a:lnTo>
                <a:lnTo>
                  <a:pt x="46769" y="39231"/>
                </a:lnTo>
                <a:lnTo>
                  <a:pt x="46769" y="35231"/>
                </a:lnTo>
                <a:lnTo>
                  <a:pt x="76315" y="35231"/>
                </a:lnTo>
                <a:lnTo>
                  <a:pt x="63938" y="22854"/>
                </a:lnTo>
                <a:lnTo>
                  <a:pt x="66769" y="20000"/>
                </a:lnTo>
                <a:lnTo>
                  <a:pt x="84000" y="37231"/>
                </a:lnTo>
                <a:lnTo>
                  <a:pt x="66769" y="5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8403336" y="2075688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Änderungen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459736"/>
            <a:ext cx="32552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Change-Request-Verfahren mit Freigabe durch das Steering Committee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47472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payments"/>
          <p:cNvSpPr/>
          <p:nvPr/>
        </p:nvSpPr>
        <p:spPr>
          <a:xfrm>
            <a:off x="539496" y="3675887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4000" y="49692"/>
                </a:moveTo>
                <a:quadBezTo>
                  <a:pt x="50615" y="49692"/>
                  <a:pt x="48308" y="47385"/>
                </a:quadBezTo>
                <a:quadBezTo>
                  <a:pt x="46000" y="45077"/>
                  <a:pt x="46000" y="41692"/>
                </a:quadBezTo>
                <a:quadBezTo>
                  <a:pt x="46000" y="38308"/>
                  <a:pt x="48308" y="36000"/>
                </a:quadBezTo>
                <a:quadBezTo>
                  <a:pt x="50615" y="33692"/>
                  <a:pt x="54000" y="33692"/>
                </a:quadBezTo>
                <a:quadBezTo>
                  <a:pt x="57385" y="33692"/>
                  <a:pt x="59692" y="36000"/>
                </a:quadBezTo>
                <a:quadBezTo>
                  <a:pt x="62000" y="38308"/>
                  <a:pt x="62000" y="41692"/>
                </a:quadBezTo>
                <a:quadBezTo>
                  <a:pt x="62000" y="45077"/>
                  <a:pt x="59692" y="47385"/>
                </a:quadBezTo>
                <a:quadBezTo>
                  <a:pt x="57385" y="49692"/>
                  <a:pt x="54000" y="49692"/>
                </a:quadBezTo>
                <a:close/>
                <a:moveTo>
                  <a:pt x="29231" y="62462"/>
                </a:moveTo>
                <a:quadBezTo>
                  <a:pt x="26565" y="62462"/>
                  <a:pt x="24667" y="60563"/>
                </a:quadBezTo>
                <a:quadBezTo>
                  <a:pt x="22769" y="58665"/>
                  <a:pt x="22769" y="56000"/>
                </a:quadBezTo>
                <a:lnTo>
                  <a:pt x="22769" y="27385"/>
                </a:lnTo>
                <a:quadBezTo>
                  <a:pt x="22769" y="24719"/>
                  <a:pt x="24667" y="22821"/>
                </a:quadBezTo>
                <a:quadBezTo>
                  <a:pt x="26565" y="20923"/>
                  <a:pt x="29231" y="20923"/>
                </a:quadBezTo>
                <a:lnTo>
                  <a:pt x="78769" y="20923"/>
                </a:lnTo>
                <a:quadBezTo>
                  <a:pt x="81435" y="20923"/>
                  <a:pt x="83333" y="22821"/>
                </a:quadBezTo>
                <a:quadBezTo>
                  <a:pt x="85231" y="24719"/>
                  <a:pt x="85231" y="27385"/>
                </a:quadBezTo>
                <a:lnTo>
                  <a:pt x="85231" y="56000"/>
                </a:lnTo>
                <a:quadBezTo>
                  <a:pt x="85231" y="58665"/>
                  <a:pt x="83333" y="60563"/>
                </a:quadBezTo>
                <a:quadBezTo>
                  <a:pt x="81435" y="62462"/>
                  <a:pt x="78769" y="62462"/>
                </a:quadBezTo>
                <a:lnTo>
                  <a:pt x="29231" y="62462"/>
                </a:lnTo>
                <a:close/>
                <a:moveTo>
                  <a:pt x="33231" y="58462"/>
                </a:moveTo>
                <a:lnTo>
                  <a:pt x="74769" y="58462"/>
                </a:lnTo>
                <a:quadBezTo>
                  <a:pt x="74769" y="55777"/>
                  <a:pt x="76667" y="53888"/>
                </a:quadBezTo>
                <a:quadBezTo>
                  <a:pt x="78565" y="52000"/>
                  <a:pt x="81231" y="52000"/>
                </a:quadBezTo>
                <a:lnTo>
                  <a:pt x="81231" y="31385"/>
                </a:lnTo>
                <a:quadBezTo>
                  <a:pt x="78546" y="31385"/>
                  <a:pt x="76658" y="29487"/>
                </a:quadBezTo>
                <a:quadBezTo>
                  <a:pt x="74769" y="27588"/>
                  <a:pt x="74769" y="24923"/>
                </a:quadBezTo>
                <a:lnTo>
                  <a:pt x="33231" y="24923"/>
                </a:lnTo>
                <a:quadBezTo>
                  <a:pt x="33231" y="27608"/>
                  <a:pt x="31333" y="29496"/>
                </a:quadBezTo>
                <a:quadBezTo>
                  <a:pt x="29435" y="31385"/>
                  <a:pt x="26769" y="31385"/>
                </a:quadBezTo>
                <a:lnTo>
                  <a:pt x="26769" y="52000"/>
                </a:lnTo>
                <a:quadBezTo>
                  <a:pt x="29454" y="52000"/>
                  <a:pt x="31342" y="53898"/>
                </a:quadBezTo>
                <a:quadBezTo>
                  <a:pt x="33231" y="55796"/>
                  <a:pt x="33231" y="58462"/>
                </a:quadBezTo>
                <a:close/>
                <a:moveTo>
                  <a:pt x="73385" y="74462"/>
                </a:moveTo>
                <a:lnTo>
                  <a:pt x="17231" y="74462"/>
                </a:lnTo>
                <a:quadBezTo>
                  <a:pt x="14565" y="74462"/>
                  <a:pt x="12667" y="72563"/>
                </a:quadBezTo>
                <a:quadBezTo>
                  <a:pt x="10769" y="70665"/>
                  <a:pt x="10769" y="68000"/>
                </a:quadBezTo>
                <a:lnTo>
                  <a:pt x="10769" y="32769"/>
                </a:lnTo>
                <a:lnTo>
                  <a:pt x="14769" y="32769"/>
                </a:lnTo>
                <a:lnTo>
                  <a:pt x="14769" y="68000"/>
                </a:lnTo>
                <a:quadBezTo>
                  <a:pt x="14769" y="68923"/>
                  <a:pt x="15538" y="69692"/>
                </a:quadBezTo>
                <a:quadBezTo>
                  <a:pt x="16308" y="70462"/>
                  <a:pt x="17231" y="70462"/>
                </a:quadBezTo>
                <a:lnTo>
                  <a:pt x="73385" y="70462"/>
                </a:lnTo>
                <a:lnTo>
                  <a:pt x="73385" y="74462"/>
                </a:lnTo>
                <a:close/>
                <a:moveTo>
                  <a:pt x="29231" y="58462"/>
                </a:moveTo>
                <a:lnTo>
                  <a:pt x="26769" y="58462"/>
                </a:lnTo>
                <a:lnTo>
                  <a:pt x="26769" y="24923"/>
                </a:lnTo>
                <a:lnTo>
                  <a:pt x="29231" y="24923"/>
                </a:lnTo>
                <a:quadBezTo>
                  <a:pt x="28231" y="24923"/>
                  <a:pt x="27500" y="25654"/>
                </a:quadBezTo>
                <a:quadBezTo>
                  <a:pt x="26769" y="26385"/>
                  <a:pt x="26769" y="27385"/>
                </a:quadBezTo>
                <a:lnTo>
                  <a:pt x="26769" y="56000"/>
                </a:lnTo>
                <a:quadBezTo>
                  <a:pt x="26769" y="57000"/>
                  <a:pt x="27500" y="57731"/>
                </a:quadBezTo>
                <a:quadBezTo>
                  <a:pt x="28231" y="58462"/>
                  <a:pt x="29231" y="58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539496" y="4178807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Reisekosten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4562855"/>
            <a:ext cx="32552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Nach Aufwand gemäß Reiserichtlinie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8" y="347472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Icon shield"/>
          <p:cNvSpPr/>
          <p:nvPr/>
        </p:nvSpPr>
        <p:spPr>
          <a:xfrm>
            <a:off x="4471416" y="3675887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8400" y="76300"/>
                  <a:pt x="65200" y="66400"/>
                </a:quadBezTo>
                <a:quadBezTo>
                  <a:pt x="72000" y="56500"/>
                  <a:pt x="72000" y="44400"/>
                </a:quadBezTo>
                <a:lnTo>
                  <a:pt x="72000" y="255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4400"/>
                </a:lnTo>
                <a:quadBezTo>
                  <a:pt x="24000" y="56500"/>
                  <a:pt x="30800" y="66400"/>
                </a:quadBezTo>
                <a:quadBezTo>
                  <a:pt x="37600" y="76300"/>
                  <a:pt x="48000" y="79600"/>
                </a:quadBezTo>
                <a:close/>
                <a:moveTo>
                  <a:pt x="48000" y="480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4471416" y="4178807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Haftung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562855"/>
            <a:ext cx="32552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Gemäß AGB, begrenzt auf [x] % des Auftragswerts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3474720"/>
            <a:ext cx="365760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Icon lock"/>
          <p:cNvSpPr/>
          <p:nvPr/>
        </p:nvSpPr>
        <p:spPr>
          <a:xfrm>
            <a:off x="8403336" y="3675887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462" y="84000"/>
                </a:moveTo>
                <a:quadBezTo>
                  <a:pt x="23777" y="84000"/>
                  <a:pt x="21888" y="82112"/>
                </a:quadBezTo>
                <a:quadBezTo>
                  <a:pt x="20000" y="80223"/>
                  <a:pt x="20000" y="77538"/>
                </a:quadBezTo>
                <a:lnTo>
                  <a:pt x="20000" y="42462"/>
                </a:lnTo>
                <a:quadBezTo>
                  <a:pt x="20000" y="39777"/>
                  <a:pt x="21888" y="37888"/>
                </a:quadBezTo>
                <a:quadBezTo>
                  <a:pt x="23777" y="36000"/>
                  <a:pt x="26462" y="36000"/>
                </a:quadBezTo>
                <a:lnTo>
                  <a:pt x="32000" y="36000"/>
                </a:lnTo>
                <a:lnTo>
                  <a:pt x="32000" y="28000"/>
                </a:lnTo>
                <a:quadBezTo>
                  <a:pt x="32000" y="21315"/>
                  <a:pt x="36658" y="16658"/>
                </a:quadBezTo>
                <a:quadBezTo>
                  <a:pt x="41315" y="12000"/>
                  <a:pt x="48000" y="12000"/>
                </a:quadBezTo>
                <a:quadBezTo>
                  <a:pt x="54685" y="12000"/>
                  <a:pt x="59342" y="16658"/>
                </a:quadBezTo>
                <a:quadBezTo>
                  <a:pt x="64000" y="21315"/>
                  <a:pt x="64000" y="28000"/>
                </a:quadBezTo>
                <a:lnTo>
                  <a:pt x="64000" y="36000"/>
                </a:lnTo>
                <a:lnTo>
                  <a:pt x="69538" y="36000"/>
                </a:lnTo>
                <a:quadBezTo>
                  <a:pt x="72223" y="36000"/>
                  <a:pt x="74112" y="37888"/>
                </a:quadBezTo>
                <a:quadBezTo>
                  <a:pt x="76000" y="39777"/>
                  <a:pt x="76000" y="42462"/>
                </a:quadBezTo>
                <a:lnTo>
                  <a:pt x="76000" y="77538"/>
                </a:lnTo>
                <a:quadBezTo>
                  <a:pt x="76000" y="80223"/>
                  <a:pt x="74112" y="82112"/>
                </a:quadBezTo>
                <a:quadBezTo>
                  <a:pt x="72223" y="84000"/>
                  <a:pt x="69538" y="84000"/>
                </a:quadBezTo>
                <a:lnTo>
                  <a:pt x="26462" y="84000"/>
                </a:lnTo>
                <a:close/>
                <a:moveTo>
                  <a:pt x="26462" y="80000"/>
                </a:moveTo>
                <a:lnTo>
                  <a:pt x="69538" y="80000"/>
                </a:lnTo>
                <a:quadBezTo>
                  <a:pt x="70615" y="80000"/>
                  <a:pt x="71308" y="79308"/>
                </a:quadBezTo>
                <a:quadBezTo>
                  <a:pt x="72000" y="78615"/>
                  <a:pt x="72000" y="77538"/>
                </a:quadBezTo>
                <a:lnTo>
                  <a:pt x="72000" y="42462"/>
                </a:lnTo>
                <a:quadBezTo>
                  <a:pt x="72000" y="41385"/>
                  <a:pt x="71308" y="40692"/>
                </a:quadBezTo>
                <a:quadBezTo>
                  <a:pt x="70615" y="40000"/>
                  <a:pt x="69538" y="40000"/>
                </a:quadBezTo>
                <a:lnTo>
                  <a:pt x="26462" y="40000"/>
                </a:lnTo>
                <a:quadBezTo>
                  <a:pt x="25385" y="40000"/>
                  <a:pt x="24692" y="40692"/>
                </a:quadBezTo>
                <a:quadBezTo>
                  <a:pt x="24000" y="41385"/>
                  <a:pt x="24000" y="42462"/>
                </a:quadBezTo>
                <a:lnTo>
                  <a:pt x="24000" y="77538"/>
                </a:lnTo>
                <a:quadBezTo>
                  <a:pt x="24000" y="78615"/>
                  <a:pt x="24692" y="79308"/>
                </a:quadBezTo>
                <a:quadBezTo>
                  <a:pt x="25385" y="80000"/>
                  <a:pt x="26462" y="80000"/>
                </a:quadBezTo>
                <a:close/>
                <a:moveTo>
                  <a:pt x="48000" y="66000"/>
                </a:moveTo>
                <a:quadBezTo>
                  <a:pt x="50531" y="66000"/>
                  <a:pt x="52265" y="64265"/>
                </a:quadBezTo>
                <a:quadBezTo>
                  <a:pt x="54000" y="62531"/>
                  <a:pt x="54000" y="60000"/>
                </a:quadBezTo>
                <a:quadBezTo>
                  <a:pt x="54000" y="57469"/>
                  <a:pt x="52265" y="55735"/>
                </a:quadBezTo>
                <a:quadBezTo>
                  <a:pt x="50531" y="54000"/>
                  <a:pt x="48000" y="54000"/>
                </a:quadBezTo>
                <a:quadBezTo>
                  <a:pt x="45469" y="54000"/>
                  <a:pt x="43735" y="55735"/>
                </a:quadBezTo>
                <a:quadBezTo>
                  <a:pt x="42000" y="57469"/>
                  <a:pt x="42000" y="60000"/>
                </a:quadBezTo>
                <a:quadBezTo>
                  <a:pt x="42000" y="62531"/>
                  <a:pt x="43735" y="64265"/>
                </a:quadBezTo>
                <a:quadBezTo>
                  <a:pt x="45469" y="66000"/>
                  <a:pt x="48000" y="66000"/>
                </a:quadBezTo>
                <a:close/>
                <a:moveTo>
                  <a:pt x="36000" y="36000"/>
                </a:moveTo>
                <a:lnTo>
                  <a:pt x="60000" y="36000"/>
                </a:lnTo>
                <a:lnTo>
                  <a:pt x="60000" y="28000"/>
                </a:lnTo>
                <a:quadBezTo>
                  <a:pt x="60000" y="23000"/>
                  <a:pt x="56500" y="19500"/>
                </a:quadBezTo>
                <a:quadBezTo>
                  <a:pt x="53000" y="16000"/>
                  <a:pt x="48000" y="16000"/>
                </a:quadBezTo>
                <a:quadBezTo>
                  <a:pt x="43000" y="16000"/>
                  <a:pt x="39500" y="19500"/>
                </a:quadBezTo>
                <a:quadBezTo>
                  <a:pt x="36000" y="23000"/>
                  <a:pt x="36000" y="28000"/>
                </a:quadBezTo>
                <a:lnTo>
                  <a:pt x="36000" y="36000"/>
                </a:lnTo>
                <a:close/>
                <a:moveTo>
                  <a:pt x="24000" y="80000"/>
                </a:moveTo>
                <a:lnTo>
                  <a:pt x="24000" y="40000"/>
                </a:lnTo>
                <a:lnTo>
                  <a:pt x="24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8" name="TextBox 27"/>
          <p:cNvSpPr txBox="1"/>
          <p:nvPr/>
        </p:nvSpPr>
        <p:spPr>
          <a:xfrm>
            <a:off x="8403336" y="4178807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Vertraulichkeit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4562855"/>
            <a:ext cx="32552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Gegenseitige Geheimhaltungsvereinbarung (NDA)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Angebot | Mutual Action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Gemeinsamer Fahrplan bis zum Projektstart am [Datum]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80390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754880"/>
                <a:gridCol w="3474720"/>
                <a:gridCol w="1463040"/>
                <a:gridCol w="1828800"/>
              </a:tblGrid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Schritt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Verantwortlich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Termin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Angebotspräsentation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Klärung offener Fragen Einkauf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[Kunde] Einkauf, 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Referenzgespräch mit Bestandskunde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Business Case Validierung mit Controlling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[Kunde] CFO, Körber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Freigabe Investitionsausschuss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[Kunde] Geschäftsführung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Vertragsunterzeichnung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Beide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47548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Kick-off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Beide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10168128" y="199339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42448" y="1847088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Erledigt</a:t>
            </a:r>
          </a:p>
        </p:txBody>
      </p:sp>
      <p:sp>
        <p:nvSpPr>
          <p:cNvPr id="9" name="Oval 8"/>
          <p:cNvSpPr/>
          <p:nvPr/>
        </p:nvSpPr>
        <p:spPr>
          <a:xfrm>
            <a:off x="10168128" y="246888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2448" y="2322576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Erledigt</a:t>
            </a:r>
          </a:p>
        </p:txBody>
      </p:sp>
      <p:sp>
        <p:nvSpPr>
          <p:cNvPr id="11" name="Oval 10"/>
          <p:cNvSpPr/>
          <p:nvPr/>
        </p:nvSpPr>
        <p:spPr>
          <a:xfrm>
            <a:off x="10168128" y="2944368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2448" y="2798064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In Arbeit</a:t>
            </a:r>
          </a:p>
        </p:txBody>
      </p:sp>
      <p:sp>
        <p:nvSpPr>
          <p:cNvPr id="13" name="Oval 12"/>
          <p:cNvSpPr/>
          <p:nvPr/>
        </p:nvSpPr>
        <p:spPr>
          <a:xfrm>
            <a:off x="10168128" y="3419856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8" y="3273552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Offen</a:t>
            </a:r>
          </a:p>
        </p:txBody>
      </p:sp>
      <p:sp>
        <p:nvSpPr>
          <p:cNvPr id="15" name="Oval 14"/>
          <p:cNvSpPr/>
          <p:nvPr/>
        </p:nvSpPr>
        <p:spPr>
          <a:xfrm>
            <a:off x="10168128" y="389534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2448" y="3749039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Offen</a:t>
            </a:r>
          </a:p>
        </p:txBody>
      </p:sp>
      <p:sp>
        <p:nvSpPr>
          <p:cNvPr id="17" name="Oval 16"/>
          <p:cNvSpPr/>
          <p:nvPr/>
        </p:nvSpPr>
        <p:spPr>
          <a:xfrm>
            <a:off x="10168128" y="4370832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4224528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Offen</a:t>
            </a:r>
          </a:p>
        </p:txBody>
      </p:sp>
      <p:sp>
        <p:nvSpPr>
          <p:cNvPr id="19" name="Oval 18"/>
          <p:cNvSpPr/>
          <p:nvPr/>
        </p:nvSpPr>
        <p:spPr>
          <a:xfrm>
            <a:off x="10168128" y="4846320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4700016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Offen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Projekt-</a:t>
            </a:r>
          </a:p>
          <a:p>
            <a:r>
              <a:t>steuerung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Projektauftrag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Freigegeben durch [Sponsor] am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Projektauftrag [Projektname] auf einen Blick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62356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0876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ZIEL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75564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Kapazität der sterilen Abfüllung um 60 % erhöhen – Annex-1-konform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1371600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SPONSOR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75564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[Name, Funktion]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37743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51459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IM UMFANG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761487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Neue Isolator-Linie, Ertüchtigung Linie 3, MES-Anbindung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237743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51459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NICHT IM UMFANG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761487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Gebäudeerweiterung, Produkttransfers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38327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352043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ERGEBNISSE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76732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Qualifizierte Linie, Betriebsdokumentation, geschultes Personal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3383279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520439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6732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€ 18,0 Mio. CAPEX, € 1,24 Mio. Beratung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4389120"/>
            <a:ext cx="56235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452628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ZEITRAHMEN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77316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Oktober 2026 bis September 2027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4389120"/>
            <a:ext cx="562356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52628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ERFOLGSKRITERIEN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77316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Go-live im Termin, Budget ±5 %, keine kritische Beobachtung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Ziele und Key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Ziele mit messbaren Schlüsselergebnissen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Oval 6"/>
          <p:cNvSpPr/>
          <p:nvPr/>
        </p:nvSpPr>
        <p:spPr>
          <a:xfrm>
            <a:off x="338328" y="155448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O1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5544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Kapazität sichern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Linie qualifiziert bis 09/2027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645919"/>
            <a:ext cx="3017520" cy="146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19288" y="1645919"/>
            <a:ext cx="1659636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3967" y="1508760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55 %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574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Ausbringung +60 %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9288" y="2194560"/>
            <a:ext cx="3017520" cy="146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9288" y="2194560"/>
            <a:ext cx="603504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73967" y="2057400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20 %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" y="269748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338328" y="28803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O2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8803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Compliance gewährleisten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83464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Annex-1-Gap-Schließung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2971800"/>
            <a:ext cx="3017520" cy="146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2971800"/>
            <a:ext cx="2414016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73967" y="2834640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80 %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3832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CCS dokumentiert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3520440"/>
            <a:ext cx="3017520" cy="146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9288" y="3520440"/>
            <a:ext cx="1810511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73967" y="3383280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60 %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8328" y="402336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338328" y="42062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O3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2062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Betrieb befähigen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16052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40 Mitarbeitende geschult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19288" y="4297680"/>
            <a:ext cx="3017520" cy="146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9288" y="4297680"/>
            <a:ext cx="905255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73967" y="4160520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30 %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7091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SOPs freigegeben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9288" y="4846320"/>
            <a:ext cx="3017520" cy="146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19288" y="4846320"/>
            <a:ext cx="1357884" cy="146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73967" y="4709160"/>
            <a:ext cx="68580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45 %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Statusbericht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Berichtszeitraum: [TT.MM.] – [TT.MM.]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KW [xx]: Im Plan – Entscheidung zur MES-Schnittstelle nötig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3108960" cy="39319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GESAMTSTATUS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874519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874519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Im Plan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76148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697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Termine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12724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63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493008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4290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Qualität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3858768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7947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Ressourcen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51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FORTSCHRITT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572000"/>
            <a:ext cx="2651760" cy="18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572000"/>
            <a:ext cx="1272844" cy="18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006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48 % (Plan: 50 %)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21608" y="1371600"/>
            <a:ext cx="393192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8" y="15544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ERREICHT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18288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Basic Design freigegeben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Lieferant Isolator beauftragt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Risikoanalyse abgeschlossen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7848" y="1371600"/>
            <a:ext cx="393192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155448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NÄCHSTE SCHRITTE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182880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Detail Design HVAC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FAT-Planung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Schulungskonzept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21608" y="3474720"/>
            <a:ext cx="3931920" cy="18288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04488" y="36576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TOP-RISIKEN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393192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Lieferzeit Isolator (+4 Wochen)</a:t>
            </a:r>
          </a:p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Verfügbarkeit QA-Ressourcen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27848" y="3474720"/>
            <a:ext cx="3931920" cy="18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10727" y="36576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ENTSCHEIDUNGSBEDARF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3931920"/>
            <a:ext cx="356616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3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Schnittstelle MES–ERP: Middleware vs. Direktanbindung (bis [Datum])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Steering-Committee-Dashboard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Vier Workstreams: Drei im Plan, MES-Integration gefährdet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94560"/>
                <a:gridCol w="1463040"/>
                <a:gridCol w="1005840"/>
                <a:gridCol w="1005840"/>
                <a:gridCol w="1005840"/>
                <a:gridCol w="914400"/>
                <a:gridCol w="3931920"/>
              </a:tblGrid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Workstream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Lead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Termine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Budget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Qualität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Trend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Kommentar / Maßnahme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Facility &amp; Process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Basic Design freigegeben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CQV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Qualifizierungsplan in Review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MES &amp; Daten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ERP-Schnittstelle offen – Entscheidung SteerCo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Organisation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Schulungskonzept im Entwurf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4389120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94960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Icon trending_up"/>
          <p:cNvSpPr/>
          <p:nvPr/>
        </p:nvSpPr>
        <p:spPr>
          <a:xfrm>
            <a:off x="7333488" y="21945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831" y="68385"/>
                </a:moveTo>
                <a:lnTo>
                  <a:pt x="12000" y="65554"/>
                </a:lnTo>
                <a:lnTo>
                  <a:pt x="37215" y="40138"/>
                </a:lnTo>
                <a:lnTo>
                  <a:pt x="53215" y="56138"/>
                </a:lnTo>
                <a:lnTo>
                  <a:pt x="77323" y="32385"/>
                </a:lnTo>
                <a:lnTo>
                  <a:pt x="64000" y="32385"/>
                </a:lnTo>
                <a:lnTo>
                  <a:pt x="64000" y="28385"/>
                </a:lnTo>
                <a:lnTo>
                  <a:pt x="84000" y="28385"/>
                </a:lnTo>
                <a:lnTo>
                  <a:pt x="84000" y="48385"/>
                </a:lnTo>
                <a:lnTo>
                  <a:pt x="80000" y="48385"/>
                </a:lnTo>
                <a:lnTo>
                  <a:pt x="80000" y="35215"/>
                </a:lnTo>
                <a:lnTo>
                  <a:pt x="53215" y="62000"/>
                </a:lnTo>
                <a:lnTo>
                  <a:pt x="37215" y="46000"/>
                </a:lnTo>
                <a:lnTo>
                  <a:pt x="14831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Oval 10"/>
          <p:cNvSpPr/>
          <p:nvPr/>
        </p:nvSpPr>
        <p:spPr>
          <a:xfrm>
            <a:off x="4389120" y="286207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94960" y="286207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0" y="2862072"/>
            <a:ext cx="219456" cy="2194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con arrow_forward"/>
          <p:cNvSpPr/>
          <p:nvPr/>
        </p:nvSpPr>
        <p:spPr>
          <a:xfrm>
            <a:off x="7333488" y="283464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Oval 14"/>
          <p:cNvSpPr/>
          <p:nvPr/>
        </p:nvSpPr>
        <p:spPr>
          <a:xfrm>
            <a:off x="4389120" y="3502151"/>
            <a:ext cx="219456" cy="2194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94960" y="3502151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3502151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con trending_down"/>
          <p:cNvSpPr/>
          <p:nvPr/>
        </p:nvSpPr>
        <p:spPr>
          <a:xfrm>
            <a:off x="7333488" y="347472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68385"/>
                </a:moveTo>
                <a:lnTo>
                  <a:pt x="64000" y="64385"/>
                </a:lnTo>
                <a:lnTo>
                  <a:pt x="77323" y="64385"/>
                </a:lnTo>
                <a:lnTo>
                  <a:pt x="53215" y="40631"/>
                </a:lnTo>
                <a:lnTo>
                  <a:pt x="37215" y="56631"/>
                </a:lnTo>
                <a:lnTo>
                  <a:pt x="12000" y="31215"/>
                </a:lnTo>
                <a:lnTo>
                  <a:pt x="14831" y="28385"/>
                </a:lnTo>
                <a:lnTo>
                  <a:pt x="37215" y="50769"/>
                </a:lnTo>
                <a:lnTo>
                  <a:pt x="53215" y="34769"/>
                </a:lnTo>
                <a:lnTo>
                  <a:pt x="80000" y="61554"/>
                </a:lnTo>
                <a:lnTo>
                  <a:pt x="80000" y="48385"/>
                </a:lnTo>
                <a:lnTo>
                  <a:pt x="84000" y="48385"/>
                </a:lnTo>
                <a:lnTo>
                  <a:pt x="84000" y="68385"/>
                </a:lnTo>
                <a:lnTo>
                  <a:pt x="64000" y="6838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sp>
        <p:nvSpPr>
          <p:cNvPr id="19" name="Oval 18"/>
          <p:cNvSpPr/>
          <p:nvPr/>
        </p:nvSpPr>
        <p:spPr>
          <a:xfrm>
            <a:off x="4389120" y="41422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4960" y="41422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1422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Icon arrow_forward"/>
          <p:cNvSpPr/>
          <p:nvPr/>
        </p:nvSpPr>
        <p:spPr>
          <a:xfrm>
            <a:off x="7333488" y="411480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Oval 22"/>
          <p:cNvSpPr/>
          <p:nvPr/>
        </p:nvSpPr>
        <p:spPr>
          <a:xfrm>
            <a:off x="338328" y="4873752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Im Plan</a:t>
            </a:r>
          </a:p>
        </p:txBody>
      </p:sp>
      <p:sp>
        <p:nvSpPr>
          <p:cNvPr id="25" name="Oval 24"/>
          <p:cNvSpPr/>
          <p:nvPr/>
        </p:nvSpPr>
        <p:spPr>
          <a:xfrm>
            <a:off x="1664207" y="4873752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83663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Gefährdet</a:t>
            </a:r>
          </a:p>
        </p:txBody>
      </p:sp>
      <p:sp>
        <p:nvSpPr>
          <p:cNvPr id="27" name="Oval 26"/>
          <p:cNvSpPr/>
          <p:nvPr/>
        </p:nvSpPr>
        <p:spPr>
          <a:xfrm>
            <a:off x="2990088" y="4873752"/>
            <a:ext cx="146304" cy="1463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954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Kritisch</a:t>
            </a:r>
          </a:p>
        </p:txBody>
      </p:sp>
      <p:sp>
        <p:nvSpPr>
          <p:cNvPr id="29" name="Oval 28"/>
          <p:cNvSpPr/>
          <p:nvPr/>
        </p:nvSpPr>
        <p:spPr>
          <a:xfrm>
            <a:off x="4315968" y="4873752"/>
            <a:ext cx="146304" cy="146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48463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Nicht gestartet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Meilenstein-Tracker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Meilensteine: Zwei erreicht, einer mit zwei Wochen Verzug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023360"/>
                <a:gridCol w="1737360"/>
                <a:gridCol w="2011680"/>
                <a:gridCol w="1645920"/>
                <a:gridCol w="210312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Meilenstein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Prognose / Ist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Abweichung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M1 Analysebericht abgenommen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15.11.2026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13.11.2026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–2 Tage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      Erreicht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M2 Business Case freigegeben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31.01.2027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31.01.2027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      Erreicht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M3 Design Freeze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30.04.2027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14.05.2027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6"/>
                          </a:solidFill>
                        </a:rPr>
                        <a:t>+14 Tage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      Gefährdet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M4 Mechanical Completion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31.07.2027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31.07.2027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      Im 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M5 Go-live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30.09.2027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30.09.2027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      Im Plan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9866376" y="213055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6376" y="269748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6376" y="3264408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6376" y="3831336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6376" y="439826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Der Verzug bei M3 wird durch Parallelisierung der HVAC-Planung aufgeholt – M5 ist nicht gefährdet.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Budgetverlauf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Projektcontrolling; kumuliert in € Tsd.;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Budget: 46 % verbraucht bei 48 % Fortschritt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686800" y="146304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686800" y="157276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€ 570 Tsd.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98551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Ist-Kosten (46 % des Budgets)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2743200"/>
            <a:ext cx="317296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686800" y="2852928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–20 Tsd.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65678"/>
            <a:ext cx="3172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Prognose zum Projektende vs. Plan</a:t>
            </a:r>
          </a:p>
        </p:txBody>
      </p:sp>
      <p:sp>
        <p:nvSpPr>
          <p:cNvPr id="14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Das Projekt liegt leicht unter Budget – die Prognose zum Projektende beträgt € 1.220 Tsd.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Risikomatrix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 Risiken erfordern Maßnahmen vor dem Design Freeze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1325880"/>
            <a:ext cx="1298448" cy="12984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31136" y="1325880"/>
            <a:ext cx="1298448" cy="12984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75304" y="1325880"/>
            <a:ext cx="1298448" cy="12984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670048"/>
            <a:ext cx="1298448" cy="12984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31136" y="2670048"/>
            <a:ext cx="1298448" cy="12984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5304" y="2670048"/>
            <a:ext cx="1298448" cy="12984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6968" y="4014215"/>
            <a:ext cx="1298448" cy="129844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1136" y="4014215"/>
            <a:ext cx="1298448" cy="12984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75304" y="4014215"/>
            <a:ext cx="1298448" cy="12984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5404104"/>
            <a:ext cx="389534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Eintrittswahrscheinlichkeit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426464" y="3118104"/>
            <a:ext cx="3895344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Auswirkung →</a:t>
            </a:r>
          </a:p>
        </p:txBody>
      </p:sp>
      <p:sp>
        <p:nvSpPr>
          <p:cNvPr id="17" name="Oval 16"/>
          <p:cNvSpPr/>
          <p:nvPr/>
        </p:nvSpPr>
        <p:spPr>
          <a:xfrm>
            <a:off x="4023360" y="1773936"/>
            <a:ext cx="402336" cy="4023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2679191" y="1773936"/>
            <a:ext cx="402336" cy="40233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679191" y="3118103"/>
            <a:ext cx="402336" cy="40233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1335024" y="4462272"/>
            <a:ext cx="402336" cy="40233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4462272"/>
            <a:ext cx="402336" cy="40233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444752"/>
            <a:ext cx="347472" cy="3474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371600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Lieferverzug Isolator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682496"/>
            <a:ext cx="58704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Maßnahme: Alternativer Lieferslot, Pönale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9320" y="2084832"/>
            <a:ext cx="58704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486400" y="2231136"/>
            <a:ext cx="347472" cy="3474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157984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Fehlende QA-Kapazität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2468879"/>
            <a:ext cx="58704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Maßnahme: Externe Unterstützung ab [Monat]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89320" y="2871215"/>
            <a:ext cx="58704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5486400" y="301752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944368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Schnittstelle MES–ERP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255263"/>
            <a:ext cx="58704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Maßnahme: Entscheidung SteerCo [Datum]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89320" y="3657600"/>
            <a:ext cx="58704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5486400" y="3803904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730752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Kostensteigerung HVAC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041648"/>
            <a:ext cx="58704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Maßnahme: Festpreisangebot einholen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4443984"/>
            <a:ext cx="5870448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0" y="4590288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517136"/>
            <a:ext cx="587044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Personalfluktuation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828031"/>
            <a:ext cx="587044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Maßnahme: Wissensdokumentation, Stellvertretung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Risiko-Log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Risiko-Log: Maßnahmen, Verantwortliche und Termine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2918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57200"/>
                <a:gridCol w="2743200"/>
                <a:gridCol w="548640"/>
                <a:gridCol w="548640"/>
                <a:gridCol w="822960"/>
                <a:gridCol w="3840480"/>
                <a:gridCol w="1280160"/>
                <a:gridCol w="1280160"/>
              </a:tblGrid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Risiko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Score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Maßnahme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Owner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Termin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Lieferverzug Isolator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Alternativer Lieferslot, Pönale vereinbaren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Fehlende QA-Kapazität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Externe Unterstützung beauftragen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Schnittstelle MES–ERP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Entscheidungsvorlage für SteerCo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Kostensteigerung HVAC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Festpreisangebot einholen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Personalfluktuation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t">
                      <a:noAutofit/>
                    </a:bodyPr>
                    <a:lstStyle/>
                    <a:p>
                      <a:pPr algn="ctr">
                        <a:spcAft>
                          <a:spcPts val="40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Wissensdokumentation, Stellvertretung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38328" y="4846320"/>
            <a:ext cx="11521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 = Wahrscheinlichkeit, A = Auswirkung (je 1 = gering bis 3 = hoch); Score = W × A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Entscheidungsvorlage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Vorlage für Steering Committee am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Entscheidungsvorlage: Schnittstelle MES–ERP über Middleware umsetzen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11521440" cy="6400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accent1"/>
                </a:solidFill>
              </a:rPr>
              <a:t>Entscheidungsfrage:  </a:t>
            </a:r>
            <a:r>
              <a:rPr sz="1500" b="0" i="0">
                <a:solidFill>
                  <a:schemeClr val="tx1"/>
                </a:solidFill>
              </a:rPr>
              <a:t>Wie binden wir das MES an das ERP-System an?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2240280"/>
            <a:ext cx="3657600" cy="3063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231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OPTION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97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Direktanbindung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Kosten € 80 Tsd.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6 Wochen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Hohe Abhängigkeit bei ERP-Updates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240280"/>
            <a:ext cx="3657600" cy="3063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42316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bg1"/>
                </a:solidFill>
              </a:rPr>
              <a:t>OPTION B – EMPFOHLEN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97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 i="0">
                <a:solidFill>
                  <a:schemeClr val="bg1"/>
                </a:solidFill>
              </a:rPr>
              <a:t>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200400"/>
            <a:ext cx="320040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Kosten € 120 Tsd.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8 Wochen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Wiederverwendbar für weitere Werke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2286000"/>
            <a:ext cx="3566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AUSWIRKUNGEN DER EMPFEHLUNG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93607" y="2606040"/>
            <a:ext cx="3566161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93607" y="26791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Termin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7" y="267919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+2 Wochen, ohne Einfluss auf Go-live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93607" y="3291840"/>
            <a:ext cx="3566161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8293607" y="3364992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7" y="336499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+€ 40 Tsd. aus Projektreserve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93607" y="3977639"/>
            <a:ext cx="3566161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293607" y="4050791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Nutzen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7" y="4050791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Rollout auf Werk 2 spart ca. € 60 Tsd.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3607" y="4846320"/>
            <a:ext cx="356616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Bitte: Freigabe Option B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Change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CR-Nr. [07]; eingereicht am [Datum] von [Name]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Request 07: Zusätzliches Format verlängert Phase 3 um 3 Wochen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481328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BESCHREIBUNG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55648"/>
            <a:ext cx="60350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Integration eines dritten Vial-Formats (2R) in das Linienkonzept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" y="2395728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8328" y="2505456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BEGRÜNDUNG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779776"/>
            <a:ext cx="60350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Neues Produkt im Portfolio ab 2028; Nachrüstung später deutlich teurer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8328" y="3419856"/>
            <a:ext cx="60350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338328" y="3529584"/>
            <a:ext cx="6035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EMPFEHLUNG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803904"/>
            <a:ext cx="60350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Annehmen – Mehrkosten durch Vermeidung späterer Umbauten gedeckt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371600"/>
            <a:ext cx="509320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AUSWIRKUNGEN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691640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1901952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691640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Termin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691640"/>
            <a:ext cx="335584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+3 Wochen Phase 3; Go-live unverändert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377440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49440" y="2587752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377440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Kosten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77440"/>
            <a:ext cx="335584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+€ 85 Tsd. Beratung, +€ 0,4 Mio. CAPEX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063240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49440" y="327355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3063240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Qualität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063240"/>
            <a:ext cx="335584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Keine negative Auswirkung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749039"/>
            <a:ext cx="5093208" cy="5943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49440" y="395935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749039"/>
            <a:ext cx="109728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Risiko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749039"/>
            <a:ext cx="3355848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Gering – Format bereits validiert bei Lieferant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8328" y="5074920"/>
            <a:ext cx="3566159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338328" y="5120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Freigabe PL Kunde / Datum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70248" y="5074920"/>
            <a:ext cx="356616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4270248" y="5120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Freigabe PL Körber / Datum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02167" y="5074920"/>
            <a:ext cx="3566161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202167" y="5120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Freigabe SteerCo / Datum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Lessons Learned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Workshop mit Projektteam am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Learned: Drei Erkenntnisse für künftige Projekte</a:t>
            </a:r>
          </a:p>
        </p:txBody>
      </p:sp>
      <p:sp>
        <p:nvSpPr>
          <p:cNvPr id="6" name="Icon thumb_up"/>
          <p:cNvSpPr/>
          <p:nvPr/>
        </p:nvSpPr>
        <p:spPr>
          <a:xfrm>
            <a:off x="33832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9846" y="80000"/>
                </a:moveTo>
                <a:lnTo>
                  <a:pt x="29692" y="80000"/>
                </a:lnTo>
                <a:lnTo>
                  <a:pt x="29692" y="36000"/>
                </a:lnTo>
                <a:lnTo>
                  <a:pt x="54769" y="11231"/>
                </a:lnTo>
                <a:lnTo>
                  <a:pt x="56538" y="13000"/>
                </a:lnTo>
                <a:quadBezTo>
                  <a:pt x="57085" y="13546"/>
                  <a:pt x="57458" y="14400"/>
                </a:quadBezTo>
                <a:quadBezTo>
                  <a:pt x="57831" y="15254"/>
                  <a:pt x="57831" y="15969"/>
                </a:quadBezTo>
                <a:lnTo>
                  <a:pt x="57831" y="16600"/>
                </a:lnTo>
                <a:lnTo>
                  <a:pt x="53738" y="36000"/>
                </a:lnTo>
                <a:lnTo>
                  <a:pt x="81538" y="36000"/>
                </a:lnTo>
                <a:quadBezTo>
                  <a:pt x="84046" y="36000"/>
                  <a:pt x="86023" y="37977"/>
                </a:quadBezTo>
                <a:quadBezTo>
                  <a:pt x="88000" y="39954"/>
                  <a:pt x="88000" y="42462"/>
                </a:quadBezTo>
                <a:lnTo>
                  <a:pt x="88000" y="47385"/>
                </a:lnTo>
                <a:quadBezTo>
                  <a:pt x="88000" y="47931"/>
                  <a:pt x="87877" y="48577"/>
                </a:quadBezTo>
                <a:quadBezTo>
                  <a:pt x="87754" y="49223"/>
                  <a:pt x="87554" y="49769"/>
                </a:quadBezTo>
                <a:lnTo>
                  <a:pt x="76631" y="75662"/>
                </a:lnTo>
                <a:quadBezTo>
                  <a:pt x="75808" y="77508"/>
                  <a:pt x="73862" y="78754"/>
                </a:quadBezTo>
                <a:quadBezTo>
                  <a:pt x="71915" y="80000"/>
                  <a:pt x="69846" y="80000"/>
                </a:quadBezTo>
                <a:close/>
                <a:moveTo>
                  <a:pt x="33692" y="76000"/>
                </a:moveTo>
                <a:lnTo>
                  <a:pt x="69846" y="76000"/>
                </a:lnTo>
                <a:quadBezTo>
                  <a:pt x="70692" y="76000"/>
                  <a:pt x="71577" y="75538"/>
                </a:quadBezTo>
                <a:quadBezTo>
                  <a:pt x="72462" y="75077"/>
                  <a:pt x="72923" y="74000"/>
                </a:quadBezTo>
                <a:lnTo>
                  <a:pt x="84000" y="48000"/>
                </a:lnTo>
                <a:lnTo>
                  <a:pt x="84000" y="42462"/>
                </a:lnTo>
                <a:quadBezTo>
                  <a:pt x="84000" y="41385"/>
                  <a:pt x="83308" y="40692"/>
                </a:quadBezTo>
                <a:quadBezTo>
                  <a:pt x="82615" y="40000"/>
                  <a:pt x="81538" y="40000"/>
                </a:quadBezTo>
                <a:lnTo>
                  <a:pt x="48769" y="40000"/>
                </a:lnTo>
                <a:lnTo>
                  <a:pt x="53400" y="18154"/>
                </a:lnTo>
                <a:lnTo>
                  <a:pt x="33692" y="37708"/>
                </a:lnTo>
                <a:lnTo>
                  <a:pt x="33692" y="76000"/>
                </a:lnTo>
                <a:close/>
                <a:moveTo>
                  <a:pt x="33692" y="37708"/>
                </a:moveTo>
                <a:lnTo>
                  <a:pt x="33692" y="76000"/>
                </a:lnTo>
                <a:lnTo>
                  <a:pt x="33692" y="37708"/>
                </a:lnTo>
                <a:close/>
                <a:moveTo>
                  <a:pt x="29692" y="36000"/>
                </a:moveTo>
                <a:lnTo>
                  <a:pt x="29692" y="40000"/>
                </a:lnTo>
                <a:lnTo>
                  <a:pt x="16000" y="40000"/>
                </a:lnTo>
                <a:lnTo>
                  <a:pt x="16000" y="76000"/>
                </a:lnTo>
                <a:lnTo>
                  <a:pt x="29692" y="76000"/>
                </a:lnTo>
                <a:lnTo>
                  <a:pt x="29692" y="80000"/>
                </a:lnTo>
                <a:lnTo>
                  <a:pt x="12000" y="80000"/>
                </a:lnTo>
                <a:lnTo>
                  <a:pt x="12000" y="36000"/>
                </a:lnTo>
                <a:lnTo>
                  <a:pt x="29692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7" name="Connector 6"/>
          <p:cNvCxnSpPr/>
          <p:nvPr/>
        </p:nvCxnSpPr>
        <p:spPr>
          <a:xfrm>
            <a:off x="33832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338328" y="202996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Was gut lief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32304"/>
            <a:ext cx="3535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Tandem-Projektleitung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Frühe Einbindung der QA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Wöchentliche Entscheidungsrunde</a:t>
            </a:r>
          </a:p>
        </p:txBody>
      </p:sp>
      <p:sp>
        <p:nvSpPr>
          <p:cNvPr id="10" name="Icon build"/>
          <p:cNvSpPr/>
          <p:nvPr/>
        </p:nvSpPr>
        <p:spPr>
          <a:xfrm>
            <a:off x="433120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1215" y="82031"/>
                </a:moveTo>
                <a:lnTo>
                  <a:pt x="45015" y="55785"/>
                </a:lnTo>
                <a:quadBezTo>
                  <a:pt x="42785" y="56815"/>
                  <a:pt x="40464" y="57408"/>
                </a:quadBezTo>
                <a:quadBezTo>
                  <a:pt x="38143" y="58000"/>
                  <a:pt x="35538" y="58000"/>
                </a:quadBezTo>
                <a:quadBezTo>
                  <a:pt x="26372" y="58000"/>
                  <a:pt x="19955" y="51583"/>
                </a:quadBezTo>
                <a:quadBezTo>
                  <a:pt x="13538" y="45167"/>
                  <a:pt x="13538" y="36000"/>
                </a:quadBezTo>
                <a:quadBezTo>
                  <a:pt x="13538" y="33400"/>
                  <a:pt x="14115" y="30996"/>
                </a:quadBezTo>
                <a:quadBezTo>
                  <a:pt x="14692" y="28592"/>
                  <a:pt x="15800" y="26385"/>
                </a:quadBezTo>
                <a:lnTo>
                  <a:pt x="29938" y="40369"/>
                </a:lnTo>
                <a:lnTo>
                  <a:pt x="39908" y="30400"/>
                </a:lnTo>
                <a:lnTo>
                  <a:pt x="26077" y="16415"/>
                </a:lnTo>
                <a:quadBezTo>
                  <a:pt x="28285" y="15308"/>
                  <a:pt x="30619" y="14654"/>
                </a:quadBezTo>
                <a:quadBezTo>
                  <a:pt x="32953" y="14000"/>
                  <a:pt x="35538" y="14000"/>
                </a:quadBezTo>
                <a:quadBezTo>
                  <a:pt x="44705" y="14000"/>
                  <a:pt x="51122" y="20417"/>
                </a:quadBezTo>
                <a:quadBezTo>
                  <a:pt x="57538" y="26833"/>
                  <a:pt x="57538" y="36000"/>
                </a:quadBezTo>
                <a:quadBezTo>
                  <a:pt x="57538" y="38762"/>
                  <a:pt x="56985" y="41081"/>
                </a:quadBezTo>
                <a:quadBezTo>
                  <a:pt x="56431" y="43400"/>
                  <a:pt x="55323" y="45477"/>
                </a:quadBezTo>
                <a:lnTo>
                  <a:pt x="81569" y="71677"/>
                </a:lnTo>
                <a:quadBezTo>
                  <a:pt x="82462" y="72596"/>
                  <a:pt x="82462" y="73898"/>
                </a:quadBezTo>
                <a:quadBezTo>
                  <a:pt x="82462" y="75200"/>
                  <a:pt x="81586" y="76075"/>
                </a:quadBezTo>
                <a:lnTo>
                  <a:pt x="75460" y="82202"/>
                </a:lnTo>
                <a:quadBezTo>
                  <a:pt x="74585" y="83077"/>
                  <a:pt x="73346" y="83000"/>
                </a:quadBezTo>
                <a:quadBezTo>
                  <a:pt x="72108" y="82923"/>
                  <a:pt x="71215" y="82031"/>
                </a:quadBezTo>
                <a:close/>
                <a:moveTo>
                  <a:pt x="73423" y="78531"/>
                </a:moveTo>
                <a:lnTo>
                  <a:pt x="78046" y="73908"/>
                </a:lnTo>
                <a:lnTo>
                  <a:pt x="50369" y="46231"/>
                </a:lnTo>
                <a:quadBezTo>
                  <a:pt x="51938" y="44077"/>
                  <a:pt x="52738" y="41427"/>
                </a:quadBezTo>
                <a:quadBezTo>
                  <a:pt x="53538" y="38777"/>
                  <a:pt x="53538" y="36000"/>
                </a:quadBezTo>
                <a:quadBezTo>
                  <a:pt x="53538" y="28692"/>
                  <a:pt x="47881" y="22896"/>
                </a:quadBezTo>
                <a:quadBezTo>
                  <a:pt x="42223" y="17100"/>
                  <a:pt x="33369" y="18200"/>
                </a:quadBezTo>
                <a:lnTo>
                  <a:pt x="43308" y="28138"/>
                </a:lnTo>
                <a:quadBezTo>
                  <a:pt x="44277" y="29108"/>
                  <a:pt x="44277" y="30400"/>
                </a:quadBezTo>
                <a:quadBezTo>
                  <a:pt x="44277" y="31692"/>
                  <a:pt x="43308" y="32662"/>
                </a:quadBezTo>
                <a:lnTo>
                  <a:pt x="32200" y="43769"/>
                </a:lnTo>
                <a:quadBezTo>
                  <a:pt x="31231" y="44738"/>
                  <a:pt x="29938" y="44738"/>
                </a:quadBezTo>
                <a:quadBezTo>
                  <a:pt x="28646" y="44738"/>
                  <a:pt x="27677" y="43769"/>
                </a:quadBezTo>
                <a:lnTo>
                  <a:pt x="17738" y="33831"/>
                </a:lnTo>
                <a:quadBezTo>
                  <a:pt x="16869" y="43531"/>
                  <a:pt x="22742" y="48765"/>
                </a:quadBezTo>
                <a:quadBezTo>
                  <a:pt x="28615" y="54000"/>
                  <a:pt x="35538" y="54000"/>
                </a:quadBezTo>
                <a:quadBezTo>
                  <a:pt x="38190" y="54000"/>
                  <a:pt x="40841" y="53238"/>
                </a:quadBezTo>
                <a:quadBezTo>
                  <a:pt x="43492" y="52477"/>
                  <a:pt x="45746" y="50854"/>
                </a:quadBezTo>
                <a:lnTo>
                  <a:pt x="73423" y="78531"/>
                </a:lnTo>
                <a:close/>
                <a:moveTo>
                  <a:pt x="47200" y="4750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1" name="Connector 10"/>
          <p:cNvCxnSpPr/>
          <p:nvPr/>
        </p:nvCxnSpPr>
        <p:spPr>
          <a:xfrm>
            <a:off x="433120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4331208" y="202996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Was wir verbessern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208" y="2432304"/>
            <a:ext cx="3535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Lieferanten früher einbinden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Datenzugang vor Projektstart klären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Ressourcenplanung QA</a:t>
            </a:r>
          </a:p>
        </p:txBody>
      </p:sp>
      <p:sp>
        <p:nvSpPr>
          <p:cNvPr id="14" name="Icon school"/>
          <p:cNvSpPr/>
          <p:nvPr/>
        </p:nvSpPr>
        <p:spPr>
          <a:xfrm>
            <a:off x="8324088" y="1371600"/>
            <a:ext cx="384048" cy="38404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4769"/>
                </a:moveTo>
                <a:lnTo>
                  <a:pt x="24000" y="61723"/>
                </a:lnTo>
                <a:lnTo>
                  <a:pt x="24000" y="42338"/>
                </a:lnTo>
                <a:lnTo>
                  <a:pt x="12308" y="36000"/>
                </a:lnTo>
                <a:lnTo>
                  <a:pt x="48000" y="16615"/>
                </a:lnTo>
                <a:lnTo>
                  <a:pt x="83692" y="36000"/>
                </a:lnTo>
                <a:lnTo>
                  <a:pt x="83692" y="61539"/>
                </a:lnTo>
                <a:lnTo>
                  <a:pt x="79692" y="61539"/>
                </a:lnTo>
                <a:lnTo>
                  <a:pt x="79692" y="38246"/>
                </a:lnTo>
                <a:lnTo>
                  <a:pt x="72000" y="42338"/>
                </a:lnTo>
                <a:lnTo>
                  <a:pt x="72000" y="61723"/>
                </a:lnTo>
                <a:lnTo>
                  <a:pt x="48000" y="74769"/>
                </a:lnTo>
                <a:close/>
                <a:moveTo>
                  <a:pt x="48000" y="50800"/>
                </a:moveTo>
                <a:lnTo>
                  <a:pt x="75323" y="36000"/>
                </a:lnTo>
                <a:lnTo>
                  <a:pt x="48000" y="21200"/>
                </a:lnTo>
                <a:lnTo>
                  <a:pt x="20677" y="36000"/>
                </a:lnTo>
                <a:lnTo>
                  <a:pt x="48000" y="50800"/>
                </a:lnTo>
                <a:close/>
                <a:moveTo>
                  <a:pt x="48000" y="70208"/>
                </a:moveTo>
                <a:lnTo>
                  <a:pt x="68000" y="59408"/>
                </a:lnTo>
                <a:lnTo>
                  <a:pt x="68000" y="44538"/>
                </a:lnTo>
                <a:lnTo>
                  <a:pt x="48000" y="55370"/>
                </a:lnTo>
                <a:lnTo>
                  <a:pt x="28000" y="44538"/>
                </a:lnTo>
                <a:lnTo>
                  <a:pt x="28000" y="59408"/>
                </a:lnTo>
                <a:lnTo>
                  <a:pt x="48000" y="70208"/>
                </a:lnTo>
                <a:close/>
                <a:moveTo>
                  <a:pt x="48000" y="50800"/>
                </a:moveTo>
                <a:close/>
                <a:moveTo>
                  <a:pt x="48000" y="56262"/>
                </a:moveTo>
                <a:close/>
                <a:moveTo>
                  <a:pt x="48000" y="562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cxnSp>
        <p:nvCxnSpPr>
          <p:cNvPr id="15" name="Connector 14"/>
          <p:cNvCxnSpPr/>
          <p:nvPr/>
        </p:nvCxnSpPr>
        <p:spPr>
          <a:xfrm>
            <a:off x="8324088" y="1920240"/>
            <a:ext cx="353568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324088" y="2029968"/>
            <a:ext cx="353568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000" b="0" i="0">
                <a:solidFill>
                  <a:schemeClr val="tx1"/>
                </a:solidFill>
              </a:rPr>
              <a:t>Was wir übernehmen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2432304"/>
            <a:ext cx="35356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Standard-Templates für CQV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Risikobasierter Qualifizierungsansatz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Change-Request-Prozess</a:t>
            </a:r>
          </a:p>
        </p:txBody>
      </p:sp>
      <p:sp>
        <p:nvSpPr>
          <p:cNvPr id="1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Die frühe Einbindung der QA hat die Qualifizierung um sechs Wochen verkürzt – künftig Standard in allen Projekten.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Projektsteuerung | Abschluss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Abschlussbericht vom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Projektabschluss: Alle Ziele erreicht, Übergabe an den Betrieb erfolgt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6583680" cy="28346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1828800"/>
                <a:gridCol w="1828800"/>
                <a:gridCol w="91440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Ziel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Soll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Ist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Go-live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30.09.2027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23.09.2027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Budget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€ 18,0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€ 17,6 Mio.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Kapazität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+60 %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+62 %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Inspektion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0 kritische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0 kritische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Icon check_circle"/>
          <p:cNvSpPr/>
          <p:nvPr/>
        </p:nvSpPr>
        <p:spPr>
          <a:xfrm>
            <a:off x="6236208" y="2075688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Icon check_circle"/>
          <p:cNvSpPr/>
          <p:nvPr/>
        </p:nvSpPr>
        <p:spPr>
          <a:xfrm>
            <a:off x="6236208" y="2642616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Icon check_circle"/>
          <p:cNvSpPr/>
          <p:nvPr/>
        </p:nvSpPr>
        <p:spPr>
          <a:xfrm>
            <a:off x="6236208" y="3209544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Icon check_circle"/>
          <p:cNvSpPr/>
          <p:nvPr/>
        </p:nvSpPr>
        <p:spPr>
          <a:xfrm>
            <a:off x="6236208" y="3776472"/>
            <a:ext cx="292608" cy="29260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Rectangle 10"/>
          <p:cNvSpPr/>
          <p:nvPr/>
        </p:nvSpPr>
        <p:spPr>
          <a:xfrm>
            <a:off x="7406640" y="1371600"/>
            <a:ext cx="4453128" cy="33375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995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ÜBERGABE AN DEN BETRIEB</a:t>
            </a:r>
          </a:p>
        </p:txBody>
      </p:sp>
      <p:sp>
        <p:nvSpPr>
          <p:cNvPr id="13" name="Icon task_alt"/>
          <p:cNvSpPr/>
          <p:nvPr/>
        </p:nvSpPr>
        <p:spPr>
          <a:xfrm>
            <a:off x="7635240" y="1920239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8046719" y="1874519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Betriebsdokumentation</a:t>
            </a:r>
          </a:p>
        </p:txBody>
      </p:sp>
      <p:sp>
        <p:nvSpPr>
          <p:cNvPr id="15" name="Icon task_alt"/>
          <p:cNvSpPr/>
          <p:nvPr/>
        </p:nvSpPr>
        <p:spPr>
          <a:xfrm>
            <a:off x="7635240" y="2468879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8046719" y="2423160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SOPs freigegeben</a:t>
            </a:r>
          </a:p>
        </p:txBody>
      </p:sp>
      <p:sp>
        <p:nvSpPr>
          <p:cNvPr id="17" name="Icon task_alt"/>
          <p:cNvSpPr/>
          <p:nvPr/>
        </p:nvSpPr>
        <p:spPr>
          <a:xfrm>
            <a:off x="7635240" y="301752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8046719" y="2971800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Personal geschult</a:t>
            </a:r>
          </a:p>
        </p:txBody>
      </p:sp>
      <p:sp>
        <p:nvSpPr>
          <p:cNvPr id="19" name="Icon task_alt"/>
          <p:cNvSpPr/>
          <p:nvPr/>
        </p:nvSpPr>
        <p:spPr>
          <a:xfrm>
            <a:off x="7635240" y="3566159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8046719" y="3520439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Ersatzteilkonzept</a:t>
            </a:r>
          </a:p>
        </p:txBody>
      </p:sp>
      <p:sp>
        <p:nvSpPr>
          <p:cNvPr id="21" name="Icon task_alt"/>
          <p:cNvSpPr/>
          <p:nvPr/>
        </p:nvSpPr>
        <p:spPr>
          <a:xfrm>
            <a:off x="7635240" y="4114799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8046719" y="4069079"/>
            <a:ext cx="363016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Hypercare bis [Datum]</a:t>
            </a:r>
          </a:p>
        </p:txBody>
      </p:sp>
      <p:sp>
        <p:nvSpPr>
          <p:cNvPr id="23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6" name="TextBox 25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Projekt eine Woche vor Plan und 2 % unter Budget abgeschlossen.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Account-</a:t>
            </a:r>
          </a:p>
          <a:p>
            <a:r>
              <a:t>manage-</a:t>
            </a:r>
          </a:p>
          <a:p>
            <a:r>
              <a:t>ment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Account-Plan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CRM, Stand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Account-Plan [Kunde] 2027: Umsatz von € 1,2 auf 2,0 Mio. steigern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371600"/>
            <a:ext cx="267462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€ 1,2 Mio.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Umsatz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7268" y="1371600"/>
            <a:ext cx="267462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14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bg1"/>
                </a:solidFill>
              </a:rPr>
              <a:t>€ 2,0 Mio.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14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Ziel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371600"/>
            <a:ext cx="267462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€ 3,4 Mio.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Pipeline (ungewichtet)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5148" y="1371600"/>
            <a:ext cx="2674620" cy="11887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8028" y="1463040"/>
            <a:ext cx="23088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4 von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8028" y="2057400"/>
            <a:ext cx="23088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Buying-Center-Rollen abgedeckt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8328" y="283464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8328" y="2944368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Strategische Ziele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346704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Rahmenvertrag Engineering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Zweiter Standort (Werk B)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Executive-Beziehung CFO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70248" y="283464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270248" y="2944368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Wachstumsfelder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3346704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Digitalisierung &amp; MES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Annex-1-Assessments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OEE-Programm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02168" y="2834640"/>
            <a:ext cx="365760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02168" y="2944368"/>
            <a:ext cx="365760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Aktivitäten Q1–Q2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3346704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Executive-Dinner mit COO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Benchmark-Workshop</a:t>
            </a:r>
          </a:p>
          <a:p>
            <a:pPr algn="l" marL="164592" indent="-164592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Referenzbesuch Werk X</a:t>
            </a:r>
          </a:p>
        </p:txBody>
      </p:sp>
      <p:sp>
        <p:nvSpPr>
          <p:cNvPr id="28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CFO und COO sind noch nicht eingebunden – ohne sie ist das Umsatzziel 2027 nicht erreichbar.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Whitespace-Analyse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CRM, Account-Team; Stand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Whitespace: Größtes Potenzial liegt in Digitalisierung an zwei Werken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" y="132588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Facility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9768" y="132588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CQV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768" y="132588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Digitalisierung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132588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OpEx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1768" y="132588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5768" y="132588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PMO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" y="182880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38328" y="19202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Werk A (DE)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965960"/>
            <a:ext cx="1377696" cy="594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Kunde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2920" y="1965960"/>
            <a:ext cx="1377696" cy="594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Kunde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6920" y="1965960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965960"/>
            <a:ext cx="1377696" cy="594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Kunde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84920" y="196596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8920" y="1965960"/>
            <a:ext cx="1377696" cy="594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Kunde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269748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Werk B (DE)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2743200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2920" y="2743200"/>
            <a:ext cx="1377696" cy="5943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Kunde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36920" y="2743200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274320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4920" y="274320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08920" y="2743200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347472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Werk C (IE)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520439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2920" y="3520439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36920" y="3520439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60920" y="3520439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84920" y="3520439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408920" y="3520439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425196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Werk D (US)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429768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2920" y="429768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36920" y="4297680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429768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84920" y="4297680"/>
            <a:ext cx="1377696" cy="59435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accent1"/>
                </a:solidFill>
              </a:rPr>
              <a:t>Potenzial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08920" y="4297680"/>
            <a:ext cx="1377696" cy="594359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8" y="5166360"/>
            <a:ext cx="201168" cy="201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" y="5129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Bereits beauftragt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8648" y="5166360"/>
            <a:ext cx="201168" cy="20116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91256" y="5129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Potenzial (Opportunity)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58968" y="5166360"/>
            <a:ext cx="201168" cy="201168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51576" y="512978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Nicht relevant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Pipeline-Trichter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CRM; Stand [Datum];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Pipeline: € 6,4 Mio. in Bearbeitung, € 1,9 Mio. gewichtet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645920"/>
            <a:ext cx="640080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42  |  € 6,4 Mio.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3448" y="1645920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Lead qualifiziert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973836" y="2395728"/>
            <a:ext cx="5312664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24  |  € 4,1 Mio.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448" y="2395728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Bedarf bestätigt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0888" y="221284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↓ 57 %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7904" y="3145536"/>
            <a:ext cx="4224527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11  |  € 2,6 Mio.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3145536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Angebot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296265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↓ 46 %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1972" y="3895344"/>
            <a:ext cx="3136391" cy="64008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6  |  € 1,5 Mio.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3895344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Verhandlung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3712463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↓ 55 %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645152"/>
            <a:ext cx="2048255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4  |  € 1,0 Mio.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4645152"/>
            <a:ext cx="237744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Gewonnen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446227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↓ 67 %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32588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1325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ANZAHL  |  VOLUMEN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Pipeline-Entwicklung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CRM; € Mio.;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Abschlussreife Opportunities haben sich in vier Quartalen verdoppelt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680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503920" y="1463040"/>
            <a:ext cx="33558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503920" y="1572768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×2,0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49018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Abschlussreife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433066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Q4 2025 → Q3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3108960"/>
            <a:ext cx="33558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503920" y="3218688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42 %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94938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Leads aus Marketing-Kampagnen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078986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Webinare, Benchmark-Studie</a:t>
            </a:r>
          </a:p>
        </p:txBody>
      </p:sp>
      <p:sp>
        <p:nvSpPr>
          <p:cNvPr id="16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Thought-Leadership-Kampagnen liefern 42 % der Leads – Marketing trägt messbar zur Pipeline bei.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Quartalsreview mit dem Kunden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Quartalsreview Q3: Ziele übertroffen, zwei neue Opportunities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13716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38328" y="1481328"/>
            <a:ext cx="26746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957578"/>
            <a:ext cx="26746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Projekte aktiv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87268" y="13716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287268" y="1481328"/>
            <a:ext cx="26746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98 %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7268" y="1957578"/>
            <a:ext cx="26746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Meilensteine im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36208" y="13716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236208" y="1481328"/>
            <a:ext cx="26746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9,1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957578"/>
            <a:ext cx="26746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Zufriedenheit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85148" y="1371600"/>
            <a:ext cx="267462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9185148" y="1481328"/>
            <a:ext cx="26746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€ 0,8 Mio.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5148" y="1957578"/>
            <a:ext cx="26746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realisierter Nutzen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2743200"/>
            <a:ext cx="5623560" cy="256032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26080"/>
            <a:ext cx="5166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HIGHLIGHTS 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246120"/>
            <a:ext cx="516636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Design Freeze Werk A erreicht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Annex-1-Assessment Werk C abgeschlossen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Schulung von 25 Mitarbeitenden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2743200"/>
            <a:ext cx="5623560" cy="256032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926080"/>
            <a:ext cx="51663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AUSBLICK 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3246120"/>
            <a:ext cx="516636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Go-live MES Pilot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Workshop Digitalisierung Werk B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Angebot OEE-Programm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Health Score (intern)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CRM, Befragung, Account-Team; Stand [Datum]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Kundengesundheit: Hohe Zufriedenheit, Zugang zur Geschäftsführung fehlt</a:t>
            </a:r>
          </a:p>
        </p:txBody>
      </p:sp>
      <p:sp>
        <p:nvSpPr>
          <p:cNvPr id="6" name="Sticker"/>
          <p:cNvSpPr/>
          <p:nvPr/>
        </p:nvSpPr>
        <p:spPr>
          <a:xfrm>
            <a:off x="11137392" y="713232"/>
            <a:ext cx="72237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INTERN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40" cy="34015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1680"/>
                <a:gridCol w="3291840"/>
                <a:gridCol w="1280160"/>
                <a:gridCol w="1280160"/>
                <a:gridCol w="3657600"/>
              </a:tblGrid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Indikator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Wert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accent1"/>
                          </a:solidFill>
                        </a:rPr>
                        <a:t>Maßnahme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Zufriedenheit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Projektbewertung (1–10)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9,1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Beziehung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Abgedeckte Buying-Center-Rollen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4 / 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Executive-Termin CFO, COO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Wachstum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Umsatz vs. Vorjahr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+18 %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Aktivität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Kontakte letzte 90 Tage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Risiko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Wettbewerb im Account aktiv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Ja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0" i="0">
                          <a:solidFill>
                            <a:schemeClr val="tx1"/>
                          </a:solidFill>
                        </a:rPr>
                        <a:t>Battlecard, Referenzbesuch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7452360" y="2112264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52360" y="2679192"/>
            <a:ext cx="219456" cy="21945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2360" y="3246120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52360" y="3813048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52360" y="4379976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8328" y="5056632"/>
            <a:ext cx="146304" cy="146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50292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Im Plan</a:t>
            </a:r>
          </a:p>
        </p:txBody>
      </p:sp>
      <p:sp>
        <p:nvSpPr>
          <p:cNvPr id="15" name="Oval 14"/>
          <p:cNvSpPr/>
          <p:nvPr/>
        </p:nvSpPr>
        <p:spPr>
          <a:xfrm>
            <a:off x="1664207" y="5056632"/>
            <a:ext cx="146304" cy="14630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3" y="50292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Gefährdet</a:t>
            </a:r>
          </a:p>
        </p:txBody>
      </p:sp>
      <p:sp>
        <p:nvSpPr>
          <p:cNvPr id="17" name="Oval 16"/>
          <p:cNvSpPr/>
          <p:nvPr/>
        </p:nvSpPr>
        <p:spPr>
          <a:xfrm>
            <a:off x="2990088" y="5056632"/>
            <a:ext cx="146304" cy="14630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50292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Kritisch</a:t>
            </a:r>
          </a:p>
        </p:txBody>
      </p:sp>
      <p:sp>
        <p:nvSpPr>
          <p:cNvPr id="19" name="Oval 18"/>
          <p:cNvSpPr/>
          <p:nvPr/>
        </p:nvSpPr>
        <p:spPr>
          <a:xfrm>
            <a:off x="4315968" y="5056632"/>
            <a:ext cx="146304" cy="1463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50292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Nicht gestartet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Zufriedenheit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Projektbefragung nach Meilensteinen, n = [xx];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Kundenzufriedenheit steigt seit drei Quartalen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1371600"/>
            <a:ext cx="31729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TREIBER LAUT BEFRAGUNG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91640"/>
            <a:ext cx="3172968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Termintreue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Fachliche Tiefe des Teams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chemeClr val="tx1"/>
                </a:solidFill>
              </a:rPr>
              <a:t>Proaktive Kommunikation von Risiken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Account-Management | Cross- und Upselling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Wachstumspfad: Vom Assessment zur langfristigen Partnerschaft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4023360"/>
            <a:ext cx="2708910" cy="128016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4160520"/>
            <a:ext cx="234315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2026 | Einstieg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4480560"/>
            <a:ext cx="234315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Annex-1-Assessment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4846320"/>
            <a:ext cx="23431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€ 0,2 Mio.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838" y="3337560"/>
            <a:ext cx="2708910" cy="1965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8718" y="3474720"/>
            <a:ext cx="234315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2027 | Projekt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8718" y="3794760"/>
            <a:ext cx="234315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Neue Isolator-Linie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8718" y="4846320"/>
            <a:ext cx="23431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€ 1,2 Mio.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3348" y="2651760"/>
            <a:ext cx="2708910" cy="265176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6228" y="2788920"/>
            <a:ext cx="234315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2028 | Ausweitung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6228" y="3108960"/>
            <a:ext cx="234315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MES-Rollout Werk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6228" y="4846320"/>
            <a:ext cx="23431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€ 0,9 Mio.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50858" y="1965960"/>
            <a:ext cx="2708910" cy="3337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3738" y="2103120"/>
            <a:ext cx="234315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2029+ | Partnerschaft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3738" y="2423160"/>
            <a:ext cx="234315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Rahmenvertrag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3738" y="4846320"/>
            <a:ext cx="23431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€ 1,5 Mio. p. 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Frame-</a:t>
            </a:r>
          </a:p>
          <a:p>
            <a:r>
              <a:t>works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SWOT-Analyse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SWOT: Starke Technologieposition, Abhängigkeit in der Lieferkette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5623560" cy="1920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" y="1554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0020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bg1"/>
                </a:solidFill>
              </a:rPr>
              <a:t>Stärken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05740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Moderne Isolator-Technologie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Erfahrenes QA-Team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bg1"/>
                </a:solidFill>
              </a:rPr>
              <a:t>Hohe Lieferzuverlässigkeit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371600"/>
            <a:ext cx="5623560" cy="1920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554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160020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Schwächen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05740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Papierbasierte Dokumentation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Lange Rüstzeiten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Insellösungen in der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3474720"/>
            <a:ext cx="5623560" cy="19202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" y="3657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0332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Chancen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16052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Wachstum Biologika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Förderprogramme Digitalisierung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Regionalisierung der Lieferketten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474720"/>
            <a:ext cx="5623560" cy="19202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6576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4400" b="0" i="0">
                <a:solidFill>
                  <a:schemeClr val="accent1"/>
                </a:solidFill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370332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00" b="0" i="0">
                <a:solidFill>
                  <a:schemeClr val="tx1"/>
                </a:solidFill>
              </a:rPr>
              <a:t>Risiken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4160520"/>
            <a:ext cx="42519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Single Source bei Primärpackmitteln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Fachkräftemangel</a:t>
            </a:r>
          </a:p>
          <a:p>
            <a:pPr algn="l" marL="164592" indent="-164592">
              <a:spcAft>
                <a:spcPts val="4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Steigende regulatorische Anforderungen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Branchenanalyse nach Porter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Forces: Lieferantenmacht ist die größte Bedrohung der Marge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8848" y="2697480"/>
            <a:ext cx="3200400" cy="1188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Wettbewerb in der Branche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hoch – Preisdruck bei Generika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1325880"/>
            <a:ext cx="32004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43560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Neue Anbieter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7830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Hohe Eintrittsbarrieren durch Regulatorik</a:t>
            </a:r>
          </a:p>
        </p:txBody>
      </p:sp>
      <p:sp>
        <p:nvSpPr>
          <p:cNvPr id="10" name="Oval 9"/>
          <p:cNvSpPr/>
          <p:nvPr/>
        </p:nvSpPr>
        <p:spPr>
          <a:xfrm>
            <a:off x="7242048" y="1435607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7242048" y="1435607"/>
            <a:ext cx="292608" cy="292608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4160520"/>
            <a:ext cx="32004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42702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Ersatzprodukte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46177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Biosimilars und neue Therapieformen</a:t>
            </a:r>
          </a:p>
        </p:txBody>
      </p:sp>
      <p:sp>
        <p:nvSpPr>
          <p:cNvPr id="15" name="Oval 14"/>
          <p:cNvSpPr/>
          <p:nvPr/>
        </p:nvSpPr>
        <p:spPr>
          <a:xfrm>
            <a:off x="7242048" y="4270248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7242048" y="4270248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" y="2724912"/>
            <a:ext cx="32004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834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Lieferanten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18211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Wenige Anbieter für Primärpackmittel</a:t>
            </a:r>
          </a:p>
        </p:txBody>
      </p:sp>
      <p:sp>
        <p:nvSpPr>
          <p:cNvPr id="20" name="Oval 19"/>
          <p:cNvSpPr/>
          <p:nvPr/>
        </p:nvSpPr>
        <p:spPr>
          <a:xfrm>
            <a:off x="3081528" y="283464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81528" y="283464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9368" y="2724912"/>
            <a:ext cx="3200400" cy="114300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42248" y="28346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Abnehmer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318211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Konzentration bei Großhandel und Kassen</a:t>
            </a:r>
          </a:p>
        </p:txBody>
      </p:sp>
      <p:sp>
        <p:nvSpPr>
          <p:cNvPr id="25" name="Oval 24"/>
          <p:cNvSpPr/>
          <p:nvPr/>
        </p:nvSpPr>
        <p:spPr>
          <a:xfrm>
            <a:off x="11402568" y="2834640"/>
            <a:ext cx="292608" cy="29260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11402568" y="2834640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99048" y="2468880"/>
            <a:ext cx="0" cy="22860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V="1">
            <a:off x="6099048" y="3886200"/>
            <a:ext cx="0" cy="27432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3538728" y="3291840"/>
            <a:ext cx="96012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 flipH="1">
            <a:off x="7699248" y="3291840"/>
            <a:ext cx="960120" cy="0"/>
          </a:xfrm>
          <a:prstGeom prst="line">
            <a:avLst/>
          </a:prstGeom>
          <a:ln w="15875">
            <a:solidFill>
              <a:schemeClr val="accent3"/>
            </a:solidFill>
            <a:tailEnd type="triangle" w="med" len="med"/>
          </a:ln>
        </p:spPr>
      </p:cxn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Nutzen-Aufwand-Matrix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Priorisierung: Drei Initiativen mit hohem Nutzen und geringem Aufwand zuerst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325880"/>
            <a:ext cx="2980944" cy="1975104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Quick Wins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325880"/>
            <a:ext cx="2980944" cy="1975104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Strategische Projekte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337560"/>
            <a:ext cx="2980944" cy="1975104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Füllprojekte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3337560"/>
            <a:ext cx="2980944" cy="1975104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Vermeiden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Aufwand →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-1536192" y="318211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Nutzen →</a:t>
            </a:r>
          </a:p>
        </p:txBody>
      </p:sp>
      <p:sp>
        <p:nvSpPr>
          <p:cNvPr id="16" name="Oval 15"/>
          <p:cNvSpPr/>
          <p:nvPr/>
        </p:nvSpPr>
        <p:spPr>
          <a:xfrm>
            <a:off x="1481328" y="196596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2487168" y="2331720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2944368" y="1874519"/>
            <a:ext cx="411480" cy="411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5047488" y="205740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5596128" y="278892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1" name="Oval 20"/>
          <p:cNvSpPr/>
          <p:nvPr/>
        </p:nvSpPr>
        <p:spPr>
          <a:xfrm>
            <a:off x="2029968" y="416052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2" name="Oval 21"/>
          <p:cNvSpPr/>
          <p:nvPr/>
        </p:nvSpPr>
        <p:spPr>
          <a:xfrm>
            <a:off x="5321808" y="4434840"/>
            <a:ext cx="411480" cy="4114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142646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37160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Rüst-Standard Linie 3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0" y="197510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192024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Freigabe-Checkliste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252374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46888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KPI-Board Shopfloor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0" y="3072384"/>
            <a:ext cx="329184" cy="32918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01752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MES-Einführung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3621024"/>
            <a:ext cx="329184" cy="32918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56616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Neue Isolator-Linie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0" y="4169663"/>
            <a:ext cx="329184" cy="32918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11480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Etikettendruck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4718303"/>
            <a:ext cx="329184" cy="32918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663440"/>
            <a:ext cx="404164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Lagerumbau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Wertschöpfungskette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Wertschöpfungskette: Herstellung und Qualität binden 60 % der Kosten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325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UNTERSTÜTZENDE AKTIVITÄTEN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600200"/>
            <a:ext cx="10607040" cy="34747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Unternehmensinfrastruktur &amp; Qualitätsmanagement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2011680"/>
            <a:ext cx="10607040" cy="34747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Personal &amp; Qualifizierung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2423160"/>
            <a:ext cx="10607040" cy="34747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Technologie &amp; Digitalisierung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" y="2834640"/>
            <a:ext cx="10607040" cy="347472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lIns="182880" tIns="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Beschaffung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33832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PRIMÄRE AKTIVITÄTEN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3657600"/>
            <a:ext cx="2062886" cy="1463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49039"/>
            <a:ext cx="178856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Eingangs-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logistik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52628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8 %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4366" y="3657600"/>
            <a:ext cx="2062886" cy="1463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11526" y="3749039"/>
            <a:ext cx="178856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Herstellung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1526" y="452628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34 %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0404" y="3657600"/>
            <a:ext cx="2062886" cy="1463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7564" y="3749039"/>
            <a:ext cx="178856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Qualitätskontrolle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7564" y="452628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bg1"/>
                </a:solidFill>
              </a:rPr>
              <a:t>26 %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6443" y="3657600"/>
            <a:ext cx="2062886" cy="1463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3603" y="3749039"/>
            <a:ext cx="178856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Ausgangs-</a:t>
            </a:r>
          </a:p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logistik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3603" y="452628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12 %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2481" y="3657600"/>
            <a:ext cx="2062886" cy="1463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19641" y="3749039"/>
            <a:ext cx="178856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9641" y="4526280"/>
            <a:ext cx="178856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400" b="0" i="0">
                <a:solidFill>
                  <a:schemeClr val="accent1"/>
                </a:solidFill>
              </a:rPr>
              <a:t>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82528" y="1600200"/>
            <a:ext cx="777240" cy="35204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 rot="16200000">
            <a:off x="9710928" y="297180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Marge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Zielpyramide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Vom Zweck zu messbaren Zielen: Die Zielpyramide für [Projekt]</a:t>
            </a:r>
          </a:p>
        </p:txBody>
      </p:sp>
      <p:sp>
        <p:nvSpPr>
          <p:cNvPr id="6" name="Rectangle 5"/>
          <p:cNvSpPr/>
          <p:nvPr/>
        </p:nvSpPr>
        <p:spPr>
          <a:xfrm>
            <a:off x="4636008" y="1371600"/>
            <a:ext cx="2926080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bg1"/>
                </a:solidFill>
              </a:rPr>
              <a:t>Vision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Zuverlässigster Lieferant steriler Arzneimittel in Europa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8728" y="2359152"/>
            <a:ext cx="5120640" cy="868680"/>
          </a:xfrm>
          <a:prstGeom prst="rect">
            <a:avLst/>
          </a:prstGeom>
          <a:solidFill>
            <a:schemeClr val="accent1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Mission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Kapazität, Qualität und Geschwindigkeit verbinden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3346704"/>
            <a:ext cx="7315200" cy="8686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Ziele 2028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+60 % Kapazität  |  0 kritische Beobachtungen  |  OEE 66 %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4334256"/>
            <a:ext cx="9509760" cy="86868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Maßnahmen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Neue Linie  |  MES-Einführung  |  OEE-Programm  |  Schulung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Marktgröße (TAM, SAM, SOM)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[Studie, Jahr]; eigene Berechnung;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adressierbare Markt für Füll- und Fertigungsberatung beträgt € 1,2 Mrd.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7" name="Oval 6"/>
          <p:cNvSpPr/>
          <p:nvPr/>
        </p:nvSpPr>
        <p:spPr>
          <a:xfrm>
            <a:off x="978407" y="1371600"/>
            <a:ext cx="4023360" cy="402336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2768" y="2560320"/>
            <a:ext cx="2834640" cy="28346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12848" y="3840480"/>
            <a:ext cx="1554480" cy="15544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852160" y="1371600"/>
            <a:ext cx="60076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852160" y="146304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€ 8,5 Mrd.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7216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TAM – Total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19"/>
            <a:ext cx="37216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Engineering- und Beratungsleistungen Pharma-Produktion, global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2697480"/>
            <a:ext cx="60076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852160" y="27889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€ 1,2 Mrd.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834640"/>
            <a:ext cx="37216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SAM – Serviceable Available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37216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Sterile und biologische Produktion in Europa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4023360"/>
            <a:ext cx="60076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852160" y="411480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600" b="0" i="0">
                <a:solidFill>
                  <a:schemeClr val="accent1"/>
                </a:solidFill>
              </a:rPr>
              <a:t>€ 60 Mio.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7216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400" b="0" i="0">
                <a:solidFill>
                  <a:schemeClr val="tx1"/>
                </a:solidFill>
              </a:rPr>
              <a:t>SOM – Serviceable Obtainable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526280"/>
            <a:ext cx="37216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Realistisch erreichbarer Anteil in 5 Jahren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Frameworks | Ishikawa-Diagramm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Ursache-Wirkung: Sechs Ursachengruppen für Abweichungen in der Abfüllung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8328" y="3337560"/>
            <a:ext cx="9326880" cy="0"/>
          </a:xfrm>
          <a:prstGeom prst="line">
            <a:avLst/>
          </a:prstGeom>
          <a:ln w="25400">
            <a:solidFill>
              <a:schemeClr val="tx1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9665208" y="2788920"/>
            <a:ext cx="219456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Abweichungen in der Abfüllung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" y="141732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338328" y="1033272"/>
            <a:ext cx="146304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Mensch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8027" y="19202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Einarbeitung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358" y="2423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Schichtwechsel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141732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3355847" y="1033272"/>
            <a:ext cx="146304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Maschine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547" y="19202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Verschleiß Dosierpumpe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878" y="2423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Sensorkalibrierung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22007" y="141732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6373368" y="1033272"/>
            <a:ext cx="1463040" cy="3840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bg1"/>
                </a:solidFill>
              </a:rPr>
              <a:t>Methode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3067" y="192024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SOP unklar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4398" y="24231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Rüstreihenfolge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86968" y="333756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338328" y="5257800"/>
            <a:ext cx="146304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4450" y="4389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Stopfenqualität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5781" y="38862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Lieferantenwechsel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904487" y="333756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3355847" y="5257800"/>
            <a:ext cx="146304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Messung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1970" y="4389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Probenahme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3301" y="38862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Prüfmittel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6922007" y="3337560"/>
            <a:ext cx="1188720" cy="1920240"/>
          </a:xfrm>
          <a:prstGeom prst="line">
            <a:avLst/>
          </a:prstGeom>
          <a:ln w="15875">
            <a:solidFill>
              <a:schemeClr val="accent3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6373368" y="5257800"/>
            <a:ext cx="1463040" cy="3840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Mitwelt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9490" y="43891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Luftfeuchte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0821" y="388620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Druckkaskade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Diagramme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Säulendiagramm mit Wachstumsrate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[Quelle]; € Mio.;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 Umsatz wächst seit 2022 um 12 % pro Jahr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680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Disturber"/>
          <p:cNvSpPr/>
          <p:nvPr/>
        </p:nvSpPr>
        <p:spPr>
          <a:xfrm>
            <a:off x="8778240" y="1737360"/>
            <a:ext cx="2194560" cy="2194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3200" b="0" i="0">
                <a:solidFill>
                  <a:schemeClr val="bg1"/>
                </a:solidFill>
              </a:rPr>
              <a:t>+12 %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CAGR 2022–2026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20624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Wachstum getragen von Biologika und Service-Geschäft.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Gestapelte Säulen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[Quelle]; Anteil am Umsatz;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überholt bis 2026 das Produktgeschäft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680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8503920" y="1463040"/>
            <a:ext cx="335584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503920" y="1572768"/>
            <a:ext cx="335584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200" b="0" i="0">
                <a:solidFill>
                  <a:schemeClr val="accent1"/>
                </a:solidFill>
              </a:rPr>
              <a:t>51 %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80768"/>
            <a:ext cx="335584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Service-Anteil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464816"/>
            <a:ext cx="335584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+19 pp seit 2023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Ranking (Balken)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[Quelle]; € Mio.;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Deutschland und die USA stehen für die Hälfte des Umsatzes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68096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Disturber"/>
          <p:cNvSpPr/>
          <p:nvPr/>
        </p:nvSpPr>
        <p:spPr>
          <a:xfrm>
            <a:off x="8961120" y="1828800"/>
            <a:ext cx="2103120" cy="21031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3200" b="0" i="0">
                <a:solidFill>
                  <a:schemeClr val="bg1"/>
                </a:solidFill>
              </a:rPr>
              <a:t>45 %</a:t>
            </a:r>
          </a:p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bg1"/>
                </a:solidFill>
              </a:rPr>
              <a:t>aus zwei Märkten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Liniendiagramm mit Zielwert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MES; Einheiten pro Schicht in Tsd.;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 Ausbringung erreicht nach neun Monaten das Zielniveau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82296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9052560" y="1463040"/>
            <a:ext cx="2807208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052560" y="1572768"/>
            <a:ext cx="2807208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3000" b="0" i="0">
                <a:solidFill>
                  <a:schemeClr val="accent1"/>
                </a:solidFill>
              </a:rPr>
              <a:t>+42 %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49018"/>
            <a:ext cx="280720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Ausbringung seit Start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Zielerreichung (Donuts)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Stand: [Datum];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von vier Zielen sind erreicht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122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68 %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Kapazität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Ziel: +60 %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56158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6158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1868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Ziel: 0 kritische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4194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4194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100 %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Termin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Ziel: Go-live 09/27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9322308" y="1463040"/>
          <a:ext cx="2194560" cy="21945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322308" y="22402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0" i="0">
                <a:solidFill>
                  <a:schemeClr val="tx1"/>
                </a:solidFill>
              </a:rPr>
              <a:t>100 %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79476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160520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Ziel: ±5 %</a:t>
            </a:r>
          </a:p>
        </p:txBody>
      </p:sp>
      <p:sp>
        <p:nvSpPr>
          <p:cNvPr id="23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6" name="TextBox 25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Nur die Kapazitätssteigerung liegt noch unter Ziel – der Ramp-up der Linie läuft bis Q2.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Blasendiagramm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[Quelle]; Blasengröße = Umsatz;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Portfolio: Zwei Produkte rechtfertigen eine eigene Linie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38328" y="1280160"/>
          <a:ext cx="78638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778240" y="1371600"/>
            <a:ext cx="30815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LESART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691640"/>
            <a:ext cx="3081528" cy="274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Produkte A und B: hohes Volumen und Wachstum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Gemeinsam 58 % des Umsatzes</a:t>
            </a:r>
          </a:p>
          <a:p>
            <a:pPr algn="l" marL="164592" indent="-164592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chemeClr val="tx1"/>
                </a:solidFill>
              </a:rPr>
              <a:t>Kandidaten für eine dedizierte Linie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Diagramme | Tabelle mit Datenbalken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MES; Werte illustrativ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Linie 3 hat den größten Nachholbedarf bei der Verfügbarkeit</a:t>
            </a:r>
          </a:p>
        </p:txBody>
      </p:sp>
      <p:sp>
        <p:nvSpPr>
          <p:cNvPr id="6" name="Sticker"/>
          <p:cNvSpPr/>
          <p:nvPr/>
        </p:nvSpPr>
        <p:spPr>
          <a:xfrm>
            <a:off x="10703052" y="713232"/>
            <a:ext cx="1156716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38328" y="1371600"/>
          <a:ext cx="11521436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43430"/>
                <a:gridCol w="1106058"/>
                <a:gridCol w="3318174"/>
                <a:gridCol w="1751258"/>
                <a:gridCol w="1751258"/>
                <a:gridCol w="1751258"/>
              </a:tblGrid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Linie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OEE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Verfügbarkeit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Leistung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accent1"/>
                          </a:solidFill>
                        </a:rPr>
                        <a:t>Qualität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Linie 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71 %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96 %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Linie 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80 %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96 %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Linie 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54 %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68 %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solidFill>
                      <a:schemeClr val="accent1">
                        <a:lumMod val="15000"/>
                        <a:lumOff val="85000"/>
                      </a:schemeClr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83 %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95 %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40080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Linie 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62 %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77 %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84 %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>
                        <a:spcAft>
                          <a:spcPts val="0"/>
                        </a:spcAft>
                        <a:buNone/>
                      </a:pPr>
                      <a:r>
                        <a:rPr sz="1400" b="0" i="0">
                          <a:solidFill>
                            <a:schemeClr val="tx1"/>
                          </a:solidFill>
                        </a:rPr>
                        <a:t>96 %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379256" y="2212848"/>
            <a:ext cx="2161136" cy="237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9256" y="2852928"/>
            <a:ext cx="2008944" cy="237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79256" y="3493008"/>
            <a:ext cx="1643681" cy="2377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9256" y="4133087"/>
            <a:ext cx="1887189" cy="237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Verfügbarkeit ist der schwächste OEE-Faktor von Linie 3 – Stillstandsanalyse priorisieren.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Abschluss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Abschluss | Zusammenfassung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Vier Kernaussagen zum Mitnehmen</a:t>
            </a:r>
          </a:p>
        </p:txBody>
      </p:sp>
      <p:sp>
        <p:nvSpPr>
          <p:cNvPr id="6" name="Oval 5"/>
          <p:cNvSpPr/>
          <p:nvPr/>
        </p:nvSpPr>
        <p:spPr>
          <a:xfrm>
            <a:off x="338328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17320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Der Handlungsbedarf ist akut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8968" y="1417320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Ab [Jahr] fehlen [xx] Mio. Einheiten Kapazität.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15568" y="2240280"/>
            <a:ext cx="107442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338328" y="2496312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404872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Die Lösung ist klar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2404872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Neue Isolator-Linie plus Ertüchtigung der Bestandslinie.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5568" y="3227832"/>
            <a:ext cx="107442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338328" y="3483864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392424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Der Business Case trägt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3392424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Payback in 2,8 Jahren, auch im konservativen Szenario positiv.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5568" y="4215384"/>
            <a:ext cx="10744200" cy="0"/>
          </a:xfrm>
          <a:prstGeom prst="line">
            <a:avLst/>
          </a:prstGeom>
          <a:ln w="6350">
            <a:solidFill>
              <a:schemeClr val="tx2"/>
            </a:solidFill>
          </a:ln>
        </p:spPr>
      </p:cxnSp>
      <p:sp>
        <p:nvSpPr>
          <p:cNvPr id="18" name="Oval 17"/>
          <p:cNvSpPr/>
          <p:nvPr/>
        </p:nvSpPr>
        <p:spPr>
          <a:xfrm>
            <a:off x="338328" y="4471416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600" b="0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379976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900" b="0" i="0">
                <a:solidFill>
                  <a:schemeClr val="tx1"/>
                </a:solidFill>
              </a:rPr>
              <a:t>Der Weg ist geplant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4379976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Fünf Phasen mit Gates – Go-live September 2027.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Abschluss | Nächste Schritte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Nächste Schritte: Vier Aktivitäten bis zur Entscheidung am [Datum]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38328" y="1371600"/>
          <a:ext cx="11521440" cy="32918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548640"/>
                <a:gridCol w="5852160"/>
                <a:gridCol w="3108960"/>
                <a:gridCol w="2011680"/>
              </a:tblGrid>
              <a:tr h="658368"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#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Aktivität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Verantwortlich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accent1"/>
                          </a:solidFill>
                        </a:rPr>
                        <a:t>Termin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Datenbereitstellung für Business-Case-Validierung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[Kunde]: 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Referenzbesuch bei [Referenzkunde] organisieren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Körber: 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Finales Angebot inkl. Paketoptionen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Körber: 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 wrap="square" anchor="t">
                      <a:noAutofit/>
                    </a:bodyPr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800" b="0" i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Entscheidung im Investitionsausschuss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[Kunde]: [Name]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500" b="0" i="0">
                          <a:solidFill>
                            <a:schemeClr val="tx1"/>
                          </a:solidFill>
                        </a:rPr>
                        <a:t>[TT.MM.]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B8A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Mit diesen vier Schritten ist ein Projektstart am [Datum] realistisch.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24.jpg"/>
          <p:cNvPicPr>
            <a:picLocks noGrp="1" noChangeAspect="1"/>
          </p:cNvPicPr>
          <p:nvPr>
            <p:ph type="pic" idx="27" sz="quarter"/>
          </p:nvPr>
        </p:nvPicPr>
        <p:blipFill>
          <a:blip r:embed="rId3"/>
          <a:srcRect t="7515" b="751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Ihre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Fragen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Vielen Dank!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[Vorname Name]</a:t>
            </a:r>
          </a:p>
          <a:p>
            <a:r>
              <a:t>[Funktion]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[Standort]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+49 [Telefonnummer]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[vorname.name]@koerber.com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16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Toolkit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Raster und Maße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Raster: Jedes Element hat einen festen Platz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25880"/>
            <a:ext cx="11521440" cy="402336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Inhaltsbereich  |  oben 1,45"  |  unten 5,80"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Spalte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726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726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Spalte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Spalte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5148" y="1828800"/>
            <a:ext cx="2674620" cy="3337560"/>
          </a:xfrm>
          <a:prstGeom prst="rect">
            <a:avLst/>
          </a:prstGeom>
          <a:solidFill>
            <a:schemeClr val="accent1">
              <a:lumMod val="15000"/>
              <a:lumOff val="8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5148" y="3291840"/>
            <a:ext cx="26746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accent1"/>
                </a:solidFill>
              </a:rPr>
              <a:t>Spalte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2948" y="2377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900" b="0" i="0">
                <a:solidFill>
                  <a:schemeClr val="accent1"/>
                </a:solidFill>
              </a:rPr>
              <a:t>0,3"</a:t>
            </a:r>
          </a:p>
        </p:txBody>
      </p:sp>
      <p:sp>
        <p:nvSpPr>
          <p:cNvPr id="17" name="Kernaussage"/>
          <p:cNvSpPr/>
          <p:nvPr/>
        </p:nvSpPr>
        <p:spPr>
          <a:xfrm>
            <a:off x="338328" y="5468112"/>
            <a:ext cx="11521440" cy="5669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5488" y="5586984"/>
            <a:ext cx="329184" cy="32918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Icon arrow_forward"/>
          <p:cNvSpPr/>
          <p:nvPr/>
        </p:nvSpPr>
        <p:spPr>
          <a:xfrm>
            <a:off x="530352" y="5641848"/>
            <a:ext cx="219456" cy="219456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960120" y="5468112"/>
            <a:ext cx="10744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1" i="0">
                <a:solidFill>
                  <a:schemeClr val="accent1"/>
                </a:solidFill>
              </a:rPr>
              <a:t>So what:  </a:t>
            </a:r>
            <a:r>
              <a:rPr sz="1300" b="0" i="0">
                <a:solidFill>
                  <a:schemeClr val="tx1"/>
                </a:solidFill>
              </a:rPr>
              <a:t>Kernaussage immer an derselben Position (5,98") – sie ist das Erste, was Leser suchen.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65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← Titel: Action Title, 24 pt, max. 76 Zeichen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7132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← Tracker: „Kapitel | Thema“, 14 pt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Farben und Schrift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Quelle: Körber Brand Hub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Farben und Typografie: Blau hebt hervor, Grau ordnet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" y="1371600"/>
            <a:ext cx="82296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Körber Blau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#0060FF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92024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Hervorhebung, Fokus, Kernaussage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5838" y="1371600"/>
            <a:ext cx="822960" cy="8229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595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Schwarz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595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#000000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5958" y="192024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Text, Linien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3348" y="1371600"/>
            <a:ext cx="822960" cy="8229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346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Warmgrau 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#E6E2DC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3468" y="192024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Flächen, Karten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0858" y="1371600"/>
            <a:ext cx="822960" cy="8229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10978" y="137160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Warmgrau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0978" y="164592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#BFB8AF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0978" y="192024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Vergleichswerte in Diagrammen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" y="2834640"/>
            <a:ext cx="822960" cy="822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Warmgrau dunkel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#9D968D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38328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Pfeile, sekundäre Elemente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5838" y="2834640"/>
            <a:ext cx="822960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595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Gelb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595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#FFE32F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5958" y="338328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Nur Call to 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3348" y="2834640"/>
            <a:ext cx="822960" cy="8229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346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Amber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346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#FEC037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3468" y="338328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Status: gefährdet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0858" y="2834640"/>
            <a:ext cx="822960" cy="8229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10978" y="283464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tx1"/>
                </a:solidFill>
              </a:rPr>
              <a:t>Orange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0978" y="3108960"/>
            <a:ext cx="174879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#FE8623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10978" y="3383280"/>
            <a:ext cx="174879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Status: kritisch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38328" y="4434840"/>
            <a:ext cx="11521440" cy="0"/>
          </a:xfrm>
          <a:prstGeom prst="line">
            <a:avLst/>
          </a:prstGeom>
          <a:ln w="9525">
            <a:solidFill>
              <a:schemeClr val="tx1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338328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Titel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24 pt, Arial Regular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42616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Tracker / Untertitel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42616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14 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46904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46904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12–14 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51192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Labels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51192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10 pt, Versalien, blau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57200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300" b="0" i="0">
                <a:solidFill>
                  <a:schemeClr val="accent1"/>
                </a:solidFill>
              </a:rPr>
              <a:t>Quelle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55480" y="486460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9 pt (Platzhalter)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Bausteine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Bausteine zum Kopieren: Immer dieselben Elemente verwenden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NUMMERN UND STATUS</a:t>
            </a:r>
          </a:p>
        </p:txBody>
      </p:sp>
      <p:sp>
        <p:nvSpPr>
          <p:cNvPr id="7" name="Oval 6"/>
          <p:cNvSpPr/>
          <p:nvPr/>
        </p:nvSpPr>
        <p:spPr>
          <a:xfrm>
            <a:off x="338328" y="164592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1645920"/>
            <a:ext cx="384048" cy="38404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400" b="0" i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1527048" y="1746504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47088" y="1746504"/>
            <a:ext cx="182880" cy="1828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7128" y="1746504"/>
            <a:ext cx="182880" cy="18288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87168" y="1746504"/>
            <a:ext cx="182880" cy="1828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286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HARVEY BALLS (0–4)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841248" y="2606040"/>
            <a:ext cx="347472" cy="347472"/>
          </a:xfrm>
          <a:prstGeom prst="pie">
            <a:avLst>
              <a:gd name="adj1" fmla="val 1620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4416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1344168" y="2606040"/>
            <a:ext cx="347472" cy="347472"/>
          </a:xfrm>
          <a:prstGeom prst="pie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84708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1847088" y="2606040"/>
            <a:ext cx="347472" cy="347472"/>
          </a:xfrm>
          <a:prstGeom prst="pie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50008" y="2606040"/>
            <a:ext cx="347472" cy="34747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50008" y="2606040"/>
            <a:ext cx="347472" cy="347472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200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STICKER UND TAGS</a:t>
            </a:r>
          </a:p>
        </p:txBody>
      </p:sp>
      <p:sp>
        <p:nvSpPr>
          <p:cNvPr id="24" name="Pentagon 23"/>
          <p:cNvSpPr/>
          <p:nvPr/>
        </p:nvSpPr>
        <p:spPr>
          <a:xfrm>
            <a:off x="338328" y="3520440"/>
            <a:ext cx="1234440" cy="237744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tIns="0" rIns="45720" bIns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900" b="0" i="0" spc="80">
                <a:solidFill>
                  <a:schemeClr val="bg1"/>
                </a:solidFill>
              </a:rPr>
              <a:t>ILLUSTRATIV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55648" y="3502152"/>
            <a:ext cx="100584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accent1"/>
                </a:solidFill>
              </a:rPr>
              <a:t>Big Pharma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114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CALL TO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" y="4434840"/>
            <a:ext cx="2468880" cy="411480"/>
          </a:xfrm>
          <a:prstGeom prst="roundRect">
            <a:avLst>
              <a:gd name="adj" fmla="val 48888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Entscheidung bis [Datum]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PROZESS</a:t>
            </a:r>
          </a:p>
        </p:txBody>
      </p:sp>
      <p:sp>
        <p:nvSpPr>
          <p:cNvPr id="29" name="Pentagon 28"/>
          <p:cNvSpPr/>
          <p:nvPr/>
        </p:nvSpPr>
        <p:spPr>
          <a:xfrm>
            <a:off x="3657600" y="1645920"/>
            <a:ext cx="1408176" cy="457200"/>
          </a:xfrm>
          <a:prstGeom prst="homePlate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Schritt 1</a:t>
            </a:r>
          </a:p>
        </p:txBody>
      </p:sp>
      <p:sp>
        <p:nvSpPr>
          <p:cNvPr id="30" name="Chevron 29"/>
          <p:cNvSpPr/>
          <p:nvPr/>
        </p:nvSpPr>
        <p:spPr>
          <a:xfrm>
            <a:off x="4956048" y="1645920"/>
            <a:ext cx="1408176" cy="4572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Schritt 2</a:t>
            </a:r>
          </a:p>
        </p:txBody>
      </p:sp>
      <p:sp>
        <p:nvSpPr>
          <p:cNvPr id="31" name="Chevron 30"/>
          <p:cNvSpPr/>
          <p:nvPr/>
        </p:nvSpPr>
        <p:spPr>
          <a:xfrm>
            <a:off x="6254496" y="1645920"/>
            <a:ext cx="1243584" cy="457200"/>
          </a:xfrm>
          <a:prstGeom prst="chevron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rtlCol="0" anchor="ctr" wrap="square" lIns="73152" tIns="18288" rIns="36576" bIns="18288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tx1"/>
                </a:solidFill>
              </a:rPr>
              <a:t>Schritt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2860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FLUSSDIAGRAMM-SYMBOLE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2606040"/>
            <a:ext cx="10972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Start/Ende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606040"/>
            <a:ext cx="109728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rtlCol="0" anchor="ctr" wrap="square" tIns="91440" bIns="9144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tx1"/>
                </a:solidFill>
              </a:rPr>
              <a:t>Schritt</a:t>
            </a:r>
          </a:p>
        </p:txBody>
      </p:sp>
      <p:sp>
        <p:nvSpPr>
          <p:cNvPr id="35" name="Diamond 34"/>
          <p:cNvSpPr/>
          <p:nvPr/>
        </p:nvSpPr>
        <p:spPr>
          <a:xfrm>
            <a:off x="6217920" y="2514600"/>
            <a:ext cx="1097280" cy="6400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000" b="0" i="0">
                <a:solidFill>
                  <a:schemeClr val="bg1"/>
                </a:solidFill>
              </a:rPr>
              <a:t>Frage?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291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ICON IM KREIS</a:t>
            </a:r>
          </a:p>
        </p:txBody>
      </p:sp>
      <p:sp>
        <p:nvSpPr>
          <p:cNvPr id="37" name="Oval 36"/>
          <p:cNvSpPr/>
          <p:nvPr/>
        </p:nvSpPr>
        <p:spPr>
          <a:xfrm>
            <a:off x="3657600" y="3566160"/>
            <a:ext cx="566928" cy="5669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Icon factory"/>
          <p:cNvSpPr/>
          <p:nvPr/>
        </p:nvSpPr>
        <p:spPr>
          <a:xfrm>
            <a:off x="3776654" y="36852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84000"/>
                </a:moveTo>
                <a:lnTo>
                  <a:pt x="12000" y="42592"/>
                </a:lnTo>
                <a:lnTo>
                  <a:pt x="32000" y="34077"/>
                </a:lnTo>
                <a:lnTo>
                  <a:pt x="32000" y="41923"/>
                </a:lnTo>
                <a:lnTo>
                  <a:pt x="52000" y="33923"/>
                </a:lnTo>
                <a:lnTo>
                  <a:pt x="52000" y="44000"/>
                </a:lnTo>
                <a:lnTo>
                  <a:pt x="84000" y="44000"/>
                </a:lnTo>
                <a:lnTo>
                  <a:pt x="84000" y="84000"/>
                </a:lnTo>
                <a:lnTo>
                  <a:pt x="12000" y="8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80000" y="48000"/>
                </a:lnTo>
                <a:lnTo>
                  <a:pt x="48000" y="48000"/>
                </a:lnTo>
                <a:lnTo>
                  <a:pt x="48000" y="39800"/>
                </a:lnTo>
                <a:lnTo>
                  <a:pt x="28000" y="47800"/>
                </a:lnTo>
                <a:lnTo>
                  <a:pt x="28000" y="40000"/>
                </a:lnTo>
                <a:lnTo>
                  <a:pt x="16000" y="45300"/>
                </a:lnTo>
                <a:lnTo>
                  <a:pt x="16000" y="80000"/>
                </a:lnTo>
                <a:close/>
                <a:moveTo>
                  <a:pt x="44923" y="70154"/>
                </a:moveTo>
                <a:lnTo>
                  <a:pt x="51077" y="70154"/>
                </a:lnTo>
                <a:lnTo>
                  <a:pt x="51077" y="57846"/>
                </a:lnTo>
                <a:lnTo>
                  <a:pt x="44923" y="57846"/>
                </a:lnTo>
                <a:lnTo>
                  <a:pt x="44923" y="70154"/>
                </a:lnTo>
                <a:close/>
                <a:moveTo>
                  <a:pt x="28923" y="70154"/>
                </a:moveTo>
                <a:lnTo>
                  <a:pt x="35077" y="70154"/>
                </a:lnTo>
                <a:lnTo>
                  <a:pt x="35077" y="57846"/>
                </a:lnTo>
                <a:lnTo>
                  <a:pt x="28923" y="57846"/>
                </a:lnTo>
                <a:lnTo>
                  <a:pt x="28923" y="70154"/>
                </a:lnTo>
                <a:close/>
                <a:moveTo>
                  <a:pt x="60923" y="70154"/>
                </a:moveTo>
                <a:lnTo>
                  <a:pt x="67077" y="70154"/>
                </a:lnTo>
                <a:lnTo>
                  <a:pt x="67077" y="57846"/>
                </a:lnTo>
                <a:lnTo>
                  <a:pt x="60923" y="57846"/>
                </a:lnTo>
                <a:lnTo>
                  <a:pt x="60923" y="70154"/>
                </a:lnTo>
                <a:close/>
                <a:moveTo>
                  <a:pt x="84000" y="44000"/>
                </a:moveTo>
                <a:lnTo>
                  <a:pt x="71538" y="44000"/>
                </a:lnTo>
                <a:lnTo>
                  <a:pt x="75538" y="15077"/>
                </a:lnTo>
                <a:lnTo>
                  <a:pt x="80462" y="15077"/>
                </a:lnTo>
                <a:lnTo>
                  <a:pt x="84000" y="4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16000" y="8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39" name="Oval 38"/>
          <p:cNvSpPr/>
          <p:nvPr/>
        </p:nvSpPr>
        <p:spPr>
          <a:xfrm>
            <a:off x="4389120" y="3566160"/>
            <a:ext cx="566928" cy="56692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Icon science"/>
          <p:cNvSpPr/>
          <p:nvPr/>
        </p:nvSpPr>
        <p:spPr>
          <a:xfrm>
            <a:off x="4508174" y="3685214"/>
            <a:ext cx="328818" cy="328818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80000"/>
                </a:moveTo>
                <a:quadBezTo>
                  <a:pt x="17446" y="80000"/>
                  <a:pt x="16369" y="77719"/>
                </a:quadBezTo>
                <a:quadBezTo>
                  <a:pt x="15292" y="75438"/>
                  <a:pt x="16877" y="73462"/>
                </a:quadBezTo>
                <a:lnTo>
                  <a:pt x="40000" y="45385"/>
                </a:lnTo>
                <a:lnTo>
                  <a:pt x="40000" y="20000"/>
                </a:lnTo>
                <a:lnTo>
                  <a:pt x="34462" y="20000"/>
                </a:lnTo>
                <a:quadBezTo>
                  <a:pt x="33612" y="20000"/>
                  <a:pt x="33037" y="19424"/>
                </a:quadBezTo>
                <a:quadBezTo>
                  <a:pt x="32462" y="18848"/>
                  <a:pt x="32462" y="17997"/>
                </a:quadBezTo>
                <a:quadBezTo>
                  <a:pt x="32462" y="17146"/>
                  <a:pt x="33037" y="16573"/>
                </a:quadBezTo>
                <a:quadBezTo>
                  <a:pt x="33612" y="16000"/>
                  <a:pt x="34462" y="16000"/>
                </a:quadBezTo>
                <a:lnTo>
                  <a:pt x="61538" y="16000"/>
                </a:lnTo>
                <a:quadBezTo>
                  <a:pt x="62388" y="16000"/>
                  <a:pt x="62963" y="16576"/>
                </a:quadBezTo>
                <a:quadBezTo>
                  <a:pt x="63538" y="17152"/>
                  <a:pt x="63538" y="18003"/>
                </a:quadBezTo>
                <a:quadBezTo>
                  <a:pt x="63538" y="18854"/>
                  <a:pt x="62963" y="19427"/>
                </a:quadBezTo>
                <a:quadBezTo>
                  <a:pt x="62388" y="20000"/>
                  <a:pt x="61538" y="20000"/>
                </a:quadBezTo>
                <a:lnTo>
                  <a:pt x="56000" y="20000"/>
                </a:lnTo>
                <a:lnTo>
                  <a:pt x="56000" y="45385"/>
                </a:lnTo>
                <a:lnTo>
                  <a:pt x="79123" y="73462"/>
                </a:lnTo>
                <a:quadBezTo>
                  <a:pt x="80708" y="75438"/>
                  <a:pt x="79631" y="77719"/>
                </a:quadBezTo>
                <a:quadBezTo>
                  <a:pt x="78554" y="80000"/>
                  <a:pt x="76000" y="80000"/>
                </a:quadBezTo>
                <a:lnTo>
                  <a:pt x="20000" y="80000"/>
                </a:lnTo>
                <a:close/>
                <a:moveTo>
                  <a:pt x="20000" y="76000"/>
                </a:moveTo>
                <a:lnTo>
                  <a:pt x="76000" y="76000"/>
                </a:lnTo>
                <a:lnTo>
                  <a:pt x="52000" y="46800"/>
                </a:lnTo>
                <a:lnTo>
                  <a:pt x="52000" y="20000"/>
                </a:lnTo>
                <a:lnTo>
                  <a:pt x="44000" y="20000"/>
                </a:lnTo>
                <a:lnTo>
                  <a:pt x="44000" y="46800"/>
                </a:lnTo>
                <a:lnTo>
                  <a:pt x="20000" y="76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3657600" y="4343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KENNZAHL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572000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0" i="0">
                <a:solidFill>
                  <a:schemeClr val="accent1"/>
                </a:solidFill>
              </a:rPr>
              <a:t>–14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1325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KARTE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645920"/>
            <a:ext cx="3813048" cy="1463040"/>
          </a:xfrm>
          <a:prstGeom prst="rect">
            <a:avLst/>
          </a:prstGeom>
          <a:solidFill>
            <a:schemeClr val="bg2">
              <a:lumMod val="45000"/>
              <a:lumOff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847088"/>
            <a:ext cx="34107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accent1"/>
                </a:solidFill>
              </a:rPr>
              <a:t>LABEL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2103120"/>
            <a:ext cx="341071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 i="0">
                <a:solidFill>
                  <a:schemeClr val="tx1"/>
                </a:solidFill>
              </a:rPr>
              <a:t>Kartenüberschrift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2487168"/>
            <a:ext cx="3410712" cy="5212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chemeClr val="tx1"/>
                </a:solidFill>
              </a:rPr>
              <a:t>Ein bis zwei Sätze mit den unterstützenden Fakten.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2918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 i="0" spc="100">
                <a:solidFill>
                  <a:schemeClr val="tx1">
                    <a:lumMod val="65000"/>
                    <a:lumOff val="35000"/>
                  </a:schemeClr>
                </a:solidFill>
              </a:rPr>
              <a:t>DISTURBER (KÖRBER CI)</a:t>
            </a:r>
          </a:p>
        </p:txBody>
      </p:sp>
      <p:sp>
        <p:nvSpPr>
          <p:cNvPr id="49" name="Disturber"/>
          <p:cNvSpPr/>
          <p:nvPr/>
        </p:nvSpPr>
        <p:spPr>
          <a:xfrm>
            <a:off x="8046720" y="3611880"/>
            <a:ext cx="1463040" cy="14630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 wrap="square" lIns="137160" tIns="137160" rIns="137160" bIns="137160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2200" b="0" i="0">
                <a:solidFill>
                  <a:schemeClr val="bg1"/>
                </a:solidFill>
              </a:rPr>
              <a:t>25 %</a:t>
            </a:r>
          </a:p>
          <a:p>
            <a:pPr algn="ctr">
              <a:spcAft>
                <a:spcPts val="400"/>
              </a:spcAft>
              <a:buNone/>
            </a:pPr>
            <a:r>
              <a:rPr sz="1100" b="0" i="0">
                <a:solidFill>
                  <a:schemeClr val="bg1"/>
                </a:solidFill>
              </a:rPr>
              <a:t>Kernzahl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Toolkit | Icons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Material Symbols Outlined (Google, Apache 2.0); Icon kopieren, Farbe über Formfüllung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Icon-Bibliothek: 117 Material Symbols, frei einfärbbar</a:t>
            </a:r>
          </a:p>
        </p:txBody>
      </p:sp>
      <p:sp>
        <p:nvSpPr>
          <p:cNvPr id="6" name="Icon account_balance"/>
          <p:cNvSpPr/>
          <p:nvPr/>
        </p:nvSpPr>
        <p:spPr>
          <a:xfrm>
            <a:off x="644300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000" y="68000"/>
                </a:moveTo>
                <a:lnTo>
                  <a:pt x="26000" y="36000"/>
                </a:lnTo>
                <a:lnTo>
                  <a:pt x="30000" y="36000"/>
                </a:lnTo>
                <a:lnTo>
                  <a:pt x="30000" y="68000"/>
                </a:lnTo>
                <a:lnTo>
                  <a:pt x="26000" y="68000"/>
                </a:lnTo>
                <a:close/>
                <a:moveTo>
                  <a:pt x="46000" y="68000"/>
                </a:moveTo>
                <a:lnTo>
                  <a:pt x="46000" y="36000"/>
                </a:lnTo>
                <a:lnTo>
                  <a:pt x="50000" y="36000"/>
                </a:lnTo>
                <a:lnTo>
                  <a:pt x="50000" y="68000"/>
                </a:lnTo>
                <a:lnTo>
                  <a:pt x="46000" y="68000"/>
                </a:lnTo>
                <a:close/>
                <a:moveTo>
                  <a:pt x="14154" y="80000"/>
                </a:moveTo>
                <a:lnTo>
                  <a:pt x="14154" y="76000"/>
                </a:lnTo>
                <a:lnTo>
                  <a:pt x="81846" y="76000"/>
                </a:lnTo>
                <a:lnTo>
                  <a:pt x="81846" y="80000"/>
                </a:lnTo>
                <a:lnTo>
                  <a:pt x="14154" y="80000"/>
                </a:lnTo>
                <a:close/>
                <a:moveTo>
                  <a:pt x="66000" y="68000"/>
                </a:moveTo>
                <a:lnTo>
                  <a:pt x="66000" y="36000"/>
                </a:lnTo>
                <a:lnTo>
                  <a:pt x="70000" y="36000"/>
                </a:lnTo>
                <a:lnTo>
                  <a:pt x="70000" y="68000"/>
                </a:lnTo>
                <a:lnTo>
                  <a:pt x="66000" y="68000"/>
                </a:lnTo>
                <a:close/>
                <a:moveTo>
                  <a:pt x="14154" y="28000"/>
                </a:moveTo>
                <a:lnTo>
                  <a:pt x="14154" y="24615"/>
                </a:lnTo>
                <a:lnTo>
                  <a:pt x="48000" y="8462"/>
                </a:lnTo>
                <a:lnTo>
                  <a:pt x="81846" y="24615"/>
                </a:lnTo>
                <a:lnTo>
                  <a:pt x="81846" y="28000"/>
                </a:lnTo>
                <a:lnTo>
                  <a:pt x="14154" y="28000"/>
                </a:lnTo>
                <a:close/>
                <a:moveTo>
                  <a:pt x="24723" y="24000"/>
                </a:moveTo>
                <a:lnTo>
                  <a:pt x="71277" y="24000"/>
                </a:lnTo>
                <a:lnTo>
                  <a:pt x="24723" y="24000"/>
                </a:lnTo>
                <a:close/>
                <a:moveTo>
                  <a:pt x="24723" y="24000"/>
                </a:moveTo>
                <a:lnTo>
                  <a:pt x="71277" y="24000"/>
                </a:lnTo>
                <a:lnTo>
                  <a:pt x="48000" y="13000"/>
                </a:lnTo>
                <a:lnTo>
                  <a:pt x="24723" y="2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TextBox 6"/>
          <p:cNvSpPr txBox="1"/>
          <p:nvPr/>
        </p:nvSpPr>
        <p:spPr>
          <a:xfrm>
            <a:off x="338328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account balance</a:t>
            </a:r>
          </a:p>
        </p:txBody>
      </p:sp>
      <p:sp>
        <p:nvSpPr>
          <p:cNvPr id="8" name="Icon account_tree"/>
          <p:cNvSpPr/>
          <p:nvPr/>
        </p:nvSpPr>
        <p:spPr>
          <a:xfrm>
            <a:off x="1530564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000" y="82000"/>
                </a:moveTo>
                <a:lnTo>
                  <a:pt x="62000" y="70000"/>
                </a:lnTo>
                <a:lnTo>
                  <a:pt x="46000" y="70000"/>
                </a:lnTo>
                <a:lnTo>
                  <a:pt x="46000" y="30000"/>
                </a:lnTo>
                <a:lnTo>
                  <a:pt x="34000" y="30000"/>
                </a:lnTo>
                <a:lnTo>
                  <a:pt x="34000" y="42000"/>
                </a:lnTo>
                <a:lnTo>
                  <a:pt x="10000" y="42000"/>
                </a:lnTo>
                <a:lnTo>
                  <a:pt x="10000" y="14000"/>
                </a:lnTo>
                <a:lnTo>
                  <a:pt x="34000" y="14000"/>
                </a:lnTo>
                <a:lnTo>
                  <a:pt x="34000" y="26000"/>
                </a:lnTo>
                <a:lnTo>
                  <a:pt x="62000" y="26000"/>
                </a:lnTo>
                <a:lnTo>
                  <a:pt x="62000" y="14000"/>
                </a:lnTo>
                <a:lnTo>
                  <a:pt x="86000" y="14000"/>
                </a:lnTo>
                <a:lnTo>
                  <a:pt x="86000" y="42000"/>
                </a:lnTo>
                <a:lnTo>
                  <a:pt x="62000" y="42000"/>
                </a:lnTo>
                <a:lnTo>
                  <a:pt x="62000" y="30000"/>
                </a:lnTo>
                <a:lnTo>
                  <a:pt x="50000" y="30000"/>
                </a:lnTo>
                <a:lnTo>
                  <a:pt x="50000" y="66000"/>
                </a:lnTo>
                <a:lnTo>
                  <a:pt x="62000" y="66000"/>
                </a:lnTo>
                <a:lnTo>
                  <a:pt x="62000" y="54000"/>
                </a:lnTo>
                <a:lnTo>
                  <a:pt x="86000" y="54000"/>
                </a:lnTo>
                <a:lnTo>
                  <a:pt x="86000" y="82000"/>
                </a:lnTo>
                <a:lnTo>
                  <a:pt x="62000" y="82000"/>
                </a:lnTo>
                <a:close/>
                <a:moveTo>
                  <a:pt x="14000" y="18000"/>
                </a:moveTo>
                <a:lnTo>
                  <a:pt x="14000" y="38000"/>
                </a:lnTo>
                <a:lnTo>
                  <a:pt x="14000" y="18000"/>
                </a:lnTo>
                <a:close/>
                <a:moveTo>
                  <a:pt x="66000" y="58000"/>
                </a:moveTo>
                <a:lnTo>
                  <a:pt x="66000" y="78000"/>
                </a:lnTo>
                <a:lnTo>
                  <a:pt x="66000" y="58000"/>
                </a:lnTo>
                <a:close/>
                <a:moveTo>
                  <a:pt x="66000" y="18000"/>
                </a:moveTo>
                <a:lnTo>
                  <a:pt x="66000" y="38000"/>
                </a:lnTo>
                <a:lnTo>
                  <a:pt x="66000" y="18000"/>
                </a:lnTo>
                <a:close/>
                <a:moveTo>
                  <a:pt x="66000" y="38000"/>
                </a:moveTo>
                <a:lnTo>
                  <a:pt x="82000" y="38000"/>
                </a:lnTo>
                <a:lnTo>
                  <a:pt x="82000" y="18000"/>
                </a:lnTo>
                <a:lnTo>
                  <a:pt x="66000" y="18000"/>
                </a:lnTo>
                <a:lnTo>
                  <a:pt x="66000" y="38000"/>
                </a:lnTo>
                <a:close/>
                <a:moveTo>
                  <a:pt x="66000" y="78000"/>
                </a:moveTo>
                <a:lnTo>
                  <a:pt x="82000" y="78000"/>
                </a:lnTo>
                <a:lnTo>
                  <a:pt x="82000" y="58000"/>
                </a:lnTo>
                <a:lnTo>
                  <a:pt x="66000" y="58000"/>
                </a:lnTo>
                <a:lnTo>
                  <a:pt x="66000" y="78000"/>
                </a:lnTo>
                <a:close/>
                <a:moveTo>
                  <a:pt x="14000" y="38000"/>
                </a:moveTo>
                <a:lnTo>
                  <a:pt x="30000" y="38000"/>
                </a:lnTo>
                <a:lnTo>
                  <a:pt x="30000" y="18000"/>
                </a:lnTo>
                <a:lnTo>
                  <a:pt x="14000" y="18000"/>
                </a:lnTo>
                <a:lnTo>
                  <a:pt x="14000" y="3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1224592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account tree</a:t>
            </a:r>
          </a:p>
        </p:txBody>
      </p:sp>
      <p:sp>
        <p:nvSpPr>
          <p:cNvPr id="10" name="Icon add_circle"/>
          <p:cNvSpPr/>
          <p:nvPr/>
        </p:nvSpPr>
        <p:spPr>
          <a:xfrm>
            <a:off x="2416829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66000"/>
                </a:moveTo>
                <a:lnTo>
                  <a:pt x="50000" y="66000"/>
                </a:lnTo>
                <a:lnTo>
                  <a:pt x="50000" y="50000"/>
                </a:lnTo>
                <a:lnTo>
                  <a:pt x="66000" y="50000"/>
                </a:lnTo>
                <a:lnTo>
                  <a:pt x="66000" y="46000"/>
                </a:lnTo>
                <a:lnTo>
                  <a:pt x="50000" y="46000"/>
                </a:lnTo>
                <a:lnTo>
                  <a:pt x="50000" y="30000"/>
                </a:lnTo>
                <a:lnTo>
                  <a:pt x="46000" y="30000"/>
                </a:lnTo>
                <a:lnTo>
                  <a:pt x="46000" y="46000"/>
                </a:lnTo>
                <a:lnTo>
                  <a:pt x="30000" y="46000"/>
                </a:lnTo>
                <a:lnTo>
                  <a:pt x="30000" y="50000"/>
                </a:lnTo>
                <a:lnTo>
                  <a:pt x="46000" y="50000"/>
                </a:lnTo>
                <a:lnTo>
                  <a:pt x="46000" y="66000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extBox 10"/>
          <p:cNvSpPr txBox="1"/>
          <p:nvPr/>
        </p:nvSpPr>
        <p:spPr>
          <a:xfrm>
            <a:off x="2110857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add circle</a:t>
            </a:r>
          </a:p>
        </p:txBody>
      </p:sp>
      <p:sp>
        <p:nvSpPr>
          <p:cNvPr id="12" name="Icon air"/>
          <p:cNvSpPr/>
          <p:nvPr/>
        </p:nvSpPr>
        <p:spPr>
          <a:xfrm>
            <a:off x="3303094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77077"/>
                </a:moveTo>
                <a:quadBezTo>
                  <a:pt x="42385" y="77077"/>
                  <a:pt x="39692" y="74769"/>
                </a:quadBezTo>
                <a:quadBezTo>
                  <a:pt x="37000" y="72462"/>
                  <a:pt x="36308" y="69077"/>
                </a:quadBezTo>
                <a:lnTo>
                  <a:pt x="40462" y="69077"/>
                </a:lnTo>
                <a:quadBezTo>
                  <a:pt x="41077" y="70854"/>
                  <a:pt x="42573" y="71965"/>
                </a:quadBezTo>
                <a:quadBezTo>
                  <a:pt x="44069" y="73077"/>
                  <a:pt x="46000" y="73077"/>
                </a:quadBezTo>
                <a:quadBezTo>
                  <a:pt x="48469" y="73077"/>
                  <a:pt x="50235" y="71312"/>
                </a:quadBezTo>
                <a:quadBezTo>
                  <a:pt x="52000" y="69546"/>
                  <a:pt x="52000" y="67077"/>
                </a:quadBezTo>
                <a:quadBezTo>
                  <a:pt x="52000" y="64608"/>
                  <a:pt x="50235" y="62842"/>
                </a:quadBezTo>
                <a:quadBezTo>
                  <a:pt x="48469" y="61077"/>
                  <a:pt x="46000" y="61077"/>
                </a:quadBezTo>
                <a:lnTo>
                  <a:pt x="10000" y="61077"/>
                </a:lnTo>
                <a:lnTo>
                  <a:pt x="10000" y="57077"/>
                </a:lnTo>
                <a:lnTo>
                  <a:pt x="46000" y="57077"/>
                </a:lnTo>
                <a:quadBezTo>
                  <a:pt x="50154" y="57077"/>
                  <a:pt x="53077" y="60000"/>
                </a:quadBezTo>
                <a:quadBezTo>
                  <a:pt x="56000" y="62923"/>
                  <a:pt x="56000" y="67077"/>
                </a:quadBezTo>
                <a:quadBezTo>
                  <a:pt x="56000" y="71231"/>
                  <a:pt x="53077" y="74154"/>
                </a:quadBezTo>
                <a:quadBezTo>
                  <a:pt x="50154" y="77077"/>
                  <a:pt x="46000" y="77077"/>
                </a:quadBezTo>
                <a:close/>
                <a:moveTo>
                  <a:pt x="10000" y="38923"/>
                </a:moveTo>
                <a:lnTo>
                  <a:pt x="10000" y="34923"/>
                </a:lnTo>
                <a:lnTo>
                  <a:pt x="62000" y="34923"/>
                </a:lnTo>
                <a:quadBezTo>
                  <a:pt x="65369" y="34923"/>
                  <a:pt x="67685" y="32608"/>
                </a:quadBezTo>
                <a:quadBezTo>
                  <a:pt x="70000" y="30292"/>
                  <a:pt x="70000" y="26923"/>
                </a:quadBezTo>
                <a:quadBezTo>
                  <a:pt x="70000" y="23554"/>
                  <a:pt x="67685" y="21238"/>
                </a:quadBezTo>
                <a:quadBezTo>
                  <a:pt x="65369" y="18923"/>
                  <a:pt x="62000" y="18923"/>
                </a:quadBezTo>
                <a:quadBezTo>
                  <a:pt x="59092" y="18923"/>
                  <a:pt x="57008" y="20623"/>
                </a:quadBezTo>
                <a:quadBezTo>
                  <a:pt x="54923" y="22323"/>
                  <a:pt x="54308" y="24923"/>
                </a:quadBezTo>
                <a:lnTo>
                  <a:pt x="50154" y="24923"/>
                </a:lnTo>
                <a:quadBezTo>
                  <a:pt x="50846" y="20562"/>
                  <a:pt x="54165" y="17742"/>
                </a:quadBezTo>
                <a:quadBezTo>
                  <a:pt x="57485" y="14923"/>
                  <a:pt x="62000" y="14923"/>
                </a:quadBezTo>
                <a:quadBezTo>
                  <a:pt x="67054" y="14923"/>
                  <a:pt x="70527" y="18396"/>
                </a:quadBezTo>
                <a:quadBezTo>
                  <a:pt x="74000" y="21869"/>
                  <a:pt x="74000" y="26923"/>
                </a:quadBezTo>
                <a:quadBezTo>
                  <a:pt x="74000" y="31977"/>
                  <a:pt x="70527" y="35450"/>
                </a:quadBezTo>
                <a:quadBezTo>
                  <a:pt x="67054" y="38923"/>
                  <a:pt x="62000" y="38923"/>
                </a:quadBezTo>
                <a:lnTo>
                  <a:pt x="10000" y="38923"/>
                </a:lnTo>
                <a:close/>
                <a:moveTo>
                  <a:pt x="76000" y="69846"/>
                </a:moveTo>
                <a:lnTo>
                  <a:pt x="76000" y="65692"/>
                </a:lnTo>
                <a:quadBezTo>
                  <a:pt x="78600" y="65077"/>
                  <a:pt x="80300" y="62992"/>
                </a:quadBezTo>
                <a:quadBezTo>
                  <a:pt x="82000" y="60908"/>
                  <a:pt x="82000" y="58000"/>
                </a:quadBezTo>
                <a:quadBezTo>
                  <a:pt x="82000" y="54631"/>
                  <a:pt x="79685" y="52315"/>
                </a:quadBezTo>
                <a:quadBezTo>
                  <a:pt x="77369" y="50000"/>
                  <a:pt x="74000" y="50000"/>
                </a:quadBezTo>
                <a:lnTo>
                  <a:pt x="10000" y="50000"/>
                </a:lnTo>
                <a:lnTo>
                  <a:pt x="10000" y="46000"/>
                </a:lnTo>
                <a:lnTo>
                  <a:pt x="74000" y="46000"/>
                </a:lnTo>
                <a:quadBezTo>
                  <a:pt x="79054" y="46000"/>
                  <a:pt x="82527" y="49473"/>
                </a:quadBezTo>
                <a:quadBezTo>
                  <a:pt x="86000" y="52946"/>
                  <a:pt x="86000" y="58000"/>
                </a:quadBezTo>
                <a:quadBezTo>
                  <a:pt x="86000" y="62515"/>
                  <a:pt x="83181" y="65835"/>
                </a:quadBezTo>
                <a:quadBezTo>
                  <a:pt x="80362" y="69154"/>
                  <a:pt x="76000" y="69846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2997121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air</a:t>
            </a:r>
          </a:p>
        </p:txBody>
      </p:sp>
      <p:sp>
        <p:nvSpPr>
          <p:cNvPr id="14" name="Icon analytics"/>
          <p:cNvSpPr/>
          <p:nvPr/>
        </p:nvSpPr>
        <p:spPr>
          <a:xfrm>
            <a:off x="4189358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923" y="66000"/>
                </a:moveTo>
                <a:lnTo>
                  <a:pt x="34923" y="66000"/>
                </a:lnTo>
                <a:lnTo>
                  <a:pt x="34923" y="48000"/>
                </a:lnTo>
                <a:lnTo>
                  <a:pt x="30923" y="48000"/>
                </a:lnTo>
                <a:lnTo>
                  <a:pt x="30923" y="66000"/>
                </a:lnTo>
                <a:close/>
                <a:moveTo>
                  <a:pt x="61077" y="66000"/>
                </a:moveTo>
                <a:lnTo>
                  <a:pt x="65077" y="66000"/>
                </a:lnTo>
                <a:lnTo>
                  <a:pt x="65077" y="28000"/>
                </a:lnTo>
                <a:lnTo>
                  <a:pt x="61077" y="28000"/>
                </a:lnTo>
                <a:lnTo>
                  <a:pt x="61077" y="66000"/>
                </a:lnTo>
                <a:close/>
                <a:moveTo>
                  <a:pt x="46000" y="66000"/>
                </a:moveTo>
                <a:lnTo>
                  <a:pt x="50000" y="66000"/>
                </a:lnTo>
                <a:lnTo>
                  <a:pt x="50000" y="56000"/>
                </a:lnTo>
                <a:lnTo>
                  <a:pt x="46000" y="56000"/>
                </a:lnTo>
                <a:lnTo>
                  <a:pt x="46000" y="66000"/>
                </a:lnTo>
                <a:close/>
                <a:moveTo>
                  <a:pt x="46000" y="48000"/>
                </a:moveTo>
                <a:lnTo>
                  <a:pt x="50000" y="48000"/>
                </a:lnTo>
                <a:lnTo>
                  <a:pt x="50000" y="40000"/>
                </a:lnTo>
                <a:lnTo>
                  <a:pt x="46000" y="40000"/>
                </a:lnTo>
                <a:lnTo>
                  <a:pt x="46000" y="48000"/>
                </a:lnTo>
                <a:close/>
                <a:moveTo>
                  <a:pt x="22462" y="80000"/>
                </a:moveTo>
                <a:quadBezTo>
                  <a:pt x="19700" y="80000"/>
                  <a:pt x="17850" y="78150"/>
                </a:quadBezTo>
                <a:quadBezTo>
                  <a:pt x="16000" y="76300"/>
                  <a:pt x="16000" y="73538"/>
                </a:quadBezTo>
                <a:lnTo>
                  <a:pt x="16000" y="22462"/>
                </a:lnTo>
                <a:quadBezTo>
                  <a:pt x="16000" y="19700"/>
                  <a:pt x="17850" y="17850"/>
                </a:quadBezTo>
                <a:quadBezTo>
                  <a:pt x="19700" y="16000"/>
                  <a:pt x="22462" y="16000"/>
                </a:quadBezTo>
                <a:lnTo>
                  <a:pt x="73538" y="16000"/>
                </a:lnTo>
                <a:quadBezTo>
                  <a:pt x="76300" y="16000"/>
                  <a:pt x="78150" y="17850"/>
                </a:quadBezTo>
                <a:quadBezTo>
                  <a:pt x="80000" y="19700"/>
                  <a:pt x="80000" y="22462"/>
                </a:quadBezTo>
                <a:lnTo>
                  <a:pt x="80000" y="73538"/>
                </a:lnTo>
                <a:quadBezTo>
                  <a:pt x="80000" y="76300"/>
                  <a:pt x="78150" y="78150"/>
                </a:quadBezTo>
                <a:quadBezTo>
                  <a:pt x="76300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20000" y="20000"/>
                </a:moveTo>
                <a:lnTo>
                  <a:pt x="20000" y="76000"/>
                </a:lnTo>
                <a:lnTo>
                  <a:pt x="20000" y="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3883386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analytics</a:t>
            </a:r>
          </a:p>
        </p:txBody>
      </p:sp>
      <p:sp>
        <p:nvSpPr>
          <p:cNvPr id="16" name="Icon arrow_forward"/>
          <p:cNvSpPr/>
          <p:nvPr/>
        </p:nvSpPr>
        <p:spPr>
          <a:xfrm>
            <a:off x="5075623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8315" y="50000"/>
                </a:moveTo>
                <a:lnTo>
                  <a:pt x="20000" y="50000"/>
                </a:lnTo>
                <a:lnTo>
                  <a:pt x="20000" y="46000"/>
                </a:lnTo>
                <a:lnTo>
                  <a:pt x="68315" y="46000"/>
                </a:lnTo>
                <a:lnTo>
                  <a:pt x="45146" y="22831"/>
                </a:lnTo>
                <a:lnTo>
                  <a:pt x="48000" y="20000"/>
                </a:lnTo>
                <a:lnTo>
                  <a:pt x="76000" y="48000"/>
                </a:lnTo>
                <a:lnTo>
                  <a:pt x="48000" y="76000"/>
                </a:lnTo>
                <a:lnTo>
                  <a:pt x="45146" y="73169"/>
                </a:lnTo>
                <a:lnTo>
                  <a:pt x="68315" y="5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4769651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arrow forward</a:t>
            </a:r>
          </a:p>
        </p:txBody>
      </p:sp>
      <p:sp>
        <p:nvSpPr>
          <p:cNvPr id="18" name="Icon assignment"/>
          <p:cNvSpPr/>
          <p:nvPr/>
        </p:nvSpPr>
        <p:spPr>
          <a:xfrm>
            <a:off x="5961888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0000"/>
                </a:moveTo>
                <a:quadBezTo>
                  <a:pt x="19777" y="80000"/>
                  <a:pt x="17888" y="78112"/>
                </a:quadBezTo>
                <a:quadBezTo>
                  <a:pt x="16000" y="76223"/>
                  <a:pt x="16000" y="73538"/>
                </a:quadBezTo>
                <a:lnTo>
                  <a:pt x="16000" y="22462"/>
                </a:lnTo>
                <a:quadBezTo>
                  <a:pt x="16000" y="19777"/>
                  <a:pt x="17888" y="17888"/>
                </a:quadBezTo>
                <a:quadBezTo>
                  <a:pt x="19777" y="16000"/>
                  <a:pt x="22462" y="16000"/>
                </a:quadBezTo>
                <a:lnTo>
                  <a:pt x="41262" y="16000"/>
                </a:lnTo>
                <a:quadBezTo>
                  <a:pt x="40715" y="12938"/>
                  <a:pt x="42727" y="10469"/>
                </a:quadBezTo>
                <a:quadBezTo>
                  <a:pt x="44738" y="8000"/>
                  <a:pt x="48000" y="8000"/>
                </a:quadBezTo>
                <a:quadBezTo>
                  <a:pt x="51338" y="8000"/>
                  <a:pt x="53350" y="10469"/>
                </a:quadBezTo>
                <a:quadBezTo>
                  <a:pt x="55362" y="12938"/>
                  <a:pt x="54738" y="16000"/>
                </a:quadBezTo>
                <a:lnTo>
                  <a:pt x="73538" y="16000"/>
                </a:lnTo>
                <a:quadBezTo>
                  <a:pt x="76223" y="16000"/>
                  <a:pt x="78112" y="17888"/>
                </a:quadBezTo>
                <a:quadBezTo>
                  <a:pt x="80000" y="19777"/>
                  <a:pt x="80000" y="22462"/>
                </a:quadBezTo>
                <a:lnTo>
                  <a:pt x="80000" y="73538"/>
                </a:lnTo>
                <a:quadBezTo>
                  <a:pt x="80000" y="76223"/>
                  <a:pt x="78112" y="78112"/>
                </a:quadBezTo>
                <a:quadBezTo>
                  <a:pt x="76223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30000" y="65077"/>
                </a:moveTo>
                <a:lnTo>
                  <a:pt x="54000" y="65077"/>
                </a:lnTo>
                <a:lnTo>
                  <a:pt x="54000" y="61077"/>
                </a:lnTo>
                <a:lnTo>
                  <a:pt x="30000" y="61077"/>
                </a:lnTo>
                <a:lnTo>
                  <a:pt x="30000" y="65077"/>
                </a:lnTo>
                <a:close/>
                <a:moveTo>
                  <a:pt x="30000" y="50000"/>
                </a:moveTo>
                <a:lnTo>
                  <a:pt x="66000" y="50000"/>
                </a:lnTo>
                <a:lnTo>
                  <a:pt x="66000" y="46000"/>
                </a:lnTo>
                <a:lnTo>
                  <a:pt x="30000" y="46000"/>
                </a:lnTo>
                <a:lnTo>
                  <a:pt x="30000" y="50000"/>
                </a:lnTo>
                <a:close/>
                <a:moveTo>
                  <a:pt x="30000" y="34923"/>
                </a:moveTo>
                <a:lnTo>
                  <a:pt x="66000" y="34923"/>
                </a:lnTo>
                <a:lnTo>
                  <a:pt x="66000" y="30923"/>
                </a:lnTo>
                <a:lnTo>
                  <a:pt x="30000" y="30923"/>
                </a:lnTo>
                <a:lnTo>
                  <a:pt x="30000" y="34923"/>
                </a:lnTo>
                <a:close/>
                <a:moveTo>
                  <a:pt x="48000" y="17769"/>
                </a:moveTo>
                <a:quadBezTo>
                  <a:pt x="49300" y="17769"/>
                  <a:pt x="50150" y="16919"/>
                </a:quadBezTo>
                <a:quadBezTo>
                  <a:pt x="51000" y="16069"/>
                  <a:pt x="51000" y="14769"/>
                </a:quadBezTo>
                <a:quadBezTo>
                  <a:pt x="51000" y="13469"/>
                  <a:pt x="50150" y="12619"/>
                </a:quadBezTo>
                <a:quadBezTo>
                  <a:pt x="49300" y="11769"/>
                  <a:pt x="48000" y="11769"/>
                </a:quadBezTo>
                <a:quadBezTo>
                  <a:pt x="46700" y="11769"/>
                  <a:pt x="45850" y="12619"/>
                </a:quadBezTo>
                <a:quadBezTo>
                  <a:pt x="45000" y="13469"/>
                  <a:pt x="45000" y="14769"/>
                </a:quadBezTo>
                <a:quadBezTo>
                  <a:pt x="45000" y="16069"/>
                  <a:pt x="45850" y="16919"/>
                </a:quadBezTo>
                <a:quadBezTo>
                  <a:pt x="46700" y="17769"/>
                  <a:pt x="48000" y="17769"/>
                </a:quadBezTo>
                <a:close/>
                <a:moveTo>
                  <a:pt x="20000" y="76000"/>
                </a:moveTo>
                <a:lnTo>
                  <a:pt x="20000" y="20000"/>
                </a:lnTo>
                <a:lnTo>
                  <a:pt x="20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55915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assignment</a:t>
            </a:r>
          </a:p>
        </p:txBody>
      </p:sp>
      <p:sp>
        <p:nvSpPr>
          <p:cNvPr id="20" name="Icon bar_chart"/>
          <p:cNvSpPr/>
          <p:nvPr/>
        </p:nvSpPr>
        <p:spPr>
          <a:xfrm>
            <a:off x="6848152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76000"/>
                </a:moveTo>
                <a:lnTo>
                  <a:pt x="64000" y="56769"/>
                </a:lnTo>
                <a:lnTo>
                  <a:pt x="76000" y="56769"/>
                </a:lnTo>
                <a:lnTo>
                  <a:pt x="76000" y="76000"/>
                </a:lnTo>
                <a:lnTo>
                  <a:pt x="64000" y="76000"/>
                </a:lnTo>
                <a:close/>
                <a:moveTo>
                  <a:pt x="42000" y="76000"/>
                </a:moveTo>
                <a:lnTo>
                  <a:pt x="42000" y="20000"/>
                </a:lnTo>
                <a:lnTo>
                  <a:pt x="54000" y="20000"/>
                </a:lnTo>
                <a:lnTo>
                  <a:pt x="54000" y="76000"/>
                </a:lnTo>
                <a:lnTo>
                  <a:pt x="42000" y="76000"/>
                </a:lnTo>
                <a:close/>
                <a:moveTo>
                  <a:pt x="20000" y="76000"/>
                </a:moveTo>
                <a:lnTo>
                  <a:pt x="20000" y="39231"/>
                </a:lnTo>
                <a:lnTo>
                  <a:pt x="32000" y="39231"/>
                </a:lnTo>
                <a:lnTo>
                  <a:pt x="32000" y="76000"/>
                </a:lnTo>
                <a:lnTo>
                  <a:pt x="20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6542180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bar chart</a:t>
            </a:r>
          </a:p>
        </p:txBody>
      </p:sp>
      <p:sp>
        <p:nvSpPr>
          <p:cNvPr id="22" name="Icon biotech"/>
          <p:cNvSpPr/>
          <p:nvPr/>
        </p:nvSpPr>
        <p:spPr>
          <a:xfrm>
            <a:off x="7734417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538" y="82000"/>
                </a:moveTo>
                <a:lnTo>
                  <a:pt x="23538" y="78000"/>
                </a:lnTo>
                <a:lnTo>
                  <a:pt x="43538" y="78000"/>
                </a:lnTo>
                <a:lnTo>
                  <a:pt x="43538" y="66000"/>
                </a:lnTo>
                <a:lnTo>
                  <a:pt x="41538" y="66000"/>
                </a:lnTo>
                <a:quadBezTo>
                  <a:pt x="34068" y="66000"/>
                  <a:pt x="28803" y="60735"/>
                </a:quadBezTo>
                <a:quadBezTo>
                  <a:pt x="23538" y="55470"/>
                  <a:pt x="23538" y="48000"/>
                </a:quadBezTo>
                <a:quadBezTo>
                  <a:pt x="23538" y="42454"/>
                  <a:pt x="26735" y="37908"/>
                </a:quadBezTo>
                <a:quadBezTo>
                  <a:pt x="29931" y="33362"/>
                  <a:pt x="35169" y="31292"/>
                </a:quadBezTo>
                <a:quadBezTo>
                  <a:pt x="35354" y="27200"/>
                  <a:pt x="38681" y="24946"/>
                </a:quadBezTo>
                <a:quadBezTo>
                  <a:pt x="42008" y="22692"/>
                  <a:pt x="45738" y="24000"/>
                </a:quadBezTo>
                <a:lnTo>
                  <a:pt x="43077" y="16723"/>
                </a:lnTo>
                <a:lnTo>
                  <a:pt x="46877" y="15323"/>
                </a:lnTo>
                <a:lnTo>
                  <a:pt x="45477" y="11569"/>
                </a:lnTo>
                <a:lnTo>
                  <a:pt x="50154" y="9846"/>
                </a:lnTo>
                <a:lnTo>
                  <a:pt x="51508" y="13646"/>
                </a:lnTo>
                <a:lnTo>
                  <a:pt x="55000" y="12400"/>
                </a:lnTo>
                <a:lnTo>
                  <a:pt x="64923" y="39477"/>
                </a:lnTo>
                <a:lnTo>
                  <a:pt x="61431" y="40877"/>
                </a:lnTo>
                <a:lnTo>
                  <a:pt x="62831" y="44677"/>
                </a:lnTo>
                <a:lnTo>
                  <a:pt x="58154" y="46400"/>
                </a:lnTo>
                <a:lnTo>
                  <a:pt x="56800" y="42600"/>
                </a:lnTo>
                <a:lnTo>
                  <a:pt x="53000" y="44154"/>
                </a:lnTo>
                <a:lnTo>
                  <a:pt x="50446" y="36785"/>
                </a:lnTo>
                <a:quadBezTo>
                  <a:pt x="49254" y="38492"/>
                  <a:pt x="47381" y="39500"/>
                </a:quadBezTo>
                <a:quadBezTo>
                  <a:pt x="45508" y="40508"/>
                  <a:pt x="43354" y="40462"/>
                </a:quadBezTo>
                <a:quadBezTo>
                  <a:pt x="40846" y="40415"/>
                  <a:pt x="38831" y="38996"/>
                </a:quadBezTo>
                <a:quadBezTo>
                  <a:pt x="36815" y="37577"/>
                  <a:pt x="35800" y="35338"/>
                </a:quadBezTo>
                <a:quadBezTo>
                  <a:pt x="32023" y="37015"/>
                  <a:pt x="29781" y="40408"/>
                </a:quadBezTo>
                <a:quadBezTo>
                  <a:pt x="27538" y="43800"/>
                  <a:pt x="27538" y="48000"/>
                </a:quadBezTo>
                <a:quadBezTo>
                  <a:pt x="27538" y="53833"/>
                  <a:pt x="31622" y="57917"/>
                </a:quadBezTo>
                <a:quadBezTo>
                  <a:pt x="35705" y="62000"/>
                  <a:pt x="41538" y="62000"/>
                </a:quadBezTo>
                <a:lnTo>
                  <a:pt x="71538" y="62000"/>
                </a:lnTo>
                <a:lnTo>
                  <a:pt x="71538" y="66000"/>
                </a:lnTo>
                <a:lnTo>
                  <a:pt x="48462" y="66000"/>
                </a:lnTo>
                <a:lnTo>
                  <a:pt x="48462" y="78000"/>
                </a:lnTo>
                <a:lnTo>
                  <a:pt x="72462" y="78000"/>
                </a:lnTo>
                <a:lnTo>
                  <a:pt x="72462" y="82000"/>
                </a:lnTo>
                <a:lnTo>
                  <a:pt x="23538" y="82000"/>
                </a:lnTo>
                <a:close/>
                <a:moveTo>
                  <a:pt x="55215" y="39431"/>
                </a:moveTo>
                <a:lnTo>
                  <a:pt x="60354" y="37415"/>
                </a:lnTo>
                <a:lnTo>
                  <a:pt x="52938" y="16923"/>
                </a:lnTo>
                <a:lnTo>
                  <a:pt x="47600" y="18785"/>
                </a:lnTo>
                <a:lnTo>
                  <a:pt x="55215" y="39431"/>
                </a:lnTo>
                <a:close/>
                <a:moveTo>
                  <a:pt x="43533" y="36923"/>
                </a:moveTo>
                <a:quadBezTo>
                  <a:pt x="45623" y="36923"/>
                  <a:pt x="47042" y="35509"/>
                </a:quadBezTo>
                <a:quadBezTo>
                  <a:pt x="48462" y="34095"/>
                  <a:pt x="48462" y="32005"/>
                </a:quadBezTo>
                <a:quadBezTo>
                  <a:pt x="48462" y="29915"/>
                  <a:pt x="47048" y="28496"/>
                </a:quadBezTo>
                <a:quadBezTo>
                  <a:pt x="45634" y="27077"/>
                  <a:pt x="43544" y="27077"/>
                </a:quadBezTo>
                <a:quadBezTo>
                  <a:pt x="41454" y="27077"/>
                  <a:pt x="40035" y="28491"/>
                </a:quadBezTo>
                <a:quadBezTo>
                  <a:pt x="38615" y="29905"/>
                  <a:pt x="38615" y="31995"/>
                </a:quadBezTo>
                <a:quadBezTo>
                  <a:pt x="38615" y="34085"/>
                  <a:pt x="40029" y="35504"/>
                </a:quadBezTo>
                <a:quadBezTo>
                  <a:pt x="41443" y="36923"/>
                  <a:pt x="43533" y="36923"/>
                </a:quadBezTo>
                <a:close/>
                <a:moveTo>
                  <a:pt x="55215" y="39431"/>
                </a:moveTo>
                <a:close/>
                <a:moveTo>
                  <a:pt x="43538" y="32000"/>
                </a:moveTo>
                <a:close/>
                <a:moveTo>
                  <a:pt x="43538" y="32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" name="TextBox 22"/>
          <p:cNvSpPr txBox="1"/>
          <p:nvPr/>
        </p:nvSpPr>
        <p:spPr>
          <a:xfrm>
            <a:off x="7428444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biotech</a:t>
            </a:r>
          </a:p>
        </p:txBody>
      </p:sp>
      <p:sp>
        <p:nvSpPr>
          <p:cNvPr id="24" name="Icon bolt"/>
          <p:cNvSpPr/>
          <p:nvPr/>
        </p:nvSpPr>
        <p:spPr>
          <a:xfrm>
            <a:off x="8620681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00" y="72800"/>
                </a:moveTo>
                <a:lnTo>
                  <a:pt x="62900" y="48000"/>
                </a:lnTo>
                <a:lnTo>
                  <a:pt x="46900" y="48000"/>
                </a:lnTo>
                <a:lnTo>
                  <a:pt x="49800" y="25300"/>
                </a:lnTo>
                <a:lnTo>
                  <a:pt x="31300" y="52000"/>
                </a:lnTo>
                <a:lnTo>
                  <a:pt x="45200" y="52000"/>
                </a:lnTo>
                <a:lnTo>
                  <a:pt x="42200" y="72800"/>
                </a:lnTo>
                <a:close/>
                <a:moveTo>
                  <a:pt x="36615" y="83538"/>
                </a:moveTo>
                <a:lnTo>
                  <a:pt x="40615" y="56000"/>
                </a:lnTo>
                <a:lnTo>
                  <a:pt x="23615" y="56000"/>
                </a:lnTo>
                <a:lnTo>
                  <a:pt x="53538" y="12846"/>
                </a:lnTo>
                <a:lnTo>
                  <a:pt x="55385" y="12846"/>
                </a:lnTo>
                <a:lnTo>
                  <a:pt x="51462" y="44000"/>
                </a:lnTo>
                <a:lnTo>
                  <a:pt x="71462" y="44000"/>
                </a:lnTo>
                <a:lnTo>
                  <a:pt x="38462" y="83538"/>
                </a:lnTo>
                <a:lnTo>
                  <a:pt x="36615" y="83538"/>
                </a:lnTo>
                <a:close/>
                <a:moveTo>
                  <a:pt x="471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TextBox 24"/>
          <p:cNvSpPr txBox="1"/>
          <p:nvPr/>
        </p:nvSpPr>
        <p:spPr>
          <a:xfrm>
            <a:off x="8314709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bolt</a:t>
            </a:r>
          </a:p>
        </p:txBody>
      </p:sp>
      <p:sp>
        <p:nvSpPr>
          <p:cNvPr id="26" name="Icon build"/>
          <p:cNvSpPr/>
          <p:nvPr/>
        </p:nvSpPr>
        <p:spPr>
          <a:xfrm>
            <a:off x="9506946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1215" y="82031"/>
                </a:moveTo>
                <a:lnTo>
                  <a:pt x="45015" y="55785"/>
                </a:lnTo>
                <a:quadBezTo>
                  <a:pt x="42785" y="56815"/>
                  <a:pt x="40464" y="57408"/>
                </a:quadBezTo>
                <a:quadBezTo>
                  <a:pt x="38143" y="58000"/>
                  <a:pt x="35538" y="58000"/>
                </a:quadBezTo>
                <a:quadBezTo>
                  <a:pt x="26372" y="58000"/>
                  <a:pt x="19955" y="51583"/>
                </a:quadBezTo>
                <a:quadBezTo>
                  <a:pt x="13538" y="45167"/>
                  <a:pt x="13538" y="36000"/>
                </a:quadBezTo>
                <a:quadBezTo>
                  <a:pt x="13538" y="33400"/>
                  <a:pt x="14115" y="30996"/>
                </a:quadBezTo>
                <a:quadBezTo>
                  <a:pt x="14692" y="28592"/>
                  <a:pt x="15800" y="26385"/>
                </a:quadBezTo>
                <a:lnTo>
                  <a:pt x="29938" y="40369"/>
                </a:lnTo>
                <a:lnTo>
                  <a:pt x="39908" y="30400"/>
                </a:lnTo>
                <a:lnTo>
                  <a:pt x="26077" y="16415"/>
                </a:lnTo>
                <a:quadBezTo>
                  <a:pt x="28285" y="15308"/>
                  <a:pt x="30619" y="14654"/>
                </a:quadBezTo>
                <a:quadBezTo>
                  <a:pt x="32953" y="14000"/>
                  <a:pt x="35538" y="14000"/>
                </a:quadBezTo>
                <a:quadBezTo>
                  <a:pt x="44705" y="14000"/>
                  <a:pt x="51122" y="20417"/>
                </a:quadBezTo>
                <a:quadBezTo>
                  <a:pt x="57538" y="26833"/>
                  <a:pt x="57538" y="36000"/>
                </a:quadBezTo>
                <a:quadBezTo>
                  <a:pt x="57538" y="38762"/>
                  <a:pt x="56985" y="41081"/>
                </a:quadBezTo>
                <a:quadBezTo>
                  <a:pt x="56431" y="43400"/>
                  <a:pt x="55323" y="45477"/>
                </a:quadBezTo>
                <a:lnTo>
                  <a:pt x="81569" y="71677"/>
                </a:lnTo>
                <a:quadBezTo>
                  <a:pt x="82462" y="72596"/>
                  <a:pt x="82462" y="73898"/>
                </a:quadBezTo>
                <a:quadBezTo>
                  <a:pt x="82462" y="75200"/>
                  <a:pt x="81586" y="76075"/>
                </a:quadBezTo>
                <a:lnTo>
                  <a:pt x="75460" y="82202"/>
                </a:lnTo>
                <a:quadBezTo>
                  <a:pt x="74585" y="83077"/>
                  <a:pt x="73346" y="83000"/>
                </a:quadBezTo>
                <a:quadBezTo>
                  <a:pt x="72108" y="82923"/>
                  <a:pt x="71215" y="82031"/>
                </a:quadBezTo>
                <a:close/>
                <a:moveTo>
                  <a:pt x="73423" y="78531"/>
                </a:moveTo>
                <a:lnTo>
                  <a:pt x="78046" y="73908"/>
                </a:lnTo>
                <a:lnTo>
                  <a:pt x="50369" y="46231"/>
                </a:lnTo>
                <a:quadBezTo>
                  <a:pt x="51938" y="44077"/>
                  <a:pt x="52738" y="41427"/>
                </a:quadBezTo>
                <a:quadBezTo>
                  <a:pt x="53538" y="38777"/>
                  <a:pt x="53538" y="36000"/>
                </a:quadBezTo>
                <a:quadBezTo>
                  <a:pt x="53538" y="28692"/>
                  <a:pt x="47881" y="22896"/>
                </a:quadBezTo>
                <a:quadBezTo>
                  <a:pt x="42223" y="17100"/>
                  <a:pt x="33369" y="18200"/>
                </a:quadBezTo>
                <a:lnTo>
                  <a:pt x="43308" y="28138"/>
                </a:lnTo>
                <a:quadBezTo>
                  <a:pt x="44277" y="29108"/>
                  <a:pt x="44277" y="30400"/>
                </a:quadBezTo>
                <a:quadBezTo>
                  <a:pt x="44277" y="31692"/>
                  <a:pt x="43308" y="32662"/>
                </a:quadBezTo>
                <a:lnTo>
                  <a:pt x="32200" y="43769"/>
                </a:lnTo>
                <a:quadBezTo>
                  <a:pt x="31231" y="44738"/>
                  <a:pt x="29938" y="44738"/>
                </a:quadBezTo>
                <a:quadBezTo>
                  <a:pt x="28646" y="44738"/>
                  <a:pt x="27677" y="43769"/>
                </a:quadBezTo>
                <a:lnTo>
                  <a:pt x="17738" y="33831"/>
                </a:lnTo>
                <a:quadBezTo>
                  <a:pt x="16869" y="43531"/>
                  <a:pt x="22742" y="48765"/>
                </a:quadBezTo>
                <a:quadBezTo>
                  <a:pt x="28615" y="54000"/>
                  <a:pt x="35538" y="54000"/>
                </a:quadBezTo>
                <a:quadBezTo>
                  <a:pt x="38190" y="54000"/>
                  <a:pt x="40841" y="53238"/>
                </a:quadBezTo>
                <a:quadBezTo>
                  <a:pt x="43492" y="52477"/>
                  <a:pt x="45746" y="50854"/>
                </a:quadBezTo>
                <a:lnTo>
                  <a:pt x="73423" y="78531"/>
                </a:lnTo>
                <a:close/>
                <a:moveTo>
                  <a:pt x="47200" y="4750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9200974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build</a:t>
            </a:r>
          </a:p>
        </p:txBody>
      </p:sp>
      <p:sp>
        <p:nvSpPr>
          <p:cNvPr id="28" name="Icon calendar_month"/>
          <p:cNvSpPr/>
          <p:nvPr/>
        </p:nvSpPr>
        <p:spPr>
          <a:xfrm>
            <a:off x="10393211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4000"/>
                </a:moveTo>
                <a:quadBezTo>
                  <a:pt x="19700" y="84000"/>
                  <a:pt x="17850" y="82150"/>
                </a:quadBezTo>
                <a:quadBezTo>
                  <a:pt x="16000" y="80300"/>
                  <a:pt x="16000" y="77538"/>
                </a:quadBezTo>
                <a:lnTo>
                  <a:pt x="16000" y="26462"/>
                </a:lnTo>
                <a:quadBezTo>
                  <a:pt x="16000" y="23700"/>
                  <a:pt x="17850" y="21850"/>
                </a:quadBezTo>
                <a:quadBezTo>
                  <a:pt x="19700" y="20000"/>
                  <a:pt x="22462" y="20000"/>
                </a:quadBezTo>
                <a:lnTo>
                  <a:pt x="29538" y="20000"/>
                </a:lnTo>
                <a:lnTo>
                  <a:pt x="29538" y="11077"/>
                </a:lnTo>
                <a:lnTo>
                  <a:pt x="33846" y="11077"/>
                </a:lnTo>
                <a:lnTo>
                  <a:pt x="33846" y="20000"/>
                </a:lnTo>
                <a:lnTo>
                  <a:pt x="62462" y="20000"/>
                </a:lnTo>
                <a:lnTo>
                  <a:pt x="62462" y="11077"/>
                </a:lnTo>
                <a:lnTo>
                  <a:pt x="66462" y="11077"/>
                </a:lnTo>
                <a:lnTo>
                  <a:pt x="66462" y="20000"/>
                </a:lnTo>
                <a:lnTo>
                  <a:pt x="73538" y="20000"/>
                </a:lnTo>
                <a:quadBezTo>
                  <a:pt x="76300" y="20000"/>
                  <a:pt x="78150" y="21850"/>
                </a:quadBezTo>
                <a:quadBezTo>
                  <a:pt x="80000" y="23700"/>
                  <a:pt x="80000" y="26462"/>
                </a:quadBezTo>
                <a:lnTo>
                  <a:pt x="80000" y="77538"/>
                </a:lnTo>
                <a:quadBezTo>
                  <a:pt x="80000" y="80300"/>
                  <a:pt x="78150" y="82150"/>
                </a:quadBezTo>
                <a:quadBezTo>
                  <a:pt x="76300" y="84000"/>
                  <a:pt x="73538" y="84000"/>
                </a:quadBezTo>
                <a:lnTo>
                  <a:pt x="22462" y="84000"/>
                </a:lnTo>
                <a:close/>
                <a:moveTo>
                  <a:pt x="22462" y="80000"/>
                </a:moveTo>
                <a:lnTo>
                  <a:pt x="73538" y="80000"/>
                </a:lnTo>
                <a:quadBezTo>
                  <a:pt x="74462" y="80000"/>
                  <a:pt x="75231" y="79231"/>
                </a:quadBezTo>
                <a:quadBezTo>
                  <a:pt x="76000" y="78462"/>
                  <a:pt x="76000" y="77538"/>
                </a:quadBezTo>
                <a:lnTo>
                  <a:pt x="76000" y="42462"/>
                </a:lnTo>
                <a:lnTo>
                  <a:pt x="20000" y="42462"/>
                </a:lnTo>
                <a:lnTo>
                  <a:pt x="20000" y="77538"/>
                </a:lnTo>
                <a:quadBezTo>
                  <a:pt x="20000" y="78462"/>
                  <a:pt x="20769" y="79231"/>
                </a:quadBezTo>
                <a:quadBezTo>
                  <a:pt x="21538" y="80000"/>
                  <a:pt x="22462" y="80000"/>
                </a:quadBezTo>
                <a:close/>
                <a:moveTo>
                  <a:pt x="20000" y="38461"/>
                </a:moveTo>
                <a:lnTo>
                  <a:pt x="76000" y="38461"/>
                </a:lnTo>
                <a:lnTo>
                  <a:pt x="76000" y="26462"/>
                </a:lnTo>
                <a:quadBezTo>
                  <a:pt x="76000" y="25538"/>
                  <a:pt x="75231" y="24769"/>
                </a:quadBezTo>
                <a:quadBezTo>
                  <a:pt x="74462" y="24000"/>
                  <a:pt x="73538" y="24000"/>
                </a:quadBezTo>
                <a:lnTo>
                  <a:pt x="22462" y="24000"/>
                </a:lnTo>
                <a:quadBezTo>
                  <a:pt x="21538" y="24000"/>
                  <a:pt x="20769" y="24769"/>
                </a:quadBezTo>
                <a:quadBezTo>
                  <a:pt x="20000" y="25538"/>
                  <a:pt x="20000" y="26462"/>
                </a:quadBezTo>
                <a:lnTo>
                  <a:pt x="20000" y="38461"/>
                </a:lnTo>
                <a:close/>
                <a:moveTo>
                  <a:pt x="20000" y="38461"/>
                </a:moveTo>
                <a:lnTo>
                  <a:pt x="20000" y="24000"/>
                </a:lnTo>
                <a:lnTo>
                  <a:pt x="20000" y="38461"/>
                </a:lnTo>
                <a:close/>
                <a:moveTo>
                  <a:pt x="48000" y="56615"/>
                </a:moveTo>
                <a:quadBezTo>
                  <a:pt x="46762" y="56615"/>
                  <a:pt x="45842" y="55696"/>
                </a:quadBezTo>
                <a:quadBezTo>
                  <a:pt x="44923" y="54777"/>
                  <a:pt x="44923" y="53538"/>
                </a:quadBezTo>
                <a:quadBezTo>
                  <a:pt x="44923" y="52300"/>
                  <a:pt x="45842" y="51381"/>
                </a:quadBezTo>
                <a:quadBezTo>
                  <a:pt x="46762" y="50462"/>
                  <a:pt x="48000" y="50462"/>
                </a:quadBezTo>
                <a:quadBezTo>
                  <a:pt x="49238" y="50462"/>
                  <a:pt x="50158" y="51381"/>
                </a:quadBezTo>
                <a:quadBezTo>
                  <a:pt x="51077" y="52300"/>
                  <a:pt x="51077" y="53538"/>
                </a:quadBezTo>
                <a:quadBezTo>
                  <a:pt x="51077" y="54777"/>
                  <a:pt x="50158" y="55696"/>
                </a:quadBezTo>
                <a:quadBezTo>
                  <a:pt x="49238" y="56615"/>
                  <a:pt x="48000" y="56615"/>
                </a:quadBezTo>
                <a:close/>
                <a:moveTo>
                  <a:pt x="32000" y="56615"/>
                </a:moveTo>
                <a:quadBezTo>
                  <a:pt x="30762" y="56615"/>
                  <a:pt x="29842" y="55696"/>
                </a:quadBezTo>
                <a:quadBezTo>
                  <a:pt x="28923" y="54777"/>
                  <a:pt x="28923" y="53538"/>
                </a:quadBezTo>
                <a:quadBezTo>
                  <a:pt x="28923" y="52300"/>
                  <a:pt x="29842" y="51381"/>
                </a:quadBezTo>
                <a:quadBezTo>
                  <a:pt x="30762" y="50462"/>
                  <a:pt x="32000" y="50462"/>
                </a:quadBezTo>
                <a:quadBezTo>
                  <a:pt x="33238" y="50462"/>
                  <a:pt x="34158" y="51381"/>
                </a:quadBezTo>
                <a:quadBezTo>
                  <a:pt x="35077" y="52300"/>
                  <a:pt x="35077" y="53538"/>
                </a:quadBezTo>
                <a:quadBezTo>
                  <a:pt x="35077" y="54777"/>
                  <a:pt x="34158" y="55696"/>
                </a:quadBezTo>
                <a:quadBezTo>
                  <a:pt x="33238" y="56615"/>
                  <a:pt x="32000" y="56615"/>
                </a:quadBezTo>
                <a:close/>
                <a:moveTo>
                  <a:pt x="64000" y="56615"/>
                </a:moveTo>
                <a:quadBezTo>
                  <a:pt x="62762" y="56615"/>
                  <a:pt x="61842" y="55696"/>
                </a:quadBezTo>
                <a:quadBezTo>
                  <a:pt x="60923" y="54777"/>
                  <a:pt x="60923" y="53538"/>
                </a:quadBezTo>
                <a:quadBezTo>
                  <a:pt x="60923" y="52300"/>
                  <a:pt x="61842" y="51381"/>
                </a:quadBezTo>
                <a:quadBezTo>
                  <a:pt x="62762" y="50462"/>
                  <a:pt x="64000" y="50462"/>
                </a:quadBezTo>
                <a:quadBezTo>
                  <a:pt x="65238" y="50462"/>
                  <a:pt x="66158" y="51381"/>
                </a:quadBezTo>
                <a:quadBezTo>
                  <a:pt x="67077" y="52300"/>
                  <a:pt x="67077" y="53538"/>
                </a:quadBezTo>
                <a:quadBezTo>
                  <a:pt x="67077" y="54777"/>
                  <a:pt x="66158" y="55696"/>
                </a:quadBezTo>
                <a:quadBezTo>
                  <a:pt x="65238" y="56615"/>
                  <a:pt x="64000" y="56615"/>
                </a:quadBezTo>
                <a:close/>
                <a:moveTo>
                  <a:pt x="48000" y="72000"/>
                </a:moveTo>
                <a:quadBezTo>
                  <a:pt x="46762" y="72000"/>
                  <a:pt x="45842" y="71081"/>
                </a:quadBezTo>
                <a:quadBezTo>
                  <a:pt x="44923" y="70162"/>
                  <a:pt x="44923" y="68923"/>
                </a:quadBezTo>
                <a:quadBezTo>
                  <a:pt x="44923" y="67685"/>
                  <a:pt x="45842" y="66765"/>
                </a:quadBezTo>
                <a:quadBezTo>
                  <a:pt x="46762" y="65846"/>
                  <a:pt x="48000" y="65846"/>
                </a:quadBezTo>
                <a:quadBezTo>
                  <a:pt x="49238" y="65846"/>
                  <a:pt x="50158" y="66765"/>
                </a:quadBezTo>
                <a:quadBezTo>
                  <a:pt x="51077" y="67685"/>
                  <a:pt x="51077" y="68923"/>
                </a:quadBezTo>
                <a:quadBezTo>
                  <a:pt x="51077" y="70162"/>
                  <a:pt x="50158" y="71081"/>
                </a:quadBezTo>
                <a:quadBezTo>
                  <a:pt x="49238" y="72000"/>
                  <a:pt x="48000" y="72000"/>
                </a:quadBezTo>
                <a:close/>
                <a:moveTo>
                  <a:pt x="32000" y="72000"/>
                </a:moveTo>
                <a:quadBezTo>
                  <a:pt x="30762" y="72000"/>
                  <a:pt x="29842" y="71081"/>
                </a:quadBezTo>
                <a:quadBezTo>
                  <a:pt x="28923" y="70162"/>
                  <a:pt x="28923" y="68923"/>
                </a:quadBezTo>
                <a:quadBezTo>
                  <a:pt x="28923" y="67685"/>
                  <a:pt x="29842" y="66765"/>
                </a:quadBezTo>
                <a:quadBezTo>
                  <a:pt x="30762" y="65846"/>
                  <a:pt x="32000" y="65846"/>
                </a:quadBezTo>
                <a:quadBezTo>
                  <a:pt x="33238" y="65846"/>
                  <a:pt x="34158" y="66765"/>
                </a:quadBezTo>
                <a:quadBezTo>
                  <a:pt x="35077" y="67685"/>
                  <a:pt x="35077" y="68923"/>
                </a:quadBezTo>
                <a:quadBezTo>
                  <a:pt x="35077" y="70162"/>
                  <a:pt x="34158" y="71081"/>
                </a:quadBezTo>
                <a:quadBezTo>
                  <a:pt x="33238" y="72000"/>
                  <a:pt x="32000" y="72000"/>
                </a:quadBezTo>
                <a:close/>
                <a:moveTo>
                  <a:pt x="64000" y="72000"/>
                </a:moveTo>
                <a:quadBezTo>
                  <a:pt x="62762" y="72000"/>
                  <a:pt x="61842" y="71081"/>
                </a:quadBezTo>
                <a:quadBezTo>
                  <a:pt x="60923" y="70162"/>
                  <a:pt x="60923" y="68923"/>
                </a:quadBezTo>
                <a:quadBezTo>
                  <a:pt x="60923" y="67685"/>
                  <a:pt x="61842" y="66765"/>
                </a:quadBezTo>
                <a:quadBezTo>
                  <a:pt x="62762" y="65846"/>
                  <a:pt x="64000" y="65846"/>
                </a:quadBezTo>
                <a:quadBezTo>
                  <a:pt x="65238" y="65846"/>
                  <a:pt x="66158" y="66765"/>
                </a:quadBezTo>
                <a:quadBezTo>
                  <a:pt x="67077" y="67685"/>
                  <a:pt x="67077" y="68923"/>
                </a:quadBezTo>
                <a:quadBezTo>
                  <a:pt x="67077" y="70162"/>
                  <a:pt x="66158" y="71081"/>
                </a:quadBezTo>
                <a:quadBezTo>
                  <a:pt x="65238" y="72000"/>
                  <a:pt x="64000" y="7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10087238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calendar month</a:t>
            </a:r>
          </a:p>
        </p:txBody>
      </p:sp>
      <p:sp>
        <p:nvSpPr>
          <p:cNvPr id="30" name="Icon call"/>
          <p:cNvSpPr/>
          <p:nvPr/>
        </p:nvSpPr>
        <p:spPr>
          <a:xfrm>
            <a:off x="11279475" y="128016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5723" y="80000"/>
                </a:moveTo>
                <a:quadBezTo>
                  <a:pt x="65608" y="80000"/>
                  <a:pt x="54985" y="74935"/>
                </a:quadBezTo>
                <a:quadBezTo>
                  <a:pt x="44362" y="69869"/>
                  <a:pt x="35246" y="60715"/>
                </a:quadBezTo>
                <a:quadBezTo>
                  <a:pt x="26131" y="51562"/>
                  <a:pt x="21065" y="40977"/>
                </a:quadBezTo>
                <a:quadBezTo>
                  <a:pt x="16000" y="30392"/>
                  <a:pt x="16000" y="20277"/>
                </a:quadBezTo>
                <a:quadBezTo>
                  <a:pt x="16000" y="18444"/>
                  <a:pt x="17200" y="17222"/>
                </a:quadBezTo>
                <a:quadBezTo>
                  <a:pt x="18400" y="16000"/>
                  <a:pt x="20200" y="16000"/>
                </a:quadBezTo>
                <a:lnTo>
                  <a:pt x="30092" y="16000"/>
                </a:lnTo>
                <a:quadBezTo>
                  <a:pt x="31723" y="16000"/>
                  <a:pt x="32938" y="17027"/>
                </a:quadBezTo>
                <a:quadBezTo>
                  <a:pt x="34154" y="18054"/>
                  <a:pt x="34585" y="19662"/>
                </a:quadBezTo>
                <a:lnTo>
                  <a:pt x="36569" y="29200"/>
                </a:lnTo>
                <a:quadBezTo>
                  <a:pt x="36846" y="30877"/>
                  <a:pt x="36469" y="32131"/>
                </a:quadBezTo>
                <a:quadBezTo>
                  <a:pt x="36092" y="33385"/>
                  <a:pt x="35138" y="34185"/>
                </a:quadBezTo>
                <a:lnTo>
                  <a:pt x="26362" y="42369"/>
                </a:lnTo>
                <a:quadBezTo>
                  <a:pt x="28823" y="46838"/>
                  <a:pt x="31804" y="50673"/>
                </a:quadBezTo>
                <a:quadBezTo>
                  <a:pt x="34785" y="54508"/>
                  <a:pt x="38162" y="57938"/>
                </a:quadBezTo>
                <a:quadBezTo>
                  <a:pt x="41646" y="61423"/>
                  <a:pt x="45662" y="64419"/>
                </a:quadBezTo>
                <a:quadBezTo>
                  <a:pt x="49677" y="67415"/>
                  <a:pt x="54477" y="70077"/>
                </a:quadBezTo>
                <a:lnTo>
                  <a:pt x="63031" y="61369"/>
                </a:lnTo>
                <a:quadBezTo>
                  <a:pt x="64008" y="60315"/>
                  <a:pt x="65227" y="59981"/>
                </a:quadBezTo>
                <a:quadBezTo>
                  <a:pt x="66446" y="59646"/>
                  <a:pt x="67923" y="59846"/>
                </a:quadBezTo>
                <a:lnTo>
                  <a:pt x="76338" y="61569"/>
                </a:lnTo>
                <a:quadBezTo>
                  <a:pt x="77969" y="61969"/>
                  <a:pt x="78985" y="63212"/>
                </a:quadBezTo>
                <a:quadBezTo>
                  <a:pt x="80000" y="64454"/>
                  <a:pt x="80000" y="66062"/>
                </a:quadBezTo>
                <a:lnTo>
                  <a:pt x="80000" y="75800"/>
                </a:lnTo>
                <a:quadBezTo>
                  <a:pt x="80000" y="77600"/>
                  <a:pt x="78778" y="78800"/>
                </a:quadBezTo>
                <a:quadBezTo>
                  <a:pt x="77556" y="80000"/>
                  <a:pt x="75723" y="80000"/>
                </a:quadBezTo>
                <a:close/>
                <a:moveTo>
                  <a:pt x="24485" y="38615"/>
                </a:moveTo>
                <a:lnTo>
                  <a:pt x="32162" y="31554"/>
                </a:lnTo>
                <a:quadBezTo>
                  <a:pt x="32546" y="31246"/>
                  <a:pt x="32662" y="30708"/>
                </a:quadBezTo>
                <a:quadBezTo>
                  <a:pt x="32777" y="30169"/>
                  <a:pt x="32623" y="29708"/>
                </a:quadBezTo>
                <a:lnTo>
                  <a:pt x="30846" y="21231"/>
                </a:lnTo>
                <a:quadBezTo>
                  <a:pt x="30692" y="20615"/>
                  <a:pt x="30308" y="20308"/>
                </a:quadBezTo>
                <a:quadBezTo>
                  <a:pt x="29923" y="20000"/>
                  <a:pt x="29308" y="20000"/>
                </a:quadBezTo>
                <a:lnTo>
                  <a:pt x="21100" y="20000"/>
                </a:lnTo>
                <a:quadBezTo>
                  <a:pt x="20638" y="20000"/>
                  <a:pt x="20331" y="20308"/>
                </a:quadBezTo>
                <a:quadBezTo>
                  <a:pt x="20023" y="20615"/>
                  <a:pt x="20023" y="21077"/>
                </a:quadBezTo>
                <a:quadBezTo>
                  <a:pt x="20138" y="25177"/>
                  <a:pt x="21308" y="29638"/>
                </a:quadBezTo>
                <a:quadBezTo>
                  <a:pt x="22477" y="34100"/>
                  <a:pt x="24485" y="38615"/>
                </a:quadBezTo>
                <a:close/>
                <a:moveTo>
                  <a:pt x="58285" y="71954"/>
                </a:moveTo>
                <a:quadBezTo>
                  <a:pt x="62338" y="73962"/>
                  <a:pt x="66927" y="74923"/>
                </a:quadBezTo>
                <a:quadBezTo>
                  <a:pt x="71515" y="75885"/>
                  <a:pt x="74923" y="75954"/>
                </a:quadBezTo>
                <a:quadBezTo>
                  <a:pt x="75385" y="75954"/>
                  <a:pt x="75692" y="75646"/>
                </a:quadBezTo>
                <a:quadBezTo>
                  <a:pt x="76000" y="75338"/>
                  <a:pt x="76000" y="74877"/>
                </a:quadBezTo>
                <a:lnTo>
                  <a:pt x="76000" y="66846"/>
                </a:lnTo>
                <a:quadBezTo>
                  <a:pt x="76000" y="66231"/>
                  <a:pt x="75692" y="65846"/>
                </a:quadBezTo>
                <a:quadBezTo>
                  <a:pt x="75385" y="65462"/>
                  <a:pt x="74769" y="65308"/>
                </a:quadBezTo>
                <a:lnTo>
                  <a:pt x="67369" y="63792"/>
                </a:lnTo>
                <a:quadBezTo>
                  <a:pt x="66908" y="63638"/>
                  <a:pt x="66562" y="63754"/>
                </a:quadBezTo>
                <a:quadBezTo>
                  <a:pt x="66215" y="63869"/>
                  <a:pt x="65831" y="64254"/>
                </a:quadBezTo>
                <a:lnTo>
                  <a:pt x="58285" y="71954"/>
                </a:lnTo>
                <a:close/>
                <a:moveTo>
                  <a:pt x="24485" y="38615"/>
                </a:moveTo>
                <a:close/>
                <a:moveTo>
                  <a:pt x="58285" y="71954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10973503" y="156362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call</a:t>
            </a:r>
          </a:p>
        </p:txBody>
      </p:sp>
      <p:sp>
        <p:nvSpPr>
          <p:cNvPr id="32" name="Icon campaign"/>
          <p:cNvSpPr/>
          <p:nvPr/>
        </p:nvSpPr>
        <p:spPr>
          <a:xfrm>
            <a:off x="644300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1692" y="50000"/>
                </a:moveTo>
                <a:lnTo>
                  <a:pt x="71692" y="46000"/>
                </a:lnTo>
                <a:lnTo>
                  <a:pt x="84615" y="46000"/>
                </a:lnTo>
                <a:lnTo>
                  <a:pt x="84615" y="50000"/>
                </a:lnTo>
                <a:lnTo>
                  <a:pt x="71692" y="50000"/>
                </a:lnTo>
                <a:close/>
                <a:moveTo>
                  <a:pt x="76031" y="75846"/>
                </a:moveTo>
                <a:lnTo>
                  <a:pt x="65692" y="68092"/>
                </a:lnTo>
                <a:lnTo>
                  <a:pt x="68185" y="64923"/>
                </a:lnTo>
                <a:lnTo>
                  <a:pt x="78523" y="72677"/>
                </a:lnTo>
                <a:lnTo>
                  <a:pt x="76031" y="75846"/>
                </a:lnTo>
                <a:close/>
                <a:moveTo>
                  <a:pt x="67877" y="30769"/>
                </a:moveTo>
                <a:lnTo>
                  <a:pt x="65385" y="27600"/>
                </a:lnTo>
                <a:lnTo>
                  <a:pt x="75723" y="19846"/>
                </a:lnTo>
                <a:lnTo>
                  <a:pt x="78215" y="23015"/>
                </a:lnTo>
                <a:lnTo>
                  <a:pt x="67877" y="30769"/>
                </a:lnTo>
                <a:close/>
                <a:moveTo>
                  <a:pt x="22000" y="71846"/>
                </a:moveTo>
                <a:lnTo>
                  <a:pt x="22000" y="56615"/>
                </a:lnTo>
                <a:lnTo>
                  <a:pt x="17846" y="56615"/>
                </a:lnTo>
                <a:quadBezTo>
                  <a:pt x="15162" y="56615"/>
                  <a:pt x="13273" y="54727"/>
                </a:quadBezTo>
                <a:quadBezTo>
                  <a:pt x="11385" y="52838"/>
                  <a:pt x="11385" y="50154"/>
                </a:quadBezTo>
                <a:lnTo>
                  <a:pt x="11385" y="45846"/>
                </a:lnTo>
                <a:quadBezTo>
                  <a:pt x="11385" y="43162"/>
                  <a:pt x="13273" y="41273"/>
                </a:quadBezTo>
                <a:quadBezTo>
                  <a:pt x="15162" y="39385"/>
                  <a:pt x="17846" y="39385"/>
                </a:quadBezTo>
                <a:lnTo>
                  <a:pt x="32769" y="39385"/>
                </a:lnTo>
                <a:lnTo>
                  <a:pt x="48615" y="30000"/>
                </a:lnTo>
                <a:lnTo>
                  <a:pt x="48615" y="66000"/>
                </a:lnTo>
                <a:lnTo>
                  <a:pt x="32769" y="56615"/>
                </a:lnTo>
                <a:lnTo>
                  <a:pt x="26000" y="56615"/>
                </a:lnTo>
                <a:lnTo>
                  <a:pt x="26000" y="71846"/>
                </a:lnTo>
                <a:lnTo>
                  <a:pt x="22000" y="71846"/>
                </a:lnTo>
                <a:close/>
                <a:moveTo>
                  <a:pt x="44615" y="58877"/>
                </a:moveTo>
                <a:lnTo>
                  <a:pt x="44615" y="37123"/>
                </a:lnTo>
                <a:lnTo>
                  <a:pt x="33892" y="43385"/>
                </a:lnTo>
                <a:lnTo>
                  <a:pt x="17846" y="43385"/>
                </a:lnTo>
                <a:quadBezTo>
                  <a:pt x="16923" y="43385"/>
                  <a:pt x="16154" y="44154"/>
                </a:quadBezTo>
                <a:quadBezTo>
                  <a:pt x="15385" y="44923"/>
                  <a:pt x="15385" y="45846"/>
                </a:quadBezTo>
                <a:lnTo>
                  <a:pt x="15385" y="50154"/>
                </a:lnTo>
                <a:quadBezTo>
                  <a:pt x="15385" y="51077"/>
                  <a:pt x="16154" y="51846"/>
                </a:quadBezTo>
                <a:quadBezTo>
                  <a:pt x="16923" y="52615"/>
                  <a:pt x="17846" y="52615"/>
                </a:quadBezTo>
                <a:lnTo>
                  <a:pt x="33892" y="52615"/>
                </a:lnTo>
                <a:lnTo>
                  <a:pt x="44615" y="58877"/>
                </a:lnTo>
                <a:close/>
                <a:moveTo>
                  <a:pt x="55692" y="59554"/>
                </a:moveTo>
                <a:lnTo>
                  <a:pt x="55692" y="36446"/>
                </a:lnTo>
                <a:quadBezTo>
                  <a:pt x="57700" y="38308"/>
                  <a:pt x="58927" y="41335"/>
                </a:quadBezTo>
                <a:quadBezTo>
                  <a:pt x="60154" y="44362"/>
                  <a:pt x="60154" y="48000"/>
                </a:quadBezTo>
                <a:quadBezTo>
                  <a:pt x="60154" y="51638"/>
                  <a:pt x="58927" y="54665"/>
                </a:quadBezTo>
                <a:quadBezTo>
                  <a:pt x="57700" y="57692"/>
                  <a:pt x="55692" y="59554"/>
                </a:quadBezTo>
                <a:close/>
                <a:moveTo>
                  <a:pt x="30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338328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campaign</a:t>
            </a:r>
          </a:p>
        </p:txBody>
      </p:sp>
      <p:sp>
        <p:nvSpPr>
          <p:cNvPr id="34" name="Icon cancel"/>
          <p:cNvSpPr/>
          <p:nvPr/>
        </p:nvSpPr>
        <p:spPr>
          <a:xfrm>
            <a:off x="1530564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600" y="65231"/>
                </a:moveTo>
                <a:lnTo>
                  <a:pt x="48000" y="50831"/>
                </a:lnTo>
                <a:lnTo>
                  <a:pt x="62400" y="65231"/>
                </a:lnTo>
                <a:lnTo>
                  <a:pt x="65231" y="62400"/>
                </a:lnTo>
                <a:lnTo>
                  <a:pt x="50831" y="48000"/>
                </a:lnTo>
                <a:lnTo>
                  <a:pt x="65231" y="33600"/>
                </a:lnTo>
                <a:lnTo>
                  <a:pt x="62400" y="30769"/>
                </a:lnTo>
                <a:lnTo>
                  <a:pt x="48000" y="45169"/>
                </a:lnTo>
                <a:lnTo>
                  <a:pt x="33600" y="30769"/>
                </a:lnTo>
                <a:lnTo>
                  <a:pt x="30769" y="33600"/>
                </a:lnTo>
                <a:lnTo>
                  <a:pt x="45169" y="48000"/>
                </a:lnTo>
                <a:lnTo>
                  <a:pt x="30769" y="62400"/>
                </a:lnTo>
                <a:lnTo>
                  <a:pt x="33600" y="652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5" name="TextBox 34"/>
          <p:cNvSpPr txBox="1"/>
          <p:nvPr/>
        </p:nvSpPr>
        <p:spPr>
          <a:xfrm>
            <a:off x="1224592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cancel</a:t>
            </a:r>
          </a:p>
        </p:txBody>
      </p:sp>
      <p:sp>
        <p:nvSpPr>
          <p:cNvPr id="36" name="Icon chat"/>
          <p:cNvSpPr/>
          <p:nvPr/>
        </p:nvSpPr>
        <p:spPr>
          <a:xfrm>
            <a:off x="2416829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000" y="54000"/>
                </a:moveTo>
                <a:lnTo>
                  <a:pt x="54000" y="54000"/>
                </a:lnTo>
                <a:lnTo>
                  <a:pt x="54000" y="50000"/>
                </a:lnTo>
                <a:lnTo>
                  <a:pt x="26000" y="50000"/>
                </a:lnTo>
                <a:lnTo>
                  <a:pt x="26000" y="54000"/>
                </a:lnTo>
                <a:close/>
                <a:moveTo>
                  <a:pt x="26000" y="42000"/>
                </a:moveTo>
                <a:lnTo>
                  <a:pt x="70000" y="42000"/>
                </a:lnTo>
                <a:lnTo>
                  <a:pt x="70000" y="38000"/>
                </a:lnTo>
                <a:lnTo>
                  <a:pt x="26000" y="38000"/>
                </a:lnTo>
                <a:lnTo>
                  <a:pt x="26000" y="42000"/>
                </a:lnTo>
                <a:close/>
                <a:moveTo>
                  <a:pt x="26000" y="30000"/>
                </a:moveTo>
                <a:lnTo>
                  <a:pt x="70000" y="30000"/>
                </a:lnTo>
                <a:lnTo>
                  <a:pt x="70000" y="26000"/>
                </a:lnTo>
                <a:lnTo>
                  <a:pt x="26000" y="26000"/>
                </a:lnTo>
                <a:lnTo>
                  <a:pt x="26000" y="30000"/>
                </a:lnTo>
                <a:close/>
                <a:moveTo>
                  <a:pt x="12000" y="80308"/>
                </a:moveTo>
                <a:lnTo>
                  <a:pt x="12000" y="18462"/>
                </a:lnTo>
                <a:quadBezTo>
                  <a:pt x="12000" y="15700"/>
                  <a:pt x="13850" y="13850"/>
                </a:quadBezTo>
                <a:quadBezTo>
                  <a:pt x="15700" y="12000"/>
                  <a:pt x="18462" y="12000"/>
                </a:quadBezTo>
                <a:lnTo>
                  <a:pt x="77538" y="12000"/>
                </a:lnTo>
                <a:quadBezTo>
                  <a:pt x="80300" y="12000"/>
                  <a:pt x="82150" y="13850"/>
                </a:quadBezTo>
                <a:quadBezTo>
                  <a:pt x="84000" y="15700"/>
                  <a:pt x="84000" y="18462"/>
                </a:quadBezTo>
                <a:lnTo>
                  <a:pt x="84000" y="61538"/>
                </a:lnTo>
                <a:quadBezTo>
                  <a:pt x="84000" y="64300"/>
                  <a:pt x="82150" y="66150"/>
                </a:quadBezTo>
                <a:quadBezTo>
                  <a:pt x="80300" y="68000"/>
                  <a:pt x="77538" y="68000"/>
                </a:quadBezTo>
                <a:lnTo>
                  <a:pt x="24308" y="68000"/>
                </a:lnTo>
                <a:lnTo>
                  <a:pt x="12000" y="80308"/>
                </a:lnTo>
                <a:close/>
                <a:moveTo>
                  <a:pt x="22600" y="64000"/>
                </a:moveTo>
                <a:lnTo>
                  <a:pt x="77538" y="64000"/>
                </a:lnTo>
                <a:quadBezTo>
                  <a:pt x="78462" y="64000"/>
                  <a:pt x="79231" y="63231"/>
                </a:quadBezTo>
                <a:quadBezTo>
                  <a:pt x="80000" y="62462"/>
                  <a:pt x="80000" y="61538"/>
                </a:quadBezTo>
                <a:lnTo>
                  <a:pt x="80000" y="18462"/>
                </a:lnTo>
                <a:quadBezTo>
                  <a:pt x="80000" y="17538"/>
                  <a:pt x="79231" y="16769"/>
                </a:quadBezTo>
                <a:quadBezTo>
                  <a:pt x="78462" y="16000"/>
                  <a:pt x="77538" y="16000"/>
                </a:quadBezTo>
                <a:lnTo>
                  <a:pt x="18462" y="16000"/>
                </a:lnTo>
                <a:quadBezTo>
                  <a:pt x="17538" y="16000"/>
                  <a:pt x="16769" y="16769"/>
                </a:quadBezTo>
                <a:quadBezTo>
                  <a:pt x="16000" y="17538"/>
                  <a:pt x="16000" y="18462"/>
                </a:quadBezTo>
                <a:lnTo>
                  <a:pt x="16000" y="70577"/>
                </a:lnTo>
                <a:lnTo>
                  <a:pt x="22600" y="64000"/>
                </a:lnTo>
                <a:close/>
                <a:moveTo>
                  <a:pt x="16000" y="64000"/>
                </a:moveTo>
                <a:lnTo>
                  <a:pt x="16000" y="16000"/>
                </a:lnTo>
                <a:lnTo>
                  <a:pt x="16000" y="6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2110857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chat</a:t>
            </a:r>
          </a:p>
        </p:txBody>
      </p:sp>
      <p:sp>
        <p:nvSpPr>
          <p:cNvPr id="38" name="Icon check_circle"/>
          <p:cNvSpPr/>
          <p:nvPr/>
        </p:nvSpPr>
        <p:spPr>
          <a:xfrm>
            <a:off x="3303094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246" y="63631"/>
                </a:moveTo>
                <a:lnTo>
                  <a:pt x="67831" y="38046"/>
                </a:lnTo>
                <a:lnTo>
                  <a:pt x="65000" y="35215"/>
                </a:lnTo>
                <a:lnTo>
                  <a:pt x="42246" y="57969"/>
                </a:lnTo>
                <a:lnTo>
                  <a:pt x="30846" y="46569"/>
                </a:lnTo>
                <a:lnTo>
                  <a:pt x="28015" y="49400"/>
                </a:lnTo>
                <a:lnTo>
                  <a:pt x="42246" y="63631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2997121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check circle</a:t>
            </a:r>
          </a:p>
        </p:txBody>
      </p:sp>
      <p:sp>
        <p:nvSpPr>
          <p:cNvPr id="40" name="Icon checklist"/>
          <p:cNvSpPr/>
          <p:nvPr/>
        </p:nvSpPr>
        <p:spPr>
          <a:xfrm>
            <a:off x="4189358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3354" y="71615"/>
                </a:moveTo>
                <a:lnTo>
                  <a:pt x="12000" y="60262"/>
                </a:lnTo>
                <a:lnTo>
                  <a:pt x="14754" y="57508"/>
                </a:lnTo>
                <a:lnTo>
                  <a:pt x="23254" y="66008"/>
                </a:lnTo>
                <a:lnTo>
                  <a:pt x="40254" y="49008"/>
                </a:lnTo>
                <a:lnTo>
                  <a:pt x="43008" y="51862"/>
                </a:lnTo>
                <a:lnTo>
                  <a:pt x="23354" y="71615"/>
                </a:lnTo>
                <a:close/>
                <a:moveTo>
                  <a:pt x="23354" y="42692"/>
                </a:moveTo>
                <a:lnTo>
                  <a:pt x="12000" y="31338"/>
                </a:lnTo>
                <a:lnTo>
                  <a:pt x="14754" y="28585"/>
                </a:lnTo>
                <a:lnTo>
                  <a:pt x="23254" y="37085"/>
                </a:lnTo>
                <a:lnTo>
                  <a:pt x="40254" y="20085"/>
                </a:lnTo>
                <a:lnTo>
                  <a:pt x="43008" y="22938"/>
                </a:lnTo>
                <a:lnTo>
                  <a:pt x="23354" y="42692"/>
                </a:lnTo>
                <a:close/>
                <a:moveTo>
                  <a:pt x="52077" y="64462"/>
                </a:moveTo>
                <a:lnTo>
                  <a:pt x="52077" y="60462"/>
                </a:lnTo>
                <a:lnTo>
                  <a:pt x="84077" y="60462"/>
                </a:lnTo>
                <a:lnTo>
                  <a:pt x="84077" y="64462"/>
                </a:lnTo>
                <a:lnTo>
                  <a:pt x="52077" y="64462"/>
                </a:lnTo>
                <a:close/>
                <a:moveTo>
                  <a:pt x="52077" y="35538"/>
                </a:moveTo>
                <a:lnTo>
                  <a:pt x="52077" y="31538"/>
                </a:lnTo>
                <a:lnTo>
                  <a:pt x="84077" y="31538"/>
                </a:lnTo>
                <a:lnTo>
                  <a:pt x="84077" y="35538"/>
                </a:lnTo>
                <a:lnTo>
                  <a:pt x="52077" y="35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3883386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checklist</a:t>
            </a:r>
          </a:p>
        </p:txBody>
      </p:sp>
      <p:sp>
        <p:nvSpPr>
          <p:cNvPr id="42" name="Icon cloud"/>
          <p:cNvSpPr/>
          <p:nvPr/>
        </p:nvSpPr>
        <p:spPr>
          <a:xfrm>
            <a:off x="5075623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000" y="76000"/>
                </a:moveTo>
                <a:quadBezTo>
                  <a:pt x="18515" y="76000"/>
                  <a:pt x="13258" y="70777"/>
                </a:quadBezTo>
                <a:quadBezTo>
                  <a:pt x="8000" y="65554"/>
                  <a:pt x="8000" y="58069"/>
                </a:quadBezTo>
                <a:quadBezTo>
                  <a:pt x="8000" y="51192"/>
                  <a:pt x="12700" y="45862"/>
                </a:quadBezTo>
                <a:quadBezTo>
                  <a:pt x="17400" y="40531"/>
                  <a:pt x="24385" y="40138"/>
                </a:quadBezTo>
                <a:quadBezTo>
                  <a:pt x="25731" y="31400"/>
                  <a:pt x="32423" y="25700"/>
                </a:quadBezTo>
                <a:quadBezTo>
                  <a:pt x="39115" y="20000"/>
                  <a:pt x="48000" y="20000"/>
                </a:quadBezTo>
                <a:quadBezTo>
                  <a:pt x="58008" y="20000"/>
                  <a:pt x="65004" y="26996"/>
                </a:quadBezTo>
                <a:quadBezTo>
                  <a:pt x="72000" y="33992"/>
                  <a:pt x="72000" y="44000"/>
                </a:quadBezTo>
                <a:lnTo>
                  <a:pt x="72000" y="48000"/>
                </a:lnTo>
                <a:lnTo>
                  <a:pt x="74462" y="48000"/>
                </a:lnTo>
                <a:quadBezTo>
                  <a:pt x="80208" y="48185"/>
                  <a:pt x="84104" y="52219"/>
                </a:quadBezTo>
                <a:quadBezTo>
                  <a:pt x="88000" y="56254"/>
                  <a:pt x="88000" y="62000"/>
                </a:quadBezTo>
                <a:quadBezTo>
                  <a:pt x="88000" y="67885"/>
                  <a:pt x="83942" y="71942"/>
                </a:quadBezTo>
                <a:quadBezTo>
                  <a:pt x="79885" y="76000"/>
                  <a:pt x="74000" y="76000"/>
                </a:quadBezTo>
                <a:lnTo>
                  <a:pt x="26000" y="76000"/>
                </a:lnTo>
                <a:close/>
                <a:moveTo>
                  <a:pt x="26000" y="72000"/>
                </a:moveTo>
                <a:lnTo>
                  <a:pt x="74000" y="72000"/>
                </a:lnTo>
                <a:quadBezTo>
                  <a:pt x="78200" y="72000"/>
                  <a:pt x="81100" y="69100"/>
                </a:quadBezTo>
                <a:quadBezTo>
                  <a:pt x="84000" y="66200"/>
                  <a:pt x="84000" y="62000"/>
                </a:quadBezTo>
                <a:quadBezTo>
                  <a:pt x="84000" y="57800"/>
                  <a:pt x="81100" y="54900"/>
                </a:quadBezTo>
                <a:quadBezTo>
                  <a:pt x="78200" y="52000"/>
                  <a:pt x="74000" y="52000"/>
                </a:quadBezTo>
                <a:lnTo>
                  <a:pt x="68000" y="52000"/>
                </a:lnTo>
                <a:lnTo>
                  <a:pt x="68000" y="44000"/>
                </a:lnTo>
                <a:quadBezTo>
                  <a:pt x="68000" y="35700"/>
                  <a:pt x="62150" y="29850"/>
                </a:quadBezTo>
                <a:quadBezTo>
                  <a:pt x="56300" y="24000"/>
                  <a:pt x="48000" y="24000"/>
                </a:quadBezTo>
                <a:quadBezTo>
                  <a:pt x="39700" y="24000"/>
                  <a:pt x="33850" y="29850"/>
                </a:quadBezTo>
                <a:quadBezTo>
                  <a:pt x="28000" y="35700"/>
                  <a:pt x="28000" y="44000"/>
                </a:quadBezTo>
                <a:lnTo>
                  <a:pt x="26000" y="44000"/>
                </a:lnTo>
                <a:quadBezTo>
                  <a:pt x="20200" y="44000"/>
                  <a:pt x="16100" y="48100"/>
                </a:quadBezTo>
                <a:quadBezTo>
                  <a:pt x="12000" y="52200"/>
                  <a:pt x="12000" y="58000"/>
                </a:quadBezTo>
                <a:quadBezTo>
                  <a:pt x="12000" y="63800"/>
                  <a:pt x="16100" y="67900"/>
                </a:quadBezTo>
                <a:quadBezTo>
                  <a:pt x="20200" y="72000"/>
                  <a:pt x="26000" y="72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3" name="TextBox 42"/>
          <p:cNvSpPr txBox="1"/>
          <p:nvPr/>
        </p:nvSpPr>
        <p:spPr>
          <a:xfrm>
            <a:off x="4769651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cloud</a:t>
            </a:r>
          </a:p>
        </p:txBody>
      </p:sp>
      <p:sp>
        <p:nvSpPr>
          <p:cNvPr id="44" name="Icon code"/>
          <p:cNvSpPr/>
          <p:nvPr/>
        </p:nvSpPr>
        <p:spPr>
          <a:xfrm>
            <a:off x="5961888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2000" y="69231"/>
                </a:moveTo>
                <a:lnTo>
                  <a:pt x="10769" y="48000"/>
                </a:lnTo>
                <a:lnTo>
                  <a:pt x="32000" y="26769"/>
                </a:lnTo>
                <a:lnTo>
                  <a:pt x="34854" y="29623"/>
                </a:lnTo>
                <a:lnTo>
                  <a:pt x="16454" y="48023"/>
                </a:lnTo>
                <a:lnTo>
                  <a:pt x="34831" y="66400"/>
                </a:lnTo>
                <a:lnTo>
                  <a:pt x="32000" y="69231"/>
                </a:lnTo>
                <a:close/>
                <a:moveTo>
                  <a:pt x="64000" y="69231"/>
                </a:moveTo>
                <a:lnTo>
                  <a:pt x="61146" y="66377"/>
                </a:lnTo>
                <a:lnTo>
                  <a:pt x="79546" y="47977"/>
                </a:lnTo>
                <a:lnTo>
                  <a:pt x="61169" y="29600"/>
                </a:lnTo>
                <a:lnTo>
                  <a:pt x="64000" y="26769"/>
                </a:lnTo>
                <a:lnTo>
                  <a:pt x="85231" y="48000"/>
                </a:lnTo>
                <a:lnTo>
                  <a:pt x="64000" y="69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5" name="TextBox 44"/>
          <p:cNvSpPr txBox="1"/>
          <p:nvPr/>
        </p:nvSpPr>
        <p:spPr>
          <a:xfrm>
            <a:off x="5655915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code</a:t>
            </a:r>
          </a:p>
        </p:txBody>
      </p:sp>
      <p:sp>
        <p:nvSpPr>
          <p:cNvPr id="46" name="Icon compare_arrows"/>
          <p:cNvSpPr/>
          <p:nvPr/>
        </p:nvSpPr>
        <p:spPr>
          <a:xfrm>
            <a:off x="6848152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2000" y="75923"/>
                </a:moveTo>
                <a:lnTo>
                  <a:pt x="29169" y="73069"/>
                </a:lnTo>
                <a:lnTo>
                  <a:pt x="41546" y="60692"/>
                </a:lnTo>
                <a:lnTo>
                  <a:pt x="12000" y="60692"/>
                </a:lnTo>
                <a:lnTo>
                  <a:pt x="12000" y="56692"/>
                </a:lnTo>
                <a:lnTo>
                  <a:pt x="41546" y="56692"/>
                </a:lnTo>
                <a:lnTo>
                  <a:pt x="29169" y="44315"/>
                </a:lnTo>
                <a:lnTo>
                  <a:pt x="32000" y="41462"/>
                </a:lnTo>
                <a:lnTo>
                  <a:pt x="49231" y="58692"/>
                </a:lnTo>
                <a:lnTo>
                  <a:pt x="32000" y="75923"/>
                </a:lnTo>
                <a:close/>
                <a:moveTo>
                  <a:pt x="64000" y="54462"/>
                </a:moveTo>
                <a:lnTo>
                  <a:pt x="46769" y="37231"/>
                </a:lnTo>
                <a:lnTo>
                  <a:pt x="64000" y="20000"/>
                </a:lnTo>
                <a:lnTo>
                  <a:pt x="66831" y="22854"/>
                </a:lnTo>
                <a:lnTo>
                  <a:pt x="54454" y="35231"/>
                </a:lnTo>
                <a:lnTo>
                  <a:pt x="84000" y="35231"/>
                </a:lnTo>
                <a:lnTo>
                  <a:pt x="84000" y="39231"/>
                </a:lnTo>
                <a:lnTo>
                  <a:pt x="54454" y="39231"/>
                </a:lnTo>
                <a:lnTo>
                  <a:pt x="66831" y="51608"/>
                </a:lnTo>
                <a:lnTo>
                  <a:pt x="64000" y="5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7" name="TextBox 46"/>
          <p:cNvSpPr txBox="1"/>
          <p:nvPr/>
        </p:nvSpPr>
        <p:spPr>
          <a:xfrm>
            <a:off x="6542180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compare arrows</a:t>
            </a:r>
          </a:p>
        </p:txBody>
      </p:sp>
      <p:sp>
        <p:nvSpPr>
          <p:cNvPr id="48" name="Icon conveyor_belt"/>
          <p:cNvSpPr/>
          <p:nvPr/>
        </p:nvSpPr>
        <p:spPr>
          <a:xfrm>
            <a:off x="7734417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76000"/>
                </a:moveTo>
                <a:quadBezTo>
                  <a:pt x="16615" y="76000"/>
                  <a:pt x="14308" y="73692"/>
                </a:quadBezTo>
                <a:quadBezTo>
                  <a:pt x="12000" y="71385"/>
                  <a:pt x="12000" y="68000"/>
                </a:quadBezTo>
                <a:quadBezTo>
                  <a:pt x="12000" y="64615"/>
                  <a:pt x="14308" y="62308"/>
                </a:quadBezTo>
                <a:quadBezTo>
                  <a:pt x="16615" y="60000"/>
                  <a:pt x="20000" y="60000"/>
                </a:quadBezTo>
                <a:lnTo>
                  <a:pt x="76000" y="60000"/>
                </a:lnTo>
                <a:quadBezTo>
                  <a:pt x="79385" y="60000"/>
                  <a:pt x="81692" y="62308"/>
                </a:quadBezTo>
                <a:quadBezTo>
                  <a:pt x="84000" y="64615"/>
                  <a:pt x="84000" y="68000"/>
                </a:quadBezTo>
                <a:quadBezTo>
                  <a:pt x="84000" y="71385"/>
                  <a:pt x="81692" y="73692"/>
                </a:quadBezTo>
                <a:quadBezTo>
                  <a:pt x="79385" y="76000"/>
                  <a:pt x="76000" y="76000"/>
                </a:quadBezTo>
                <a:lnTo>
                  <a:pt x="20000" y="76000"/>
                </a:lnTo>
                <a:close/>
                <a:moveTo>
                  <a:pt x="20000" y="72000"/>
                </a:moveTo>
                <a:lnTo>
                  <a:pt x="76000" y="72000"/>
                </a:lnTo>
                <a:quadBezTo>
                  <a:pt x="77700" y="72000"/>
                  <a:pt x="78850" y="70850"/>
                </a:quadBezTo>
                <a:quadBezTo>
                  <a:pt x="80000" y="69700"/>
                  <a:pt x="80000" y="68000"/>
                </a:quadBezTo>
                <a:quadBezTo>
                  <a:pt x="80000" y="66300"/>
                  <a:pt x="78850" y="65150"/>
                </a:quadBezTo>
                <a:quadBezTo>
                  <a:pt x="77700" y="64000"/>
                  <a:pt x="76000" y="64000"/>
                </a:quadBezTo>
                <a:lnTo>
                  <a:pt x="20000" y="64000"/>
                </a:lnTo>
                <a:quadBezTo>
                  <a:pt x="18300" y="64000"/>
                  <a:pt x="17150" y="65150"/>
                </a:quadBezTo>
                <a:quadBezTo>
                  <a:pt x="16000" y="66300"/>
                  <a:pt x="16000" y="68000"/>
                </a:quadBezTo>
                <a:quadBezTo>
                  <a:pt x="16000" y="69700"/>
                  <a:pt x="17150" y="70850"/>
                </a:quadBezTo>
                <a:quadBezTo>
                  <a:pt x="18300" y="72000"/>
                  <a:pt x="20000" y="72000"/>
                </a:quadBezTo>
                <a:close/>
                <a:moveTo>
                  <a:pt x="47045" y="52000"/>
                </a:moveTo>
                <a:quadBezTo>
                  <a:pt x="45685" y="52000"/>
                  <a:pt x="44765" y="51080"/>
                </a:quadBezTo>
                <a:quadBezTo>
                  <a:pt x="43846" y="50160"/>
                  <a:pt x="43846" y="48800"/>
                </a:quadBezTo>
                <a:lnTo>
                  <a:pt x="43846" y="23198"/>
                </a:lnTo>
                <a:quadBezTo>
                  <a:pt x="43846" y="21838"/>
                  <a:pt x="44766" y="20919"/>
                </a:quadBezTo>
                <a:quadBezTo>
                  <a:pt x="45686" y="20000"/>
                  <a:pt x="47046" y="20000"/>
                </a:quadBezTo>
                <a:lnTo>
                  <a:pt x="72648" y="20000"/>
                </a:lnTo>
                <a:quadBezTo>
                  <a:pt x="74008" y="20000"/>
                  <a:pt x="74927" y="20920"/>
                </a:quadBezTo>
                <a:quadBezTo>
                  <a:pt x="75846" y="21840"/>
                  <a:pt x="75846" y="23200"/>
                </a:quadBezTo>
                <a:lnTo>
                  <a:pt x="75846" y="48801"/>
                </a:lnTo>
                <a:quadBezTo>
                  <a:pt x="75846" y="50162"/>
                  <a:pt x="74926" y="51081"/>
                </a:quadBezTo>
                <a:quadBezTo>
                  <a:pt x="74006" y="52000"/>
                  <a:pt x="72646" y="52000"/>
                </a:quadBezTo>
                <a:lnTo>
                  <a:pt x="47045" y="52000"/>
                </a:lnTo>
                <a:close/>
                <a:moveTo>
                  <a:pt x="47846" y="48000"/>
                </a:moveTo>
                <a:lnTo>
                  <a:pt x="71846" y="48000"/>
                </a:lnTo>
                <a:lnTo>
                  <a:pt x="71846" y="24000"/>
                </a:lnTo>
                <a:lnTo>
                  <a:pt x="47846" y="24000"/>
                </a:lnTo>
                <a:lnTo>
                  <a:pt x="47846" y="48000"/>
                </a:lnTo>
                <a:close/>
                <a:moveTo>
                  <a:pt x="12000" y="45954"/>
                </a:moveTo>
                <a:lnTo>
                  <a:pt x="12000" y="42023"/>
                </a:lnTo>
                <a:lnTo>
                  <a:pt x="35777" y="42023"/>
                </a:lnTo>
                <a:lnTo>
                  <a:pt x="35777" y="45954"/>
                </a:lnTo>
                <a:lnTo>
                  <a:pt x="12000" y="45954"/>
                </a:lnTo>
                <a:close/>
                <a:moveTo>
                  <a:pt x="51846" y="34000"/>
                </a:moveTo>
                <a:lnTo>
                  <a:pt x="67846" y="34000"/>
                </a:lnTo>
                <a:lnTo>
                  <a:pt x="67846" y="30023"/>
                </a:lnTo>
                <a:lnTo>
                  <a:pt x="51846" y="30023"/>
                </a:lnTo>
                <a:lnTo>
                  <a:pt x="51846" y="34000"/>
                </a:lnTo>
                <a:close/>
                <a:moveTo>
                  <a:pt x="20000" y="34000"/>
                </a:moveTo>
                <a:lnTo>
                  <a:pt x="35777" y="34000"/>
                </a:lnTo>
                <a:lnTo>
                  <a:pt x="35777" y="30023"/>
                </a:lnTo>
                <a:lnTo>
                  <a:pt x="20000" y="30023"/>
                </a:lnTo>
                <a:lnTo>
                  <a:pt x="20000" y="34000"/>
                </a:lnTo>
                <a:close/>
                <a:moveTo>
                  <a:pt x="47846" y="48000"/>
                </a:moveTo>
                <a:lnTo>
                  <a:pt x="47846" y="24000"/>
                </a:lnTo>
                <a:lnTo>
                  <a:pt x="47846" y="4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9" name="TextBox 48"/>
          <p:cNvSpPr txBox="1"/>
          <p:nvPr/>
        </p:nvSpPr>
        <p:spPr>
          <a:xfrm>
            <a:off x="7428444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conveyor belt</a:t>
            </a:r>
          </a:p>
        </p:txBody>
      </p:sp>
      <p:sp>
        <p:nvSpPr>
          <p:cNvPr id="50" name="Icon currency_exchange"/>
          <p:cNvSpPr/>
          <p:nvPr/>
        </p:nvSpPr>
        <p:spPr>
          <a:xfrm>
            <a:off x="8620681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8000"/>
                </a:moveTo>
                <a:quadBezTo>
                  <a:pt x="35800" y="88000"/>
                  <a:pt x="26131" y="81515"/>
                </a:quadBezTo>
                <a:quadBezTo>
                  <a:pt x="16462" y="75031"/>
                  <a:pt x="11615" y="64069"/>
                </a:quadBezTo>
                <a:lnTo>
                  <a:pt x="11615" y="77231"/>
                </a:lnTo>
                <a:lnTo>
                  <a:pt x="7615" y="77231"/>
                </a:lnTo>
                <a:lnTo>
                  <a:pt x="7615" y="57231"/>
                </a:lnTo>
                <a:lnTo>
                  <a:pt x="27615" y="57231"/>
                </a:lnTo>
                <a:lnTo>
                  <a:pt x="27615" y="61231"/>
                </a:lnTo>
                <a:lnTo>
                  <a:pt x="14792" y="61231"/>
                </a:lnTo>
                <a:quadBezTo>
                  <a:pt x="18669" y="71508"/>
                  <a:pt x="27788" y="77754"/>
                </a:quadBezTo>
                <a:quadBezTo>
                  <a:pt x="36908" y="84000"/>
                  <a:pt x="48000" y="84000"/>
                </a:quadBezTo>
                <a:quadBezTo>
                  <a:pt x="55192" y="84000"/>
                  <a:pt x="61512" y="81419"/>
                </a:quadBezTo>
                <a:quadBezTo>
                  <a:pt x="67831" y="78838"/>
                  <a:pt x="72642" y="74296"/>
                </a:quadBezTo>
                <a:quadBezTo>
                  <a:pt x="77454" y="69754"/>
                  <a:pt x="80458" y="63512"/>
                </a:quadBezTo>
                <a:quadBezTo>
                  <a:pt x="83462" y="57269"/>
                  <a:pt x="83923" y="50000"/>
                </a:quadBezTo>
                <a:lnTo>
                  <a:pt x="87923" y="50000"/>
                </a:lnTo>
                <a:quadBezTo>
                  <a:pt x="87538" y="57946"/>
                  <a:pt x="84242" y="64869"/>
                </a:quadBezTo>
                <a:quadBezTo>
                  <a:pt x="80946" y="71792"/>
                  <a:pt x="75600" y="76946"/>
                </a:quadBezTo>
                <a:quadBezTo>
                  <a:pt x="70254" y="82100"/>
                  <a:pt x="63138" y="85050"/>
                </a:quadBezTo>
                <a:quadBezTo>
                  <a:pt x="56023" y="88000"/>
                  <a:pt x="48000" y="88000"/>
                </a:quadBezTo>
                <a:close/>
                <a:moveTo>
                  <a:pt x="45938" y="74462"/>
                </a:moveTo>
                <a:lnTo>
                  <a:pt x="45938" y="69569"/>
                </a:lnTo>
                <a:quadBezTo>
                  <a:pt x="41854" y="68623"/>
                  <a:pt x="38981" y="66327"/>
                </a:quadBezTo>
                <a:quadBezTo>
                  <a:pt x="36108" y="64031"/>
                  <a:pt x="34400" y="59923"/>
                </a:quadBezTo>
                <a:lnTo>
                  <a:pt x="37923" y="58400"/>
                </a:lnTo>
                <a:quadBezTo>
                  <a:pt x="39585" y="62115"/>
                  <a:pt x="42365" y="64127"/>
                </a:quadBezTo>
                <a:quadBezTo>
                  <a:pt x="45146" y="66138"/>
                  <a:pt x="48600" y="66138"/>
                </a:quadBezTo>
                <a:quadBezTo>
                  <a:pt x="52131" y="66138"/>
                  <a:pt x="55212" y="64281"/>
                </a:quadBezTo>
                <a:quadBezTo>
                  <a:pt x="58292" y="62423"/>
                  <a:pt x="58292" y="58200"/>
                </a:quadBezTo>
                <a:quadBezTo>
                  <a:pt x="58292" y="54838"/>
                  <a:pt x="56073" y="52923"/>
                </a:quadBezTo>
                <a:quadBezTo>
                  <a:pt x="53854" y="51008"/>
                  <a:pt x="47400" y="48631"/>
                </a:quadBezTo>
                <a:quadBezTo>
                  <a:pt x="40962" y="46300"/>
                  <a:pt x="38250" y="43708"/>
                </a:quadBezTo>
                <a:quadBezTo>
                  <a:pt x="35538" y="41115"/>
                  <a:pt x="35538" y="36800"/>
                </a:quadBezTo>
                <a:quadBezTo>
                  <a:pt x="35538" y="33162"/>
                  <a:pt x="38273" y="30081"/>
                </a:quadBezTo>
                <a:quadBezTo>
                  <a:pt x="41008" y="27000"/>
                  <a:pt x="46138" y="26231"/>
                </a:quadBezTo>
                <a:lnTo>
                  <a:pt x="46138" y="21538"/>
                </a:lnTo>
                <a:lnTo>
                  <a:pt x="50062" y="21538"/>
                </a:lnTo>
                <a:lnTo>
                  <a:pt x="50062" y="26231"/>
                </a:lnTo>
                <a:quadBezTo>
                  <a:pt x="53200" y="26454"/>
                  <a:pt x="55919" y="28400"/>
                </a:quadBezTo>
                <a:quadBezTo>
                  <a:pt x="58638" y="30346"/>
                  <a:pt x="60046" y="33231"/>
                </a:quadBezTo>
                <a:lnTo>
                  <a:pt x="56569" y="34600"/>
                </a:lnTo>
                <a:quadBezTo>
                  <a:pt x="55308" y="32454"/>
                  <a:pt x="53277" y="31058"/>
                </a:quadBezTo>
                <a:quadBezTo>
                  <a:pt x="51246" y="29662"/>
                  <a:pt x="48200" y="29662"/>
                </a:quadBezTo>
                <a:quadBezTo>
                  <a:pt x="44238" y="29662"/>
                  <a:pt x="41850" y="31700"/>
                </a:quadBezTo>
                <a:quadBezTo>
                  <a:pt x="39462" y="33738"/>
                  <a:pt x="39462" y="36800"/>
                </a:quadBezTo>
                <a:quadBezTo>
                  <a:pt x="39462" y="39862"/>
                  <a:pt x="41300" y="41515"/>
                </a:quadBezTo>
                <a:quadBezTo>
                  <a:pt x="43138" y="43169"/>
                  <a:pt x="49754" y="45477"/>
                </a:quadBezTo>
                <a:quadBezTo>
                  <a:pt x="56954" y="48077"/>
                  <a:pt x="59508" y="51038"/>
                </a:quadBezTo>
                <a:quadBezTo>
                  <a:pt x="62062" y="54000"/>
                  <a:pt x="62062" y="58200"/>
                </a:quadBezTo>
                <a:quadBezTo>
                  <a:pt x="62062" y="61023"/>
                  <a:pt x="60946" y="63146"/>
                </a:quadBezTo>
                <a:quadBezTo>
                  <a:pt x="59831" y="65269"/>
                  <a:pt x="58065" y="66665"/>
                </a:quadBezTo>
                <a:quadBezTo>
                  <a:pt x="56300" y="68062"/>
                  <a:pt x="54138" y="68819"/>
                </a:quadBezTo>
                <a:quadBezTo>
                  <a:pt x="51977" y="69577"/>
                  <a:pt x="49862" y="69769"/>
                </a:quadBezTo>
                <a:lnTo>
                  <a:pt x="49862" y="74462"/>
                </a:lnTo>
                <a:lnTo>
                  <a:pt x="45938" y="74462"/>
                </a:lnTo>
                <a:close/>
                <a:moveTo>
                  <a:pt x="8077" y="46000"/>
                </a:moveTo>
                <a:quadBezTo>
                  <a:pt x="8615" y="37669"/>
                  <a:pt x="11988" y="30708"/>
                </a:quadBezTo>
                <a:quadBezTo>
                  <a:pt x="15362" y="23746"/>
                  <a:pt x="20785" y="18669"/>
                </a:quadBezTo>
                <a:quadBezTo>
                  <a:pt x="26208" y="13592"/>
                  <a:pt x="33208" y="10796"/>
                </a:quadBezTo>
                <a:quadBezTo>
                  <a:pt x="40208" y="8000"/>
                  <a:pt x="48000" y="8000"/>
                </a:quadBezTo>
                <a:quadBezTo>
                  <a:pt x="59969" y="8000"/>
                  <a:pt x="69869" y="14523"/>
                </a:quadBezTo>
                <a:quadBezTo>
                  <a:pt x="79769" y="21046"/>
                  <a:pt x="84385" y="32238"/>
                </a:quadBezTo>
                <a:lnTo>
                  <a:pt x="84385" y="18769"/>
                </a:lnTo>
                <a:lnTo>
                  <a:pt x="88385" y="18769"/>
                </a:lnTo>
                <a:lnTo>
                  <a:pt x="88385" y="38769"/>
                </a:lnTo>
                <a:lnTo>
                  <a:pt x="68385" y="38769"/>
                </a:lnTo>
                <a:lnTo>
                  <a:pt x="68385" y="34769"/>
                </a:lnTo>
                <a:lnTo>
                  <a:pt x="81208" y="34769"/>
                </a:lnTo>
                <a:quadBezTo>
                  <a:pt x="77562" y="24800"/>
                  <a:pt x="68404" y="18400"/>
                </a:quadBezTo>
                <a:quadBezTo>
                  <a:pt x="59246" y="12000"/>
                  <a:pt x="48000" y="12000"/>
                </a:quadBezTo>
                <a:quadBezTo>
                  <a:pt x="41115" y="12000"/>
                  <a:pt x="34835" y="14504"/>
                </a:quadBezTo>
                <a:quadBezTo>
                  <a:pt x="28554" y="17008"/>
                  <a:pt x="23665" y="21473"/>
                </a:quadBezTo>
                <a:quadBezTo>
                  <a:pt x="18777" y="25938"/>
                  <a:pt x="15658" y="32181"/>
                </a:quadBezTo>
                <a:quadBezTo>
                  <a:pt x="12538" y="38423"/>
                  <a:pt x="12077" y="46000"/>
                </a:quadBezTo>
                <a:lnTo>
                  <a:pt x="8077" y="4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TextBox 50"/>
          <p:cNvSpPr txBox="1"/>
          <p:nvPr/>
        </p:nvSpPr>
        <p:spPr>
          <a:xfrm>
            <a:off x="8314709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currency exchange</a:t>
            </a:r>
          </a:p>
        </p:txBody>
      </p:sp>
      <p:sp>
        <p:nvSpPr>
          <p:cNvPr id="52" name="Icon cyclone"/>
          <p:cNvSpPr/>
          <p:nvPr/>
        </p:nvSpPr>
        <p:spPr>
          <a:xfrm>
            <a:off x="9506946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60000"/>
                </a:moveTo>
                <a:quadBezTo>
                  <a:pt x="43015" y="60000"/>
                  <a:pt x="39508" y="56492"/>
                </a:quadBezTo>
                <a:quadBezTo>
                  <a:pt x="36000" y="52985"/>
                  <a:pt x="36000" y="48000"/>
                </a:quadBezTo>
                <a:quadBezTo>
                  <a:pt x="36000" y="43015"/>
                  <a:pt x="39508" y="39508"/>
                </a:quadBezTo>
                <a:quadBezTo>
                  <a:pt x="43015" y="36000"/>
                  <a:pt x="48000" y="36000"/>
                </a:quadBezTo>
                <a:quadBezTo>
                  <a:pt x="52985" y="36000"/>
                  <a:pt x="56492" y="39508"/>
                </a:quadBezTo>
                <a:quadBezTo>
                  <a:pt x="60000" y="43015"/>
                  <a:pt x="60000" y="48000"/>
                </a:quadBezTo>
                <a:quadBezTo>
                  <a:pt x="60000" y="52985"/>
                  <a:pt x="56492" y="56492"/>
                </a:quadBezTo>
                <a:quadBezTo>
                  <a:pt x="52985" y="60000"/>
                  <a:pt x="48000" y="60000"/>
                </a:quadBezTo>
                <a:close/>
                <a:moveTo>
                  <a:pt x="48000" y="56000"/>
                </a:moveTo>
                <a:quadBezTo>
                  <a:pt x="51300" y="56000"/>
                  <a:pt x="53650" y="53650"/>
                </a:quadBezTo>
                <a:quadBezTo>
                  <a:pt x="56000" y="51300"/>
                  <a:pt x="56000" y="48000"/>
                </a:quadBezTo>
                <a:quadBezTo>
                  <a:pt x="56000" y="44700"/>
                  <a:pt x="53650" y="42350"/>
                </a:quadBezTo>
                <a:quadBezTo>
                  <a:pt x="51300" y="40000"/>
                  <a:pt x="48000" y="40000"/>
                </a:quadBezTo>
                <a:quadBezTo>
                  <a:pt x="44700" y="40000"/>
                  <a:pt x="42350" y="42350"/>
                </a:quadBezTo>
                <a:quadBezTo>
                  <a:pt x="40000" y="44700"/>
                  <a:pt x="40000" y="48000"/>
                </a:quadBezTo>
                <a:quadBezTo>
                  <a:pt x="40000" y="51300"/>
                  <a:pt x="42350" y="53650"/>
                </a:quadBezTo>
                <a:quadBezTo>
                  <a:pt x="44700" y="56000"/>
                  <a:pt x="48000" y="56000"/>
                </a:quadBezTo>
                <a:close/>
                <a:moveTo>
                  <a:pt x="68177" y="84462"/>
                </a:moveTo>
                <a:quadBezTo>
                  <a:pt x="69669" y="79015"/>
                  <a:pt x="70454" y="73615"/>
                </a:quadBezTo>
                <a:quadBezTo>
                  <a:pt x="71238" y="68215"/>
                  <a:pt x="71508" y="62923"/>
                </a:quadBezTo>
                <a:quadBezTo>
                  <a:pt x="67977" y="68739"/>
                  <a:pt x="61662" y="72369"/>
                </a:quadBezTo>
                <a:quadBezTo>
                  <a:pt x="55346" y="76000"/>
                  <a:pt x="48000" y="76000"/>
                </a:quadBezTo>
                <a:quadBezTo>
                  <a:pt x="32554" y="76000"/>
                  <a:pt x="24996" y="75073"/>
                </a:quadBezTo>
                <a:quadBezTo>
                  <a:pt x="17438" y="74146"/>
                  <a:pt x="11538" y="72446"/>
                </a:quadBezTo>
                <a:lnTo>
                  <a:pt x="11538" y="68177"/>
                </a:lnTo>
                <a:quadBezTo>
                  <a:pt x="17138" y="69900"/>
                  <a:pt x="22538" y="70646"/>
                </a:quadBezTo>
                <a:quadBezTo>
                  <a:pt x="27938" y="71392"/>
                  <a:pt x="33231" y="71508"/>
                </a:quadBezTo>
                <a:quadBezTo>
                  <a:pt x="27723" y="68515"/>
                  <a:pt x="23862" y="62085"/>
                </a:quadBezTo>
                <a:quadBezTo>
                  <a:pt x="20000" y="55654"/>
                  <a:pt x="20000" y="48000"/>
                </a:quadBezTo>
                <a:quadBezTo>
                  <a:pt x="20000" y="37608"/>
                  <a:pt x="21004" y="28138"/>
                </a:quadBezTo>
                <a:quadBezTo>
                  <a:pt x="22008" y="18669"/>
                  <a:pt x="23477" y="11538"/>
                </a:quadBezTo>
                <a:lnTo>
                  <a:pt x="27746" y="11538"/>
                </a:lnTo>
                <a:quadBezTo>
                  <a:pt x="26331" y="17908"/>
                  <a:pt x="25650" y="22962"/>
                </a:quadBezTo>
                <a:quadBezTo>
                  <a:pt x="24969" y="28015"/>
                  <a:pt x="24492" y="33231"/>
                </a:quadBezTo>
                <a:quadBezTo>
                  <a:pt x="27715" y="27492"/>
                  <a:pt x="34031" y="23746"/>
                </a:quadBezTo>
                <a:quadBezTo>
                  <a:pt x="40346" y="20000"/>
                  <a:pt x="48000" y="20000"/>
                </a:quadBezTo>
                <a:quadBezTo>
                  <a:pt x="60931" y="20000"/>
                  <a:pt x="69323" y="20927"/>
                </a:quadBezTo>
                <a:quadBezTo>
                  <a:pt x="77715" y="21854"/>
                  <a:pt x="84462" y="23477"/>
                </a:quadBezTo>
                <a:lnTo>
                  <a:pt x="84462" y="27746"/>
                </a:lnTo>
                <a:quadBezTo>
                  <a:pt x="78862" y="26254"/>
                  <a:pt x="73231" y="25458"/>
                </a:quadBezTo>
                <a:quadBezTo>
                  <a:pt x="67600" y="24662"/>
                  <a:pt x="62846" y="24415"/>
                </a:quadBezTo>
                <a:quadBezTo>
                  <a:pt x="68969" y="28177"/>
                  <a:pt x="72485" y="34531"/>
                </a:quadBezTo>
                <a:quadBezTo>
                  <a:pt x="76000" y="40885"/>
                  <a:pt x="76000" y="48000"/>
                </a:quadBezTo>
                <a:quadBezTo>
                  <a:pt x="76000" y="62085"/>
                  <a:pt x="74958" y="70323"/>
                </a:quadBezTo>
                <a:quadBezTo>
                  <a:pt x="73915" y="78562"/>
                  <a:pt x="72446" y="84462"/>
                </a:quadBezTo>
                <a:lnTo>
                  <a:pt x="68177" y="84462"/>
                </a:lnTo>
                <a:close/>
                <a:moveTo>
                  <a:pt x="48000" y="72000"/>
                </a:moveTo>
                <a:quadBezTo>
                  <a:pt x="58000" y="72000"/>
                  <a:pt x="65000" y="65000"/>
                </a:quadBezTo>
                <a:quadBezTo>
                  <a:pt x="72000" y="58000"/>
                  <a:pt x="72000" y="48000"/>
                </a:quadBezTo>
                <a:quadBezTo>
                  <a:pt x="72000" y="38000"/>
                  <a:pt x="65000" y="31000"/>
                </a:quadBezTo>
                <a:quadBezTo>
                  <a:pt x="58000" y="24000"/>
                  <a:pt x="48000" y="24000"/>
                </a:quadBezTo>
                <a:quadBezTo>
                  <a:pt x="38000" y="24000"/>
                  <a:pt x="31000" y="31000"/>
                </a:quadBezTo>
                <a:quadBezTo>
                  <a:pt x="24000" y="38000"/>
                  <a:pt x="24000" y="48000"/>
                </a:quadBezTo>
                <a:quadBezTo>
                  <a:pt x="24000" y="58000"/>
                  <a:pt x="31000" y="65000"/>
                </a:quadBezTo>
                <a:quadBezTo>
                  <a:pt x="38000" y="72000"/>
                  <a:pt x="48000" y="7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3" name="TextBox 52"/>
          <p:cNvSpPr txBox="1"/>
          <p:nvPr/>
        </p:nvSpPr>
        <p:spPr>
          <a:xfrm>
            <a:off x="9200974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cyclone</a:t>
            </a:r>
          </a:p>
        </p:txBody>
      </p:sp>
      <p:sp>
        <p:nvSpPr>
          <p:cNvPr id="54" name="Icon dashboard"/>
          <p:cNvSpPr/>
          <p:nvPr/>
        </p:nvSpPr>
        <p:spPr>
          <a:xfrm>
            <a:off x="10393211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4000" y="36000"/>
                </a:moveTo>
                <a:lnTo>
                  <a:pt x="54000" y="16000"/>
                </a:lnTo>
                <a:lnTo>
                  <a:pt x="80000" y="16000"/>
                </a:lnTo>
                <a:lnTo>
                  <a:pt x="80000" y="36000"/>
                </a:lnTo>
                <a:lnTo>
                  <a:pt x="54000" y="36000"/>
                </a:lnTo>
                <a:close/>
                <a:moveTo>
                  <a:pt x="16000" y="48000"/>
                </a:moveTo>
                <a:lnTo>
                  <a:pt x="16000" y="16000"/>
                </a:lnTo>
                <a:lnTo>
                  <a:pt x="42000" y="16000"/>
                </a:lnTo>
                <a:lnTo>
                  <a:pt x="42000" y="48000"/>
                </a:lnTo>
                <a:lnTo>
                  <a:pt x="16000" y="48000"/>
                </a:lnTo>
                <a:close/>
                <a:moveTo>
                  <a:pt x="54000" y="80000"/>
                </a:moveTo>
                <a:lnTo>
                  <a:pt x="54000" y="48000"/>
                </a:lnTo>
                <a:lnTo>
                  <a:pt x="80000" y="48000"/>
                </a:lnTo>
                <a:lnTo>
                  <a:pt x="80000" y="80000"/>
                </a:lnTo>
                <a:lnTo>
                  <a:pt x="54000" y="80000"/>
                </a:lnTo>
                <a:close/>
                <a:moveTo>
                  <a:pt x="16000" y="80000"/>
                </a:moveTo>
                <a:lnTo>
                  <a:pt x="16000" y="60000"/>
                </a:lnTo>
                <a:lnTo>
                  <a:pt x="42000" y="60000"/>
                </a:lnTo>
                <a:lnTo>
                  <a:pt x="42000" y="80000"/>
                </a:lnTo>
                <a:lnTo>
                  <a:pt x="16000" y="80000"/>
                </a:lnTo>
                <a:close/>
                <a:moveTo>
                  <a:pt x="20000" y="44000"/>
                </a:moveTo>
                <a:lnTo>
                  <a:pt x="38000" y="44000"/>
                </a:lnTo>
                <a:lnTo>
                  <a:pt x="38000" y="20000"/>
                </a:lnTo>
                <a:lnTo>
                  <a:pt x="20000" y="20000"/>
                </a:lnTo>
                <a:lnTo>
                  <a:pt x="20000" y="44000"/>
                </a:lnTo>
                <a:close/>
                <a:moveTo>
                  <a:pt x="58000" y="76000"/>
                </a:moveTo>
                <a:lnTo>
                  <a:pt x="76000" y="76000"/>
                </a:lnTo>
                <a:lnTo>
                  <a:pt x="76000" y="52000"/>
                </a:lnTo>
                <a:lnTo>
                  <a:pt x="58000" y="52000"/>
                </a:lnTo>
                <a:lnTo>
                  <a:pt x="58000" y="76000"/>
                </a:lnTo>
                <a:close/>
                <a:moveTo>
                  <a:pt x="58000" y="32000"/>
                </a:moveTo>
                <a:lnTo>
                  <a:pt x="76000" y="32000"/>
                </a:lnTo>
                <a:lnTo>
                  <a:pt x="76000" y="20000"/>
                </a:lnTo>
                <a:lnTo>
                  <a:pt x="58000" y="20000"/>
                </a:lnTo>
                <a:lnTo>
                  <a:pt x="58000" y="32000"/>
                </a:lnTo>
                <a:close/>
                <a:moveTo>
                  <a:pt x="20000" y="76000"/>
                </a:moveTo>
                <a:lnTo>
                  <a:pt x="38000" y="76000"/>
                </a:lnTo>
                <a:lnTo>
                  <a:pt x="38000" y="64000"/>
                </a:lnTo>
                <a:lnTo>
                  <a:pt x="20000" y="64000"/>
                </a:lnTo>
                <a:lnTo>
                  <a:pt x="20000" y="76000"/>
                </a:lnTo>
                <a:close/>
                <a:moveTo>
                  <a:pt x="38000" y="44000"/>
                </a:moveTo>
                <a:close/>
                <a:moveTo>
                  <a:pt x="58000" y="32000"/>
                </a:moveTo>
                <a:close/>
                <a:moveTo>
                  <a:pt x="58000" y="52000"/>
                </a:moveTo>
                <a:close/>
                <a:moveTo>
                  <a:pt x="38000" y="64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5" name="TextBox 54"/>
          <p:cNvSpPr txBox="1"/>
          <p:nvPr/>
        </p:nvSpPr>
        <p:spPr>
          <a:xfrm>
            <a:off x="10087238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dashboard</a:t>
            </a:r>
          </a:p>
        </p:txBody>
      </p:sp>
      <p:sp>
        <p:nvSpPr>
          <p:cNvPr id="56" name="Icon database"/>
          <p:cNvSpPr/>
          <p:nvPr/>
        </p:nvSpPr>
        <p:spPr>
          <a:xfrm>
            <a:off x="11279475" y="179222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0000"/>
                </a:moveTo>
                <a:quadBezTo>
                  <a:pt x="33977" y="80000"/>
                  <a:pt x="24988" y="76427"/>
                </a:quadBezTo>
                <a:quadBezTo>
                  <a:pt x="16000" y="72854"/>
                  <a:pt x="16000" y="67231"/>
                </a:quadBezTo>
                <a:lnTo>
                  <a:pt x="16000" y="28000"/>
                </a:lnTo>
                <a:quadBezTo>
                  <a:pt x="16000" y="23015"/>
                  <a:pt x="25358" y="19508"/>
                </a:quadBezTo>
                <a:quadBezTo>
                  <a:pt x="34715" y="16000"/>
                  <a:pt x="48000" y="16000"/>
                </a:quadBezTo>
                <a:quadBezTo>
                  <a:pt x="61285" y="16000"/>
                  <a:pt x="70642" y="19508"/>
                </a:quadBezTo>
                <a:quadBezTo>
                  <a:pt x="80000" y="23015"/>
                  <a:pt x="80000" y="28000"/>
                </a:quadBezTo>
                <a:lnTo>
                  <a:pt x="80000" y="67231"/>
                </a:lnTo>
                <a:quadBezTo>
                  <a:pt x="80000" y="72854"/>
                  <a:pt x="71012" y="76427"/>
                </a:quadBezTo>
                <a:quadBezTo>
                  <a:pt x="62023" y="80000"/>
                  <a:pt x="48000" y="80000"/>
                </a:quadBezTo>
                <a:close/>
                <a:moveTo>
                  <a:pt x="48000" y="35562"/>
                </a:moveTo>
                <a:quadBezTo>
                  <a:pt x="56592" y="35562"/>
                  <a:pt x="65323" y="33165"/>
                </a:quadBezTo>
                <a:quadBezTo>
                  <a:pt x="74054" y="30769"/>
                  <a:pt x="75769" y="27946"/>
                </a:quadBezTo>
                <a:quadBezTo>
                  <a:pt x="74131" y="24969"/>
                  <a:pt x="65488" y="22485"/>
                </a:quadBezTo>
                <a:quadBezTo>
                  <a:pt x="56846" y="20000"/>
                  <a:pt x="48000" y="20000"/>
                </a:quadBezTo>
                <a:quadBezTo>
                  <a:pt x="39285" y="20000"/>
                  <a:pt x="30535" y="22396"/>
                </a:quadBezTo>
                <a:quadBezTo>
                  <a:pt x="21785" y="24792"/>
                  <a:pt x="20077" y="27638"/>
                </a:quadBezTo>
                <a:quadBezTo>
                  <a:pt x="21708" y="30638"/>
                  <a:pt x="30381" y="33100"/>
                </a:quadBezTo>
                <a:quadBezTo>
                  <a:pt x="39054" y="35562"/>
                  <a:pt x="48000" y="35562"/>
                </a:quadBezTo>
                <a:close/>
                <a:moveTo>
                  <a:pt x="48000" y="55692"/>
                </a:moveTo>
                <a:quadBezTo>
                  <a:pt x="52123" y="55692"/>
                  <a:pt x="56100" y="55292"/>
                </a:quadBezTo>
                <a:quadBezTo>
                  <a:pt x="60077" y="54892"/>
                  <a:pt x="63704" y="54104"/>
                </a:quadBezTo>
                <a:quadBezTo>
                  <a:pt x="67331" y="53315"/>
                  <a:pt x="70442" y="52138"/>
                </a:quadBezTo>
                <a:quadBezTo>
                  <a:pt x="73554" y="50962"/>
                  <a:pt x="76000" y="49485"/>
                </a:quadBezTo>
                <a:lnTo>
                  <a:pt x="76000" y="33100"/>
                </a:lnTo>
                <a:quadBezTo>
                  <a:pt x="73554" y="34577"/>
                  <a:pt x="70442" y="35754"/>
                </a:quadBezTo>
                <a:quadBezTo>
                  <a:pt x="67331" y="36931"/>
                  <a:pt x="63704" y="37719"/>
                </a:quadBezTo>
                <a:quadBezTo>
                  <a:pt x="60077" y="38508"/>
                  <a:pt x="56100" y="38908"/>
                </a:quadBezTo>
                <a:quadBezTo>
                  <a:pt x="52123" y="39308"/>
                  <a:pt x="48000" y="39308"/>
                </a:quadBezTo>
                <a:quadBezTo>
                  <a:pt x="43723" y="39308"/>
                  <a:pt x="39685" y="38869"/>
                </a:quadBezTo>
                <a:quadBezTo>
                  <a:pt x="35646" y="38431"/>
                  <a:pt x="32058" y="37642"/>
                </a:quadBezTo>
                <a:quadBezTo>
                  <a:pt x="28469" y="36854"/>
                  <a:pt x="25408" y="35715"/>
                </a:quadBezTo>
                <a:quadBezTo>
                  <a:pt x="22346" y="34577"/>
                  <a:pt x="20000" y="33100"/>
                </a:quadBezTo>
                <a:lnTo>
                  <a:pt x="20000" y="49485"/>
                </a:lnTo>
                <a:quadBezTo>
                  <a:pt x="22346" y="50962"/>
                  <a:pt x="25408" y="52100"/>
                </a:quadBezTo>
                <a:quadBezTo>
                  <a:pt x="28469" y="53238"/>
                  <a:pt x="32058" y="54027"/>
                </a:quadBezTo>
                <a:quadBezTo>
                  <a:pt x="35646" y="54815"/>
                  <a:pt x="39685" y="55254"/>
                </a:quadBezTo>
                <a:quadBezTo>
                  <a:pt x="43723" y="55692"/>
                  <a:pt x="48000" y="55692"/>
                </a:quadBezTo>
                <a:close/>
                <a:moveTo>
                  <a:pt x="48000" y="76000"/>
                </a:moveTo>
                <a:quadBezTo>
                  <a:pt x="53138" y="76000"/>
                  <a:pt x="57773" y="75415"/>
                </a:quadBezTo>
                <a:quadBezTo>
                  <a:pt x="62408" y="74831"/>
                  <a:pt x="66100" y="73758"/>
                </a:quadBezTo>
                <a:quadBezTo>
                  <a:pt x="69792" y="72685"/>
                  <a:pt x="72377" y="71196"/>
                </a:quadBezTo>
                <a:quadBezTo>
                  <a:pt x="74962" y="69708"/>
                  <a:pt x="76000" y="67977"/>
                </a:quadBezTo>
                <a:lnTo>
                  <a:pt x="76000" y="53485"/>
                </a:lnTo>
                <a:quadBezTo>
                  <a:pt x="73554" y="54962"/>
                  <a:pt x="70442" y="56138"/>
                </a:quadBezTo>
                <a:quadBezTo>
                  <a:pt x="67331" y="57315"/>
                  <a:pt x="63704" y="58104"/>
                </a:quadBezTo>
                <a:quadBezTo>
                  <a:pt x="60077" y="58892"/>
                  <a:pt x="56100" y="59292"/>
                </a:quadBezTo>
                <a:quadBezTo>
                  <a:pt x="52123" y="59692"/>
                  <a:pt x="48000" y="59692"/>
                </a:quadBezTo>
                <a:quadBezTo>
                  <a:pt x="43723" y="59692"/>
                  <a:pt x="39685" y="59254"/>
                </a:quadBezTo>
                <a:quadBezTo>
                  <a:pt x="35646" y="58815"/>
                  <a:pt x="32058" y="58027"/>
                </a:quadBezTo>
                <a:quadBezTo>
                  <a:pt x="28469" y="57238"/>
                  <a:pt x="25408" y="56100"/>
                </a:quadBezTo>
                <a:quadBezTo>
                  <a:pt x="22346" y="54962"/>
                  <a:pt x="20000" y="53485"/>
                </a:quadBezTo>
                <a:lnTo>
                  <a:pt x="20000" y="68000"/>
                </a:lnTo>
                <a:quadBezTo>
                  <a:pt x="21038" y="69808"/>
                  <a:pt x="23612" y="71246"/>
                </a:quadBezTo>
                <a:quadBezTo>
                  <a:pt x="26185" y="72685"/>
                  <a:pt x="29877" y="73758"/>
                </a:quadBezTo>
                <a:quadBezTo>
                  <a:pt x="33569" y="74831"/>
                  <a:pt x="38215" y="75415"/>
                </a:quadBezTo>
                <a:quadBezTo>
                  <a:pt x="42862" y="76000"/>
                  <a:pt x="48000" y="76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7" name="TextBox 56"/>
          <p:cNvSpPr txBox="1"/>
          <p:nvPr/>
        </p:nvSpPr>
        <p:spPr>
          <a:xfrm>
            <a:off x="10973503" y="2075688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database</a:t>
            </a:r>
          </a:p>
        </p:txBody>
      </p:sp>
      <p:sp>
        <p:nvSpPr>
          <p:cNvPr id="58" name="Icon delete"/>
          <p:cNvSpPr/>
          <p:nvPr/>
        </p:nvSpPr>
        <p:spPr>
          <a:xfrm>
            <a:off x="644300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462" y="80000"/>
                </a:moveTo>
                <a:quadBezTo>
                  <a:pt x="27777" y="80000"/>
                  <a:pt x="25888" y="78112"/>
                </a:quadBezTo>
                <a:quadBezTo>
                  <a:pt x="24000" y="76223"/>
                  <a:pt x="24000" y="73538"/>
                </a:quadBezTo>
                <a:lnTo>
                  <a:pt x="24000" y="24000"/>
                </a:lnTo>
                <a:lnTo>
                  <a:pt x="20000" y="24000"/>
                </a:lnTo>
                <a:lnTo>
                  <a:pt x="20000" y="20000"/>
                </a:lnTo>
                <a:lnTo>
                  <a:pt x="36000" y="20000"/>
                </a:lnTo>
                <a:lnTo>
                  <a:pt x="36000" y="16923"/>
                </a:lnTo>
                <a:lnTo>
                  <a:pt x="60000" y="16923"/>
                </a:lnTo>
                <a:lnTo>
                  <a:pt x="60000" y="20000"/>
                </a:lnTo>
                <a:lnTo>
                  <a:pt x="76000" y="20000"/>
                </a:lnTo>
                <a:lnTo>
                  <a:pt x="76000" y="24000"/>
                </a:lnTo>
                <a:lnTo>
                  <a:pt x="72000" y="24000"/>
                </a:lnTo>
                <a:lnTo>
                  <a:pt x="72000" y="73538"/>
                </a:lnTo>
                <a:quadBezTo>
                  <a:pt x="72000" y="76300"/>
                  <a:pt x="70150" y="78150"/>
                </a:quadBezTo>
                <a:quadBezTo>
                  <a:pt x="68300" y="80000"/>
                  <a:pt x="65538" y="80000"/>
                </a:quadBezTo>
                <a:lnTo>
                  <a:pt x="30462" y="80000"/>
                </a:lnTo>
                <a:close/>
                <a:moveTo>
                  <a:pt x="68000" y="24000"/>
                </a:moveTo>
                <a:lnTo>
                  <a:pt x="28000" y="24000"/>
                </a:lnTo>
                <a:lnTo>
                  <a:pt x="28000" y="73538"/>
                </a:lnTo>
                <a:quadBezTo>
                  <a:pt x="28000" y="74615"/>
                  <a:pt x="28692" y="75308"/>
                </a:quadBezTo>
                <a:quadBezTo>
                  <a:pt x="29385" y="76000"/>
                  <a:pt x="30462" y="76000"/>
                </a:quadBezTo>
                <a:lnTo>
                  <a:pt x="65538" y="76000"/>
                </a:lnTo>
                <a:quadBezTo>
                  <a:pt x="66462" y="76000"/>
                  <a:pt x="67231" y="75231"/>
                </a:quadBezTo>
                <a:quadBezTo>
                  <a:pt x="68000" y="74462"/>
                  <a:pt x="68000" y="73538"/>
                </a:quadBezTo>
                <a:lnTo>
                  <a:pt x="68000" y="24000"/>
                </a:lnTo>
                <a:close/>
                <a:moveTo>
                  <a:pt x="39231" y="68000"/>
                </a:moveTo>
                <a:lnTo>
                  <a:pt x="43231" y="68000"/>
                </a:lnTo>
                <a:lnTo>
                  <a:pt x="43231" y="32000"/>
                </a:lnTo>
                <a:lnTo>
                  <a:pt x="39231" y="32000"/>
                </a:lnTo>
                <a:lnTo>
                  <a:pt x="39231" y="68000"/>
                </a:lnTo>
                <a:close/>
                <a:moveTo>
                  <a:pt x="52769" y="68000"/>
                </a:moveTo>
                <a:lnTo>
                  <a:pt x="56769" y="68000"/>
                </a:lnTo>
                <a:lnTo>
                  <a:pt x="56769" y="32000"/>
                </a:lnTo>
                <a:lnTo>
                  <a:pt x="52769" y="32000"/>
                </a:lnTo>
                <a:lnTo>
                  <a:pt x="52769" y="68000"/>
                </a:lnTo>
                <a:close/>
                <a:moveTo>
                  <a:pt x="28000" y="24000"/>
                </a:moveTo>
                <a:lnTo>
                  <a:pt x="28000" y="76000"/>
                </a:lnTo>
                <a:lnTo>
                  <a:pt x="28000" y="2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9" name="TextBox 58"/>
          <p:cNvSpPr txBox="1"/>
          <p:nvPr/>
        </p:nvSpPr>
        <p:spPr>
          <a:xfrm>
            <a:off x="338328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delete</a:t>
            </a:r>
          </a:p>
        </p:txBody>
      </p:sp>
      <p:sp>
        <p:nvSpPr>
          <p:cNvPr id="60" name="Icon description"/>
          <p:cNvSpPr/>
          <p:nvPr/>
        </p:nvSpPr>
        <p:spPr>
          <a:xfrm>
            <a:off x="1530564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4000" y="70000"/>
                </a:moveTo>
                <a:lnTo>
                  <a:pt x="62000" y="70000"/>
                </a:lnTo>
                <a:lnTo>
                  <a:pt x="62000" y="66000"/>
                </a:lnTo>
                <a:lnTo>
                  <a:pt x="34000" y="66000"/>
                </a:lnTo>
                <a:lnTo>
                  <a:pt x="34000" y="70000"/>
                </a:lnTo>
                <a:close/>
                <a:moveTo>
                  <a:pt x="34000" y="54000"/>
                </a:moveTo>
                <a:lnTo>
                  <a:pt x="62000" y="54000"/>
                </a:lnTo>
                <a:lnTo>
                  <a:pt x="62000" y="50000"/>
                </a:lnTo>
                <a:lnTo>
                  <a:pt x="34000" y="50000"/>
                </a:lnTo>
                <a:lnTo>
                  <a:pt x="34000" y="54000"/>
                </a:lnTo>
                <a:close/>
                <a:moveTo>
                  <a:pt x="26462" y="84000"/>
                </a:moveTo>
                <a:quadBezTo>
                  <a:pt x="23700" y="84000"/>
                  <a:pt x="21850" y="82150"/>
                </a:quadBezTo>
                <a:quadBezTo>
                  <a:pt x="20000" y="80300"/>
                  <a:pt x="20000" y="77538"/>
                </a:quadBezTo>
                <a:lnTo>
                  <a:pt x="20000" y="18462"/>
                </a:lnTo>
                <a:quadBezTo>
                  <a:pt x="20000" y="15700"/>
                  <a:pt x="21850" y="13850"/>
                </a:quadBezTo>
                <a:quadBezTo>
                  <a:pt x="23700" y="12000"/>
                  <a:pt x="26462" y="12000"/>
                </a:quadBezTo>
                <a:lnTo>
                  <a:pt x="58000" y="12000"/>
                </a:lnTo>
                <a:lnTo>
                  <a:pt x="76000" y="30000"/>
                </a:lnTo>
                <a:lnTo>
                  <a:pt x="76000" y="77538"/>
                </a:lnTo>
                <a:quadBezTo>
                  <a:pt x="76000" y="80300"/>
                  <a:pt x="74150" y="82150"/>
                </a:quadBezTo>
                <a:quadBezTo>
                  <a:pt x="72300" y="84000"/>
                  <a:pt x="69538" y="84000"/>
                </a:quadBezTo>
                <a:lnTo>
                  <a:pt x="26462" y="84000"/>
                </a:lnTo>
                <a:close/>
                <a:moveTo>
                  <a:pt x="56000" y="32000"/>
                </a:moveTo>
                <a:lnTo>
                  <a:pt x="56000" y="16000"/>
                </a:lnTo>
                <a:lnTo>
                  <a:pt x="26462" y="16000"/>
                </a:lnTo>
                <a:quadBezTo>
                  <a:pt x="25538" y="16000"/>
                  <a:pt x="24769" y="16769"/>
                </a:quadBezTo>
                <a:quadBezTo>
                  <a:pt x="24000" y="17538"/>
                  <a:pt x="24000" y="18462"/>
                </a:quadBezTo>
                <a:lnTo>
                  <a:pt x="24000" y="77538"/>
                </a:lnTo>
                <a:quadBezTo>
                  <a:pt x="24000" y="78462"/>
                  <a:pt x="24769" y="79231"/>
                </a:quadBezTo>
                <a:quadBezTo>
                  <a:pt x="25538" y="80000"/>
                  <a:pt x="26462" y="80000"/>
                </a:quadBezTo>
                <a:lnTo>
                  <a:pt x="69538" y="80000"/>
                </a:lnTo>
                <a:quadBezTo>
                  <a:pt x="70462" y="80000"/>
                  <a:pt x="71231" y="79231"/>
                </a:quadBezTo>
                <a:quadBezTo>
                  <a:pt x="72000" y="78462"/>
                  <a:pt x="72000" y="77538"/>
                </a:quadBezTo>
                <a:lnTo>
                  <a:pt x="72000" y="32000"/>
                </a:lnTo>
                <a:lnTo>
                  <a:pt x="56000" y="32000"/>
                </a:lnTo>
                <a:close/>
                <a:moveTo>
                  <a:pt x="24000" y="16000"/>
                </a:moveTo>
                <a:lnTo>
                  <a:pt x="24000" y="32000"/>
                </a:lnTo>
                <a:lnTo>
                  <a:pt x="24000" y="16000"/>
                </a:lnTo>
                <a:lnTo>
                  <a:pt x="24000" y="80000"/>
                </a:lnTo>
                <a:lnTo>
                  <a:pt x="24000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1" name="TextBox 60"/>
          <p:cNvSpPr txBox="1"/>
          <p:nvPr/>
        </p:nvSpPr>
        <p:spPr>
          <a:xfrm>
            <a:off x="1224592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description</a:t>
            </a:r>
          </a:p>
        </p:txBody>
      </p:sp>
      <p:sp>
        <p:nvSpPr>
          <p:cNvPr id="62" name="Icon devices"/>
          <p:cNvSpPr/>
          <p:nvPr/>
        </p:nvSpPr>
        <p:spPr>
          <a:xfrm>
            <a:off x="2416829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76000"/>
                </a:moveTo>
                <a:lnTo>
                  <a:pt x="12000" y="70000"/>
                </a:lnTo>
                <a:lnTo>
                  <a:pt x="20000" y="70000"/>
                </a:lnTo>
                <a:lnTo>
                  <a:pt x="20000" y="26462"/>
                </a:lnTo>
                <a:quadBezTo>
                  <a:pt x="20000" y="23796"/>
                  <a:pt x="21898" y="21898"/>
                </a:quadBezTo>
                <a:quadBezTo>
                  <a:pt x="23796" y="20000"/>
                  <a:pt x="26462" y="20000"/>
                </a:quadBezTo>
                <a:lnTo>
                  <a:pt x="80000" y="20000"/>
                </a:lnTo>
                <a:lnTo>
                  <a:pt x="80000" y="24000"/>
                </a:lnTo>
                <a:lnTo>
                  <a:pt x="26462" y="24000"/>
                </a:lnTo>
                <a:quadBezTo>
                  <a:pt x="25385" y="24000"/>
                  <a:pt x="24692" y="24692"/>
                </a:quadBezTo>
                <a:quadBezTo>
                  <a:pt x="24000" y="25385"/>
                  <a:pt x="24000" y="26462"/>
                </a:quadBezTo>
                <a:lnTo>
                  <a:pt x="24000" y="70000"/>
                </a:lnTo>
                <a:lnTo>
                  <a:pt x="45923" y="70000"/>
                </a:lnTo>
                <a:lnTo>
                  <a:pt x="45923" y="76000"/>
                </a:lnTo>
                <a:lnTo>
                  <a:pt x="12000" y="76000"/>
                </a:lnTo>
                <a:close/>
                <a:moveTo>
                  <a:pt x="60231" y="76000"/>
                </a:moveTo>
                <a:quadBezTo>
                  <a:pt x="58858" y="76000"/>
                  <a:pt x="57929" y="75071"/>
                </a:quadBezTo>
                <a:quadBezTo>
                  <a:pt x="57000" y="74142"/>
                  <a:pt x="57000" y="72769"/>
                </a:quadBezTo>
                <a:lnTo>
                  <a:pt x="57000" y="36769"/>
                </a:lnTo>
                <a:quadBezTo>
                  <a:pt x="57000" y="35396"/>
                  <a:pt x="57929" y="34467"/>
                </a:quadBezTo>
                <a:quadBezTo>
                  <a:pt x="58858" y="33538"/>
                  <a:pt x="60231" y="33538"/>
                </a:quadBezTo>
                <a:lnTo>
                  <a:pt x="80846" y="33538"/>
                </a:lnTo>
                <a:quadBezTo>
                  <a:pt x="82219" y="33538"/>
                  <a:pt x="83148" y="34467"/>
                </a:quadBezTo>
                <a:quadBezTo>
                  <a:pt x="84077" y="35396"/>
                  <a:pt x="84077" y="36769"/>
                </a:quadBezTo>
                <a:lnTo>
                  <a:pt x="84077" y="72769"/>
                </a:lnTo>
                <a:quadBezTo>
                  <a:pt x="84077" y="74142"/>
                  <a:pt x="83148" y="75071"/>
                </a:quadBezTo>
                <a:quadBezTo>
                  <a:pt x="82219" y="76000"/>
                  <a:pt x="80846" y="76000"/>
                </a:quadBezTo>
                <a:lnTo>
                  <a:pt x="60231" y="76000"/>
                </a:lnTo>
                <a:close/>
                <a:moveTo>
                  <a:pt x="61000" y="70000"/>
                </a:moveTo>
                <a:lnTo>
                  <a:pt x="80077" y="70000"/>
                </a:lnTo>
                <a:lnTo>
                  <a:pt x="80077" y="37538"/>
                </a:lnTo>
                <a:lnTo>
                  <a:pt x="61000" y="37538"/>
                </a:lnTo>
                <a:lnTo>
                  <a:pt x="61000" y="70000"/>
                </a:lnTo>
                <a:close/>
                <a:moveTo>
                  <a:pt x="61000" y="70000"/>
                </a:moveTo>
                <a:lnTo>
                  <a:pt x="80077" y="70000"/>
                </a:lnTo>
                <a:lnTo>
                  <a:pt x="61000" y="7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3" name="TextBox 62"/>
          <p:cNvSpPr txBox="1"/>
          <p:nvPr/>
        </p:nvSpPr>
        <p:spPr>
          <a:xfrm>
            <a:off x="2110857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devices</a:t>
            </a:r>
          </a:p>
        </p:txBody>
      </p:sp>
      <p:sp>
        <p:nvSpPr>
          <p:cNvPr id="64" name="Icon diversity_3"/>
          <p:cNvSpPr/>
          <p:nvPr/>
        </p:nvSpPr>
        <p:spPr>
          <a:xfrm>
            <a:off x="3303094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8077" y="77538"/>
                </a:moveTo>
                <a:lnTo>
                  <a:pt x="8077" y="63538"/>
                </a:lnTo>
                <a:quadBezTo>
                  <a:pt x="8077" y="61138"/>
                  <a:pt x="9658" y="59415"/>
                </a:quadBezTo>
                <a:quadBezTo>
                  <a:pt x="11238" y="57692"/>
                  <a:pt x="13538" y="57538"/>
                </a:quadBezTo>
                <a:lnTo>
                  <a:pt x="25100" y="57538"/>
                </a:lnTo>
                <a:quadBezTo>
                  <a:pt x="26715" y="57538"/>
                  <a:pt x="28169" y="58308"/>
                </a:quadBezTo>
                <a:quadBezTo>
                  <a:pt x="29623" y="59077"/>
                  <a:pt x="30569" y="60546"/>
                </a:quadBezTo>
                <a:quadBezTo>
                  <a:pt x="33623" y="64831"/>
                  <a:pt x="38181" y="67185"/>
                </a:quadBezTo>
                <a:quadBezTo>
                  <a:pt x="42738" y="69538"/>
                  <a:pt x="48000" y="69538"/>
                </a:quadBezTo>
                <a:quadBezTo>
                  <a:pt x="53285" y="69538"/>
                  <a:pt x="57881" y="67185"/>
                </a:quadBezTo>
                <a:quadBezTo>
                  <a:pt x="62477" y="64831"/>
                  <a:pt x="65508" y="60546"/>
                </a:quadBezTo>
                <a:quadBezTo>
                  <a:pt x="66500" y="59077"/>
                  <a:pt x="67942" y="58308"/>
                </a:quadBezTo>
                <a:quadBezTo>
                  <a:pt x="69385" y="57538"/>
                  <a:pt x="70900" y="57538"/>
                </a:quadBezTo>
                <a:lnTo>
                  <a:pt x="82462" y="57538"/>
                </a:lnTo>
                <a:quadBezTo>
                  <a:pt x="84785" y="57692"/>
                  <a:pt x="86392" y="59415"/>
                </a:quadBezTo>
                <a:quadBezTo>
                  <a:pt x="88000" y="61138"/>
                  <a:pt x="88000" y="63538"/>
                </a:quadBezTo>
                <a:lnTo>
                  <a:pt x="88000" y="77538"/>
                </a:lnTo>
                <a:lnTo>
                  <a:pt x="64000" y="77538"/>
                </a:lnTo>
                <a:lnTo>
                  <a:pt x="64000" y="67823"/>
                </a:lnTo>
                <a:quadBezTo>
                  <a:pt x="60654" y="70554"/>
                  <a:pt x="56565" y="72046"/>
                </a:quadBezTo>
                <a:quadBezTo>
                  <a:pt x="52477" y="73538"/>
                  <a:pt x="48000" y="73538"/>
                </a:quadBezTo>
                <a:quadBezTo>
                  <a:pt x="43623" y="73538"/>
                  <a:pt x="39562" y="72073"/>
                </a:quadBezTo>
                <a:quadBezTo>
                  <a:pt x="35500" y="70608"/>
                  <a:pt x="32077" y="67877"/>
                </a:quadBezTo>
                <a:lnTo>
                  <a:pt x="32077" y="77538"/>
                </a:lnTo>
                <a:lnTo>
                  <a:pt x="8077" y="77538"/>
                </a:lnTo>
                <a:close/>
                <a:moveTo>
                  <a:pt x="48000" y="62462"/>
                </a:moveTo>
                <a:quadBezTo>
                  <a:pt x="44585" y="62462"/>
                  <a:pt x="41531" y="60865"/>
                </a:quadBezTo>
                <a:quadBezTo>
                  <a:pt x="38477" y="59269"/>
                  <a:pt x="36408" y="56477"/>
                </a:quadBezTo>
                <a:quadBezTo>
                  <a:pt x="35015" y="54515"/>
                  <a:pt x="33119" y="53142"/>
                </a:quadBezTo>
                <a:quadBezTo>
                  <a:pt x="31223" y="51769"/>
                  <a:pt x="28992" y="51154"/>
                </a:quadBezTo>
                <a:quadBezTo>
                  <a:pt x="31885" y="48608"/>
                  <a:pt x="37485" y="47304"/>
                </a:quadBezTo>
                <a:quadBezTo>
                  <a:pt x="43085" y="46000"/>
                  <a:pt x="48000" y="46000"/>
                </a:quadBezTo>
                <a:quadBezTo>
                  <a:pt x="52915" y="46000"/>
                  <a:pt x="58515" y="47304"/>
                </a:quadBezTo>
                <a:quadBezTo>
                  <a:pt x="64115" y="48608"/>
                  <a:pt x="67085" y="51154"/>
                </a:quadBezTo>
                <a:quadBezTo>
                  <a:pt x="64877" y="51769"/>
                  <a:pt x="62969" y="53142"/>
                </a:quadBezTo>
                <a:quadBezTo>
                  <a:pt x="61062" y="54515"/>
                  <a:pt x="59669" y="56477"/>
                </a:quadBezTo>
                <a:quadBezTo>
                  <a:pt x="57700" y="59369"/>
                  <a:pt x="54608" y="60915"/>
                </a:quadBezTo>
                <a:quadBezTo>
                  <a:pt x="51515" y="62462"/>
                  <a:pt x="48000" y="62462"/>
                </a:quadBezTo>
                <a:close/>
                <a:moveTo>
                  <a:pt x="18308" y="50462"/>
                </a:moveTo>
                <a:quadBezTo>
                  <a:pt x="14231" y="50462"/>
                  <a:pt x="11269" y="47500"/>
                </a:quadBezTo>
                <a:quadBezTo>
                  <a:pt x="8308" y="44538"/>
                  <a:pt x="8308" y="40462"/>
                </a:quadBezTo>
                <a:quadBezTo>
                  <a:pt x="8308" y="36285"/>
                  <a:pt x="11269" y="33373"/>
                </a:quadBezTo>
                <a:quadBezTo>
                  <a:pt x="14231" y="30462"/>
                  <a:pt x="18308" y="30462"/>
                </a:quadBezTo>
                <a:quadBezTo>
                  <a:pt x="22485" y="30462"/>
                  <a:pt x="25396" y="33373"/>
                </a:quadBezTo>
                <a:quadBezTo>
                  <a:pt x="28308" y="36285"/>
                  <a:pt x="28308" y="40462"/>
                </a:quadBezTo>
                <a:quadBezTo>
                  <a:pt x="28308" y="44538"/>
                  <a:pt x="25396" y="47500"/>
                </a:quadBezTo>
                <a:quadBezTo>
                  <a:pt x="22485" y="50462"/>
                  <a:pt x="18308" y="50462"/>
                </a:quadBezTo>
                <a:close/>
                <a:moveTo>
                  <a:pt x="77692" y="50462"/>
                </a:moveTo>
                <a:quadBezTo>
                  <a:pt x="73615" y="50462"/>
                  <a:pt x="70654" y="47500"/>
                </a:quadBezTo>
                <a:quadBezTo>
                  <a:pt x="67692" y="44538"/>
                  <a:pt x="67692" y="40462"/>
                </a:quadBezTo>
                <a:quadBezTo>
                  <a:pt x="67692" y="36285"/>
                  <a:pt x="70654" y="33373"/>
                </a:quadBezTo>
                <a:quadBezTo>
                  <a:pt x="73615" y="30462"/>
                  <a:pt x="77692" y="30462"/>
                </a:quadBezTo>
                <a:quadBezTo>
                  <a:pt x="81869" y="30462"/>
                  <a:pt x="84781" y="33373"/>
                </a:quadBezTo>
                <a:quadBezTo>
                  <a:pt x="87692" y="36285"/>
                  <a:pt x="87692" y="40462"/>
                </a:quadBezTo>
                <a:quadBezTo>
                  <a:pt x="87692" y="44538"/>
                  <a:pt x="84781" y="47500"/>
                </a:quadBezTo>
                <a:quadBezTo>
                  <a:pt x="81869" y="50462"/>
                  <a:pt x="77692" y="50462"/>
                </a:quadBezTo>
                <a:close/>
                <a:moveTo>
                  <a:pt x="48000" y="38462"/>
                </a:moveTo>
                <a:quadBezTo>
                  <a:pt x="43923" y="38462"/>
                  <a:pt x="40962" y="35500"/>
                </a:quadBezTo>
                <a:quadBezTo>
                  <a:pt x="38000" y="32538"/>
                  <a:pt x="38000" y="28462"/>
                </a:quadBezTo>
                <a:quadBezTo>
                  <a:pt x="38000" y="24285"/>
                  <a:pt x="40962" y="21373"/>
                </a:quadBezTo>
                <a:quadBezTo>
                  <a:pt x="43923" y="18462"/>
                  <a:pt x="48000" y="18462"/>
                </a:quadBezTo>
                <a:quadBezTo>
                  <a:pt x="52177" y="18462"/>
                  <a:pt x="55088" y="21373"/>
                </a:quadBezTo>
                <a:quadBezTo>
                  <a:pt x="58000" y="24285"/>
                  <a:pt x="58000" y="28462"/>
                </a:quadBezTo>
                <a:quadBezTo>
                  <a:pt x="58000" y="32538"/>
                  <a:pt x="55088" y="35500"/>
                </a:quadBezTo>
                <a:quadBezTo>
                  <a:pt x="52177" y="38462"/>
                  <a:pt x="48000" y="38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5" name="TextBox 64"/>
          <p:cNvSpPr txBox="1"/>
          <p:nvPr/>
        </p:nvSpPr>
        <p:spPr>
          <a:xfrm>
            <a:off x="2997121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diversity 3</a:t>
            </a:r>
          </a:p>
        </p:txBody>
      </p:sp>
      <p:sp>
        <p:nvSpPr>
          <p:cNvPr id="66" name="Icon download"/>
          <p:cNvSpPr/>
          <p:nvPr/>
        </p:nvSpPr>
        <p:spPr>
          <a:xfrm>
            <a:off x="4189358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62308"/>
                </a:moveTo>
                <a:lnTo>
                  <a:pt x="33846" y="48154"/>
                </a:lnTo>
                <a:lnTo>
                  <a:pt x="36677" y="45277"/>
                </a:lnTo>
                <a:lnTo>
                  <a:pt x="46000" y="54600"/>
                </a:lnTo>
                <a:lnTo>
                  <a:pt x="46000" y="20000"/>
                </a:lnTo>
                <a:lnTo>
                  <a:pt x="50000" y="20000"/>
                </a:lnTo>
                <a:lnTo>
                  <a:pt x="50000" y="54600"/>
                </a:lnTo>
                <a:lnTo>
                  <a:pt x="59323" y="45277"/>
                </a:lnTo>
                <a:lnTo>
                  <a:pt x="62154" y="48154"/>
                </a:lnTo>
                <a:lnTo>
                  <a:pt x="48000" y="62308"/>
                </a:lnTo>
                <a:close/>
                <a:moveTo>
                  <a:pt x="26462" y="76000"/>
                </a:moveTo>
                <a:quadBezTo>
                  <a:pt x="23700" y="76000"/>
                  <a:pt x="21850" y="74150"/>
                </a:quadBezTo>
                <a:quadBezTo>
                  <a:pt x="20000" y="72300"/>
                  <a:pt x="20000" y="69538"/>
                </a:quadBezTo>
                <a:lnTo>
                  <a:pt x="20000" y="59846"/>
                </a:lnTo>
                <a:lnTo>
                  <a:pt x="24000" y="59846"/>
                </a:lnTo>
                <a:lnTo>
                  <a:pt x="24000" y="69538"/>
                </a:lnTo>
                <a:quadBezTo>
                  <a:pt x="24000" y="70462"/>
                  <a:pt x="24769" y="71231"/>
                </a:quadBezTo>
                <a:quadBezTo>
                  <a:pt x="25538" y="72000"/>
                  <a:pt x="26462" y="72000"/>
                </a:quadBezTo>
                <a:lnTo>
                  <a:pt x="69538" y="72000"/>
                </a:lnTo>
                <a:quadBezTo>
                  <a:pt x="70462" y="72000"/>
                  <a:pt x="71231" y="71231"/>
                </a:quadBezTo>
                <a:quadBezTo>
                  <a:pt x="72000" y="70462"/>
                  <a:pt x="72000" y="69538"/>
                </a:quadBezTo>
                <a:lnTo>
                  <a:pt x="72000" y="59846"/>
                </a:lnTo>
                <a:lnTo>
                  <a:pt x="76000" y="59846"/>
                </a:lnTo>
                <a:lnTo>
                  <a:pt x="76000" y="69538"/>
                </a:lnTo>
                <a:quadBezTo>
                  <a:pt x="76000" y="72300"/>
                  <a:pt x="74150" y="74150"/>
                </a:quadBezTo>
                <a:quadBezTo>
                  <a:pt x="72300" y="76000"/>
                  <a:pt x="69538" y="76000"/>
                </a:quadBezTo>
                <a:lnTo>
                  <a:pt x="26462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7" name="TextBox 66"/>
          <p:cNvSpPr txBox="1"/>
          <p:nvPr/>
        </p:nvSpPr>
        <p:spPr>
          <a:xfrm>
            <a:off x="3883386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download</a:t>
            </a:r>
          </a:p>
        </p:txBody>
      </p:sp>
      <p:sp>
        <p:nvSpPr>
          <p:cNvPr id="68" name="Icon eco"/>
          <p:cNvSpPr/>
          <p:nvPr/>
        </p:nvSpPr>
        <p:spPr>
          <a:xfrm>
            <a:off x="5075623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369" y="75592"/>
                </a:moveTo>
                <a:quadBezTo>
                  <a:pt x="20408" y="71592"/>
                  <a:pt x="18204" y="66445"/>
                </a:quadBezTo>
                <a:quadBezTo>
                  <a:pt x="16000" y="61297"/>
                  <a:pt x="16000" y="55800"/>
                </a:quadBezTo>
                <a:quadBezTo>
                  <a:pt x="16000" y="50269"/>
                  <a:pt x="18131" y="44773"/>
                </a:quadBezTo>
                <a:quadBezTo>
                  <a:pt x="20262" y="39277"/>
                  <a:pt x="24969" y="34569"/>
                </a:quadBezTo>
                <a:quadBezTo>
                  <a:pt x="28777" y="30762"/>
                  <a:pt x="34619" y="28531"/>
                </a:quadBezTo>
                <a:quadBezTo>
                  <a:pt x="40462" y="26300"/>
                  <a:pt x="47319" y="25273"/>
                </a:quadBezTo>
                <a:quadBezTo>
                  <a:pt x="54177" y="24246"/>
                  <a:pt x="61535" y="24138"/>
                </a:quadBezTo>
                <a:quadBezTo>
                  <a:pt x="68892" y="24031"/>
                  <a:pt x="75708" y="24492"/>
                </a:quadBezTo>
                <a:quadBezTo>
                  <a:pt x="76200" y="31092"/>
                  <a:pt x="76092" y="38415"/>
                </a:quadBezTo>
                <a:quadBezTo>
                  <a:pt x="75985" y="45738"/>
                  <a:pt x="74904" y="52619"/>
                </a:quadBezTo>
                <a:quadBezTo>
                  <a:pt x="73823" y="59500"/>
                  <a:pt x="71604" y="65388"/>
                </a:quadBezTo>
                <a:quadBezTo>
                  <a:pt x="69385" y="71277"/>
                  <a:pt x="65631" y="75031"/>
                </a:quadBezTo>
                <a:quadBezTo>
                  <a:pt x="61023" y="79715"/>
                  <a:pt x="55688" y="81858"/>
                </a:quadBezTo>
                <a:quadBezTo>
                  <a:pt x="50354" y="84000"/>
                  <a:pt x="44980" y="84000"/>
                </a:quadBezTo>
                <a:quadBezTo>
                  <a:pt x="39346" y="84000"/>
                  <a:pt x="33838" y="81796"/>
                </a:quadBezTo>
                <a:quadBezTo>
                  <a:pt x="28331" y="79592"/>
                  <a:pt x="24369" y="75592"/>
                </a:quadBezTo>
                <a:close/>
                <a:moveTo>
                  <a:pt x="31108" y="75877"/>
                </a:moveTo>
                <a:quadBezTo>
                  <a:pt x="34238" y="77962"/>
                  <a:pt x="37904" y="78981"/>
                </a:quadBezTo>
                <a:quadBezTo>
                  <a:pt x="41569" y="80000"/>
                  <a:pt x="45000" y="80000"/>
                </a:quadBezTo>
                <a:quadBezTo>
                  <a:pt x="49652" y="80000"/>
                  <a:pt x="54203" y="78188"/>
                </a:quadBezTo>
                <a:quadBezTo>
                  <a:pt x="58754" y="76377"/>
                  <a:pt x="62777" y="72200"/>
                </a:quadBezTo>
                <a:quadBezTo>
                  <a:pt x="64563" y="70400"/>
                  <a:pt x="66398" y="67150"/>
                </a:quadBezTo>
                <a:quadBezTo>
                  <a:pt x="68233" y="63900"/>
                  <a:pt x="69572" y="58650"/>
                </a:quadBezTo>
                <a:quadBezTo>
                  <a:pt x="70911" y="53400"/>
                  <a:pt x="71606" y="45950"/>
                </a:quadBezTo>
                <a:quadBezTo>
                  <a:pt x="72300" y="38500"/>
                  <a:pt x="71954" y="28200"/>
                </a:quadBezTo>
                <a:quadBezTo>
                  <a:pt x="67054" y="28000"/>
                  <a:pt x="60827" y="28127"/>
                </a:quadBezTo>
                <a:quadBezTo>
                  <a:pt x="54600" y="28254"/>
                  <a:pt x="48385" y="29192"/>
                </a:quadBezTo>
                <a:quadBezTo>
                  <a:pt x="42169" y="30131"/>
                  <a:pt x="36708" y="32054"/>
                </a:quadBezTo>
                <a:quadBezTo>
                  <a:pt x="31246" y="33977"/>
                  <a:pt x="27977" y="37246"/>
                </a:quadBezTo>
                <a:quadBezTo>
                  <a:pt x="23554" y="41669"/>
                  <a:pt x="21777" y="46415"/>
                </a:quadBezTo>
                <a:quadBezTo>
                  <a:pt x="20000" y="51162"/>
                  <a:pt x="20000" y="55262"/>
                </a:quadBezTo>
                <a:quadBezTo>
                  <a:pt x="20000" y="60700"/>
                  <a:pt x="22173" y="65419"/>
                </a:quadBezTo>
                <a:quadBezTo>
                  <a:pt x="24346" y="70138"/>
                  <a:pt x="27431" y="72785"/>
                </a:quadBezTo>
                <a:quadBezTo>
                  <a:pt x="29938" y="65708"/>
                  <a:pt x="35185" y="59204"/>
                </a:quadBezTo>
                <a:quadBezTo>
                  <a:pt x="40431" y="52700"/>
                  <a:pt x="49862" y="47077"/>
                </a:quadBezTo>
                <a:quadBezTo>
                  <a:pt x="42969" y="53069"/>
                  <a:pt x="38273" y="59827"/>
                </a:quadBezTo>
                <a:quadBezTo>
                  <a:pt x="33577" y="66585"/>
                  <a:pt x="31108" y="75877"/>
                </a:quadBezTo>
                <a:close/>
                <a:moveTo>
                  <a:pt x="31108" y="75877"/>
                </a:moveTo>
                <a:close/>
                <a:moveTo>
                  <a:pt x="31108" y="758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9" name="TextBox 68"/>
          <p:cNvSpPr txBox="1"/>
          <p:nvPr/>
        </p:nvSpPr>
        <p:spPr>
          <a:xfrm>
            <a:off x="4769651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eco</a:t>
            </a:r>
          </a:p>
        </p:txBody>
      </p:sp>
      <p:sp>
        <p:nvSpPr>
          <p:cNvPr id="70" name="Icon edit"/>
          <p:cNvSpPr/>
          <p:nvPr/>
        </p:nvSpPr>
        <p:spPr>
          <a:xfrm>
            <a:off x="5961888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76000"/>
                </a:moveTo>
                <a:lnTo>
                  <a:pt x="24392" y="76000"/>
                </a:lnTo>
                <a:lnTo>
                  <a:pt x="67185" y="33208"/>
                </a:lnTo>
                <a:lnTo>
                  <a:pt x="62792" y="28815"/>
                </a:lnTo>
                <a:lnTo>
                  <a:pt x="20000" y="71608"/>
                </a:lnTo>
                <a:lnTo>
                  <a:pt x="20000" y="76000"/>
                </a:lnTo>
                <a:close/>
                <a:moveTo>
                  <a:pt x="16000" y="80000"/>
                </a:moveTo>
                <a:lnTo>
                  <a:pt x="16000" y="69923"/>
                </a:lnTo>
                <a:lnTo>
                  <a:pt x="68723" y="17146"/>
                </a:lnTo>
                <a:quadBezTo>
                  <a:pt x="69338" y="16598"/>
                  <a:pt x="70080" y="16299"/>
                </a:quadBezTo>
                <a:quadBezTo>
                  <a:pt x="70823" y="16000"/>
                  <a:pt x="71629" y="16000"/>
                </a:quadBezTo>
                <a:quadBezTo>
                  <a:pt x="72435" y="16000"/>
                  <a:pt x="73191" y="16254"/>
                </a:quadBezTo>
                <a:quadBezTo>
                  <a:pt x="73946" y="16508"/>
                  <a:pt x="74585" y="17169"/>
                </a:quadBezTo>
                <a:lnTo>
                  <a:pt x="78854" y="21462"/>
                </a:lnTo>
                <a:quadBezTo>
                  <a:pt x="79515" y="22100"/>
                  <a:pt x="79758" y="22862"/>
                </a:quadBezTo>
                <a:quadBezTo>
                  <a:pt x="80000" y="23625"/>
                  <a:pt x="80000" y="24387"/>
                </a:quadBezTo>
                <a:quadBezTo>
                  <a:pt x="80000" y="25200"/>
                  <a:pt x="79726" y="25943"/>
                </a:quadBezTo>
                <a:quadBezTo>
                  <a:pt x="79452" y="26685"/>
                  <a:pt x="78854" y="27300"/>
                </a:quadBezTo>
                <a:lnTo>
                  <a:pt x="26077" y="80000"/>
                </a:lnTo>
                <a:lnTo>
                  <a:pt x="16000" y="80000"/>
                </a:lnTo>
                <a:close/>
                <a:moveTo>
                  <a:pt x="76077" y="24369"/>
                </a:moveTo>
                <a:lnTo>
                  <a:pt x="71631" y="19923"/>
                </a:lnTo>
                <a:lnTo>
                  <a:pt x="76077" y="24369"/>
                </a:lnTo>
                <a:close/>
                <a:moveTo>
                  <a:pt x="64950" y="31050"/>
                </a:moveTo>
                <a:lnTo>
                  <a:pt x="62792" y="28815"/>
                </a:lnTo>
                <a:lnTo>
                  <a:pt x="67185" y="33208"/>
                </a:lnTo>
                <a:lnTo>
                  <a:pt x="64950" y="3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" name="TextBox 70"/>
          <p:cNvSpPr txBox="1"/>
          <p:nvPr/>
        </p:nvSpPr>
        <p:spPr>
          <a:xfrm>
            <a:off x="5655915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edit</a:t>
            </a:r>
          </a:p>
        </p:txBody>
      </p:sp>
      <p:sp>
        <p:nvSpPr>
          <p:cNvPr id="72" name="Icon emoji_events"/>
          <p:cNvSpPr/>
          <p:nvPr/>
        </p:nvSpPr>
        <p:spPr>
          <a:xfrm>
            <a:off x="6848152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538" y="80000"/>
                </a:moveTo>
                <a:lnTo>
                  <a:pt x="33538" y="76000"/>
                </a:lnTo>
                <a:lnTo>
                  <a:pt x="46000" y="76000"/>
                </a:lnTo>
                <a:lnTo>
                  <a:pt x="46000" y="60985"/>
                </a:lnTo>
                <a:quadBezTo>
                  <a:pt x="40715" y="60038"/>
                  <a:pt x="36750" y="56565"/>
                </a:quadBezTo>
                <a:quadBezTo>
                  <a:pt x="32785" y="53092"/>
                  <a:pt x="31292" y="47954"/>
                </a:quadBezTo>
                <a:quadBezTo>
                  <a:pt x="24946" y="47208"/>
                  <a:pt x="20473" y="42750"/>
                </a:quadBezTo>
                <a:quadBezTo>
                  <a:pt x="16000" y="38292"/>
                  <a:pt x="16000" y="32000"/>
                </a:quadBezTo>
                <a:lnTo>
                  <a:pt x="16000" y="28000"/>
                </a:lnTo>
                <a:quadBezTo>
                  <a:pt x="16000" y="26392"/>
                  <a:pt x="17196" y="25196"/>
                </a:quadBezTo>
                <a:quadBezTo>
                  <a:pt x="18392" y="24000"/>
                  <a:pt x="20000" y="24000"/>
                </a:quadBezTo>
                <a:lnTo>
                  <a:pt x="30615" y="24000"/>
                </a:lnTo>
                <a:lnTo>
                  <a:pt x="30615" y="16000"/>
                </a:lnTo>
                <a:lnTo>
                  <a:pt x="65385" y="16000"/>
                </a:lnTo>
                <a:lnTo>
                  <a:pt x="65385" y="24000"/>
                </a:lnTo>
                <a:lnTo>
                  <a:pt x="76000" y="24000"/>
                </a:lnTo>
                <a:quadBezTo>
                  <a:pt x="77608" y="24000"/>
                  <a:pt x="78804" y="25196"/>
                </a:quadBezTo>
                <a:quadBezTo>
                  <a:pt x="80000" y="26392"/>
                  <a:pt x="80000" y="28000"/>
                </a:quadBezTo>
                <a:lnTo>
                  <a:pt x="80000" y="32000"/>
                </a:lnTo>
                <a:quadBezTo>
                  <a:pt x="80000" y="38292"/>
                  <a:pt x="75527" y="42750"/>
                </a:quadBezTo>
                <a:quadBezTo>
                  <a:pt x="71054" y="47208"/>
                  <a:pt x="64708" y="47954"/>
                </a:quadBezTo>
                <a:quadBezTo>
                  <a:pt x="63215" y="53092"/>
                  <a:pt x="59250" y="56565"/>
                </a:quadBezTo>
                <a:quadBezTo>
                  <a:pt x="55285" y="60038"/>
                  <a:pt x="50000" y="60985"/>
                </a:quadBezTo>
                <a:lnTo>
                  <a:pt x="50000" y="76000"/>
                </a:lnTo>
                <a:lnTo>
                  <a:pt x="62462" y="76000"/>
                </a:lnTo>
                <a:lnTo>
                  <a:pt x="62462" y="80000"/>
                </a:lnTo>
                <a:lnTo>
                  <a:pt x="33538" y="80000"/>
                </a:lnTo>
                <a:close/>
                <a:moveTo>
                  <a:pt x="30615" y="43662"/>
                </a:moveTo>
                <a:lnTo>
                  <a:pt x="30615" y="28000"/>
                </a:lnTo>
                <a:lnTo>
                  <a:pt x="20000" y="28000"/>
                </a:lnTo>
                <a:lnTo>
                  <a:pt x="20000" y="32000"/>
                </a:lnTo>
                <a:quadBezTo>
                  <a:pt x="20000" y="36569"/>
                  <a:pt x="23046" y="39850"/>
                </a:quadBezTo>
                <a:quadBezTo>
                  <a:pt x="26092" y="43131"/>
                  <a:pt x="30615" y="43662"/>
                </a:quadBezTo>
                <a:close/>
                <a:moveTo>
                  <a:pt x="48000" y="57077"/>
                </a:moveTo>
                <a:quadBezTo>
                  <a:pt x="53538" y="57077"/>
                  <a:pt x="57385" y="53231"/>
                </a:quadBezTo>
                <a:quadBezTo>
                  <a:pt x="61231" y="49385"/>
                  <a:pt x="61231" y="43846"/>
                </a:quadBezTo>
                <a:lnTo>
                  <a:pt x="61231" y="20000"/>
                </a:lnTo>
                <a:lnTo>
                  <a:pt x="34769" y="20000"/>
                </a:lnTo>
                <a:lnTo>
                  <a:pt x="34769" y="43846"/>
                </a:lnTo>
                <a:quadBezTo>
                  <a:pt x="34769" y="49385"/>
                  <a:pt x="38615" y="53231"/>
                </a:quadBezTo>
                <a:quadBezTo>
                  <a:pt x="42462" y="57077"/>
                  <a:pt x="48000" y="57077"/>
                </a:quadBezTo>
                <a:close/>
                <a:moveTo>
                  <a:pt x="65385" y="43662"/>
                </a:moveTo>
                <a:quadBezTo>
                  <a:pt x="69908" y="43131"/>
                  <a:pt x="72954" y="39850"/>
                </a:quadBezTo>
                <a:quadBezTo>
                  <a:pt x="76000" y="36569"/>
                  <a:pt x="76000" y="32000"/>
                </a:quadBezTo>
                <a:lnTo>
                  <a:pt x="76000" y="28000"/>
                </a:lnTo>
                <a:lnTo>
                  <a:pt x="65385" y="28000"/>
                </a:lnTo>
                <a:lnTo>
                  <a:pt x="65385" y="43662"/>
                </a:lnTo>
                <a:close/>
                <a:moveTo>
                  <a:pt x="48000" y="385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3" name="TextBox 72"/>
          <p:cNvSpPr txBox="1"/>
          <p:nvPr/>
        </p:nvSpPr>
        <p:spPr>
          <a:xfrm>
            <a:off x="6542180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emoji events</a:t>
            </a:r>
          </a:p>
        </p:txBody>
      </p:sp>
      <p:sp>
        <p:nvSpPr>
          <p:cNvPr id="74" name="Icon engineering"/>
          <p:cNvSpPr/>
          <p:nvPr/>
        </p:nvSpPr>
        <p:spPr>
          <a:xfrm>
            <a:off x="7734417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662" y="80769"/>
                </a:moveTo>
                <a:lnTo>
                  <a:pt x="7662" y="74185"/>
                </a:lnTo>
                <a:quadBezTo>
                  <a:pt x="7662" y="71577"/>
                  <a:pt x="9054" y="69523"/>
                </a:quadBezTo>
                <a:quadBezTo>
                  <a:pt x="10446" y="67469"/>
                  <a:pt x="12985" y="66200"/>
                </a:quadBezTo>
                <a:quadBezTo>
                  <a:pt x="17854" y="63754"/>
                  <a:pt x="23792" y="62262"/>
                </a:quadBezTo>
                <a:quadBezTo>
                  <a:pt x="29731" y="60769"/>
                  <a:pt x="35662" y="60769"/>
                </a:quadBezTo>
                <a:quadBezTo>
                  <a:pt x="41592" y="60769"/>
                  <a:pt x="47531" y="62262"/>
                </a:quadBezTo>
                <a:quadBezTo>
                  <a:pt x="53469" y="63754"/>
                  <a:pt x="58338" y="66200"/>
                </a:quadBezTo>
                <a:quadBezTo>
                  <a:pt x="60877" y="67469"/>
                  <a:pt x="62269" y="69523"/>
                </a:quadBezTo>
                <a:quadBezTo>
                  <a:pt x="63662" y="71577"/>
                  <a:pt x="63662" y="74185"/>
                </a:quadBezTo>
                <a:lnTo>
                  <a:pt x="63662" y="80769"/>
                </a:lnTo>
                <a:lnTo>
                  <a:pt x="7662" y="80769"/>
                </a:lnTo>
                <a:close/>
                <a:moveTo>
                  <a:pt x="11662" y="76769"/>
                </a:moveTo>
                <a:lnTo>
                  <a:pt x="59662" y="76769"/>
                </a:lnTo>
                <a:lnTo>
                  <a:pt x="59662" y="74185"/>
                </a:lnTo>
                <a:quadBezTo>
                  <a:pt x="59662" y="72546"/>
                  <a:pt x="58727" y="71492"/>
                </a:quadBezTo>
                <a:quadBezTo>
                  <a:pt x="57792" y="70438"/>
                  <a:pt x="56431" y="69708"/>
                </a:quadBezTo>
                <a:quadBezTo>
                  <a:pt x="52677" y="67754"/>
                  <a:pt x="47027" y="66262"/>
                </a:quadBezTo>
                <a:quadBezTo>
                  <a:pt x="41377" y="64769"/>
                  <a:pt x="35662" y="64769"/>
                </a:quadBezTo>
                <a:quadBezTo>
                  <a:pt x="29946" y="64769"/>
                  <a:pt x="24296" y="66262"/>
                </a:quadBezTo>
                <a:quadBezTo>
                  <a:pt x="18646" y="67754"/>
                  <a:pt x="14892" y="69708"/>
                </a:quadBezTo>
                <a:quadBezTo>
                  <a:pt x="13531" y="70438"/>
                  <a:pt x="12596" y="71492"/>
                </a:quadBezTo>
                <a:quadBezTo>
                  <a:pt x="11662" y="72546"/>
                  <a:pt x="11662" y="74185"/>
                </a:quadBezTo>
                <a:lnTo>
                  <a:pt x="11662" y="76769"/>
                </a:lnTo>
                <a:close/>
                <a:moveTo>
                  <a:pt x="35662" y="51846"/>
                </a:moveTo>
                <a:quadBezTo>
                  <a:pt x="30523" y="51846"/>
                  <a:pt x="27092" y="48415"/>
                </a:quadBezTo>
                <a:quadBezTo>
                  <a:pt x="23662" y="44985"/>
                  <a:pt x="23662" y="39385"/>
                </a:quadBezTo>
                <a:lnTo>
                  <a:pt x="22815" y="39385"/>
                </a:lnTo>
                <a:quadBezTo>
                  <a:pt x="22146" y="39385"/>
                  <a:pt x="21712" y="38950"/>
                </a:quadBezTo>
                <a:quadBezTo>
                  <a:pt x="21277" y="38515"/>
                  <a:pt x="21277" y="37846"/>
                </a:quadBezTo>
                <a:quadBezTo>
                  <a:pt x="21277" y="37177"/>
                  <a:pt x="21712" y="36742"/>
                </a:quadBezTo>
                <a:quadBezTo>
                  <a:pt x="22146" y="36308"/>
                  <a:pt x="22815" y="36308"/>
                </a:quadBezTo>
                <a:lnTo>
                  <a:pt x="23662" y="36308"/>
                </a:lnTo>
                <a:quadBezTo>
                  <a:pt x="23815" y="33269"/>
                  <a:pt x="24938" y="30785"/>
                </a:quadBezTo>
                <a:quadBezTo>
                  <a:pt x="26062" y="28300"/>
                  <a:pt x="28585" y="26046"/>
                </a:quadBezTo>
                <a:lnTo>
                  <a:pt x="28585" y="29846"/>
                </a:lnTo>
                <a:quadBezTo>
                  <a:pt x="28585" y="30515"/>
                  <a:pt x="29019" y="30950"/>
                </a:quadBezTo>
                <a:quadBezTo>
                  <a:pt x="29454" y="31385"/>
                  <a:pt x="30123" y="31385"/>
                </a:quadBezTo>
                <a:quadBezTo>
                  <a:pt x="30792" y="31385"/>
                  <a:pt x="31227" y="30950"/>
                </a:quadBezTo>
                <a:quadBezTo>
                  <a:pt x="31662" y="30515"/>
                  <a:pt x="31662" y="29846"/>
                </a:quadBezTo>
                <a:lnTo>
                  <a:pt x="31662" y="24600"/>
                </a:lnTo>
                <a:quadBezTo>
                  <a:pt x="32485" y="24300"/>
                  <a:pt x="33523" y="24073"/>
                </a:quadBezTo>
                <a:quadBezTo>
                  <a:pt x="34562" y="23846"/>
                  <a:pt x="35662" y="23846"/>
                </a:quadBezTo>
                <a:quadBezTo>
                  <a:pt x="36762" y="23846"/>
                  <a:pt x="37800" y="24073"/>
                </a:quadBezTo>
                <a:quadBezTo>
                  <a:pt x="38838" y="24300"/>
                  <a:pt x="39662" y="24600"/>
                </a:quadBezTo>
                <a:lnTo>
                  <a:pt x="39662" y="29846"/>
                </a:lnTo>
                <a:quadBezTo>
                  <a:pt x="39662" y="30515"/>
                  <a:pt x="40096" y="30950"/>
                </a:quadBezTo>
                <a:quadBezTo>
                  <a:pt x="40531" y="31385"/>
                  <a:pt x="41200" y="31385"/>
                </a:quadBezTo>
                <a:quadBezTo>
                  <a:pt x="41869" y="31385"/>
                  <a:pt x="42304" y="30950"/>
                </a:quadBezTo>
                <a:quadBezTo>
                  <a:pt x="42738" y="30515"/>
                  <a:pt x="42738" y="29846"/>
                </a:quadBezTo>
                <a:lnTo>
                  <a:pt x="42738" y="26046"/>
                </a:lnTo>
                <a:quadBezTo>
                  <a:pt x="45338" y="28300"/>
                  <a:pt x="46423" y="30785"/>
                </a:quadBezTo>
                <a:quadBezTo>
                  <a:pt x="47508" y="33269"/>
                  <a:pt x="47662" y="36308"/>
                </a:quadBezTo>
                <a:lnTo>
                  <a:pt x="48508" y="36308"/>
                </a:lnTo>
                <a:quadBezTo>
                  <a:pt x="49177" y="36308"/>
                  <a:pt x="49612" y="36742"/>
                </a:quadBezTo>
                <a:quadBezTo>
                  <a:pt x="50046" y="37177"/>
                  <a:pt x="50046" y="37846"/>
                </a:quadBezTo>
                <a:quadBezTo>
                  <a:pt x="50046" y="38515"/>
                  <a:pt x="49612" y="38950"/>
                </a:quadBezTo>
                <a:quadBezTo>
                  <a:pt x="49177" y="39385"/>
                  <a:pt x="48508" y="39385"/>
                </a:quadBezTo>
                <a:lnTo>
                  <a:pt x="47662" y="39385"/>
                </a:lnTo>
                <a:quadBezTo>
                  <a:pt x="47662" y="44985"/>
                  <a:pt x="44231" y="48415"/>
                </a:quadBezTo>
                <a:quadBezTo>
                  <a:pt x="40800" y="51846"/>
                  <a:pt x="35662" y="51846"/>
                </a:quadBezTo>
                <a:close/>
                <a:moveTo>
                  <a:pt x="35662" y="47846"/>
                </a:moveTo>
                <a:quadBezTo>
                  <a:pt x="39115" y="47846"/>
                  <a:pt x="41388" y="45573"/>
                </a:quadBezTo>
                <a:quadBezTo>
                  <a:pt x="43662" y="43300"/>
                  <a:pt x="43662" y="39846"/>
                </a:quadBezTo>
                <a:lnTo>
                  <a:pt x="27662" y="39846"/>
                </a:lnTo>
                <a:quadBezTo>
                  <a:pt x="27662" y="43300"/>
                  <a:pt x="29935" y="45573"/>
                </a:quadBezTo>
                <a:quadBezTo>
                  <a:pt x="32208" y="47846"/>
                  <a:pt x="35662" y="47846"/>
                </a:quadBezTo>
                <a:close/>
                <a:moveTo>
                  <a:pt x="65815" y="59385"/>
                </a:moveTo>
                <a:lnTo>
                  <a:pt x="65523" y="56538"/>
                </a:lnTo>
                <a:quadBezTo>
                  <a:pt x="64769" y="56338"/>
                  <a:pt x="63950" y="55896"/>
                </a:quadBezTo>
                <a:quadBezTo>
                  <a:pt x="63131" y="55454"/>
                  <a:pt x="62554" y="54877"/>
                </a:quadBezTo>
                <a:lnTo>
                  <a:pt x="59908" y="56031"/>
                </a:lnTo>
                <a:lnTo>
                  <a:pt x="58369" y="53354"/>
                </a:lnTo>
                <a:lnTo>
                  <a:pt x="60723" y="51662"/>
                </a:lnTo>
                <a:quadBezTo>
                  <a:pt x="60569" y="51208"/>
                  <a:pt x="60569" y="50831"/>
                </a:quadBezTo>
                <a:lnTo>
                  <a:pt x="60569" y="49208"/>
                </a:lnTo>
                <a:quadBezTo>
                  <a:pt x="60569" y="48869"/>
                  <a:pt x="60723" y="48338"/>
                </a:quadBezTo>
                <a:lnTo>
                  <a:pt x="58369" y="46646"/>
                </a:lnTo>
                <a:lnTo>
                  <a:pt x="59908" y="43969"/>
                </a:lnTo>
                <a:lnTo>
                  <a:pt x="62554" y="45123"/>
                </a:lnTo>
                <a:quadBezTo>
                  <a:pt x="63108" y="44569"/>
                  <a:pt x="63938" y="44115"/>
                </a:quadBezTo>
                <a:quadBezTo>
                  <a:pt x="64769" y="43662"/>
                  <a:pt x="65523" y="43462"/>
                </a:quadBezTo>
                <a:lnTo>
                  <a:pt x="65815" y="40615"/>
                </a:lnTo>
                <a:lnTo>
                  <a:pt x="68892" y="40615"/>
                </a:lnTo>
                <a:lnTo>
                  <a:pt x="69185" y="43462"/>
                </a:lnTo>
                <a:quadBezTo>
                  <a:pt x="69938" y="43662"/>
                  <a:pt x="70769" y="44115"/>
                </a:quadBezTo>
                <a:quadBezTo>
                  <a:pt x="71600" y="44569"/>
                  <a:pt x="72154" y="45123"/>
                </a:quadBezTo>
                <a:lnTo>
                  <a:pt x="74800" y="43969"/>
                </a:lnTo>
                <a:lnTo>
                  <a:pt x="76338" y="46646"/>
                </a:lnTo>
                <a:lnTo>
                  <a:pt x="73985" y="48338"/>
                </a:lnTo>
                <a:quadBezTo>
                  <a:pt x="74138" y="48869"/>
                  <a:pt x="74138" y="49208"/>
                </a:quadBezTo>
                <a:lnTo>
                  <a:pt x="74138" y="50831"/>
                </a:lnTo>
                <a:quadBezTo>
                  <a:pt x="74138" y="51208"/>
                  <a:pt x="73985" y="51662"/>
                </a:quadBezTo>
                <a:lnTo>
                  <a:pt x="76338" y="53354"/>
                </a:lnTo>
                <a:lnTo>
                  <a:pt x="74800" y="56031"/>
                </a:lnTo>
                <a:lnTo>
                  <a:pt x="72154" y="54877"/>
                </a:lnTo>
                <a:quadBezTo>
                  <a:pt x="71577" y="55454"/>
                  <a:pt x="70758" y="55896"/>
                </a:quadBezTo>
                <a:quadBezTo>
                  <a:pt x="69938" y="56338"/>
                  <a:pt x="69185" y="56538"/>
                </a:quadBezTo>
                <a:lnTo>
                  <a:pt x="68892" y="59385"/>
                </a:lnTo>
                <a:lnTo>
                  <a:pt x="65815" y="59385"/>
                </a:lnTo>
                <a:close/>
                <a:moveTo>
                  <a:pt x="67354" y="53615"/>
                </a:moveTo>
                <a:quadBezTo>
                  <a:pt x="68862" y="53615"/>
                  <a:pt x="69915" y="52562"/>
                </a:quadBezTo>
                <a:quadBezTo>
                  <a:pt x="70969" y="51508"/>
                  <a:pt x="70969" y="50000"/>
                </a:quadBezTo>
                <a:quadBezTo>
                  <a:pt x="70969" y="48492"/>
                  <a:pt x="69915" y="47438"/>
                </a:quadBezTo>
                <a:quadBezTo>
                  <a:pt x="68862" y="46385"/>
                  <a:pt x="67354" y="46385"/>
                </a:quadBezTo>
                <a:quadBezTo>
                  <a:pt x="65846" y="46385"/>
                  <a:pt x="64792" y="47438"/>
                </a:quadBezTo>
                <a:quadBezTo>
                  <a:pt x="63738" y="48492"/>
                  <a:pt x="63738" y="50000"/>
                </a:quadBezTo>
                <a:quadBezTo>
                  <a:pt x="63738" y="51508"/>
                  <a:pt x="64792" y="52562"/>
                </a:quadBezTo>
                <a:quadBezTo>
                  <a:pt x="65846" y="53615"/>
                  <a:pt x="67354" y="53615"/>
                </a:quadBezTo>
                <a:close/>
                <a:moveTo>
                  <a:pt x="75477" y="37692"/>
                </a:moveTo>
                <a:lnTo>
                  <a:pt x="75138" y="34569"/>
                </a:lnTo>
                <a:quadBezTo>
                  <a:pt x="74008" y="34346"/>
                  <a:pt x="72758" y="33665"/>
                </a:quadBezTo>
                <a:quadBezTo>
                  <a:pt x="71508" y="32985"/>
                  <a:pt x="70754" y="32000"/>
                </a:quadBezTo>
                <a:lnTo>
                  <a:pt x="67785" y="33246"/>
                </a:lnTo>
                <a:lnTo>
                  <a:pt x="66062" y="30292"/>
                </a:lnTo>
                <a:lnTo>
                  <a:pt x="68692" y="28369"/>
                </a:lnTo>
                <a:quadBezTo>
                  <a:pt x="68492" y="27792"/>
                  <a:pt x="68415" y="27185"/>
                </a:quadBezTo>
                <a:quadBezTo>
                  <a:pt x="68338" y="26577"/>
                  <a:pt x="68338" y="26000"/>
                </a:quadBezTo>
                <a:quadBezTo>
                  <a:pt x="68338" y="25423"/>
                  <a:pt x="68415" y="24815"/>
                </a:quadBezTo>
                <a:quadBezTo>
                  <a:pt x="68492" y="24208"/>
                  <a:pt x="68692" y="23631"/>
                </a:quadBezTo>
                <a:lnTo>
                  <a:pt x="66062" y="21708"/>
                </a:lnTo>
                <a:lnTo>
                  <a:pt x="67785" y="18754"/>
                </a:lnTo>
                <a:lnTo>
                  <a:pt x="70754" y="20000"/>
                </a:lnTo>
                <a:quadBezTo>
                  <a:pt x="71508" y="19015"/>
                  <a:pt x="72758" y="18335"/>
                </a:quadBezTo>
                <a:quadBezTo>
                  <a:pt x="74008" y="17654"/>
                  <a:pt x="75138" y="17431"/>
                </a:quadBezTo>
                <a:lnTo>
                  <a:pt x="75477" y="14308"/>
                </a:lnTo>
                <a:lnTo>
                  <a:pt x="78923" y="14308"/>
                </a:lnTo>
                <a:lnTo>
                  <a:pt x="79262" y="17431"/>
                </a:lnTo>
                <a:quadBezTo>
                  <a:pt x="80392" y="17654"/>
                  <a:pt x="81642" y="18335"/>
                </a:quadBezTo>
                <a:quadBezTo>
                  <a:pt x="82892" y="19015"/>
                  <a:pt x="83646" y="20000"/>
                </a:quadBezTo>
                <a:lnTo>
                  <a:pt x="86615" y="18754"/>
                </a:lnTo>
                <a:lnTo>
                  <a:pt x="88338" y="21708"/>
                </a:lnTo>
                <a:lnTo>
                  <a:pt x="85708" y="23631"/>
                </a:lnTo>
                <a:quadBezTo>
                  <a:pt x="85908" y="24208"/>
                  <a:pt x="85985" y="24815"/>
                </a:quadBezTo>
                <a:quadBezTo>
                  <a:pt x="86062" y="25423"/>
                  <a:pt x="86062" y="26000"/>
                </a:quadBezTo>
                <a:quadBezTo>
                  <a:pt x="86062" y="26577"/>
                  <a:pt x="85985" y="27185"/>
                </a:quadBezTo>
                <a:quadBezTo>
                  <a:pt x="85908" y="27792"/>
                  <a:pt x="85708" y="28369"/>
                </a:quadBezTo>
                <a:lnTo>
                  <a:pt x="88338" y="30292"/>
                </a:lnTo>
                <a:lnTo>
                  <a:pt x="86615" y="33246"/>
                </a:lnTo>
                <a:lnTo>
                  <a:pt x="83646" y="32000"/>
                </a:lnTo>
                <a:quadBezTo>
                  <a:pt x="82892" y="32985"/>
                  <a:pt x="81642" y="33665"/>
                </a:quadBezTo>
                <a:quadBezTo>
                  <a:pt x="80392" y="34346"/>
                  <a:pt x="79262" y="34569"/>
                </a:quadBezTo>
                <a:lnTo>
                  <a:pt x="78923" y="37692"/>
                </a:lnTo>
                <a:lnTo>
                  <a:pt x="75477" y="37692"/>
                </a:lnTo>
                <a:close/>
                <a:moveTo>
                  <a:pt x="77200" y="31462"/>
                </a:moveTo>
                <a:quadBezTo>
                  <a:pt x="79531" y="31462"/>
                  <a:pt x="81096" y="29896"/>
                </a:quadBezTo>
                <a:quadBezTo>
                  <a:pt x="82662" y="28331"/>
                  <a:pt x="82662" y="26000"/>
                </a:quadBezTo>
                <a:quadBezTo>
                  <a:pt x="82662" y="23669"/>
                  <a:pt x="81096" y="22104"/>
                </a:quadBezTo>
                <a:quadBezTo>
                  <a:pt x="79531" y="20538"/>
                  <a:pt x="77200" y="20538"/>
                </a:quadBezTo>
                <a:quadBezTo>
                  <a:pt x="74869" y="20538"/>
                  <a:pt x="73304" y="22104"/>
                </a:quadBezTo>
                <a:quadBezTo>
                  <a:pt x="71738" y="23669"/>
                  <a:pt x="71738" y="26000"/>
                </a:quadBezTo>
                <a:quadBezTo>
                  <a:pt x="71738" y="28331"/>
                  <a:pt x="73304" y="29896"/>
                </a:quadBezTo>
                <a:quadBezTo>
                  <a:pt x="74869" y="31462"/>
                  <a:pt x="77200" y="31462"/>
                </a:quadBezTo>
                <a:close/>
                <a:moveTo>
                  <a:pt x="35662" y="7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5" name="TextBox 74"/>
          <p:cNvSpPr txBox="1"/>
          <p:nvPr/>
        </p:nvSpPr>
        <p:spPr>
          <a:xfrm>
            <a:off x="7428444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engineering</a:t>
            </a:r>
          </a:p>
        </p:txBody>
      </p:sp>
      <p:sp>
        <p:nvSpPr>
          <p:cNvPr id="76" name="Icon euro"/>
          <p:cNvSpPr/>
          <p:nvPr/>
        </p:nvSpPr>
        <p:spPr>
          <a:xfrm>
            <a:off x="8620681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154" y="80000"/>
                </a:moveTo>
                <a:quadBezTo>
                  <a:pt x="48585" y="80000"/>
                  <a:pt x="40346" y="73569"/>
                </a:quadBezTo>
                <a:quadBezTo>
                  <a:pt x="32108" y="67138"/>
                  <a:pt x="28923" y="57231"/>
                </a:quadBezTo>
                <a:lnTo>
                  <a:pt x="14923" y="57231"/>
                </a:lnTo>
                <a:lnTo>
                  <a:pt x="14923" y="53231"/>
                </a:lnTo>
                <a:lnTo>
                  <a:pt x="28123" y="53231"/>
                </a:lnTo>
                <a:quadBezTo>
                  <a:pt x="27669" y="50908"/>
                  <a:pt x="27719" y="47935"/>
                </a:quadBezTo>
                <a:quadBezTo>
                  <a:pt x="27769" y="44962"/>
                  <a:pt x="28123" y="42769"/>
                </a:quadBezTo>
                <a:lnTo>
                  <a:pt x="14923" y="42769"/>
                </a:lnTo>
                <a:lnTo>
                  <a:pt x="14923" y="38769"/>
                </a:lnTo>
                <a:lnTo>
                  <a:pt x="29077" y="38769"/>
                </a:lnTo>
                <a:quadBezTo>
                  <a:pt x="32185" y="28862"/>
                  <a:pt x="40385" y="22431"/>
                </a:quadBezTo>
                <a:quadBezTo>
                  <a:pt x="48585" y="16000"/>
                  <a:pt x="60154" y="16000"/>
                </a:quadBezTo>
                <a:quadBezTo>
                  <a:pt x="66131" y="16000"/>
                  <a:pt x="71473" y="17950"/>
                </a:quadBezTo>
                <a:quadBezTo>
                  <a:pt x="76815" y="19900"/>
                  <a:pt x="81154" y="23354"/>
                </a:quadBezTo>
                <a:lnTo>
                  <a:pt x="78300" y="26108"/>
                </a:lnTo>
                <a:quadBezTo>
                  <a:pt x="74523" y="23215"/>
                  <a:pt x="69912" y="21608"/>
                </a:quadBezTo>
                <a:quadBezTo>
                  <a:pt x="65300" y="20000"/>
                  <a:pt x="60154" y="20000"/>
                </a:quadBezTo>
                <a:quadBezTo>
                  <a:pt x="50192" y="20000"/>
                  <a:pt x="43223" y="25412"/>
                </a:quadBezTo>
                <a:quadBezTo>
                  <a:pt x="36254" y="30823"/>
                  <a:pt x="33315" y="38769"/>
                </a:quadBezTo>
                <a:lnTo>
                  <a:pt x="59692" y="38769"/>
                </a:lnTo>
                <a:lnTo>
                  <a:pt x="59692" y="42769"/>
                </a:lnTo>
                <a:lnTo>
                  <a:pt x="32223" y="42769"/>
                </a:lnTo>
                <a:quadBezTo>
                  <a:pt x="31746" y="45162"/>
                  <a:pt x="31769" y="48173"/>
                </a:quadBezTo>
                <a:quadBezTo>
                  <a:pt x="31792" y="51185"/>
                  <a:pt x="32223" y="53231"/>
                </a:quadBezTo>
                <a:lnTo>
                  <a:pt x="59692" y="53231"/>
                </a:lnTo>
                <a:lnTo>
                  <a:pt x="59692" y="57231"/>
                </a:lnTo>
                <a:lnTo>
                  <a:pt x="33238" y="57231"/>
                </a:lnTo>
                <a:quadBezTo>
                  <a:pt x="36254" y="65177"/>
                  <a:pt x="43223" y="70588"/>
                </a:quadBezTo>
                <a:quadBezTo>
                  <a:pt x="50192" y="76000"/>
                  <a:pt x="60154" y="76000"/>
                </a:quadBezTo>
                <a:quadBezTo>
                  <a:pt x="65300" y="76000"/>
                  <a:pt x="69912" y="74392"/>
                </a:quadBezTo>
                <a:quadBezTo>
                  <a:pt x="74523" y="72785"/>
                  <a:pt x="78300" y="69892"/>
                </a:quadBezTo>
                <a:lnTo>
                  <a:pt x="81154" y="72646"/>
                </a:lnTo>
                <a:quadBezTo>
                  <a:pt x="76815" y="76100"/>
                  <a:pt x="71473" y="78050"/>
                </a:quadBezTo>
                <a:quadBezTo>
                  <a:pt x="66131" y="80000"/>
                  <a:pt x="60154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7" name="TextBox 76"/>
          <p:cNvSpPr txBox="1"/>
          <p:nvPr/>
        </p:nvSpPr>
        <p:spPr>
          <a:xfrm>
            <a:off x="8314709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euro</a:t>
            </a:r>
          </a:p>
        </p:txBody>
      </p:sp>
      <p:sp>
        <p:nvSpPr>
          <p:cNvPr id="78" name="Icon event"/>
          <p:cNvSpPr/>
          <p:nvPr/>
        </p:nvSpPr>
        <p:spPr>
          <a:xfrm>
            <a:off x="9506946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9538" y="72000"/>
                </a:moveTo>
                <a:quadBezTo>
                  <a:pt x="56031" y="72000"/>
                  <a:pt x="53554" y="69523"/>
                </a:quadBezTo>
                <a:quadBezTo>
                  <a:pt x="51077" y="67046"/>
                  <a:pt x="51077" y="63538"/>
                </a:quadBezTo>
                <a:quadBezTo>
                  <a:pt x="51077" y="60031"/>
                  <a:pt x="53554" y="57554"/>
                </a:quadBezTo>
                <a:quadBezTo>
                  <a:pt x="56031" y="55077"/>
                  <a:pt x="59538" y="55077"/>
                </a:quadBezTo>
                <a:quadBezTo>
                  <a:pt x="63046" y="55077"/>
                  <a:pt x="65523" y="57554"/>
                </a:quadBezTo>
                <a:quadBezTo>
                  <a:pt x="68000" y="60031"/>
                  <a:pt x="68000" y="63538"/>
                </a:quadBezTo>
                <a:quadBezTo>
                  <a:pt x="68000" y="67046"/>
                  <a:pt x="65523" y="69523"/>
                </a:quadBezTo>
                <a:quadBezTo>
                  <a:pt x="63046" y="72000"/>
                  <a:pt x="59538" y="72000"/>
                </a:quadBezTo>
                <a:close/>
                <a:moveTo>
                  <a:pt x="22462" y="84000"/>
                </a:moveTo>
                <a:quadBezTo>
                  <a:pt x="19700" y="84000"/>
                  <a:pt x="17850" y="82150"/>
                </a:quadBezTo>
                <a:quadBezTo>
                  <a:pt x="16000" y="80300"/>
                  <a:pt x="16000" y="77538"/>
                </a:quadBezTo>
                <a:lnTo>
                  <a:pt x="16000" y="26462"/>
                </a:lnTo>
                <a:quadBezTo>
                  <a:pt x="16000" y="23700"/>
                  <a:pt x="17850" y="21850"/>
                </a:quadBezTo>
                <a:quadBezTo>
                  <a:pt x="19700" y="20000"/>
                  <a:pt x="22462" y="20000"/>
                </a:quadBezTo>
                <a:lnTo>
                  <a:pt x="29538" y="20000"/>
                </a:lnTo>
                <a:lnTo>
                  <a:pt x="29538" y="11077"/>
                </a:lnTo>
                <a:lnTo>
                  <a:pt x="33846" y="11077"/>
                </a:lnTo>
                <a:lnTo>
                  <a:pt x="33846" y="20000"/>
                </a:lnTo>
                <a:lnTo>
                  <a:pt x="62462" y="20000"/>
                </a:lnTo>
                <a:lnTo>
                  <a:pt x="62462" y="11077"/>
                </a:lnTo>
                <a:lnTo>
                  <a:pt x="66462" y="11077"/>
                </a:lnTo>
                <a:lnTo>
                  <a:pt x="66462" y="20000"/>
                </a:lnTo>
                <a:lnTo>
                  <a:pt x="73538" y="20000"/>
                </a:lnTo>
                <a:quadBezTo>
                  <a:pt x="76300" y="20000"/>
                  <a:pt x="78150" y="21850"/>
                </a:quadBezTo>
                <a:quadBezTo>
                  <a:pt x="80000" y="23700"/>
                  <a:pt x="80000" y="26462"/>
                </a:quadBezTo>
                <a:lnTo>
                  <a:pt x="80000" y="77538"/>
                </a:lnTo>
                <a:quadBezTo>
                  <a:pt x="80000" y="80300"/>
                  <a:pt x="78150" y="82150"/>
                </a:quadBezTo>
                <a:quadBezTo>
                  <a:pt x="76300" y="84000"/>
                  <a:pt x="73538" y="84000"/>
                </a:quadBezTo>
                <a:lnTo>
                  <a:pt x="22462" y="84000"/>
                </a:lnTo>
                <a:close/>
                <a:moveTo>
                  <a:pt x="22462" y="80000"/>
                </a:moveTo>
                <a:lnTo>
                  <a:pt x="73538" y="80000"/>
                </a:lnTo>
                <a:quadBezTo>
                  <a:pt x="74462" y="80000"/>
                  <a:pt x="75231" y="79231"/>
                </a:quadBezTo>
                <a:quadBezTo>
                  <a:pt x="76000" y="78462"/>
                  <a:pt x="76000" y="77538"/>
                </a:quadBezTo>
                <a:lnTo>
                  <a:pt x="76000" y="42462"/>
                </a:lnTo>
                <a:lnTo>
                  <a:pt x="20000" y="42462"/>
                </a:lnTo>
                <a:lnTo>
                  <a:pt x="20000" y="77538"/>
                </a:lnTo>
                <a:quadBezTo>
                  <a:pt x="20000" y="78462"/>
                  <a:pt x="20769" y="79231"/>
                </a:quadBezTo>
                <a:quadBezTo>
                  <a:pt x="21538" y="80000"/>
                  <a:pt x="22462" y="80000"/>
                </a:quadBezTo>
                <a:close/>
                <a:moveTo>
                  <a:pt x="20000" y="38461"/>
                </a:moveTo>
                <a:lnTo>
                  <a:pt x="76000" y="38461"/>
                </a:lnTo>
                <a:lnTo>
                  <a:pt x="76000" y="26462"/>
                </a:lnTo>
                <a:quadBezTo>
                  <a:pt x="76000" y="25538"/>
                  <a:pt x="75231" y="24769"/>
                </a:quadBezTo>
                <a:quadBezTo>
                  <a:pt x="74462" y="24000"/>
                  <a:pt x="73538" y="24000"/>
                </a:quadBezTo>
                <a:lnTo>
                  <a:pt x="22462" y="24000"/>
                </a:lnTo>
                <a:quadBezTo>
                  <a:pt x="21538" y="24000"/>
                  <a:pt x="20769" y="24769"/>
                </a:quadBezTo>
                <a:quadBezTo>
                  <a:pt x="20000" y="25538"/>
                  <a:pt x="20000" y="26462"/>
                </a:quadBezTo>
                <a:lnTo>
                  <a:pt x="20000" y="38461"/>
                </a:lnTo>
                <a:close/>
                <a:moveTo>
                  <a:pt x="20000" y="38461"/>
                </a:moveTo>
                <a:lnTo>
                  <a:pt x="20000" y="24000"/>
                </a:lnTo>
                <a:lnTo>
                  <a:pt x="20000" y="384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9" name="TextBox 78"/>
          <p:cNvSpPr txBox="1"/>
          <p:nvPr/>
        </p:nvSpPr>
        <p:spPr>
          <a:xfrm>
            <a:off x="9200974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event</a:t>
            </a:r>
          </a:p>
        </p:txBody>
      </p:sp>
      <p:sp>
        <p:nvSpPr>
          <p:cNvPr id="80" name="Icon extension"/>
          <p:cNvSpPr/>
          <p:nvPr/>
        </p:nvSpPr>
        <p:spPr>
          <a:xfrm>
            <a:off x="10393211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5815" y="80000"/>
                </a:moveTo>
                <a:lnTo>
                  <a:pt x="20000" y="80000"/>
                </a:lnTo>
                <a:quadBezTo>
                  <a:pt x="18315" y="80000"/>
                  <a:pt x="17158" y="78842"/>
                </a:quadBezTo>
                <a:quadBezTo>
                  <a:pt x="16000" y="77685"/>
                  <a:pt x="16000" y="76000"/>
                </a:quadBezTo>
                <a:lnTo>
                  <a:pt x="16000" y="60185"/>
                </a:lnTo>
                <a:quadBezTo>
                  <a:pt x="19415" y="59185"/>
                  <a:pt x="21708" y="56404"/>
                </a:quadBezTo>
                <a:quadBezTo>
                  <a:pt x="24000" y="53623"/>
                  <a:pt x="24000" y="50000"/>
                </a:quadBezTo>
                <a:quadBezTo>
                  <a:pt x="24000" y="46377"/>
                  <a:pt x="21708" y="43596"/>
                </a:quadBezTo>
                <a:quadBezTo>
                  <a:pt x="19415" y="40815"/>
                  <a:pt x="16000" y="39815"/>
                </a:quadBezTo>
                <a:lnTo>
                  <a:pt x="16000" y="24000"/>
                </a:lnTo>
                <a:quadBezTo>
                  <a:pt x="16000" y="22315"/>
                  <a:pt x="17158" y="21158"/>
                </a:quadBezTo>
                <a:quadBezTo>
                  <a:pt x="18315" y="20000"/>
                  <a:pt x="20000" y="20000"/>
                </a:quadBezTo>
                <a:lnTo>
                  <a:pt x="36000" y="20000"/>
                </a:lnTo>
                <a:quadBezTo>
                  <a:pt x="37077" y="16569"/>
                  <a:pt x="39785" y="14515"/>
                </a:quadBezTo>
                <a:quadBezTo>
                  <a:pt x="42492" y="12461"/>
                  <a:pt x="46000" y="12461"/>
                </a:quadBezTo>
                <a:quadBezTo>
                  <a:pt x="49508" y="12461"/>
                  <a:pt x="52215" y="14515"/>
                </a:quadBezTo>
                <a:quadBezTo>
                  <a:pt x="54923" y="16569"/>
                  <a:pt x="56000" y="20000"/>
                </a:quadBezTo>
                <a:lnTo>
                  <a:pt x="72000" y="20000"/>
                </a:lnTo>
                <a:quadBezTo>
                  <a:pt x="73685" y="20000"/>
                  <a:pt x="74842" y="21158"/>
                </a:quadBezTo>
                <a:quadBezTo>
                  <a:pt x="76000" y="22315"/>
                  <a:pt x="76000" y="24000"/>
                </a:quadBezTo>
                <a:lnTo>
                  <a:pt x="76000" y="40000"/>
                </a:lnTo>
                <a:quadBezTo>
                  <a:pt x="79431" y="41077"/>
                  <a:pt x="81485" y="43785"/>
                </a:quadBezTo>
                <a:quadBezTo>
                  <a:pt x="83539" y="46492"/>
                  <a:pt x="83539" y="50000"/>
                </a:quadBezTo>
                <a:quadBezTo>
                  <a:pt x="83539" y="53508"/>
                  <a:pt x="81485" y="56215"/>
                </a:quadBezTo>
                <a:quadBezTo>
                  <a:pt x="79431" y="58923"/>
                  <a:pt x="76000" y="60000"/>
                </a:quadBezTo>
                <a:lnTo>
                  <a:pt x="76000" y="76000"/>
                </a:lnTo>
                <a:quadBezTo>
                  <a:pt x="76000" y="77685"/>
                  <a:pt x="74842" y="78842"/>
                </a:quadBezTo>
                <a:quadBezTo>
                  <a:pt x="73685" y="80000"/>
                  <a:pt x="72000" y="80000"/>
                </a:quadBezTo>
                <a:lnTo>
                  <a:pt x="56185" y="80000"/>
                </a:lnTo>
                <a:quadBezTo>
                  <a:pt x="55108" y="76385"/>
                  <a:pt x="52304" y="74192"/>
                </a:quadBezTo>
                <a:quadBezTo>
                  <a:pt x="49500" y="72000"/>
                  <a:pt x="46000" y="72000"/>
                </a:quadBezTo>
                <a:quadBezTo>
                  <a:pt x="42500" y="72000"/>
                  <a:pt x="39696" y="74192"/>
                </a:quadBezTo>
                <a:quadBezTo>
                  <a:pt x="36892" y="76385"/>
                  <a:pt x="35815" y="80000"/>
                </a:quadBezTo>
                <a:close/>
                <a:moveTo>
                  <a:pt x="20000" y="76000"/>
                </a:moveTo>
                <a:lnTo>
                  <a:pt x="33192" y="76000"/>
                </a:lnTo>
                <a:quadBezTo>
                  <a:pt x="34900" y="72015"/>
                  <a:pt x="38469" y="70008"/>
                </a:quadBezTo>
                <a:quadBezTo>
                  <a:pt x="42038" y="68000"/>
                  <a:pt x="46000" y="68000"/>
                </a:quadBezTo>
                <a:quadBezTo>
                  <a:pt x="49962" y="68000"/>
                  <a:pt x="53531" y="70008"/>
                </a:quadBezTo>
                <a:quadBezTo>
                  <a:pt x="57100" y="72015"/>
                  <a:pt x="58808" y="76000"/>
                </a:quadBezTo>
                <a:lnTo>
                  <a:pt x="72000" y="76000"/>
                </a:lnTo>
                <a:lnTo>
                  <a:pt x="72000" y="56462"/>
                </a:lnTo>
                <a:lnTo>
                  <a:pt x="73846" y="56462"/>
                </a:lnTo>
                <a:quadBezTo>
                  <a:pt x="76723" y="56000"/>
                  <a:pt x="78131" y="54092"/>
                </a:quadBezTo>
                <a:quadBezTo>
                  <a:pt x="79538" y="52185"/>
                  <a:pt x="79538" y="50000"/>
                </a:quadBezTo>
                <a:quadBezTo>
                  <a:pt x="79538" y="47815"/>
                  <a:pt x="78131" y="45908"/>
                </a:quadBezTo>
                <a:quadBezTo>
                  <a:pt x="76723" y="44000"/>
                  <a:pt x="73846" y="43538"/>
                </a:quadBezTo>
                <a:lnTo>
                  <a:pt x="72000" y="43538"/>
                </a:lnTo>
                <a:lnTo>
                  <a:pt x="72000" y="24000"/>
                </a:lnTo>
                <a:lnTo>
                  <a:pt x="52462" y="24000"/>
                </a:lnTo>
                <a:lnTo>
                  <a:pt x="52462" y="22154"/>
                </a:lnTo>
                <a:quadBezTo>
                  <a:pt x="52000" y="19277"/>
                  <a:pt x="50092" y="17869"/>
                </a:quadBezTo>
                <a:quadBezTo>
                  <a:pt x="48185" y="16462"/>
                  <a:pt x="46000" y="16462"/>
                </a:quadBezTo>
                <a:quadBezTo>
                  <a:pt x="43815" y="16462"/>
                  <a:pt x="41908" y="17869"/>
                </a:quadBezTo>
                <a:quadBezTo>
                  <a:pt x="40000" y="19277"/>
                  <a:pt x="39538" y="22154"/>
                </a:quadBezTo>
                <a:lnTo>
                  <a:pt x="39538" y="24000"/>
                </a:lnTo>
                <a:lnTo>
                  <a:pt x="20000" y="24000"/>
                </a:lnTo>
                <a:lnTo>
                  <a:pt x="20000" y="37108"/>
                </a:lnTo>
                <a:quadBezTo>
                  <a:pt x="23708" y="38877"/>
                  <a:pt x="25854" y="42385"/>
                </a:quadBezTo>
                <a:quadBezTo>
                  <a:pt x="28000" y="45892"/>
                  <a:pt x="28000" y="50000"/>
                </a:quadBezTo>
                <a:quadBezTo>
                  <a:pt x="28000" y="54085"/>
                  <a:pt x="25854" y="57592"/>
                </a:quadBezTo>
                <a:quadBezTo>
                  <a:pt x="23708" y="61100"/>
                  <a:pt x="20000" y="62892"/>
                </a:quadBezTo>
                <a:lnTo>
                  <a:pt x="20000" y="76000"/>
                </a:lnTo>
                <a:close/>
                <a:moveTo>
                  <a:pt x="46000" y="5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1" name="TextBox 80"/>
          <p:cNvSpPr txBox="1"/>
          <p:nvPr/>
        </p:nvSpPr>
        <p:spPr>
          <a:xfrm>
            <a:off x="10087238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extension</a:t>
            </a:r>
          </a:p>
        </p:txBody>
      </p:sp>
      <p:sp>
        <p:nvSpPr>
          <p:cNvPr id="82" name="Icon fact_check"/>
          <p:cNvSpPr/>
          <p:nvPr/>
        </p:nvSpPr>
        <p:spPr>
          <a:xfrm>
            <a:off x="11279475" y="230428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80000"/>
                </a:moveTo>
                <a:quadBezTo>
                  <a:pt x="15700" y="80000"/>
                  <a:pt x="13850" y="78150"/>
                </a:quadBezTo>
                <a:quadBezTo>
                  <a:pt x="12000" y="76300"/>
                  <a:pt x="12000" y="73538"/>
                </a:quadBezTo>
                <a:lnTo>
                  <a:pt x="12000" y="22462"/>
                </a:lnTo>
                <a:quadBezTo>
                  <a:pt x="12000" y="19700"/>
                  <a:pt x="13850" y="17850"/>
                </a:quadBezTo>
                <a:quadBezTo>
                  <a:pt x="15700" y="16000"/>
                  <a:pt x="18462" y="16000"/>
                </a:quadBezTo>
                <a:lnTo>
                  <a:pt x="77538" y="16000"/>
                </a:lnTo>
                <a:quadBezTo>
                  <a:pt x="80300" y="16000"/>
                  <a:pt x="82150" y="17850"/>
                </a:quadBezTo>
                <a:quadBezTo>
                  <a:pt x="84000" y="19700"/>
                  <a:pt x="84000" y="22462"/>
                </a:quadBezTo>
                <a:lnTo>
                  <a:pt x="84000" y="73538"/>
                </a:lnTo>
                <a:quadBezTo>
                  <a:pt x="84000" y="76300"/>
                  <a:pt x="82150" y="78150"/>
                </a:quadBezTo>
                <a:quadBezTo>
                  <a:pt x="80300" y="80000"/>
                  <a:pt x="77538" y="80000"/>
                </a:quadBezTo>
                <a:lnTo>
                  <a:pt x="18462" y="80000"/>
                </a:lnTo>
                <a:close/>
                <a:moveTo>
                  <a:pt x="18462" y="76000"/>
                </a:moveTo>
                <a:lnTo>
                  <a:pt x="77538" y="76000"/>
                </a:lnTo>
                <a:quadBezTo>
                  <a:pt x="78462" y="76000"/>
                  <a:pt x="79231" y="75231"/>
                </a:quadBezTo>
                <a:quadBezTo>
                  <a:pt x="80000" y="74462"/>
                  <a:pt x="80000" y="73538"/>
                </a:quadBezTo>
                <a:lnTo>
                  <a:pt x="80000" y="22462"/>
                </a:lnTo>
                <a:quadBezTo>
                  <a:pt x="80000" y="21538"/>
                  <a:pt x="79231" y="20769"/>
                </a:quadBezTo>
                <a:quadBezTo>
                  <a:pt x="78462" y="20000"/>
                  <a:pt x="77538" y="20000"/>
                </a:quadBezTo>
                <a:lnTo>
                  <a:pt x="18462" y="20000"/>
                </a:lnTo>
                <a:quadBezTo>
                  <a:pt x="17538" y="20000"/>
                  <a:pt x="16769" y="20769"/>
                </a:quadBezTo>
                <a:quadBezTo>
                  <a:pt x="16000" y="21538"/>
                  <a:pt x="16000" y="22462"/>
                </a:quadBezTo>
                <a:lnTo>
                  <a:pt x="16000" y="73538"/>
                </a:lnTo>
                <a:quadBezTo>
                  <a:pt x="16000" y="74462"/>
                  <a:pt x="16769" y="75231"/>
                </a:quadBezTo>
                <a:quadBezTo>
                  <a:pt x="17538" y="76000"/>
                  <a:pt x="18462" y="76000"/>
                </a:quadBezTo>
                <a:close/>
                <a:moveTo>
                  <a:pt x="22000" y="66000"/>
                </a:moveTo>
                <a:lnTo>
                  <a:pt x="38000" y="66000"/>
                </a:lnTo>
                <a:lnTo>
                  <a:pt x="38000" y="62000"/>
                </a:lnTo>
                <a:lnTo>
                  <a:pt x="22000" y="62000"/>
                </a:lnTo>
                <a:lnTo>
                  <a:pt x="22000" y="66000"/>
                </a:lnTo>
                <a:close/>
                <a:moveTo>
                  <a:pt x="58200" y="57154"/>
                </a:moveTo>
                <a:lnTo>
                  <a:pt x="75154" y="40200"/>
                </a:lnTo>
                <a:lnTo>
                  <a:pt x="72300" y="37346"/>
                </a:lnTo>
                <a:lnTo>
                  <a:pt x="58200" y="51546"/>
                </a:lnTo>
                <a:lnTo>
                  <a:pt x="52500" y="45846"/>
                </a:lnTo>
                <a:lnTo>
                  <a:pt x="49746" y="48700"/>
                </a:lnTo>
                <a:lnTo>
                  <a:pt x="58200" y="57154"/>
                </a:lnTo>
                <a:close/>
                <a:moveTo>
                  <a:pt x="22000" y="50000"/>
                </a:moveTo>
                <a:lnTo>
                  <a:pt x="38000" y="50000"/>
                </a:lnTo>
                <a:lnTo>
                  <a:pt x="38000" y="46000"/>
                </a:lnTo>
                <a:lnTo>
                  <a:pt x="22000" y="46000"/>
                </a:lnTo>
                <a:lnTo>
                  <a:pt x="22000" y="50000"/>
                </a:lnTo>
                <a:close/>
                <a:moveTo>
                  <a:pt x="22000" y="34000"/>
                </a:moveTo>
                <a:lnTo>
                  <a:pt x="38000" y="34000"/>
                </a:lnTo>
                <a:lnTo>
                  <a:pt x="38000" y="30000"/>
                </a:lnTo>
                <a:lnTo>
                  <a:pt x="22000" y="30000"/>
                </a:lnTo>
                <a:lnTo>
                  <a:pt x="22000" y="34000"/>
                </a:lnTo>
                <a:close/>
                <a:moveTo>
                  <a:pt x="16000" y="76000"/>
                </a:moveTo>
                <a:lnTo>
                  <a:pt x="16000" y="20000"/>
                </a:lnTo>
                <a:lnTo>
                  <a:pt x="16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3" name="TextBox 82"/>
          <p:cNvSpPr txBox="1"/>
          <p:nvPr/>
        </p:nvSpPr>
        <p:spPr>
          <a:xfrm>
            <a:off x="10973503" y="258775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fact check</a:t>
            </a:r>
          </a:p>
        </p:txBody>
      </p:sp>
      <p:sp>
        <p:nvSpPr>
          <p:cNvPr id="84" name="Icon factory"/>
          <p:cNvSpPr/>
          <p:nvPr/>
        </p:nvSpPr>
        <p:spPr>
          <a:xfrm>
            <a:off x="644300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84000"/>
                </a:moveTo>
                <a:lnTo>
                  <a:pt x="12000" y="42592"/>
                </a:lnTo>
                <a:lnTo>
                  <a:pt x="32000" y="34077"/>
                </a:lnTo>
                <a:lnTo>
                  <a:pt x="32000" y="41923"/>
                </a:lnTo>
                <a:lnTo>
                  <a:pt x="52000" y="33923"/>
                </a:lnTo>
                <a:lnTo>
                  <a:pt x="52000" y="44000"/>
                </a:lnTo>
                <a:lnTo>
                  <a:pt x="84000" y="44000"/>
                </a:lnTo>
                <a:lnTo>
                  <a:pt x="84000" y="84000"/>
                </a:lnTo>
                <a:lnTo>
                  <a:pt x="12000" y="8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80000" y="48000"/>
                </a:lnTo>
                <a:lnTo>
                  <a:pt x="48000" y="48000"/>
                </a:lnTo>
                <a:lnTo>
                  <a:pt x="48000" y="39800"/>
                </a:lnTo>
                <a:lnTo>
                  <a:pt x="28000" y="47800"/>
                </a:lnTo>
                <a:lnTo>
                  <a:pt x="28000" y="40000"/>
                </a:lnTo>
                <a:lnTo>
                  <a:pt x="16000" y="45300"/>
                </a:lnTo>
                <a:lnTo>
                  <a:pt x="16000" y="80000"/>
                </a:lnTo>
                <a:close/>
                <a:moveTo>
                  <a:pt x="44923" y="70154"/>
                </a:moveTo>
                <a:lnTo>
                  <a:pt x="51077" y="70154"/>
                </a:lnTo>
                <a:lnTo>
                  <a:pt x="51077" y="57846"/>
                </a:lnTo>
                <a:lnTo>
                  <a:pt x="44923" y="57846"/>
                </a:lnTo>
                <a:lnTo>
                  <a:pt x="44923" y="70154"/>
                </a:lnTo>
                <a:close/>
                <a:moveTo>
                  <a:pt x="28923" y="70154"/>
                </a:moveTo>
                <a:lnTo>
                  <a:pt x="35077" y="70154"/>
                </a:lnTo>
                <a:lnTo>
                  <a:pt x="35077" y="57846"/>
                </a:lnTo>
                <a:lnTo>
                  <a:pt x="28923" y="57846"/>
                </a:lnTo>
                <a:lnTo>
                  <a:pt x="28923" y="70154"/>
                </a:lnTo>
                <a:close/>
                <a:moveTo>
                  <a:pt x="60923" y="70154"/>
                </a:moveTo>
                <a:lnTo>
                  <a:pt x="67077" y="70154"/>
                </a:lnTo>
                <a:lnTo>
                  <a:pt x="67077" y="57846"/>
                </a:lnTo>
                <a:lnTo>
                  <a:pt x="60923" y="57846"/>
                </a:lnTo>
                <a:lnTo>
                  <a:pt x="60923" y="70154"/>
                </a:lnTo>
                <a:close/>
                <a:moveTo>
                  <a:pt x="84000" y="44000"/>
                </a:moveTo>
                <a:lnTo>
                  <a:pt x="71538" y="44000"/>
                </a:lnTo>
                <a:lnTo>
                  <a:pt x="75538" y="15077"/>
                </a:lnTo>
                <a:lnTo>
                  <a:pt x="80462" y="15077"/>
                </a:lnTo>
                <a:lnTo>
                  <a:pt x="84000" y="44000"/>
                </a:lnTo>
                <a:close/>
                <a:moveTo>
                  <a:pt x="16000" y="80000"/>
                </a:moveTo>
                <a:lnTo>
                  <a:pt x="80000" y="80000"/>
                </a:lnTo>
                <a:lnTo>
                  <a:pt x="16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5" name="TextBox 84"/>
          <p:cNvSpPr txBox="1"/>
          <p:nvPr/>
        </p:nvSpPr>
        <p:spPr>
          <a:xfrm>
            <a:off x="338328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factory</a:t>
            </a:r>
          </a:p>
        </p:txBody>
      </p:sp>
      <p:sp>
        <p:nvSpPr>
          <p:cNvPr id="86" name="Icon favorite"/>
          <p:cNvSpPr/>
          <p:nvPr/>
        </p:nvSpPr>
        <p:spPr>
          <a:xfrm>
            <a:off x="1530564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8615"/>
                </a:moveTo>
                <a:lnTo>
                  <a:pt x="44969" y="75877"/>
                </a:lnTo>
                <a:quadBezTo>
                  <a:pt x="35177" y="66931"/>
                  <a:pt x="28769" y="60562"/>
                </a:quadBezTo>
                <a:quadBezTo>
                  <a:pt x="22362" y="54192"/>
                  <a:pt x="18654" y="49327"/>
                </a:quadBezTo>
                <a:quadBezTo>
                  <a:pt x="14946" y="44462"/>
                  <a:pt x="13473" y="40523"/>
                </a:quadBezTo>
                <a:quadBezTo>
                  <a:pt x="12000" y="36585"/>
                  <a:pt x="12000" y="32600"/>
                </a:quadBezTo>
                <a:quadBezTo>
                  <a:pt x="12000" y="24969"/>
                  <a:pt x="17185" y="19785"/>
                </a:quadBezTo>
                <a:quadBezTo>
                  <a:pt x="22369" y="14600"/>
                  <a:pt x="30000" y="14600"/>
                </a:quadBezTo>
                <a:quadBezTo>
                  <a:pt x="35277" y="14600"/>
                  <a:pt x="39900" y="17300"/>
                </a:quadBezTo>
                <a:quadBezTo>
                  <a:pt x="44523" y="20000"/>
                  <a:pt x="48000" y="25154"/>
                </a:quadBezTo>
                <a:quadBezTo>
                  <a:pt x="51477" y="20000"/>
                  <a:pt x="56100" y="17300"/>
                </a:quadBezTo>
                <a:quadBezTo>
                  <a:pt x="60723" y="14600"/>
                  <a:pt x="66000" y="14600"/>
                </a:quadBezTo>
                <a:quadBezTo>
                  <a:pt x="73631" y="14600"/>
                  <a:pt x="78815" y="19785"/>
                </a:quadBezTo>
                <a:quadBezTo>
                  <a:pt x="84000" y="24969"/>
                  <a:pt x="84000" y="32600"/>
                </a:quadBezTo>
                <a:quadBezTo>
                  <a:pt x="84000" y="36585"/>
                  <a:pt x="82527" y="40523"/>
                </a:quadBezTo>
                <a:quadBezTo>
                  <a:pt x="81054" y="44462"/>
                  <a:pt x="77346" y="49327"/>
                </a:quadBezTo>
                <a:quadBezTo>
                  <a:pt x="73638" y="54192"/>
                  <a:pt x="67269" y="60562"/>
                </a:quadBezTo>
                <a:quadBezTo>
                  <a:pt x="60900" y="66931"/>
                  <a:pt x="51031" y="75877"/>
                </a:quadBezTo>
                <a:lnTo>
                  <a:pt x="48000" y="78615"/>
                </a:lnTo>
                <a:close/>
                <a:moveTo>
                  <a:pt x="48000" y="73200"/>
                </a:moveTo>
                <a:quadBezTo>
                  <a:pt x="57600" y="64523"/>
                  <a:pt x="63800" y="58335"/>
                </a:quadBezTo>
                <a:quadBezTo>
                  <a:pt x="70000" y="52146"/>
                  <a:pt x="73600" y="47596"/>
                </a:quadBezTo>
                <a:quadBezTo>
                  <a:pt x="77200" y="43046"/>
                  <a:pt x="78600" y="39535"/>
                </a:quadBezTo>
                <a:quadBezTo>
                  <a:pt x="80000" y="36023"/>
                  <a:pt x="80000" y="32600"/>
                </a:quadBezTo>
                <a:quadBezTo>
                  <a:pt x="80000" y="26600"/>
                  <a:pt x="76000" y="22600"/>
                </a:quadBezTo>
                <a:quadBezTo>
                  <a:pt x="72000" y="18600"/>
                  <a:pt x="66000" y="18600"/>
                </a:quadBezTo>
                <a:quadBezTo>
                  <a:pt x="61223" y="18600"/>
                  <a:pt x="57185" y="21327"/>
                </a:quadBezTo>
                <a:quadBezTo>
                  <a:pt x="53146" y="24054"/>
                  <a:pt x="49954" y="29538"/>
                </a:quadBezTo>
                <a:lnTo>
                  <a:pt x="46046" y="29538"/>
                </a:lnTo>
                <a:quadBezTo>
                  <a:pt x="42777" y="23977"/>
                  <a:pt x="38777" y="21288"/>
                </a:quadBezTo>
                <a:quadBezTo>
                  <a:pt x="34777" y="18600"/>
                  <a:pt x="30000" y="18600"/>
                </a:quadBezTo>
                <a:quadBezTo>
                  <a:pt x="24077" y="18600"/>
                  <a:pt x="20038" y="22600"/>
                </a:quadBezTo>
                <a:quadBezTo>
                  <a:pt x="16000" y="26600"/>
                  <a:pt x="16000" y="32600"/>
                </a:quadBezTo>
                <a:quadBezTo>
                  <a:pt x="16000" y="36023"/>
                  <a:pt x="17400" y="39535"/>
                </a:quadBezTo>
                <a:quadBezTo>
                  <a:pt x="18800" y="43046"/>
                  <a:pt x="22400" y="47596"/>
                </a:quadBezTo>
                <a:quadBezTo>
                  <a:pt x="26000" y="52146"/>
                  <a:pt x="32200" y="58296"/>
                </a:quadBezTo>
                <a:quadBezTo>
                  <a:pt x="38400" y="64446"/>
                  <a:pt x="48000" y="73200"/>
                </a:quadBezTo>
                <a:close/>
                <a:moveTo>
                  <a:pt x="48000" y="459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7" name="TextBox 86"/>
          <p:cNvSpPr txBox="1"/>
          <p:nvPr/>
        </p:nvSpPr>
        <p:spPr>
          <a:xfrm>
            <a:off x="1224592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favorite</a:t>
            </a:r>
          </a:p>
        </p:txBody>
      </p:sp>
      <p:sp>
        <p:nvSpPr>
          <p:cNvPr id="88" name="Icon filter_alt"/>
          <p:cNvSpPr/>
          <p:nvPr/>
        </p:nvSpPr>
        <p:spPr>
          <a:xfrm>
            <a:off x="2416829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7077" y="76000"/>
                </a:moveTo>
                <a:quadBezTo>
                  <a:pt x="45762" y="76000"/>
                  <a:pt x="44881" y="75119"/>
                </a:quadBezTo>
                <a:quadBezTo>
                  <a:pt x="44000" y="74238"/>
                  <a:pt x="44000" y="72923"/>
                </a:quadBezTo>
                <a:lnTo>
                  <a:pt x="44000" y="50615"/>
                </a:lnTo>
                <a:lnTo>
                  <a:pt x="22415" y="23323"/>
                </a:lnTo>
                <a:quadBezTo>
                  <a:pt x="21608" y="22246"/>
                  <a:pt x="22196" y="21123"/>
                </a:quadBezTo>
                <a:quadBezTo>
                  <a:pt x="22785" y="20000"/>
                  <a:pt x="24077" y="20000"/>
                </a:quadBezTo>
                <a:lnTo>
                  <a:pt x="71923" y="20000"/>
                </a:lnTo>
                <a:quadBezTo>
                  <a:pt x="73215" y="20000"/>
                  <a:pt x="73804" y="21123"/>
                </a:quadBezTo>
                <a:quadBezTo>
                  <a:pt x="74392" y="22246"/>
                  <a:pt x="73585" y="23323"/>
                </a:quadBezTo>
                <a:lnTo>
                  <a:pt x="52000" y="50615"/>
                </a:lnTo>
                <a:lnTo>
                  <a:pt x="52000" y="72923"/>
                </a:lnTo>
                <a:quadBezTo>
                  <a:pt x="52000" y="74238"/>
                  <a:pt x="51119" y="75119"/>
                </a:quadBezTo>
                <a:quadBezTo>
                  <a:pt x="50238" y="76000"/>
                  <a:pt x="48923" y="76000"/>
                </a:quadBezTo>
                <a:lnTo>
                  <a:pt x="47077" y="76000"/>
                </a:lnTo>
                <a:close/>
                <a:moveTo>
                  <a:pt x="48000" y="49200"/>
                </a:moveTo>
                <a:lnTo>
                  <a:pt x="67800" y="24000"/>
                </a:lnTo>
                <a:lnTo>
                  <a:pt x="28200" y="24000"/>
                </a:lnTo>
                <a:lnTo>
                  <a:pt x="48000" y="49200"/>
                </a:lnTo>
                <a:close/>
                <a:moveTo>
                  <a:pt x="48000" y="492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9" name="TextBox 88"/>
          <p:cNvSpPr txBox="1"/>
          <p:nvPr/>
        </p:nvSpPr>
        <p:spPr>
          <a:xfrm>
            <a:off x="2110857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filter alt</a:t>
            </a:r>
          </a:p>
        </p:txBody>
      </p:sp>
      <p:sp>
        <p:nvSpPr>
          <p:cNvPr id="90" name="Icon flag"/>
          <p:cNvSpPr/>
          <p:nvPr/>
        </p:nvSpPr>
        <p:spPr>
          <a:xfrm>
            <a:off x="3303094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2000"/>
                </a:moveTo>
                <a:lnTo>
                  <a:pt x="24000" y="20000"/>
                </a:lnTo>
                <a:lnTo>
                  <a:pt x="52769" y="20000"/>
                </a:lnTo>
                <a:lnTo>
                  <a:pt x="54369" y="28000"/>
                </a:lnTo>
                <a:lnTo>
                  <a:pt x="76000" y="28000"/>
                </a:lnTo>
                <a:lnTo>
                  <a:pt x="76000" y="60000"/>
                </a:lnTo>
                <a:lnTo>
                  <a:pt x="55231" y="60000"/>
                </a:lnTo>
                <a:lnTo>
                  <a:pt x="53631" y="52000"/>
                </a:lnTo>
                <a:lnTo>
                  <a:pt x="28000" y="52000"/>
                </a:lnTo>
                <a:lnTo>
                  <a:pt x="28000" y="82000"/>
                </a:lnTo>
                <a:lnTo>
                  <a:pt x="24000" y="82000"/>
                </a:lnTo>
                <a:close/>
                <a:moveTo>
                  <a:pt x="50000" y="40000"/>
                </a:moveTo>
                <a:close/>
                <a:moveTo>
                  <a:pt x="58600" y="56000"/>
                </a:moveTo>
                <a:lnTo>
                  <a:pt x="72000" y="56000"/>
                </a:lnTo>
                <a:lnTo>
                  <a:pt x="72000" y="32000"/>
                </a:lnTo>
                <a:lnTo>
                  <a:pt x="51000" y="32000"/>
                </a:lnTo>
                <a:lnTo>
                  <a:pt x="49400" y="24000"/>
                </a:lnTo>
                <a:lnTo>
                  <a:pt x="28000" y="24000"/>
                </a:lnTo>
                <a:lnTo>
                  <a:pt x="28000" y="48000"/>
                </a:lnTo>
                <a:lnTo>
                  <a:pt x="57000" y="48000"/>
                </a:lnTo>
                <a:lnTo>
                  <a:pt x="58600" y="5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1" name="TextBox 90"/>
          <p:cNvSpPr txBox="1"/>
          <p:nvPr/>
        </p:nvSpPr>
        <p:spPr>
          <a:xfrm>
            <a:off x="2997121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flag</a:t>
            </a:r>
          </a:p>
        </p:txBody>
      </p:sp>
      <p:sp>
        <p:nvSpPr>
          <p:cNvPr id="92" name="Icon folder"/>
          <p:cNvSpPr/>
          <p:nvPr/>
        </p:nvSpPr>
        <p:spPr>
          <a:xfrm>
            <a:off x="4189358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76000"/>
                </a:moveTo>
                <a:quadBezTo>
                  <a:pt x="15700" y="76000"/>
                  <a:pt x="13850" y="74150"/>
                </a:quadBezTo>
                <a:quadBezTo>
                  <a:pt x="12000" y="72300"/>
                  <a:pt x="12000" y="69538"/>
                </a:quadBezTo>
                <a:lnTo>
                  <a:pt x="12000" y="26462"/>
                </a:lnTo>
                <a:quadBezTo>
                  <a:pt x="12000" y="23700"/>
                  <a:pt x="13850" y="21850"/>
                </a:quadBezTo>
                <a:quadBezTo>
                  <a:pt x="15700" y="20000"/>
                  <a:pt x="18462" y="20000"/>
                </a:quadBezTo>
                <a:lnTo>
                  <a:pt x="38385" y="20000"/>
                </a:lnTo>
                <a:lnTo>
                  <a:pt x="46385" y="28000"/>
                </a:lnTo>
                <a:lnTo>
                  <a:pt x="77538" y="28000"/>
                </a:lnTo>
                <a:quadBezTo>
                  <a:pt x="80300" y="28000"/>
                  <a:pt x="82150" y="29850"/>
                </a:quadBezTo>
                <a:quadBezTo>
                  <a:pt x="84000" y="31700"/>
                  <a:pt x="84000" y="34462"/>
                </a:quadBezTo>
                <a:lnTo>
                  <a:pt x="84000" y="69538"/>
                </a:lnTo>
                <a:quadBezTo>
                  <a:pt x="84000" y="72300"/>
                  <a:pt x="82150" y="74150"/>
                </a:quadBezTo>
                <a:quadBezTo>
                  <a:pt x="80300" y="76000"/>
                  <a:pt x="77538" y="76000"/>
                </a:quadBezTo>
                <a:lnTo>
                  <a:pt x="18462" y="76000"/>
                </a:lnTo>
                <a:close/>
                <a:moveTo>
                  <a:pt x="18462" y="72000"/>
                </a:moveTo>
                <a:lnTo>
                  <a:pt x="77538" y="72000"/>
                </a:lnTo>
                <a:quadBezTo>
                  <a:pt x="78615" y="72000"/>
                  <a:pt x="79308" y="71308"/>
                </a:quadBezTo>
                <a:quadBezTo>
                  <a:pt x="80000" y="70615"/>
                  <a:pt x="80000" y="69538"/>
                </a:quadBezTo>
                <a:lnTo>
                  <a:pt x="80000" y="34462"/>
                </a:lnTo>
                <a:quadBezTo>
                  <a:pt x="80000" y="33385"/>
                  <a:pt x="79308" y="32692"/>
                </a:quadBezTo>
                <a:quadBezTo>
                  <a:pt x="78615" y="32000"/>
                  <a:pt x="77538" y="32000"/>
                </a:quadBezTo>
                <a:lnTo>
                  <a:pt x="44777" y="32000"/>
                </a:lnTo>
                <a:lnTo>
                  <a:pt x="36777" y="24000"/>
                </a:lnTo>
                <a:lnTo>
                  <a:pt x="18462" y="24000"/>
                </a:lnTo>
                <a:quadBezTo>
                  <a:pt x="17385" y="24000"/>
                  <a:pt x="16692" y="24692"/>
                </a:quadBezTo>
                <a:quadBezTo>
                  <a:pt x="16000" y="25385"/>
                  <a:pt x="16000" y="26462"/>
                </a:quadBez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close/>
                <a:moveTo>
                  <a:pt x="16000" y="72000"/>
                </a:moveTo>
                <a:lnTo>
                  <a:pt x="16000" y="24000"/>
                </a:lnTo>
                <a:lnTo>
                  <a:pt x="16000" y="7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3" name="TextBox 92"/>
          <p:cNvSpPr txBox="1"/>
          <p:nvPr/>
        </p:nvSpPr>
        <p:spPr>
          <a:xfrm>
            <a:off x="3883386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folder</a:t>
            </a:r>
          </a:p>
        </p:txBody>
      </p:sp>
      <p:sp>
        <p:nvSpPr>
          <p:cNvPr id="94" name="Icon forum"/>
          <p:cNvSpPr/>
          <p:nvPr/>
        </p:nvSpPr>
        <p:spPr>
          <a:xfrm>
            <a:off x="5075623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923" y="64923"/>
                </a:moveTo>
                <a:quadBezTo>
                  <a:pt x="27615" y="64923"/>
                  <a:pt x="26731" y="64039"/>
                </a:quadBezTo>
                <a:quadBezTo>
                  <a:pt x="25846" y="63154"/>
                  <a:pt x="25846" y="61846"/>
                </a:quadBezTo>
                <a:lnTo>
                  <a:pt x="25846" y="57846"/>
                </a:lnTo>
                <a:lnTo>
                  <a:pt x="72846" y="57846"/>
                </a:lnTo>
                <a:lnTo>
                  <a:pt x="75385" y="60385"/>
                </a:lnTo>
                <a:lnTo>
                  <a:pt x="75385" y="24000"/>
                </a:lnTo>
                <a:lnTo>
                  <a:pt x="79385" y="24000"/>
                </a:lnTo>
                <a:quadBezTo>
                  <a:pt x="80692" y="24000"/>
                  <a:pt x="81577" y="24885"/>
                </a:quadBezTo>
                <a:quadBezTo>
                  <a:pt x="82462" y="25769"/>
                  <a:pt x="82462" y="27077"/>
                </a:quadBezTo>
                <a:lnTo>
                  <a:pt x="82462" y="77231"/>
                </a:lnTo>
                <a:lnTo>
                  <a:pt x="70154" y="64923"/>
                </a:lnTo>
                <a:lnTo>
                  <a:pt x="28923" y="64923"/>
                </a:lnTo>
                <a:close/>
                <a:moveTo>
                  <a:pt x="13538" y="62154"/>
                </a:moveTo>
                <a:lnTo>
                  <a:pt x="13538" y="15077"/>
                </a:lnTo>
                <a:quadBezTo>
                  <a:pt x="13538" y="13769"/>
                  <a:pt x="14423" y="12885"/>
                </a:quadBezTo>
                <a:quadBezTo>
                  <a:pt x="15308" y="12000"/>
                  <a:pt x="16615" y="12000"/>
                </a:quadBezTo>
                <a:lnTo>
                  <a:pt x="64308" y="12000"/>
                </a:lnTo>
                <a:quadBezTo>
                  <a:pt x="65615" y="12000"/>
                  <a:pt x="66500" y="12885"/>
                </a:quadBezTo>
                <a:quadBezTo>
                  <a:pt x="67385" y="13769"/>
                  <a:pt x="67385" y="15077"/>
                </a:quadBezTo>
                <a:lnTo>
                  <a:pt x="67385" y="46769"/>
                </a:lnTo>
                <a:quadBezTo>
                  <a:pt x="67385" y="48077"/>
                  <a:pt x="66500" y="48962"/>
                </a:quadBezTo>
                <a:quadBezTo>
                  <a:pt x="65615" y="49846"/>
                  <a:pt x="64308" y="49846"/>
                </a:quadBezTo>
                <a:lnTo>
                  <a:pt x="25846" y="49846"/>
                </a:lnTo>
                <a:lnTo>
                  <a:pt x="13538" y="62154"/>
                </a:lnTo>
                <a:close/>
                <a:moveTo>
                  <a:pt x="63385" y="45846"/>
                </a:moveTo>
                <a:lnTo>
                  <a:pt x="63385" y="16000"/>
                </a:lnTo>
                <a:lnTo>
                  <a:pt x="17538" y="16000"/>
                </a:lnTo>
                <a:lnTo>
                  <a:pt x="17538" y="51385"/>
                </a:lnTo>
                <a:lnTo>
                  <a:pt x="23077" y="45846"/>
                </a:lnTo>
                <a:lnTo>
                  <a:pt x="63385" y="45846"/>
                </a:lnTo>
                <a:close/>
                <a:moveTo>
                  <a:pt x="17538" y="45846"/>
                </a:moveTo>
                <a:lnTo>
                  <a:pt x="17538" y="16000"/>
                </a:lnTo>
                <a:lnTo>
                  <a:pt x="17538" y="458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5" name="TextBox 94"/>
          <p:cNvSpPr txBox="1"/>
          <p:nvPr/>
        </p:nvSpPr>
        <p:spPr>
          <a:xfrm>
            <a:off x="4769651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forum</a:t>
            </a:r>
          </a:p>
        </p:txBody>
      </p:sp>
      <p:sp>
        <p:nvSpPr>
          <p:cNvPr id="96" name="Icon group"/>
          <p:cNvSpPr/>
          <p:nvPr/>
        </p:nvSpPr>
        <p:spPr>
          <a:xfrm>
            <a:off x="5961888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0385" y="74462"/>
                </a:moveTo>
                <a:lnTo>
                  <a:pt x="10385" y="67877"/>
                </a:lnTo>
                <a:quadBezTo>
                  <a:pt x="10385" y="65092"/>
                  <a:pt x="11827" y="63088"/>
                </a:quadBezTo>
                <a:quadBezTo>
                  <a:pt x="13269" y="61085"/>
                  <a:pt x="15703" y="59886"/>
                </a:quadBezTo>
                <a:quadBezTo>
                  <a:pt x="20908" y="57408"/>
                  <a:pt x="26038" y="55935"/>
                </a:quadBezTo>
                <a:quadBezTo>
                  <a:pt x="31169" y="54462"/>
                  <a:pt x="38385" y="54462"/>
                </a:quadBezTo>
                <a:quadBezTo>
                  <a:pt x="45600" y="54462"/>
                  <a:pt x="50731" y="55935"/>
                </a:quadBezTo>
                <a:quadBezTo>
                  <a:pt x="55862" y="57408"/>
                  <a:pt x="61066" y="59886"/>
                </a:quadBezTo>
                <a:quadBezTo>
                  <a:pt x="63500" y="61085"/>
                  <a:pt x="64942" y="63088"/>
                </a:quadBezTo>
                <a:quadBezTo>
                  <a:pt x="66385" y="65092"/>
                  <a:pt x="66385" y="67877"/>
                </a:quadBezTo>
                <a:lnTo>
                  <a:pt x="66385" y="74462"/>
                </a:lnTo>
                <a:lnTo>
                  <a:pt x="10385" y="74462"/>
                </a:lnTo>
                <a:close/>
                <a:moveTo>
                  <a:pt x="74385" y="74462"/>
                </a:moveTo>
                <a:lnTo>
                  <a:pt x="74385" y="67692"/>
                </a:lnTo>
                <a:quadBezTo>
                  <a:pt x="74385" y="64215"/>
                  <a:pt x="72977" y="61128"/>
                </a:quadBezTo>
                <a:quadBezTo>
                  <a:pt x="71570" y="58041"/>
                  <a:pt x="68985" y="55831"/>
                </a:quadBezTo>
                <a:quadBezTo>
                  <a:pt x="71931" y="56431"/>
                  <a:pt x="74662" y="57496"/>
                </a:quadBezTo>
                <a:quadBezTo>
                  <a:pt x="77392" y="58562"/>
                  <a:pt x="80062" y="59892"/>
                </a:quadBezTo>
                <a:quadBezTo>
                  <a:pt x="82662" y="61200"/>
                  <a:pt x="84139" y="63239"/>
                </a:quadBezTo>
                <a:quadBezTo>
                  <a:pt x="85615" y="65279"/>
                  <a:pt x="85615" y="67692"/>
                </a:quadBezTo>
                <a:lnTo>
                  <a:pt x="85615" y="74462"/>
                </a:lnTo>
                <a:lnTo>
                  <a:pt x="74385" y="74462"/>
                </a:lnTo>
                <a:close/>
                <a:moveTo>
                  <a:pt x="38385" y="45538"/>
                </a:moveTo>
                <a:quadBezTo>
                  <a:pt x="33435" y="45538"/>
                  <a:pt x="29910" y="42013"/>
                </a:quadBezTo>
                <a:quadBezTo>
                  <a:pt x="26385" y="38488"/>
                  <a:pt x="26385" y="33538"/>
                </a:quadBezTo>
                <a:quadBezTo>
                  <a:pt x="26385" y="28588"/>
                  <a:pt x="29910" y="25063"/>
                </a:quadBezTo>
                <a:quadBezTo>
                  <a:pt x="33435" y="21538"/>
                  <a:pt x="38385" y="21538"/>
                </a:quadBezTo>
                <a:quadBezTo>
                  <a:pt x="43335" y="21538"/>
                  <a:pt x="46860" y="25063"/>
                </a:quadBezTo>
                <a:quadBezTo>
                  <a:pt x="50385" y="28588"/>
                  <a:pt x="50385" y="33538"/>
                </a:quadBezTo>
                <a:quadBezTo>
                  <a:pt x="50385" y="38488"/>
                  <a:pt x="46860" y="42013"/>
                </a:quadBezTo>
                <a:quadBezTo>
                  <a:pt x="43335" y="45538"/>
                  <a:pt x="38385" y="45538"/>
                </a:quadBezTo>
                <a:close/>
                <a:moveTo>
                  <a:pt x="67462" y="33538"/>
                </a:moveTo>
                <a:quadBezTo>
                  <a:pt x="67462" y="38488"/>
                  <a:pt x="63937" y="42013"/>
                </a:quadBezTo>
                <a:quadBezTo>
                  <a:pt x="60412" y="45538"/>
                  <a:pt x="55462" y="45538"/>
                </a:quadBezTo>
                <a:quadBezTo>
                  <a:pt x="55208" y="45538"/>
                  <a:pt x="54815" y="45481"/>
                </a:quadBezTo>
                <a:quadBezTo>
                  <a:pt x="54423" y="45423"/>
                  <a:pt x="54169" y="45354"/>
                </a:quadBezTo>
                <a:quadBezTo>
                  <a:pt x="56202" y="42864"/>
                  <a:pt x="57293" y="39830"/>
                </a:quadBezTo>
                <a:quadBezTo>
                  <a:pt x="58385" y="36796"/>
                  <a:pt x="58385" y="33529"/>
                </a:quadBezTo>
                <a:quadBezTo>
                  <a:pt x="58385" y="30262"/>
                  <a:pt x="57242" y="27285"/>
                </a:quadBezTo>
                <a:quadBezTo>
                  <a:pt x="56100" y="24308"/>
                  <a:pt x="54169" y="21723"/>
                </a:quadBezTo>
                <a:quadBezTo>
                  <a:pt x="54492" y="21608"/>
                  <a:pt x="54815" y="21573"/>
                </a:quadBezTo>
                <a:quadBezTo>
                  <a:pt x="55138" y="21538"/>
                  <a:pt x="55462" y="21538"/>
                </a:quadBezTo>
                <a:quadBezTo>
                  <a:pt x="60412" y="21538"/>
                  <a:pt x="63937" y="25063"/>
                </a:quadBezTo>
                <a:quadBezTo>
                  <a:pt x="67462" y="28588"/>
                  <a:pt x="67462" y="33538"/>
                </a:quadBezTo>
                <a:close/>
                <a:moveTo>
                  <a:pt x="14385" y="70462"/>
                </a:moveTo>
                <a:lnTo>
                  <a:pt x="62385" y="70462"/>
                </a:lnTo>
                <a:lnTo>
                  <a:pt x="62385" y="67877"/>
                </a:lnTo>
                <a:quadBezTo>
                  <a:pt x="62385" y="66469"/>
                  <a:pt x="61681" y="65415"/>
                </a:quadBezTo>
                <a:quadBezTo>
                  <a:pt x="60977" y="64362"/>
                  <a:pt x="59154" y="63400"/>
                </a:quadBezTo>
                <a:quadBezTo>
                  <a:pt x="54677" y="61008"/>
                  <a:pt x="49715" y="59735"/>
                </a:quadBezTo>
                <a:quadBezTo>
                  <a:pt x="44754" y="58462"/>
                  <a:pt x="38385" y="58462"/>
                </a:quadBezTo>
                <a:quadBezTo>
                  <a:pt x="32015" y="58462"/>
                  <a:pt x="27054" y="59735"/>
                </a:quadBezTo>
                <a:quadBezTo>
                  <a:pt x="22092" y="61008"/>
                  <a:pt x="17615" y="63400"/>
                </a:quadBezTo>
                <a:quadBezTo>
                  <a:pt x="15792" y="64362"/>
                  <a:pt x="15088" y="65415"/>
                </a:quadBezTo>
                <a:quadBezTo>
                  <a:pt x="14385" y="66469"/>
                  <a:pt x="14385" y="67877"/>
                </a:quadBezTo>
                <a:lnTo>
                  <a:pt x="14385" y="70462"/>
                </a:lnTo>
                <a:close/>
                <a:moveTo>
                  <a:pt x="38385" y="41538"/>
                </a:moveTo>
                <a:quadBezTo>
                  <a:pt x="41685" y="41538"/>
                  <a:pt x="44035" y="39188"/>
                </a:quadBezTo>
                <a:quadBezTo>
                  <a:pt x="46385" y="36838"/>
                  <a:pt x="46385" y="33538"/>
                </a:quadBezTo>
                <a:quadBezTo>
                  <a:pt x="46385" y="30238"/>
                  <a:pt x="44035" y="27888"/>
                </a:quadBezTo>
                <a:quadBezTo>
                  <a:pt x="41685" y="25538"/>
                  <a:pt x="38385" y="25538"/>
                </a:quadBezTo>
                <a:quadBezTo>
                  <a:pt x="35085" y="25538"/>
                  <a:pt x="32735" y="27888"/>
                </a:quadBezTo>
                <a:quadBezTo>
                  <a:pt x="30385" y="30238"/>
                  <a:pt x="30385" y="33538"/>
                </a:quadBezTo>
                <a:quadBezTo>
                  <a:pt x="30385" y="36838"/>
                  <a:pt x="32735" y="39188"/>
                </a:quadBezTo>
                <a:quadBezTo>
                  <a:pt x="35085" y="41538"/>
                  <a:pt x="38385" y="41538"/>
                </a:quadBezTo>
                <a:close/>
                <a:moveTo>
                  <a:pt x="38385" y="70462"/>
                </a:moveTo>
                <a:close/>
                <a:moveTo>
                  <a:pt x="38385" y="335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7" name="TextBox 96"/>
          <p:cNvSpPr txBox="1"/>
          <p:nvPr/>
        </p:nvSpPr>
        <p:spPr>
          <a:xfrm>
            <a:off x="5655915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group</a:t>
            </a:r>
          </a:p>
        </p:txBody>
      </p:sp>
      <p:sp>
        <p:nvSpPr>
          <p:cNvPr id="98" name="Icon groups"/>
          <p:cNvSpPr/>
          <p:nvPr/>
        </p:nvSpPr>
        <p:spPr>
          <a:xfrm>
            <a:off x="6848152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" y="70308"/>
                </a:moveTo>
                <a:lnTo>
                  <a:pt x="4000" y="66854"/>
                </a:lnTo>
                <a:quadBezTo>
                  <a:pt x="4000" y="63169"/>
                  <a:pt x="7938" y="60738"/>
                </a:quadBezTo>
                <a:quadBezTo>
                  <a:pt x="11877" y="58308"/>
                  <a:pt x="18077" y="58308"/>
                </a:quadBezTo>
                <a:quadBezTo>
                  <a:pt x="18992" y="58308"/>
                  <a:pt x="20038" y="58396"/>
                </a:quadBezTo>
                <a:quadBezTo>
                  <a:pt x="21085" y="58485"/>
                  <a:pt x="22262" y="58685"/>
                </a:quadBezTo>
                <a:quadBezTo>
                  <a:pt x="21323" y="60323"/>
                  <a:pt x="20892" y="62046"/>
                </a:quadBezTo>
                <a:quadBezTo>
                  <a:pt x="20462" y="63769"/>
                  <a:pt x="20462" y="65500"/>
                </a:quadBezTo>
                <a:lnTo>
                  <a:pt x="20462" y="70308"/>
                </a:lnTo>
                <a:lnTo>
                  <a:pt x="4000" y="70308"/>
                </a:lnTo>
                <a:close/>
                <a:moveTo>
                  <a:pt x="28000" y="70308"/>
                </a:moveTo>
                <a:lnTo>
                  <a:pt x="28000" y="65808"/>
                </a:lnTo>
                <a:quadBezTo>
                  <a:pt x="28000" y="63390"/>
                  <a:pt x="29404" y="61387"/>
                </a:quadBezTo>
                <a:quadBezTo>
                  <a:pt x="30808" y="59385"/>
                  <a:pt x="33546" y="57923"/>
                </a:quadBezTo>
                <a:quadBezTo>
                  <a:pt x="36285" y="56462"/>
                  <a:pt x="39927" y="55731"/>
                </a:quadBezTo>
                <a:quadBezTo>
                  <a:pt x="43569" y="55000"/>
                  <a:pt x="47969" y="55000"/>
                </a:quadBezTo>
                <a:quadBezTo>
                  <a:pt x="52454" y="55000"/>
                  <a:pt x="56096" y="55731"/>
                </a:quadBezTo>
                <a:quadBezTo>
                  <a:pt x="59738" y="56462"/>
                  <a:pt x="62477" y="57923"/>
                </a:quadBezTo>
                <a:quadBezTo>
                  <a:pt x="65215" y="59385"/>
                  <a:pt x="66608" y="61387"/>
                </a:quadBezTo>
                <a:quadBezTo>
                  <a:pt x="68000" y="63390"/>
                  <a:pt x="68000" y="65808"/>
                </a:quadBezTo>
                <a:lnTo>
                  <a:pt x="68000" y="70308"/>
                </a:lnTo>
                <a:lnTo>
                  <a:pt x="28000" y="70308"/>
                </a:lnTo>
                <a:close/>
                <a:moveTo>
                  <a:pt x="75538" y="70308"/>
                </a:moveTo>
                <a:lnTo>
                  <a:pt x="75538" y="65523"/>
                </a:lnTo>
                <a:quadBezTo>
                  <a:pt x="75538" y="63609"/>
                  <a:pt x="75119" y="61916"/>
                </a:quadBezTo>
                <a:quadBezTo>
                  <a:pt x="74700" y="60223"/>
                  <a:pt x="73862" y="58685"/>
                </a:quadBezTo>
                <a:quadBezTo>
                  <a:pt x="75115" y="58485"/>
                  <a:pt x="76112" y="58396"/>
                </a:quadBezTo>
                <a:quadBezTo>
                  <a:pt x="77108" y="58308"/>
                  <a:pt x="78000" y="58308"/>
                </a:quadBezTo>
                <a:quadBezTo>
                  <a:pt x="84200" y="58308"/>
                  <a:pt x="88100" y="60727"/>
                </a:quadBezTo>
                <a:quadBezTo>
                  <a:pt x="92000" y="63146"/>
                  <a:pt x="92000" y="66854"/>
                </a:quadBezTo>
                <a:lnTo>
                  <a:pt x="92000" y="70308"/>
                </a:lnTo>
                <a:lnTo>
                  <a:pt x="75538" y="70308"/>
                </a:lnTo>
                <a:close/>
                <a:moveTo>
                  <a:pt x="32115" y="66308"/>
                </a:moveTo>
                <a:lnTo>
                  <a:pt x="63908" y="66308"/>
                </a:lnTo>
                <a:lnTo>
                  <a:pt x="63908" y="65462"/>
                </a:lnTo>
                <a:quadBezTo>
                  <a:pt x="63677" y="62615"/>
                  <a:pt x="59242" y="60808"/>
                </a:quadBezTo>
                <a:quadBezTo>
                  <a:pt x="54808" y="59000"/>
                  <a:pt x="48000" y="59000"/>
                </a:quadBezTo>
                <a:quadBezTo>
                  <a:pt x="41192" y="59000"/>
                  <a:pt x="36758" y="60808"/>
                </a:quadBezTo>
                <a:quadBezTo>
                  <a:pt x="32323" y="62615"/>
                  <a:pt x="32115" y="65462"/>
                </a:quadBezTo>
                <a:lnTo>
                  <a:pt x="32115" y="66308"/>
                </a:lnTo>
                <a:close/>
                <a:moveTo>
                  <a:pt x="18056" y="54538"/>
                </a:moveTo>
                <a:quadBezTo>
                  <a:pt x="15700" y="54538"/>
                  <a:pt x="14042" y="52866"/>
                </a:quadBezTo>
                <a:quadBezTo>
                  <a:pt x="12385" y="51194"/>
                  <a:pt x="12385" y="48846"/>
                </a:quadBezTo>
                <a:quadBezTo>
                  <a:pt x="12385" y="46523"/>
                  <a:pt x="14057" y="44877"/>
                </a:quadBezTo>
                <a:quadBezTo>
                  <a:pt x="15729" y="43231"/>
                  <a:pt x="18077" y="43231"/>
                </a:quadBezTo>
                <a:quadBezTo>
                  <a:pt x="20400" y="43231"/>
                  <a:pt x="22085" y="44877"/>
                </a:quadBezTo>
                <a:quadBezTo>
                  <a:pt x="23769" y="46523"/>
                  <a:pt x="23769" y="48869"/>
                </a:quadBezTo>
                <a:quadBezTo>
                  <a:pt x="23769" y="51146"/>
                  <a:pt x="22127" y="52842"/>
                </a:quadBezTo>
                <a:quadBezTo>
                  <a:pt x="20484" y="54538"/>
                  <a:pt x="18056" y="54538"/>
                </a:quadBezTo>
                <a:close/>
                <a:moveTo>
                  <a:pt x="78000" y="54538"/>
                </a:moveTo>
                <a:quadBezTo>
                  <a:pt x="75700" y="54538"/>
                  <a:pt x="74004" y="52842"/>
                </a:quadBezTo>
                <a:quadBezTo>
                  <a:pt x="72308" y="51146"/>
                  <a:pt x="72308" y="48869"/>
                </a:quadBezTo>
                <a:quadBezTo>
                  <a:pt x="72308" y="46523"/>
                  <a:pt x="74004" y="44877"/>
                </a:quadBezTo>
                <a:quadBezTo>
                  <a:pt x="75700" y="43231"/>
                  <a:pt x="78015" y="43231"/>
                </a:quadBezTo>
                <a:quadBezTo>
                  <a:pt x="80400" y="43231"/>
                  <a:pt x="82046" y="44877"/>
                </a:quadBezTo>
                <a:quadBezTo>
                  <a:pt x="83692" y="46523"/>
                  <a:pt x="83692" y="48846"/>
                </a:quadBezTo>
                <a:quadBezTo>
                  <a:pt x="83692" y="51194"/>
                  <a:pt x="82056" y="52866"/>
                </a:quadBezTo>
                <a:quadBezTo>
                  <a:pt x="80419" y="54538"/>
                  <a:pt x="78000" y="54538"/>
                </a:quadBezTo>
                <a:close/>
                <a:moveTo>
                  <a:pt x="48027" y="52000"/>
                </a:moveTo>
                <a:quadBezTo>
                  <a:pt x="44385" y="52000"/>
                  <a:pt x="41808" y="49442"/>
                </a:quadBezTo>
                <a:quadBezTo>
                  <a:pt x="39231" y="46885"/>
                  <a:pt x="39231" y="43231"/>
                </a:quadBezTo>
                <a:quadBezTo>
                  <a:pt x="39231" y="39504"/>
                  <a:pt x="41788" y="36983"/>
                </a:quadBezTo>
                <a:quadBezTo>
                  <a:pt x="44346" y="34461"/>
                  <a:pt x="48000" y="34461"/>
                </a:quadBezTo>
                <a:quadBezTo>
                  <a:pt x="51727" y="34461"/>
                  <a:pt x="54248" y="36975"/>
                </a:quadBezTo>
                <a:quadBezTo>
                  <a:pt x="56769" y="39488"/>
                  <a:pt x="56769" y="43204"/>
                </a:quadBezTo>
                <a:quadBezTo>
                  <a:pt x="56769" y="46846"/>
                  <a:pt x="54256" y="49423"/>
                </a:quadBezTo>
                <a:quadBezTo>
                  <a:pt x="51743" y="52000"/>
                  <a:pt x="48027" y="52000"/>
                </a:quadBezTo>
                <a:close/>
                <a:moveTo>
                  <a:pt x="48038" y="48000"/>
                </a:moveTo>
                <a:quadBezTo>
                  <a:pt x="50008" y="48000"/>
                  <a:pt x="51388" y="46581"/>
                </a:quadBezTo>
                <a:quadBezTo>
                  <a:pt x="52769" y="45161"/>
                  <a:pt x="52769" y="43192"/>
                </a:quadBezTo>
                <a:quadBezTo>
                  <a:pt x="52769" y="41223"/>
                  <a:pt x="51398" y="39842"/>
                </a:quadBezTo>
                <a:quadBezTo>
                  <a:pt x="50027" y="38461"/>
                  <a:pt x="48000" y="38461"/>
                </a:quadBezTo>
                <a:quadBezTo>
                  <a:pt x="46069" y="38461"/>
                  <a:pt x="44650" y="39833"/>
                </a:quadBezTo>
                <a:quadBezTo>
                  <a:pt x="43231" y="41204"/>
                  <a:pt x="43231" y="43231"/>
                </a:quadBezTo>
                <a:quadBezTo>
                  <a:pt x="43231" y="45161"/>
                  <a:pt x="44650" y="46581"/>
                </a:quadBezTo>
                <a:quadBezTo>
                  <a:pt x="46069" y="48000"/>
                  <a:pt x="48038" y="48000"/>
                </a:quadBezTo>
                <a:close/>
                <a:moveTo>
                  <a:pt x="48023" y="66308"/>
                </a:moveTo>
                <a:close/>
                <a:moveTo>
                  <a:pt x="48000" y="43231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9" name="TextBox 98"/>
          <p:cNvSpPr txBox="1"/>
          <p:nvPr/>
        </p:nvSpPr>
        <p:spPr>
          <a:xfrm>
            <a:off x="6542180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groups</a:t>
            </a:r>
          </a:p>
        </p:txBody>
      </p:sp>
      <p:sp>
        <p:nvSpPr>
          <p:cNvPr id="100" name="Icon handshake"/>
          <p:cNvSpPr/>
          <p:nvPr/>
        </p:nvSpPr>
        <p:spPr>
          <a:xfrm>
            <a:off x="7734417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808" y="79769"/>
                </a:moveTo>
                <a:quadBezTo>
                  <a:pt x="47592" y="79769"/>
                  <a:pt x="48415" y="79415"/>
                </a:quadBezTo>
                <a:quadBezTo>
                  <a:pt x="49238" y="79062"/>
                  <a:pt x="49746" y="78554"/>
                </a:quadBezTo>
                <a:lnTo>
                  <a:pt x="80931" y="47369"/>
                </a:lnTo>
                <a:quadBezTo>
                  <a:pt x="82438" y="45862"/>
                  <a:pt x="83258" y="44285"/>
                </a:quadBezTo>
                <a:quadBezTo>
                  <a:pt x="84077" y="42708"/>
                  <a:pt x="84077" y="40823"/>
                </a:quadBezTo>
                <a:quadBezTo>
                  <a:pt x="84077" y="38915"/>
                  <a:pt x="83258" y="37119"/>
                </a:quadBezTo>
                <a:quadBezTo>
                  <a:pt x="82438" y="35323"/>
                  <a:pt x="80931" y="33838"/>
                </a:quadBezTo>
                <a:lnTo>
                  <a:pt x="65931" y="18838"/>
                </a:lnTo>
                <a:quadBezTo>
                  <a:pt x="64446" y="17331"/>
                  <a:pt x="62881" y="16627"/>
                </a:quadBezTo>
                <a:quadBezTo>
                  <a:pt x="61315" y="15923"/>
                  <a:pt x="59408" y="15923"/>
                </a:quadBezTo>
                <a:quadBezTo>
                  <a:pt x="57523" y="15923"/>
                  <a:pt x="55908" y="16627"/>
                </a:quadBezTo>
                <a:quadBezTo>
                  <a:pt x="54292" y="17331"/>
                  <a:pt x="52862" y="18838"/>
                </a:quadBezTo>
                <a:lnTo>
                  <a:pt x="49377" y="22323"/>
                </a:lnTo>
                <a:lnTo>
                  <a:pt x="56777" y="29746"/>
                </a:lnTo>
                <a:quadBezTo>
                  <a:pt x="57969" y="30915"/>
                  <a:pt x="58554" y="32408"/>
                </a:quadBezTo>
                <a:quadBezTo>
                  <a:pt x="59138" y="33900"/>
                  <a:pt x="59138" y="35438"/>
                </a:quadBezTo>
                <a:quadBezTo>
                  <a:pt x="59138" y="38562"/>
                  <a:pt x="57096" y="40604"/>
                </a:quadBezTo>
                <a:quadBezTo>
                  <a:pt x="55054" y="42646"/>
                  <a:pt x="51931" y="42646"/>
                </a:quadBezTo>
                <a:quadBezTo>
                  <a:pt x="50392" y="42646"/>
                  <a:pt x="48927" y="42177"/>
                </a:quadBezTo>
                <a:quadBezTo>
                  <a:pt x="47462" y="41708"/>
                  <a:pt x="46292" y="40538"/>
                </a:quadBezTo>
                <a:lnTo>
                  <a:pt x="38638" y="32908"/>
                </a:lnTo>
                <a:lnTo>
                  <a:pt x="21369" y="50177"/>
                </a:lnTo>
                <a:quadBezTo>
                  <a:pt x="20762" y="50785"/>
                  <a:pt x="20458" y="51558"/>
                </a:quadBezTo>
                <a:quadBezTo>
                  <a:pt x="20154" y="52331"/>
                  <a:pt x="20154" y="53115"/>
                </a:quadBezTo>
                <a:quadBezTo>
                  <a:pt x="20154" y="54531"/>
                  <a:pt x="21062" y="55450"/>
                </a:quadBezTo>
                <a:quadBezTo>
                  <a:pt x="21969" y="56369"/>
                  <a:pt x="23385" y="56369"/>
                </a:quadBezTo>
                <a:quadBezTo>
                  <a:pt x="24169" y="56369"/>
                  <a:pt x="24992" y="56015"/>
                </a:quadBezTo>
                <a:quadBezTo>
                  <a:pt x="25815" y="55662"/>
                  <a:pt x="26323" y="55154"/>
                </a:quadBezTo>
                <a:lnTo>
                  <a:pt x="39000" y="42477"/>
                </a:lnTo>
                <a:lnTo>
                  <a:pt x="41831" y="45308"/>
                </a:lnTo>
                <a:lnTo>
                  <a:pt x="29177" y="57985"/>
                </a:lnTo>
                <a:quadBezTo>
                  <a:pt x="28569" y="58592"/>
                  <a:pt x="28265" y="59365"/>
                </a:quadBezTo>
                <a:quadBezTo>
                  <a:pt x="27962" y="60138"/>
                  <a:pt x="27962" y="60923"/>
                </a:quadBezTo>
                <a:quadBezTo>
                  <a:pt x="27962" y="62262"/>
                  <a:pt x="28908" y="63208"/>
                </a:quadBezTo>
                <a:quadBezTo>
                  <a:pt x="29854" y="64154"/>
                  <a:pt x="31192" y="64154"/>
                </a:quadBezTo>
                <a:quadBezTo>
                  <a:pt x="31977" y="64154"/>
                  <a:pt x="32800" y="63800"/>
                </a:quadBezTo>
                <a:quadBezTo>
                  <a:pt x="33623" y="63446"/>
                  <a:pt x="34131" y="62938"/>
                </a:quadBezTo>
                <a:lnTo>
                  <a:pt x="47731" y="49362"/>
                </a:lnTo>
                <a:lnTo>
                  <a:pt x="50562" y="52192"/>
                </a:lnTo>
                <a:lnTo>
                  <a:pt x="36985" y="65792"/>
                </a:lnTo>
                <a:quadBezTo>
                  <a:pt x="36454" y="66300"/>
                  <a:pt x="36112" y="67123"/>
                </a:quadBezTo>
                <a:quadBezTo>
                  <a:pt x="35769" y="67946"/>
                  <a:pt x="35769" y="68731"/>
                </a:quadBezTo>
                <a:quadBezTo>
                  <a:pt x="35769" y="70069"/>
                  <a:pt x="36715" y="71015"/>
                </a:quadBezTo>
                <a:quadBezTo>
                  <a:pt x="37662" y="71962"/>
                  <a:pt x="39000" y="71962"/>
                </a:quadBezTo>
                <a:quadBezTo>
                  <a:pt x="39785" y="71962"/>
                  <a:pt x="40558" y="71658"/>
                </a:quadBezTo>
                <a:quadBezTo>
                  <a:pt x="41331" y="71354"/>
                  <a:pt x="41938" y="70746"/>
                </a:quadBezTo>
                <a:lnTo>
                  <a:pt x="55538" y="57169"/>
                </a:lnTo>
                <a:lnTo>
                  <a:pt x="58369" y="60000"/>
                </a:lnTo>
                <a:lnTo>
                  <a:pt x="44769" y="73600"/>
                </a:lnTo>
                <a:quadBezTo>
                  <a:pt x="44162" y="74208"/>
                  <a:pt x="43858" y="75058"/>
                </a:quadBezTo>
                <a:quadBezTo>
                  <a:pt x="43554" y="75908"/>
                  <a:pt x="43554" y="76615"/>
                </a:quadBezTo>
                <a:quadBezTo>
                  <a:pt x="43554" y="78031"/>
                  <a:pt x="44550" y="78900"/>
                </a:quadBezTo>
                <a:quadBezTo>
                  <a:pt x="45546" y="79769"/>
                  <a:pt x="46808" y="79769"/>
                </a:quadBezTo>
                <a:close/>
                <a:moveTo>
                  <a:pt x="46785" y="83769"/>
                </a:moveTo>
                <a:quadBezTo>
                  <a:pt x="43700" y="83769"/>
                  <a:pt x="41504" y="81512"/>
                </a:quadBezTo>
                <a:quadBezTo>
                  <a:pt x="39308" y="79254"/>
                  <a:pt x="39577" y="75938"/>
                </a:quadBezTo>
                <a:quadBezTo>
                  <a:pt x="36177" y="75977"/>
                  <a:pt x="33915" y="73908"/>
                </a:quadBezTo>
                <a:quadBezTo>
                  <a:pt x="31654" y="71838"/>
                  <a:pt x="31769" y="68131"/>
                </a:quadBezTo>
                <a:quadBezTo>
                  <a:pt x="28062" y="68169"/>
                  <a:pt x="25927" y="66012"/>
                </a:quadBezTo>
                <a:quadBezTo>
                  <a:pt x="23792" y="63854"/>
                  <a:pt x="23985" y="60323"/>
                </a:quadBezTo>
                <a:quadBezTo>
                  <a:pt x="20646" y="60362"/>
                  <a:pt x="18400" y="58446"/>
                </a:quadBezTo>
                <a:quadBezTo>
                  <a:pt x="16154" y="56531"/>
                  <a:pt x="16154" y="53115"/>
                </a:quadBezTo>
                <a:quadBezTo>
                  <a:pt x="16154" y="51577"/>
                  <a:pt x="16750" y="50035"/>
                </a:quadBezTo>
                <a:quadBezTo>
                  <a:pt x="17346" y="48492"/>
                  <a:pt x="18515" y="47323"/>
                </a:quadBezTo>
                <a:lnTo>
                  <a:pt x="38638" y="27223"/>
                </a:lnTo>
                <a:lnTo>
                  <a:pt x="48969" y="37554"/>
                </a:lnTo>
                <a:quadBezTo>
                  <a:pt x="49477" y="38085"/>
                  <a:pt x="50223" y="38427"/>
                </a:quadBezTo>
                <a:quadBezTo>
                  <a:pt x="50969" y="38769"/>
                  <a:pt x="51908" y="38769"/>
                </a:quadBezTo>
                <a:quadBezTo>
                  <a:pt x="53192" y="38769"/>
                  <a:pt x="54177" y="37873"/>
                </a:quadBezTo>
                <a:quadBezTo>
                  <a:pt x="55162" y="36977"/>
                  <a:pt x="55162" y="35538"/>
                </a:quadBezTo>
                <a:quadBezTo>
                  <a:pt x="55162" y="34600"/>
                  <a:pt x="54819" y="33854"/>
                </a:quadBezTo>
                <a:quadBezTo>
                  <a:pt x="54477" y="33108"/>
                  <a:pt x="53946" y="32600"/>
                </a:quadBezTo>
                <a:lnTo>
                  <a:pt x="40185" y="18838"/>
                </a:lnTo>
                <a:quadBezTo>
                  <a:pt x="38700" y="17331"/>
                  <a:pt x="37096" y="16627"/>
                </a:quadBezTo>
                <a:quadBezTo>
                  <a:pt x="35492" y="15923"/>
                  <a:pt x="33585" y="15923"/>
                </a:quadBezTo>
                <a:quadBezTo>
                  <a:pt x="31700" y="15923"/>
                  <a:pt x="30162" y="16627"/>
                </a:quadBezTo>
                <a:quadBezTo>
                  <a:pt x="28623" y="17331"/>
                  <a:pt x="27115" y="18838"/>
                </a:quadBezTo>
                <a:lnTo>
                  <a:pt x="14938" y="31038"/>
                </a:lnTo>
                <a:quadBezTo>
                  <a:pt x="13654" y="32323"/>
                  <a:pt x="12862" y="34100"/>
                </a:quadBezTo>
                <a:quadBezTo>
                  <a:pt x="12069" y="35877"/>
                  <a:pt x="12023" y="37769"/>
                </a:quadBezTo>
                <a:quadBezTo>
                  <a:pt x="11977" y="39123"/>
                  <a:pt x="12254" y="40373"/>
                </a:quadBezTo>
                <a:quadBezTo>
                  <a:pt x="12531" y="41623"/>
                  <a:pt x="13131" y="42723"/>
                </a:quadBezTo>
                <a:lnTo>
                  <a:pt x="10100" y="45754"/>
                </a:lnTo>
                <a:quadBezTo>
                  <a:pt x="9092" y="44146"/>
                  <a:pt x="8523" y="42050"/>
                </a:quadBezTo>
                <a:quadBezTo>
                  <a:pt x="7954" y="39954"/>
                  <a:pt x="8000" y="37769"/>
                </a:quadBezTo>
                <a:quadBezTo>
                  <a:pt x="8046" y="35046"/>
                  <a:pt x="9092" y="32550"/>
                </a:quadBezTo>
                <a:quadBezTo>
                  <a:pt x="10138" y="30054"/>
                  <a:pt x="12085" y="28108"/>
                </a:quadBezTo>
                <a:lnTo>
                  <a:pt x="24185" y="16008"/>
                </a:lnTo>
                <a:quadBezTo>
                  <a:pt x="26277" y="13938"/>
                  <a:pt x="28612" y="12931"/>
                </a:quadBezTo>
                <a:quadBezTo>
                  <a:pt x="30946" y="11923"/>
                  <a:pt x="33662" y="11923"/>
                </a:quadBezTo>
                <a:quadBezTo>
                  <a:pt x="36377" y="11923"/>
                  <a:pt x="38673" y="12931"/>
                </a:quadBezTo>
                <a:quadBezTo>
                  <a:pt x="40969" y="13938"/>
                  <a:pt x="43038" y="16008"/>
                </a:quadBezTo>
                <a:lnTo>
                  <a:pt x="46523" y="19492"/>
                </a:lnTo>
                <a:lnTo>
                  <a:pt x="50008" y="16008"/>
                </a:lnTo>
                <a:quadBezTo>
                  <a:pt x="52100" y="13938"/>
                  <a:pt x="54396" y="12931"/>
                </a:quadBezTo>
                <a:quadBezTo>
                  <a:pt x="56692" y="11923"/>
                  <a:pt x="59408" y="11923"/>
                </a:quadBezTo>
                <a:quadBezTo>
                  <a:pt x="62123" y="11923"/>
                  <a:pt x="64458" y="12931"/>
                </a:quadBezTo>
                <a:quadBezTo>
                  <a:pt x="66792" y="13938"/>
                  <a:pt x="68862" y="16008"/>
                </a:quadBezTo>
                <a:lnTo>
                  <a:pt x="83762" y="30908"/>
                </a:lnTo>
                <a:quadBezTo>
                  <a:pt x="85831" y="32977"/>
                  <a:pt x="86954" y="35554"/>
                </a:quadBezTo>
                <a:quadBezTo>
                  <a:pt x="88077" y="38131"/>
                  <a:pt x="88077" y="40846"/>
                </a:quadBezTo>
                <a:quadBezTo>
                  <a:pt x="88077" y="43562"/>
                  <a:pt x="86954" y="45858"/>
                </a:quadBezTo>
                <a:quadBezTo>
                  <a:pt x="85831" y="48154"/>
                  <a:pt x="83762" y="50223"/>
                </a:quadBezTo>
                <a:lnTo>
                  <a:pt x="52577" y="81385"/>
                </a:lnTo>
                <a:quadBezTo>
                  <a:pt x="51331" y="82631"/>
                  <a:pt x="49865" y="83200"/>
                </a:quadBezTo>
                <a:quadBezTo>
                  <a:pt x="48400" y="83769"/>
                  <a:pt x="46785" y="83769"/>
                </a:quadBezTo>
                <a:close/>
                <a:moveTo>
                  <a:pt x="33962" y="3330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1" name="TextBox 100"/>
          <p:cNvSpPr txBox="1"/>
          <p:nvPr/>
        </p:nvSpPr>
        <p:spPr>
          <a:xfrm>
            <a:off x="7428444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handshake</a:t>
            </a:r>
          </a:p>
        </p:txBody>
      </p:sp>
      <p:sp>
        <p:nvSpPr>
          <p:cNvPr id="102" name="Icon health_and_safety"/>
          <p:cNvSpPr/>
          <p:nvPr/>
        </p:nvSpPr>
        <p:spPr>
          <a:xfrm>
            <a:off x="8620681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4000" y="60000"/>
                </a:moveTo>
                <a:lnTo>
                  <a:pt x="52000" y="60000"/>
                </a:lnTo>
                <a:lnTo>
                  <a:pt x="52000" y="50000"/>
                </a:lnTo>
                <a:lnTo>
                  <a:pt x="62000" y="50000"/>
                </a:lnTo>
                <a:lnTo>
                  <a:pt x="62000" y="42000"/>
                </a:lnTo>
                <a:lnTo>
                  <a:pt x="52000" y="42000"/>
                </a:lnTo>
                <a:lnTo>
                  <a:pt x="52000" y="32000"/>
                </a:lnTo>
                <a:lnTo>
                  <a:pt x="44000" y="32000"/>
                </a:lnTo>
                <a:lnTo>
                  <a:pt x="44000" y="42000"/>
                </a:lnTo>
                <a:lnTo>
                  <a:pt x="34000" y="42000"/>
                </a:lnTo>
                <a:lnTo>
                  <a:pt x="34000" y="50000"/>
                </a:lnTo>
                <a:lnTo>
                  <a:pt x="44000" y="50000"/>
                </a:lnTo>
                <a:lnTo>
                  <a:pt x="44000" y="60000"/>
                </a:lnTo>
                <a:close/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8400" y="76300"/>
                  <a:pt x="65200" y="66400"/>
                </a:quadBezTo>
                <a:quadBezTo>
                  <a:pt x="72000" y="56500"/>
                  <a:pt x="72000" y="44400"/>
                </a:quadBezTo>
                <a:lnTo>
                  <a:pt x="72000" y="255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4400"/>
                </a:lnTo>
                <a:quadBezTo>
                  <a:pt x="24000" y="56500"/>
                  <a:pt x="30800" y="66400"/>
                </a:quadBezTo>
                <a:quadBezTo>
                  <a:pt x="37600" y="76300"/>
                  <a:pt x="48000" y="79600"/>
                </a:quadBezTo>
                <a:close/>
                <a:moveTo>
                  <a:pt x="48000" y="480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3" name="TextBox 102"/>
          <p:cNvSpPr txBox="1"/>
          <p:nvPr/>
        </p:nvSpPr>
        <p:spPr>
          <a:xfrm>
            <a:off x="8314709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health and safety</a:t>
            </a:r>
          </a:p>
        </p:txBody>
      </p:sp>
      <p:sp>
        <p:nvSpPr>
          <p:cNvPr id="104" name="Icon help"/>
          <p:cNvSpPr/>
          <p:nvPr/>
        </p:nvSpPr>
        <p:spPr>
          <a:xfrm>
            <a:off x="9506946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112" y="68923"/>
                </a:moveTo>
                <a:quadBezTo>
                  <a:pt x="49438" y="68923"/>
                  <a:pt x="50350" y="68007"/>
                </a:quadBezTo>
                <a:quadBezTo>
                  <a:pt x="51262" y="67091"/>
                  <a:pt x="51262" y="65765"/>
                </a:quadBezTo>
                <a:quadBezTo>
                  <a:pt x="51262" y="64438"/>
                  <a:pt x="50346" y="63527"/>
                </a:quadBezTo>
                <a:quadBezTo>
                  <a:pt x="49430" y="62615"/>
                  <a:pt x="48103" y="62615"/>
                </a:quadBezTo>
                <a:quadBezTo>
                  <a:pt x="46777" y="62615"/>
                  <a:pt x="45865" y="63531"/>
                </a:quadBezTo>
                <a:quadBezTo>
                  <a:pt x="44954" y="64447"/>
                  <a:pt x="44954" y="65774"/>
                </a:quadBezTo>
                <a:quadBezTo>
                  <a:pt x="44954" y="67100"/>
                  <a:pt x="45870" y="68012"/>
                </a:quadBezTo>
                <a:quadBezTo>
                  <a:pt x="46786" y="68923"/>
                  <a:pt x="48112" y="68923"/>
                </a:quadBezTo>
                <a:close/>
                <a:moveTo>
                  <a:pt x="46046" y="55677"/>
                </a:moveTo>
                <a:lnTo>
                  <a:pt x="49908" y="55677"/>
                </a:lnTo>
                <a:quadBezTo>
                  <a:pt x="50062" y="53069"/>
                  <a:pt x="50888" y="51438"/>
                </a:quadBezTo>
                <a:quadBezTo>
                  <a:pt x="51715" y="49808"/>
                  <a:pt x="54292" y="47277"/>
                </a:quadBezTo>
                <a:quadBezTo>
                  <a:pt x="56969" y="44600"/>
                  <a:pt x="58277" y="42481"/>
                </a:quadBezTo>
                <a:quadBezTo>
                  <a:pt x="59585" y="40362"/>
                  <a:pt x="59585" y="37575"/>
                </a:quadBezTo>
                <a:quadBezTo>
                  <a:pt x="59585" y="32846"/>
                  <a:pt x="56262" y="30038"/>
                </a:quadBezTo>
                <a:quadBezTo>
                  <a:pt x="52939" y="27231"/>
                  <a:pt x="48400" y="27231"/>
                </a:quadBezTo>
                <a:quadBezTo>
                  <a:pt x="44085" y="27231"/>
                  <a:pt x="41073" y="29577"/>
                </a:quadBezTo>
                <a:quadBezTo>
                  <a:pt x="38062" y="31923"/>
                  <a:pt x="36662" y="34969"/>
                </a:quadBezTo>
                <a:lnTo>
                  <a:pt x="40338" y="36492"/>
                </a:lnTo>
                <a:quadBezTo>
                  <a:pt x="41300" y="34308"/>
                  <a:pt x="43088" y="32631"/>
                </a:quadBezTo>
                <a:quadBezTo>
                  <a:pt x="44877" y="30954"/>
                  <a:pt x="48246" y="30954"/>
                </a:quadBezTo>
                <a:quadBezTo>
                  <a:pt x="52138" y="30954"/>
                  <a:pt x="53931" y="33088"/>
                </a:quadBezTo>
                <a:quadBezTo>
                  <a:pt x="55723" y="35223"/>
                  <a:pt x="55723" y="37785"/>
                </a:quadBezTo>
                <a:quadBezTo>
                  <a:pt x="55723" y="39862"/>
                  <a:pt x="54600" y="41496"/>
                </a:quadBezTo>
                <a:quadBezTo>
                  <a:pt x="53477" y="43131"/>
                  <a:pt x="51677" y="44785"/>
                </a:quadBezTo>
                <a:quadBezTo>
                  <a:pt x="48200" y="47992"/>
                  <a:pt x="47123" y="50223"/>
                </a:quadBezTo>
                <a:quadBezTo>
                  <a:pt x="46046" y="52454"/>
                  <a:pt x="46046" y="55677"/>
                </a:quadBez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5" name="TextBox 104"/>
          <p:cNvSpPr txBox="1"/>
          <p:nvPr/>
        </p:nvSpPr>
        <p:spPr>
          <a:xfrm>
            <a:off x="9200974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help</a:t>
            </a:r>
          </a:p>
        </p:txBody>
      </p:sp>
      <p:sp>
        <p:nvSpPr>
          <p:cNvPr id="106" name="Icon home"/>
          <p:cNvSpPr/>
          <p:nvPr/>
        </p:nvSpPr>
        <p:spPr>
          <a:xfrm>
            <a:off x="10393211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76000"/>
                </a:moveTo>
                <a:lnTo>
                  <a:pt x="38769" y="76000"/>
                </a:lnTo>
                <a:lnTo>
                  <a:pt x="38769" y="52462"/>
                </a:lnTo>
                <a:lnTo>
                  <a:pt x="57231" y="52462"/>
                </a:lnTo>
                <a:lnTo>
                  <a:pt x="57231" y="76000"/>
                </a:lnTo>
                <a:lnTo>
                  <a:pt x="72000" y="76000"/>
                </a:lnTo>
                <a:lnTo>
                  <a:pt x="72000" y="40000"/>
                </a:lnTo>
                <a:lnTo>
                  <a:pt x="48000" y="21846"/>
                </a:lnTo>
                <a:lnTo>
                  <a:pt x="24000" y="40000"/>
                </a:lnTo>
                <a:lnTo>
                  <a:pt x="24000" y="76000"/>
                </a:lnTo>
                <a:close/>
                <a:moveTo>
                  <a:pt x="20000" y="80000"/>
                </a:moveTo>
                <a:lnTo>
                  <a:pt x="20000" y="38000"/>
                </a:lnTo>
                <a:lnTo>
                  <a:pt x="48000" y="16846"/>
                </a:lnTo>
                <a:lnTo>
                  <a:pt x="76000" y="38000"/>
                </a:lnTo>
                <a:lnTo>
                  <a:pt x="76000" y="80000"/>
                </a:lnTo>
                <a:lnTo>
                  <a:pt x="53231" y="80000"/>
                </a:lnTo>
                <a:lnTo>
                  <a:pt x="53231" y="56462"/>
                </a:lnTo>
                <a:lnTo>
                  <a:pt x="42769" y="56462"/>
                </a:lnTo>
                <a:lnTo>
                  <a:pt x="42769" y="80000"/>
                </a:lnTo>
                <a:lnTo>
                  <a:pt x="20000" y="80000"/>
                </a:lnTo>
                <a:close/>
                <a:moveTo>
                  <a:pt x="48000" y="48923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7" name="TextBox 106"/>
          <p:cNvSpPr txBox="1"/>
          <p:nvPr/>
        </p:nvSpPr>
        <p:spPr>
          <a:xfrm>
            <a:off x="10087238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home</a:t>
            </a:r>
          </a:p>
        </p:txBody>
      </p:sp>
      <p:sp>
        <p:nvSpPr>
          <p:cNvPr id="108" name="Icon hub"/>
          <p:cNvSpPr/>
          <p:nvPr/>
        </p:nvSpPr>
        <p:spPr>
          <a:xfrm>
            <a:off x="11279475" y="281635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9" y="90000"/>
                </a:moveTo>
                <a:quadBezTo>
                  <a:pt x="19846" y="90000"/>
                  <a:pt x="16923" y="87086"/>
                </a:quadBezTo>
                <a:quadBezTo>
                  <a:pt x="14000" y="84172"/>
                  <a:pt x="14000" y="80009"/>
                </a:quadBezTo>
                <a:quadBezTo>
                  <a:pt x="14000" y="75846"/>
                  <a:pt x="16917" y="72923"/>
                </a:quadBezTo>
                <a:quadBezTo>
                  <a:pt x="19835" y="70000"/>
                  <a:pt x="24002" y="70000"/>
                </a:quadBezTo>
                <a:quadBezTo>
                  <a:pt x="25169" y="70000"/>
                  <a:pt x="26446" y="70338"/>
                </a:quadBezTo>
                <a:quadBezTo>
                  <a:pt x="27723" y="70677"/>
                  <a:pt x="28823" y="71254"/>
                </a:quadBezTo>
                <a:lnTo>
                  <a:pt x="38985" y="58615"/>
                </a:lnTo>
                <a:quadBezTo>
                  <a:pt x="36800" y="56285"/>
                  <a:pt x="36008" y="53462"/>
                </a:quadBezTo>
                <a:quadBezTo>
                  <a:pt x="35215" y="50638"/>
                  <a:pt x="35738" y="47738"/>
                </a:quadBezTo>
                <a:lnTo>
                  <a:pt x="20792" y="42808"/>
                </a:lnTo>
                <a:quadBezTo>
                  <a:pt x="19477" y="45154"/>
                  <a:pt x="17163" y="46577"/>
                </a:quadBezTo>
                <a:quadBezTo>
                  <a:pt x="14848" y="48000"/>
                  <a:pt x="12000" y="48000"/>
                </a:quadBezTo>
                <a:quadBezTo>
                  <a:pt x="7833" y="48000"/>
                  <a:pt x="4917" y="45086"/>
                </a:quadBezTo>
                <a:quadBezTo>
                  <a:pt x="2000" y="42172"/>
                  <a:pt x="2000" y="38009"/>
                </a:quadBezTo>
                <a:quadBezTo>
                  <a:pt x="2000" y="33846"/>
                  <a:pt x="4914" y="30923"/>
                </a:quadBezTo>
                <a:quadBezTo>
                  <a:pt x="7828" y="28000"/>
                  <a:pt x="11991" y="28000"/>
                </a:quadBezTo>
                <a:quadBezTo>
                  <a:pt x="16154" y="28000"/>
                  <a:pt x="19077" y="30917"/>
                </a:quadBezTo>
                <a:quadBezTo>
                  <a:pt x="22000" y="33833"/>
                  <a:pt x="22000" y="38000"/>
                </a:quadBezTo>
                <a:quadBezTo>
                  <a:pt x="22000" y="38508"/>
                  <a:pt x="21962" y="38785"/>
                </a:quadBezTo>
                <a:quadBezTo>
                  <a:pt x="21923" y="39062"/>
                  <a:pt x="21923" y="39338"/>
                </a:quadBezTo>
                <a:lnTo>
                  <a:pt x="36792" y="44523"/>
                </a:lnTo>
                <a:quadBezTo>
                  <a:pt x="38100" y="42000"/>
                  <a:pt x="40527" y="40115"/>
                </a:quadBezTo>
                <a:quadBezTo>
                  <a:pt x="42954" y="38231"/>
                  <a:pt x="46231" y="37685"/>
                </a:quadBezTo>
                <a:lnTo>
                  <a:pt x="46231" y="21831"/>
                </a:lnTo>
                <a:quadBezTo>
                  <a:pt x="42408" y="21115"/>
                  <a:pt x="40204" y="18273"/>
                </a:quadBezTo>
                <a:quadBezTo>
                  <a:pt x="38000" y="15431"/>
                  <a:pt x="38000" y="11968"/>
                </a:quadBezTo>
                <a:quadBezTo>
                  <a:pt x="38000" y="7846"/>
                  <a:pt x="40914" y="4923"/>
                </a:quadBezTo>
                <a:quadBezTo>
                  <a:pt x="43828" y="2000"/>
                  <a:pt x="47991" y="2000"/>
                </a:quadBezTo>
                <a:quadBezTo>
                  <a:pt x="52154" y="2000"/>
                  <a:pt x="55077" y="4917"/>
                </a:quadBezTo>
                <a:quadBezTo>
                  <a:pt x="58000" y="7833"/>
                  <a:pt x="58000" y="12000"/>
                </a:quadBezTo>
                <a:quadBezTo>
                  <a:pt x="58000" y="15431"/>
                  <a:pt x="55785" y="18273"/>
                </a:quadBezTo>
                <a:quadBezTo>
                  <a:pt x="53569" y="21115"/>
                  <a:pt x="49769" y="21831"/>
                </a:quadBezTo>
                <a:lnTo>
                  <a:pt x="49769" y="37685"/>
                </a:lnTo>
                <a:quadBezTo>
                  <a:pt x="53046" y="38231"/>
                  <a:pt x="55435" y="40115"/>
                </a:quadBezTo>
                <a:quadBezTo>
                  <a:pt x="57823" y="42000"/>
                  <a:pt x="59208" y="44523"/>
                </a:quadBezTo>
                <a:lnTo>
                  <a:pt x="74077" y="39338"/>
                </a:lnTo>
                <a:quadBezTo>
                  <a:pt x="74000" y="38985"/>
                  <a:pt x="74000" y="38746"/>
                </a:quadBezTo>
                <a:lnTo>
                  <a:pt x="74000" y="38000"/>
                </a:lnTo>
                <a:quadBezTo>
                  <a:pt x="74000" y="33833"/>
                  <a:pt x="76914" y="30917"/>
                </a:quadBezTo>
                <a:quadBezTo>
                  <a:pt x="79828" y="28000"/>
                  <a:pt x="83991" y="28000"/>
                </a:quadBezTo>
                <a:quadBezTo>
                  <a:pt x="88154" y="28000"/>
                  <a:pt x="91077" y="30914"/>
                </a:quadBezTo>
                <a:quadBezTo>
                  <a:pt x="94000" y="33828"/>
                  <a:pt x="94000" y="37991"/>
                </a:quadBezTo>
                <a:quadBezTo>
                  <a:pt x="94000" y="42154"/>
                  <a:pt x="91083" y="45077"/>
                </a:quadBezTo>
                <a:quadBezTo>
                  <a:pt x="88167" y="48000"/>
                  <a:pt x="84000" y="48000"/>
                </a:quadBezTo>
                <a:quadBezTo>
                  <a:pt x="81176" y="48000"/>
                  <a:pt x="78838" y="46577"/>
                </a:quadBezTo>
                <a:quadBezTo>
                  <a:pt x="76500" y="45154"/>
                  <a:pt x="75208" y="42808"/>
                </a:quadBezTo>
                <a:lnTo>
                  <a:pt x="60262" y="47738"/>
                </a:lnTo>
                <a:quadBezTo>
                  <a:pt x="60785" y="50638"/>
                  <a:pt x="59992" y="53450"/>
                </a:quadBezTo>
                <a:quadBezTo>
                  <a:pt x="59200" y="56262"/>
                  <a:pt x="57015" y="58538"/>
                </a:quadBezTo>
                <a:lnTo>
                  <a:pt x="67177" y="71154"/>
                </a:lnTo>
                <a:quadBezTo>
                  <a:pt x="68277" y="70654"/>
                  <a:pt x="69554" y="70327"/>
                </a:quadBezTo>
                <a:quadBezTo>
                  <a:pt x="70831" y="70000"/>
                  <a:pt x="71998" y="70000"/>
                </a:quadBezTo>
                <a:quadBezTo>
                  <a:pt x="76165" y="70000"/>
                  <a:pt x="79083" y="72914"/>
                </a:quadBezTo>
                <a:quadBezTo>
                  <a:pt x="82000" y="75828"/>
                  <a:pt x="82000" y="79991"/>
                </a:quadBezTo>
                <a:quadBezTo>
                  <a:pt x="82000" y="84154"/>
                  <a:pt x="79086" y="87077"/>
                </a:quadBezTo>
                <a:quadBezTo>
                  <a:pt x="76172" y="90000"/>
                  <a:pt x="72009" y="90000"/>
                </a:quadBezTo>
                <a:quadBezTo>
                  <a:pt x="67846" y="90000"/>
                  <a:pt x="64923" y="87083"/>
                </a:quadBezTo>
                <a:quadBezTo>
                  <a:pt x="62000" y="84167"/>
                  <a:pt x="62000" y="80000"/>
                </a:quadBezTo>
                <a:quadBezTo>
                  <a:pt x="62000" y="78216"/>
                  <a:pt x="62573" y="76566"/>
                </a:quadBezTo>
                <a:quadBezTo>
                  <a:pt x="63146" y="74915"/>
                  <a:pt x="64477" y="73492"/>
                </a:quadBezTo>
                <a:lnTo>
                  <a:pt x="54315" y="60700"/>
                </a:lnTo>
                <a:quadBezTo>
                  <a:pt x="51600" y="62462"/>
                  <a:pt x="48027" y="62462"/>
                </a:quadBezTo>
                <a:quadBezTo>
                  <a:pt x="44454" y="62462"/>
                  <a:pt x="41662" y="60700"/>
                </a:quadBezTo>
                <a:lnTo>
                  <a:pt x="31523" y="73492"/>
                </a:lnTo>
                <a:quadBezTo>
                  <a:pt x="32777" y="74915"/>
                  <a:pt x="33388" y="76566"/>
                </a:quadBezTo>
                <a:quadBezTo>
                  <a:pt x="34000" y="78216"/>
                  <a:pt x="34000" y="80000"/>
                </a:quadBezTo>
                <a:quadBezTo>
                  <a:pt x="34000" y="84167"/>
                  <a:pt x="31086" y="87083"/>
                </a:quadBezTo>
                <a:quadBezTo>
                  <a:pt x="28172" y="90000"/>
                  <a:pt x="24009" y="90000"/>
                </a:quadBezTo>
                <a:close/>
                <a:moveTo>
                  <a:pt x="12000" y="44000"/>
                </a:moveTo>
                <a:quadBezTo>
                  <a:pt x="14469" y="44000"/>
                  <a:pt x="16235" y="42235"/>
                </a:quadBezTo>
                <a:quadBezTo>
                  <a:pt x="18000" y="40469"/>
                  <a:pt x="18000" y="38000"/>
                </a:quadBezTo>
                <a:quadBezTo>
                  <a:pt x="18000" y="35531"/>
                  <a:pt x="16235" y="33765"/>
                </a:quadBezTo>
                <a:quadBezTo>
                  <a:pt x="14469" y="32000"/>
                  <a:pt x="12000" y="32000"/>
                </a:quadBezTo>
                <a:quadBezTo>
                  <a:pt x="9531" y="32000"/>
                  <a:pt x="7765" y="33765"/>
                </a:quadBezTo>
                <a:quadBezTo>
                  <a:pt x="6000" y="35531"/>
                  <a:pt x="6000" y="38000"/>
                </a:quadBezTo>
                <a:quadBezTo>
                  <a:pt x="6000" y="40469"/>
                  <a:pt x="7765" y="42235"/>
                </a:quadBezTo>
                <a:quadBezTo>
                  <a:pt x="9531" y="44000"/>
                  <a:pt x="12000" y="44000"/>
                </a:quadBezTo>
                <a:close/>
                <a:moveTo>
                  <a:pt x="24000" y="86000"/>
                </a:moveTo>
                <a:quadBezTo>
                  <a:pt x="26469" y="86000"/>
                  <a:pt x="28235" y="84235"/>
                </a:quadBezTo>
                <a:quadBezTo>
                  <a:pt x="30000" y="82469"/>
                  <a:pt x="30000" y="80000"/>
                </a:quadBezTo>
                <a:quadBezTo>
                  <a:pt x="30000" y="77531"/>
                  <a:pt x="28235" y="75765"/>
                </a:quadBezTo>
                <a:quadBezTo>
                  <a:pt x="26469" y="74000"/>
                  <a:pt x="24000" y="74000"/>
                </a:quadBezTo>
                <a:quadBezTo>
                  <a:pt x="21531" y="74000"/>
                  <a:pt x="19765" y="75765"/>
                </a:quadBezTo>
                <a:quadBezTo>
                  <a:pt x="18000" y="77531"/>
                  <a:pt x="18000" y="80000"/>
                </a:quadBezTo>
                <a:quadBezTo>
                  <a:pt x="18000" y="82469"/>
                  <a:pt x="19765" y="84235"/>
                </a:quadBezTo>
                <a:quadBezTo>
                  <a:pt x="21531" y="86000"/>
                  <a:pt x="24000" y="86000"/>
                </a:quadBezTo>
                <a:close/>
                <a:moveTo>
                  <a:pt x="48000" y="18000"/>
                </a:moveTo>
                <a:quadBezTo>
                  <a:pt x="50469" y="18000"/>
                  <a:pt x="52235" y="16235"/>
                </a:quadBezTo>
                <a:quadBezTo>
                  <a:pt x="54000" y="14469"/>
                  <a:pt x="54000" y="12000"/>
                </a:quadBezTo>
                <a:quadBezTo>
                  <a:pt x="54000" y="9531"/>
                  <a:pt x="52235" y="7765"/>
                </a:quadBezTo>
                <a:quadBezTo>
                  <a:pt x="50469" y="6000"/>
                  <a:pt x="48000" y="6000"/>
                </a:quadBezTo>
                <a:quadBezTo>
                  <a:pt x="45531" y="6000"/>
                  <a:pt x="43765" y="7765"/>
                </a:quadBezTo>
                <a:quadBezTo>
                  <a:pt x="42000" y="9531"/>
                  <a:pt x="42000" y="12000"/>
                </a:quadBezTo>
                <a:quadBezTo>
                  <a:pt x="42000" y="14469"/>
                  <a:pt x="43765" y="16235"/>
                </a:quadBezTo>
                <a:quadBezTo>
                  <a:pt x="45531" y="18000"/>
                  <a:pt x="48000" y="18000"/>
                </a:quadBezTo>
                <a:close/>
                <a:moveTo>
                  <a:pt x="48000" y="58462"/>
                </a:moveTo>
                <a:quadBezTo>
                  <a:pt x="51508" y="58462"/>
                  <a:pt x="53985" y="55985"/>
                </a:quadBezTo>
                <a:quadBezTo>
                  <a:pt x="56462" y="53508"/>
                  <a:pt x="56462" y="50000"/>
                </a:quadBezTo>
                <a:quadBezTo>
                  <a:pt x="56462" y="46492"/>
                  <a:pt x="53985" y="44015"/>
                </a:quadBezTo>
                <a:quadBezTo>
                  <a:pt x="51508" y="41538"/>
                  <a:pt x="48000" y="41538"/>
                </a:quadBezTo>
                <a:quadBezTo>
                  <a:pt x="44492" y="41538"/>
                  <a:pt x="42015" y="44015"/>
                </a:quadBezTo>
                <a:quadBezTo>
                  <a:pt x="39538" y="46492"/>
                  <a:pt x="39538" y="50000"/>
                </a:quadBezTo>
                <a:quadBezTo>
                  <a:pt x="39538" y="53508"/>
                  <a:pt x="42015" y="55985"/>
                </a:quadBezTo>
                <a:quadBezTo>
                  <a:pt x="44492" y="58462"/>
                  <a:pt x="48000" y="58462"/>
                </a:quadBezTo>
                <a:close/>
                <a:moveTo>
                  <a:pt x="72000" y="86000"/>
                </a:moveTo>
                <a:quadBezTo>
                  <a:pt x="74469" y="86000"/>
                  <a:pt x="76235" y="84235"/>
                </a:quadBezTo>
                <a:quadBezTo>
                  <a:pt x="78000" y="82469"/>
                  <a:pt x="78000" y="80000"/>
                </a:quadBezTo>
                <a:quadBezTo>
                  <a:pt x="78000" y="77531"/>
                  <a:pt x="76235" y="75765"/>
                </a:quadBezTo>
                <a:quadBezTo>
                  <a:pt x="74469" y="74000"/>
                  <a:pt x="72000" y="74000"/>
                </a:quadBezTo>
                <a:quadBezTo>
                  <a:pt x="69531" y="74000"/>
                  <a:pt x="67765" y="75765"/>
                </a:quadBezTo>
                <a:quadBezTo>
                  <a:pt x="66000" y="77531"/>
                  <a:pt x="66000" y="80000"/>
                </a:quadBezTo>
                <a:quadBezTo>
                  <a:pt x="66000" y="82469"/>
                  <a:pt x="67765" y="84235"/>
                </a:quadBezTo>
                <a:quadBezTo>
                  <a:pt x="69531" y="86000"/>
                  <a:pt x="72000" y="86000"/>
                </a:quadBezTo>
                <a:close/>
                <a:moveTo>
                  <a:pt x="84000" y="44000"/>
                </a:moveTo>
                <a:quadBezTo>
                  <a:pt x="86469" y="44000"/>
                  <a:pt x="88235" y="42235"/>
                </a:quadBezTo>
                <a:quadBezTo>
                  <a:pt x="90000" y="40469"/>
                  <a:pt x="90000" y="38000"/>
                </a:quadBezTo>
                <a:quadBezTo>
                  <a:pt x="90000" y="35531"/>
                  <a:pt x="88235" y="33765"/>
                </a:quadBezTo>
                <a:quadBezTo>
                  <a:pt x="86469" y="32000"/>
                  <a:pt x="84000" y="32000"/>
                </a:quadBezTo>
                <a:quadBezTo>
                  <a:pt x="81531" y="32000"/>
                  <a:pt x="79765" y="33765"/>
                </a:quadBezTo>
                <a:quadBezTo>
                  <a:pt x="78000" y="35531"/>
                  <a:pt x="78000" y="38000"/>
                </a:quadBezTo>
                <a:quadBezTo>
                  <a:pt x="78000" y="40469"/>
                  <a:pt x="79765" y="42235"/>
                </a:quadBezTo>
                <a:quadBezTo>
                  <a:pt x="81531" y="44000"/>
                  <a:pt x="84000" y="44000"/>
                </a:quadBezTo>
                <a:close/>
                <a:moveTo>
                  <a:pt x="48000" y="12000"/>
                </a:moveTo>
                <a:close/>
                <a:moveTo>
                  <a:pt x="12000" y="38000"/>
                </a:moveTo>
                <a:close/>
                <a:moveTo>
                  <a:pt x="48000" y="50000"/>
                </a:moveTo>
                <a:close/>
                <a:moveTo>
                  <a:pt x="84000" y="38000"/>
                </a:moveTo>
                <a:close/>
                <a:moveTo>
                  <a:pt x="24000" y="80000"/>
                </a:moveTo>
                <a:close/>
                <a:moveTo>
                  <a:pt x="72000" y="8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9" name="TextBox 108"/>
          <p:cNvSpPr txBox="1"/>
          <p:nvPr/>
        </p:nvSpPr>
        <p:spPr>
          <a:xfrm>
            <a:off x="10973503" y="309981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hub</a:t>
            </a:r>
          </a:p>
        </p:txBody>
      </p:sp>
      <p:sp>
        <p:nvSpPr>
          <p:cNvPr id="110" name="Icon info"/>
          <p:cNvSpPr/>
          <p:nvPr/>
        </p:nvSpPr>
        <p:spPr>
          <a:xfrm>
            <a:off x="644300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66000"/>
                </a:moveTo>
                <a:lnTo>
                  <a:pt x="50000" y="66000"/>
                </a:lnTo>
                <a:lnTo>
                  <a:pt x="50000" y="44000"/>
                </a:lnTo>
                <a:lnTo>
                  <a:pt x="46000" y="44000"/>
                </a:lnTo>
                <a:lnTo>
                  <a:pt x="46000" y="66000"/>
                </a:lnTo>
                <a:close/>
                <a:moveTo>
                  <a:pt x="48000" y="38308"/>
                </a:moveTo>
                <a:quadBezTo>
                  <a:pt x="49046" y="38308"/>
                  <a:pt x="49754" y="37600"/>
                </a:quadBezTo>
                <a:quadBezTo>
                  <a:pt x="50462" y="36892"/>
                  <a:pt x="50462" y="35846"/>
                </a:quadBezTo>
                <a:quadBezTo>
                  <a:pt x="50462" y="34800"/>
                  <a:pt x="49754" y="34092"/>
                </a:quadBezTo>
                <a:quadBezTo>
                  <a:pt x="49046" y="33385"/>
                  <a:pt x="48000" y="33385"/>
                </a:quadBezTo>
                <a:quadBezTo>
                  <a:pt x="46954" y="33385"/>
                  <a:pt x="46246" y="34092"/>
                </a:quadBezTo>
                <a:quadBezTo>
                  <a:pt x="45538" y="34800"/>
                  <a:pt x="45538" y="35846"/>
                </a:quadBezTo>
                <a:quadBezTo>
                  <a:pt x="45538" y="36892"/>
                  <a:pt x="46246" y="37600"/>
                </a:quadBezTo>
                <a:quadBezTo>
                  <a:pt x="46954" y="38308"/>
                  <a:pt x="48000" y="38308"/>
                </a:quadBez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1" name="TextBox 110"/>
          <p:cNvSpPr txBox="1"/>
          <p:nvPr/>
        </p:nvSpPr>
        <p:spPr>
          <a:xfrm>
            <a:off x="338328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info</a:t>
            </a:r>
          </a:p>
        </p:txBody>
      </p:sp>
      <p:sp>
        <p:nvSpPr>
          <p:cNvPr id="112" name="Icon inventory"/>
          <p:cNvSpPr/>
          <p:nvPr/>
        </p:nvSpPr>
        <p:spPr>
          <a:xfrm>
            <a:off x="1530564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000" y="76854"/>
                </a:moveTo>
                <a:lnTo>
                  <a:pt x="47769" y="62623"/>
                </a:lnTo>
                <a:lnTo>
                  <a:pt x="50600" y="59792"/>
                </a:lnTo>
                <a:lnTo>
                  <a:pt x="62000" y="71192"/>
                </a:lnTo>
                <a:lnTo>
                  <a:pt x="84754" y="48438"/>
                </a:lnTo>
                <a:lnTo>
                  <a:pt x="87585" y="51269"/>
                </a:lnTo>
                <a:lnTo>
                  <a:pt x="62000" y="76854"/>
                </a:lnTo>
                <a:close/>
                <a:moveTo>
                  <a:pt x="80000" y="40000"/>
                </a:moveTo>
                <a:lnTo>
                  <a:pt x="76000" y="40000"/>
                </a:ln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64000" y="20000"/>
                </a:lnTo>
                <a:lnTo>
                  <a:pt x="64000" y="28923"/>
                </a:lnTo>
                <a:lnTo>
                  <a:pt x="32000" y="28923"/>
                </a:lnTo>
                <a:lnTo>
                  <a:pt x="32000" y="20000"/>
                </a:ln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lnTo>
                  <a:pt x="44000" y="76000"/>
                </a:lnTo>
                <a:lnTo>
                  <a:pt x="44000" y="80000"/>
                </a:lnTo>
                <a:lnTo>
                  <a:pt x="22462" y="80000"/>
                </a:lnTo>
                <a:quadBezTo>
                  <a:pt x="19777" y="80000"/>
                  <a:pt x="17888" y="78112"/>
                </a:quadBezTo>
                <a:quadBezTo>
                  <a:pt x="16000" y="76223"/>
                  <a:pt x="16000" y="73538"/>
                </a:quadBezTo>
                <a:lnTo>
                  <a:pt x="16000" y="22462"/>
                </a:lnTo>
                <a:quadBezTo>
                  <a:pt x="16000" y="19777"/>
                  <a:pt x="17888" y="17888"/>
                </a:quadBezTo>
                <a:quadBezTo>
                  <a:pt x="19777" y="16000"/>
                  <a:pt x="22462" y="16000"/>
                </a:quadBezTo>
                <a:lnTo>
                  <a:pt x="41008" y="16000"/>
                </a:lnTo>
                <a:quadBezTo>
                  <a:pt x="41569" y="13654"/>
                  <a:pt x="43500" y="12058"/>
                </a:quadBezTo>
                <a:quadBezTo>
                  <a:pt x="45431" y="10461"/>
                  <a:pt x="48000" y="10461"/>
                </a:quadBezTo>
                <a:quadBezTo>
                  <a:pt x="50615" y="10461"/>
                  <a:pt x="52535" y="12058"/>
                </a:quadBezTo>
                <a:quadBezTo>
                  <a:pt x="54454" y="13654"/>
                  <a:pt x="55015" y="16000"/>
                </a:quadBezTo>
                <a:lnTo>
                  <a:pt x="73538" y="16000"/>
                </a:lnTo>
                <a:quadBezTo>
                  <a:pt x="76223" y="16000"/>
                  <a:pt x="78112" y="17888"/>
                </a:quadBezTo>
                <a:quadBezTo>
                  <a:pt x="80000" y="19777"/>
                  <a:pt x="80000" y="22462"/>
                </a:quadBezTo>
                <a:lnTo>
                  <a:pt x="80000" y="40000"/>
                </a:lnTo>
                <a:close/>
                <a:moveTo>
                  <a:pt x="48000" y="20923"/>
                </a:moveTo>
                <a:quadBezTo>
                  <a:pt x="49392" y="20923"/>
                  <a:pt x="50312" y="20004"/>
                </a:quadBezTo>
                <a:quadBezTo>
                  <a:pt x="51231" y="19085"/>
                  <a:pt x="51231" y="17692"/>
                </a:quadBezTo>
                <a:quadBezTo>
                  <a:pt x="51231" y="16300"/>
                  <a:pt x="50312" y="15381"/>
                </a:quadBezTo>
                <a:quadBezTo>
                  <a:pt x="49392" y="14462"/>
                  <a:pt x="48000" y="14462"/>
                </a:quadBezTo>
                <a:quadBezTo>
                  <a:pt x="46608" y="14462"/>
                  <a:pt x="45688" y="15381"/>
                </a:quadBezTo>
                <a:quadBezTo>
                  <a:pt x="44769" y="16300"/>
                  <a:pt x="44769" y="17692"/>
                </a:quadBezTo>
                <a:quadBezTo>
                  <a:pt x="44769" y="19085"/>
                  <a:pt x="45688" y="20004"/>
                </a:quadBezTo>
                <a:quadBezTo>
                  <a:pt x="46608" y="20923"/>
                  <a:pt x="48000" y="20923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3" name="TextBox 112"/>
          <p:cNvSpPr txBox="1"/>
          <p:nvPr/>
        </p:nvSpPr>
        <p:spPr>
          <a:xfrm>
            <a:off x="1224592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inventory</a:t>
            </a:r>
          </a:p>
        </p:txBody>
      </p:sp>
      <p:sp>
        <p:nvSpPr>
          <p:cNvPr id="114" name="Icon inventory_2"/>
          <p:cNvSpPr/>
          <p:nvPr/>
        </p:nvSpPr>
        <p:spPr>
          <a:xfrm>
            <a:off x="2416829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462" y="84000"/>
                </a:moveTo>
                <a:quadBezTo>
                  <a:pt x="19777" y="84000"/>
                  <a:pt x="17888" y="82112"/>
                </a:quadBezTo>
                <a:quadBezTo>
                  <a:pt x="16000" y="80223"/>
                  <a:pt x="16000" y="77538"/>
                </a:quadBezTo>
                <a:lnTo>
                  <a:pt x="16000" y="33054"/>
                </a:lnTo>
                <a:quadBezTo>
                  <a:pt x="14277" y="32338"/>
                  <a:pt x="13138" y="30742"/>
                </a:quadBezTo>
                <a:quadBezTo>
                  <a:pt x="12000" y="29146"/>
                  <a:pt x="12000" y="27077"/>
                </a:quadBezTo>
                <a:lnTo>
                  <a:pt x="12000" y="18462"/>
                </a:lnTo>
                <a:quadBezTo>
                  <a:pt x="12000" y="15777"/>
                  <a:pt x="13888" y="13888"/>
                </a:quadBezTo>
                <a:quadBezTo>
                  <a:pt x="15777" y="12000"/>
                  <a:pt x="18462" y="12000"/>
                </a:quadBezTo>
                <a:lnTo>
                  <a:pt x="77538" y="12000"/>
                </a:lnTo>
                <a:quadBezTo>
                  <a:pt x="80223" y="12000"/>
                  <a:pt x="82112" y="13888"/>
                </a:quadBezTo>
                <a:quadBezTo>
                  <a:pt x="84000" y="15777"/>
                  <a:pt x="84000" y="18462"/>
                </a:quadBezTo>
                <a:lnTo>
                  <a:pt x="84000" y="27077"/>
                </a:lnTo>
                <a:quadBezTo>
                  <a:pt x="84000" y="29146"/>
                  <a:pt x="82862" y="30742"/>
                </a:quadBezTo>
                <a:quadBezTo>
                  <a:pt x="81723" y="32338"/>
                  <a:pt x="80000" y="33054"/>
                </a:quadBezTo>
                <a:lnTo>
                  <a:pt x="80000" y="77538"/>
                </a:lnTo>
                <a:quadBezTo>
                  <a:pt x="80000" y="80223"/>
                  <a:pt x="78112" y="82112"/>
                </a:quadBezTo>
                <a:quadBezTo>
                  <a:pt x="76223" y="84000"/>
                  <a:pt x="73538" y="84000"/>
                </a:quadBezTo>
                <a:lnTo>
                  <a:pt x="22462" y="84000"/>
                </a:lnTo>
                <a:close/>
                <a:moveTo>
                  <a:pt x="20000" y="33538"/>
                </a:moveTo>
                <a:lnTo>
                  <a:pt x="20000" y="77154"/>
                </a:lnTo>
                <a:quadBezTo>
                  <a:pt x="20000" y="78385"/>
                  <a:pt x="20885" y="79192"/>
                </a:quadBezTo>
                <a:quadBezTo>
                  <a:pt x="21769" y="80000"/>
                  <a:pt x="23077" y="80000"/>
                </a:quadBezTo>
                <a:lnTo>
                  <a:pt x="73538" y="80000"/>
                </a:lnTo>
                <a:quadBezTo>
                  <a:pt x="74615" y="80000"/>
                  <a:pt x="75308" y="79308"/>
                </a:quadBezTo>
                <a:quadBezTo>
                  <a:pt x="76000" y="78615"/>
                  <a:pt x="76000" y="77538"/>
                </a:quadBezTo>
                <a:lnTo>
                  <a:pt x="76000" y="33538"/>
                </a:lnTo>
                <a:lnTo>
                  <a:pt x="20000" y="33538"/>
                </a:lnTo>
                <a:close/>
                <a:moveTo>
                  <a:pt x="18462" y="29538"/>
                </a:moveTo>
                <a:lnTo>
                  <a:pt x="77538" y="29538"/>
                </a:lnTo>
                <a:quadBezTo>
                  <a:pt x="78615" y="29538"/>
                  <a:pt x="79308" y="28846"/>
                </a:quadBezTo>
                <a:quadBezTo>
                  <a:pt x="80000" y="28154"/>
                  <a:pt x="80000" y="27077"/>
                </a:quadBezTo>
                <a:lnTo>
                  <a:pt x="80000" y="18462"/>
                </a:lnTo>
                <a:quadBezTo>
                  <a:pt x="80000" y="17385"/>
                  <a:pt x="79308" y="16692"/>
                </a:quadBezTo>
                <a:quadBezTo>
                  <a:pt x="78615" y="16000"/>
                  <a:pt x="77538" y="16000"/>
                </a:quadBezTo>
                <a:lnTo>
                  <a:pt x="18462" y="16000"/>
                </a:lnTo>
                <a:quadBezTo>
                  <a:pt x="17385" y="16000"/>
                  <a:pt x="16692" y="16692"/>
                </a:quadBezTo>
                <a:quadBezTo>
                  <a:pt x="16000" y="17385"/>
                  <a:pt x="16000" y="18462"/>
                </a:quadBezTo>
                <a:lnTo>
                  <a:pt x="16000" y="27077"/>
                </a:lnTo>
                <a:quadBezTo>
                  <a:pt x="16000" y="28154"/>
                  <a:pt x="16692" y="28846"/>
                </a:quadBezTo>
                <a:quadBezTo>
                  <a:pt x="17385" y="29538"/>
                  <a:pt x="18462" y="29538"/>
                </a:quadBezTo>
                <a:close/>
                <a:moveTo>
                  <a:pt x="37538" y="51462"/>
                </a:moveTo>
                <a:lnTo>
                  <a:pt x="58462" y="51462"/>
                </a:lnTo>
                <a:lnTo>
                  <a:pt x="58462" y="48000"/>
                </a:lnTo>
                <a:lnTo>
                  <a:pt x="37538" y="48000"/>
                </a:lnTo>
                <a:lnTo>
                  <a:pt x="37538" y="51462"/>
                </a:lnTo>
                <a:close/>
                <a:moveTo>
                  <a:pt x="48000" y="56769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5" name="TextBox 114"/>
          <p:cNvSpPr txBox="1"/>
          <p:nvPr/>
        </p:nvSpPr>
        <p:spPr>
          <a:xfrm>
            <a:off x="2110857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inventory 2</a:t>
            </a:r>
          </a:p>
        </p:txBody>
      </p:sp>
      <p:sp>
        <p:nvSpPr>
          <p:cNvPr id="116" name="Icon lab_research"/>
          <p:cNvSpPr/>
          <p:nvPr/>
        </p:nvSpPr>
        <p:spPr>
          <a:xfrm>
            <a:off x="3303094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923" y="63923"/>
                </a:moveTo>
                <a:lnTo>
                  <a:pt x="33923" y="59923"/>
                </a:lnTo>
                <a:lnTo>
                  <a:pt x="40700" y="59923"/>
                </a:lnTo>
                <a:quadBezTo>
                  <a:pt x="40431" y="60923"/>
                  <a:pt x="40281" y="61885"/>
                </a:quadBezTo>
                <a:quadBezTo>
                  <a:pt x="40131" y="62846"/>
                  <a:pt x="40100" y="63923"/>
                </a:quadBezTo>
                <a:lnTo>
                  <a:pt x="33923" y="63923"/>
                </a:lnTo>
                <a:close/>
                <a:moveTo>
                  <a:pt x="33385" y="84000"/>
                </a:moveTo>
                <a:quadBezTo>
                  <a:pt x="26162" y="84000"/>
                  <a:pt x="21081" y="79035"/>
                </a:quadBezTo>
                <a:quadBezTo>
                  <a:pt x="16000" y="74069"/>
                  <a:pt x="16000" y="66923"/>
                </a:quadBezTo>
                <a:lnTo>
                  <a:pt x="16000" y="30615"/>
                </a:lnTo>
                <a:quadBezTo>
                  <a:pt x="13238" y="30615"/>
                  <a:pt x="11312" y="28727"/>
                </a:quadBezTo>
                <a:quadBezTo>
                  <a:pt x="9385" y="26838"/>
                  <a:pt x="9385" y="24077"/>
                </a:quadBezTo>
                <a:lnTo>
                  <a:pt x="9385" y="18615"/>
                </a:lnTo>
                <a:quadBezTo>
                  <a:pt x="9385" y="15854"/>
                  <a:pt x="11312" y="13927"/>
                </a:quadBezTo>
                <a:quadBezTo>
                  <a:pt x="13238" y="12000"/>
                  <a:pt x="16000" y="12000"/>
                </a:quadBezTo>
                <a:lnTo>
                  <a:pt x="50692" y="12000"/>
                </a:lnTo>
                <a:quadBezTo>
                  <a:pt x="53454" y="12000"/>
                  <a:pt x="55419" y="13927"/>
                </a:quadBezTo>
                <a:quadBezTo>
                  <a:pt x="57385" y="15854"/>
                  <a:pt x="57385" y="18615"/>
                </a:quadBezTo>
                <a:lnTo>
                  <a:pt x="57385" y="24077"/>
                </a:lnTo>
                <a:quadBezTo>
                  <a:pt x="57385" y="26838"/>
                  <a:pt x="55419" y="28727"/>
                </a:quadBezTo>
                <a:quadBezTo>
                  <a:pt x="53454" y="30615"/>
                  <a:pt x="50692" y="30615"/>
                </a:quadBezTo>
                <a:lnTo>
                  <a:pt x="50692" y="45562"/>
                </a:lnTo>
                <a:quadBezTo>
                  <a:pt x="49754" y="46215"/>
                  <a:pt x="48946" y="46946"/>
                </a:quadBezTo>
                <a:quadBezTo>
                  <a:pt x="48138" y="47677"/>
                  <a:pt x="47408" y="48538"/>
                </a:quadBezTo>
                <a:lnTo>
                  <a:pt x="33923" y="48538"/>
                </a:lnTo>
                <a:lnTo>
                  <a:pt x="33923" y="44538"/>
                </a:lnTo>
                <a:lnTo>
                  <a:pt x="46692" y="44538"/>
                </a:lnTo>
                <a:lnTo>
                  <a:pt x="46692" y="30615"/>
                </a:lnTo>
                <a:lnTo>
                  <a:pt x="20000" y="30615"/>
                </a:lnTo>
                <a:lnTo>
                  <a:pt x="20000" y="66923"/>
                </a:lnTo>
                <a:quadBezTo>
                  <a:pt x="20000" y="72462"/>
                  <a:pt x="23923" y="76231"/>
                </a:quadBezTo>
                <a:quadBezTo>
                  <a:pt x="27846" y="80000"/>
                  <a:pt x="33385" y="80000"/>
                </a:quadBezTo>
                <a:quadBezTo>
                  <a:pt x="36000" y="80000"/>
                  <a:pt x="38258" y="79085"/>
                </a:quadBezTo>
                <a:quadBezTo>
                  <a:pt x="40515" y="78169"/>
                  <a:pt x="42292" y="76562"/>
                </a:quadBezTo>
                <a:quadBezTo>
                  <a:pt x="42708" y="77562"/>
                  <a:pt x="43208" y="78400"/>
                </a:quadBezTo>
                <a:quadBezTo>
                  <a:pt x="43708" y="79238"/>
                  <a:pt x="44338" y="80092"/>
                </a:quadBezTo>
                <a:quadBezTo>
                  <a:pt x="42100" y="81923"/>
                  <a:pt x="39331" y="82962"/>
                </a:quadBezTo>
                <a:quadBezTo>
                  <a:pt x="36562" y="84000"/>
                  <a:pt x="33385" y="84000"/>
                </a:quadBezTo>
                <a:close/>
                <a:moveTo>
                  <a:pt x="16000" y="26615"/>
                </a:moveTo>
                <a:lnTo>
                  <a:pt x="50692" y="26615"/>
                </a:lnTo>
                <a:quadBezTo>
                  <a:pt x="51769" y="26615"/>
                  <a:pt x="52577" y="25885"/>
                </a:quadBezTo>
                <a:quadBezTo>
                  <a:pt x="53385" y="25154"/>
                  <a:pt x="53385" y="24077"/>
                </a:quadBezTo>
                <a:lnTo>
                  <a:pt x="53385" y="18615"/>
                </a:lnTo>
                <a:quadBezTo>
                  <a:pt x="53385" y="17538"/>
                  <a:pt x="52577" y="16769"/>
                </a:quadBezTo>
                <a:quadBezTo>
                  <a:pt x="51769" y="16000"/>
                  <a:pt x="50692" y="16000"/>
                </a:quadBezTo>
                <a:lnTo>
                  <a:pt x="16000" y="16000"/>
                </a:lnTo>
                <a:quadBezTo>
                  <a:pt x="14923" y="16000"/>
                  <a:pt x="14154" y="16769"/>
                </a:quadBezTo>
                <a:quadBezTo>
                  <a:pt x="13385" y="17538"/>
                  <a:pt x="13385" y="18615"/>
                </a:quadBezTo>
                <a:lnTo>
                  <a:pt x="13385" y="24077"/>
                </a:lnTo>
                <a:quadBezTo>
                  <a:pt x="13385" y="25154"/>
                  <a:pt x="14154" y="25885"/>
                </a:quadBezTo>
                <a:quadBezTo>
                  <a:pt x="14923" y="26615"/>
                  <a:pt x="16000" y="26615"/>
                </a:quadBezTo>
                <a:close/>
                <a:moveTo>
                  <a:pt x="64692" y="77231"/>
                </a:moveTo>
                <a:quadBezTo>
                  <a:pt x="69354" y="77231"/>
                  <a:pt x="72638" y="73946"/>
                </a:quadBezTo>
                <a:quadBezTo>
                  <a:pt x="75923" y="70662"/>
                  <a:pt x="75923" y="66000"/>
                </a:quadBezTo>
                <a:quadBezTo>
                  <a:pt x="75923" y="61338"/>
                  <a:pt x="72638" y="58054"/>
                </a:quadBezTo>
                <a:quadBezTo>
                  <a:pt x="69354" y="54769"/>
                  <a:pt x="64692" y="54769"/>
                </a:quadBezTo>
                <a:quadBezTo>
                  <a:pt x="60031" y="54769"/>
                  <a:pt x="56746" y="58054"/>
                </a:quadBezTo>
                <a:quadBezTo>
                  <a:pt x="53462" y="61338"/>
                  <a:pt x="53462" y="66000"/>
                </a:quadBezTo>
                <a:quadBezTo>
                  <a:pt x="53462" y="70662"/>
                  <a:pt x="56746" y="73946"/>
                </a:quadBezTo>
                <a:quadBezTo>
                  <a:pt x="60031" y="77231"/>
                  <a:pt x="64692" y="77231"/>
                </a:quadBezTo>
                <a:close/>
                <a:moveTo>
                  <a:pt x="85092" y="89154"/>
                </a:moveTo>
                <a:lnTo>
                  <a:pt x="73985" y="78046"/>
                </a:lnTo>
                <a:quadBezTo>
                  <a:pt x="71938" y="79600"/>
                  <a:pt x="69577" y="80415"/>
                </a:quadBezTo>
                <a:quadBezTo>
                  <a:pt x="67215" y="81231"/>
                  <a:pt x="64692" y="81231"/>
                </a:quadBezTo>
                <a:quadBezTo>
                  <a:pt x="58346" y="81231"/>
                  <a:pt x="53904" y="76788"/>
                </a:quadBezTo>
                <a:quadBezTo>
                  <a:pt x="49462" y="72346"/>
                  <a:pt x="49462" y="66000"/>
                </a:quadBezTo>
                <a:quadBezTo>
                  <a:pt x="49462" y="59654"/>
                  <a:pt x="53904" y="55212"/>
                </a:quadBezTo>
                <a:quadBezTo>
                  <a:pt x="58346" y="50769"/>
                  <a:pt x="64692" y="50769"/>
                </a:quadBezTo>
                <a:quadBezTo>
                  <a:pt x="71038" y="50769"/>
                  <a:pt x="75481" y="55212"/>
                </a:quadBezTo>
                <a:quadBezTo>
                  <a:pt x="79923" y="59654"/>
                  <a:pt x="79923" y="66000"/>
                </a:quadBezTo>
                <a:quadBezTo>
                  <a:pt x="79923" y="68523"/>
                  <a:pt x="79108" y="70885"/>
                </a:quadBezTo>
                <a:quadBezTo>
                  <a:pt x="78292" y="73246"/>
                  <a:pt x="76738" y="75292"/>
                </a:quadBezTo>
                <a:lnTo>
                  <a:pt x="87846" y="86400"/>
                </a:lnTo>
                <a:lnTo>
                  <a:pt x="85092" y="89154"/>
                </a:lnTo>
                <a:close/>
                <a:moveTo>
                  <a:pt x="13385" y="26615"/>
                </a:moveTo>
                <a:lnTo>
                  <a:pt x="13385" y="16000"/>
                </a:lnTo>
                <a:lnTo>
                  <a:pt x="13385" y="266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7" name="TextBox 116"/>
          <p:cNvSpPr txBox="1"/>
          <p:nvPr/>
        </p:nvSpPr>
        <p:spPr>
          <a:xfrm>
            <a:off x="2997121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lab research</a:t>
            </a:r>
          </a:p>
        </p:txBody>
      </p:sp>
      <p:sp>
        <p:nvSpPr>
          <p:cNvPr id="118" name="Icon lan"/>
          <p:cNvSpPr/>
          <p:nvPr/>
        </p:nvSpPr>
        <p:spPr>
          <a:xfrm>
            <a:off x="4189358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86000"/>
                </a:moveTo>
                <a:lnTo>
                  <a:pt x="14000" y="62000"/>
                </a:lnTo>
                <a:lnTo>
                  <a:pt x="26000" y="62000"/>
                </a:lnTo>
                <a:lnTo>
                  <a:pt x="26000" y="46000"/>
                </a:lnTo>
                <a:lnTo>
                  <a:pt x="46000" y="46000"/>
                </a:lnTo>
                <a:lnTo>
                  <a:pt x="46000" y="34000"/>
                </a:lnTo>
                <a:lnTo>
                  <a:pt x="34000" y="34000"/>
                </a:lnTo>
                <a:lnTo>
                  <a:pt x="34000" y="10000"/>
                </a:lnTo>
                <a:lnTo>
                  <a:pt x="62000" y="10000"/>
                </a:lnTo>
                <a:lnTo>
                  <a:pt x="62000" y="34000"/>
                </a:lnTo>
                <a:lnTo>
                  <a:pt x="50000" y="34000"/>
                </a:lnTo>
                <a:lnTo>
                  <a:pt x="50000" y="46000"/>
                </a:lnTo>
                <a:lnTo>
                  <a:pt x="70000" y="46000"/>
                </a:lnTo>
                <a:lnTo>
                  <a:pt x="70000" y="62000"/>
                </a:lnTo>
                <a:lnTo>
                  <a:pt x="82000" y="62000"/>
                </a:lnTo>
                <a:lnTo>
                  <a:pt x="82000" y="86000"/>
                </a:lnTo>
                <a:lnTo>
                  <a:pt x="54000" y="86000"/>
                </a:lnTo>
                <a:lnTo>
                  <a:pt x="54000" y="62000"/>
                </a:lnTo>
                <a:lnTo>
                  <a:pt x="66000" y="62000"/>
                </a:lnTo>
                <a:lnTo>
                  <a:pt x="66000" y="50000"/>
                </a:lnTo>
                <a:lnTo>
                  <a:pt x="30000" y="50000"/>
                </a:lnTo>
                <a:lnTo>
                  <a:pt x="30000" y="62000"/>
                </a:lnTo>
                <a:lnTo>
                  <a:pt x="42000" y="62000"/>
                </a:lnTo>
                <a:lnTo>
                  <a:pt x="42000" y="86000"/>
                </a:lnTo>
                <a:lnTo>
                  <a:pt x="14000" y="86000"/>
                </a:lnTo>
                <a:close/>
                <a:moveTo>
                  <a:pt x="38000" y="30000"/>
                </a:moveTo>
                <a:lnTo>
                  <a:pt x="58000" y="30000"/>
                </a:lnTo>
                <a:lnTo>
                  <a:pt x="58000" y="14000"/>
                </a:lnTo>
                <a:lnTo>
                  <a:pt x="38000" y="14000"/>
                </a:lnTo>
                <a:lnTo>
                  <a:pt x="38000" y="30000"/>
                </a:lnTo>
                <a:close/>
                <a:moveTo>
                  <a:pt x="18000" y="82000"/>
                </a:moveTo>
                <a:lnTo>
                  <a:pt x="38000" y="82000"/>
                </a:lnTo>
                <a:lnTo>
                  <a:pt x="38000" y="66000"/>
                </a:lnTo>
                <a:lnTo>
                  <a:pt x="18000" y="66000"/>
                </a:lnTo>
                <a:lnTo>
                  <a:pt x="18000" y="82000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66000"/>
                </a:lnTo>
                <a:lnTo>
                  <a:pt x="58000" y="66000"/>
                </a:lnTo>
                <a:lnTo>
                  <a:pt x="58000" y="82000"/>
                </a:lnTo>
                <a:close/>
                <a:moveTo>
                  <a:pt x="48000" y="30000"/>
                </a:moveTo>
                <a:close/>
                <a:moveTo>
                  <a:pt x="38000" y="66000"/>
                </a:moveTo>
                <a:close/>
                <a:moveTo>
                  <a:pt x="58000" y="6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9" name="TextBox 118"/>
          <p:cNvSpPr txBox="1"/>
          <p:nvPr/>
        </p:nvSpPr>
        <p:spPr>
          <a:xfrm>
            <a:off x="3883386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lan</a:t>
            </a:r>
          </a:p>
        </p:txBody>
      </p:sp>
      <p:sp>
        <p:nvSpPr>
          <p:cNvPr id="120" name="Icon language"/>
          <p:cNvSpPr/>
          <p:nvPr/>
        </p:nvSpPr>
        <p:spPr>
          <a:xfrm>
            <a:off x="5075623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4000"/>
                </a:moveTo>
                <a:quadBezTo>
                  <a:pt x="40569" y="84000"/>
                  <a:pt x="34000" y="81158"/>
                </a:quadBezTo>
                <a:quadBezTo>
                  <a:pt x="27431" y="78315"/>
                  <a:pt x="22558" y="73442"/>
                </a:quadBezTo>
                <a:quadBezTo>
                  <a:pt x="17685" y="68569"/>
                  <a:pt x="14842" y="62000"/>
                </a:quadBezTo>
                <a:quadBezTo>
                  <a:pt x="12000" y="55431"/>
                  <a:pt x="12000" y="48000"/>
                </a:quadBezTo>
                <a:quadBezTo>
                  <a:pt x="12000" y="40546"/>
                  <a:pt x="14842" y="33988"/>
                </a:quadBezTo>
                <a:quadBezTo>
                  <a:pt x="17685" y="27431"/>
                  <a:pt x="22558" y="22558"/>
                </a:quadBezTo>
                <a:quadBezTo>
                  <a:pt x="27431" y="17685"/>
                  <a:pt x="34000" y="14842"/>
                </a:quadBezTo>
                <a:quadBezTo>
                  <a:pt x="40569" y="12000"/>
                  <a:pt x="48000" y="12000"/>
                </a:quadBezTo>
                <a:quadBezTo>
                  <a:pt x="55454" y="12000"/>
                  <a:pt x="62012" y="14842"/>
                </a:quadBezTo>
                <a:quadBezTo>
                  <a:pt x="68569" y="17685"/>
                  <a:pt x="73442" y="22558"/>
                </a:quadBezTo>
                <a:quadBezTo>
                  <a:pt x="78315" y="27431"/>
                  <a:pt x="81158" y="33988"/>
                </a:quadBezTo>
                <a:quadBezTo>
                  <a:pt x="84000" y="40546"/>
                  <a:pt x="84000" y="48000"/>
                </a:quadBezTo>
                <a:quadBezTo>
                  <a:pt x="84000" y="55431"/>
                  <a:pt x="81158" y="62000"/>
                </a:quadBezTo>
                <a:quadBezTo>
                  <a:pt x="78315" y="68569"/>
                  <a:pt x="73442" y="73442"/>
                </a:quadBezTo>
                <a:quadBezTo>
                  <a:pt x="68569" y="78315"/>
                  <a:pt x="62012" y="81158"/>
                </a:quadBezTo>
                <a:quadBezTo>
                  <a:pt x="55454" y="84000"/>
                  <a:pt x="48000" y="84000"/>
                </a:quadBezTo>
                <a:close/>
                <a:moveTo>
                  <a:pt x="48000" y="80031"/>
                </a:moveTo>
                <a:quadBezTo>
                  <a:pt x="51523" y="75508"/>
                  <a:pt x="53808" y="71146"/>
                </a:quadBezTo>
                <a:quadBezTo>
                  <a:pt x="56092" y="66785"/>
                  <a:pt x="57523" y="61385"/>
                </a:quadBezTo>
                <a:lnTo>
                  <a:pt x="38477" y="61385"/>
                </a:lnTo>
                <a:quadBezTo>
                  <a:pt x="40062" y="67092"/>
                  <a:pt x="42269" y="71454"/>
                </a:quadBezTo>
                <a:quadBezTo>
                  <a:pt x="44477" y="75815"/>
                  <a:pt x="48000" y="80031"/>
                </a:quadBezTo>
                <a:close/>
                <a:moveTo>
                  <a:pt x="42908" y="79431"/>
                </a:moveTo>
                <a:quadBezTo>
                  <a:pt x="40108" y="76131"/>
                  <a:pt x="37796" y="71273"/>
                </a:quadBezTo>
                <a:quadBezTo>
                  <a:pt x="35485" y="66415"/>
                  <a:pt x="34354" y="61385"/>
                </a:quadBezTo>
                <a:lnTo>
                  <a:pt x="19015" y="61385"/>
                </a:lnTo>
                <a:quadBezTo>
                  <a:pt x="22454" y="68846"/>
                  <a:pt x="28765" y="73623"/>
                </a:quadBezTo>
                <a:quadBezTo>
                  <a:pt x="35077" y="78400"/>
                  <a:pt x="42908" y="79431"/>
                </a:quadBezTo>
                <a:close/>
                <a:moveTo>
                  <a:pt x="53092" y="79431"/>
                </a:moveTo>
                <a:quadBezTo>
                  <a:pt x="60923" y="78400"/>
                  <a:pt x="67235" y="73623"/>
                </a:quadBezTo>
                <a:quadBezTo>
                  <a:pt x="73546" y="68846"/>
                  <a:pt x="76985" y="61385"/>
                </a:quadBezTo>
                <a:lnTo>
                  <a:pt x="61646" y="61385"/>
                </a:lnTo>
                <a:quadBezTo>
                  <a:pt x="60131" y="66492"/>
                  <a:pt x="57819" y="71350"/>
                </a:quadBezTo>
                <a:quadBezTo>
                  <a:pt x="55508" y="76208"/>
                  <a:pt x="53092" y="79431"/>
                </a:quadBezTo>
                <a:close/>
                <a:moveTo>
                  <a:pt x="17385" y="57385"/>
                </a:moveTo>
                <a:lnTo>
                  <a:pt x="33523" y="57385"/>
                </a:lnTo>
                <a:quadBezTo>
                  <a:pt x="33069" y="54923"/>
                  <a:pt x="32881" y="52588"/>
                </a:quadBezTo>
                <a:quadBezTo>
                  <a:pt x="32692" y="50254"/>
                  <a:pt x="32692" y="48000"/>
                </a:quadBezTo>
                <a:quadBezTo>
                  <a:pt x="32692" y="45746"/>
                  <a:pt x="32881" y="43412"/>
                </a:quadBezTo>
                <a:quadBezTo>
                  <a:pt x="33069" y="41077"/>
                  <a:pt x="33523" y="38615"/>
                </a:quadBezTo>
                <a:lnTo>
                  <a:pt x="17385" y="38615"/>
                </a:lnTo>
                <a:quadBezTo>
                  <a:pt x="16731" y="40692"/>
                  <a:pt x="16365" y="43142"/>
                </a:quadBezTo>
                <a:quadBezTo>
                  <a:pt x="16000" y="45592"/>
                  <a:pt x="16000" y="48000"/>
                </a:quadBezTo>
                <a:quadBezTo>
                  <a:pt x="16000" y="50408"/>
                  <a:pt x="16365" y="52858"/>
                </a:quadBezTo>
                <a:quadBezTo>
                  <a:pt x="16731" y="55308"/>
                  <a:pt x="17385" y="57385"/>
                </a:quadBezTo>
                <a:close/>
                <a:moveTo>
                  <a:pt x="37523" y="57385"/>
                </a:moveTo>
                <a:lnTo>
                  <a:pt x="58477" y="57385"/>
                </a:lnTo>
                <a:quadBezTo>
                  <a:pt x="58931" y="54923"/>
                  <a:pt x="59119" y="52665"/>
                </a:quadBezTo>
                <a:quadBezTo>
                  <a:pt x="59308" y="50408"/>
                  <a:pt x="59308" y="48000"/>
                </a:quadBezTo>
                <a:quadBezTo>
                  <a:pt x="59308" y="45592"/>
                  <a:pt x="59119" y="43335"/>
                </a:quadBezTo>
                <a:quadBezTo>
                  <a:pt x="58931" y="41077"/>
                  <a:pt x="58477" y="38615"/>
                </a:quadBezTo>
                <a:lnTo>
                  <a:pt x="37523" y="38615"/>
                </a:lnTo>
                <a:quadBezTo>
                  <a:pt x="37069" y="41077"/>
                  <a:pt x="36881" y="43335"/>
                </a:quadBezTo>
                <a:quadBezTo>
                  <a:pt x="36692" y="45592"/>
                  <a:pt x="36692" y="48000"/>
                </a:quadBezTo>
                <a:quadBezTo>
                  <a:pt x="36692" y="50408"/>
                  <a:pt x="36881" y="52665"/>
                </a:quadBezTo>
                <a:quadBezTo>
                  <a:pt x="37069" y="54923"/>
                  <a:pt x="37523" y="57385"/>
                </a:quadBezTo>
                <a:close/>
                <a:moveTo>
                  <a:pt x="62477" y="57385"/>
                </a:moveTo>
                <a:lnTo>
                  <a:pt x="78615" y="57385"/>
                </a:lnTo>
                <a:quadBezTo>
                  <a:pt x="79269" y="55308"/>
                  <a:pt x="79635" y="52858"/>
                </a:quadBezTo>
                <a:quadBezTo>
                  <a:pt x="80000" y="50408"/>
                  <a:pt x="80000" y="48000"/>
                </a:quadBezTo>
                <a:quadBezTo>
                  <a:pt x="80000" y="45592"/>
                  <a:pt x="79635" y="43142"/>
                </a:quadBezTo>
                <a:quadBezTo>
                  <a:pt x="79269" y="40692"/>
                  <a:pt x="78615" y="38615"/>
                </a:quadBezTo>
                <a:lnTo>
                  <a:pt x="62477" y="38615"/>
                </a:lnTo>
                <a:quadBezTo>
                  <a:pt x="62931" y="41077"/>
                  <a:pt x="63119" y="43412"/>
                </a:quadBezTo>
                <a:quadBezTo>
                  <a:pt x="63308" y="45746"/>
                  <a:pt x="63308" y="48000"/>
                </a:quadBezTo>
                <a:quadBezTo>
                  <a:pt x="63308" y="50254"/>
                  <a:pt x="63119" y="52588"/>
                </a:quadBezTo>
                <a:quadBezTo>
                  <a:pt x="62931" y="54923"/>
                  <a:pt x="62477" y="57385"/>
                </a:quadBezTo>
                <a:close/>
                <a:moveTo>
                  <a:pt x="61646" y="34615"/>
                </a:moveTo>
                <a:lnTo>
                  <a:pt x="76985" y="34615"/>
                </a:lnTo>
                <a:quadBezTo>
                  <a:pt x="73469" y="27000"/>
                  <a:pt x="67350" y="22377"/>
                </a:quadBezTo>
                <a:quadBezTo>
                  <a:pt x="61231" y="17754"/>
                  <a:pt x="53092" y="16492"/>
                </a:quadBezTo>
                <a:quadBezTo>
                  <a:pt x="55892" y="20177"/>
                  <a:pt x="58127" y="24919"/>
                </a:quadBezTo>
                <a:quadBezTo>
                  <a:pt x="60362" y="29662"/>
                  <a:pt x="61646" y="34615"/>
                </a:quadBezTo>
                <a:close/>
                <a:moveTo>
                  <a:pt x="38477" y="34615"/>
                </a:moveTo>
                <a:lnTo>
                  <a:pt x="57523" y="34615"/>
                </a:lnTo>
                <a:quadBezTo>
                  <a:pt x="55938" y="28985"/>
                  <a:pt x="53615" y="24431"/>
                </a:quadBezTo>
                <a:quadBezTo>
                  <a:pt x="51292" y="19877"/>
                  <a:pt x="48000" y="15969"/>
                </a:quadBezTo>
                <a:quadBezTo>
                  <a:pt x="44708" y="19877"/>
                  <a:pt x="42385" y="24431"/>
                </a:quadBezTo>
                <a:quadBezTo>
                  <a:pt x="40062" y="28985"/>
                  <a:pt x="38477" y="34615"/>
                </a:quadBezTo>
                <a:close/>
                <a:moveTo>
                  <a:pt x="19015" y="34615"/>
                </a:moveTo>
                <a:lnTo>
                  <a:pt x="34354" y="34615"/>
                </a:lnTo>
                <a:quadBezTo>
                  <a:pt x="35638" y="29662"/>
                  <a:pt x="37873" y="24919"/>
                </a:quadBezTo>
                <a:quadBezTo>
                  <a:pt x="40108" y="20177"/>
                  <a:pt x="42908" y="16492"/>
                </a:quadBezTo>
                <a:quadBezTo>
                  <a:pt x="34692" y="17754"/>
                  <a:pt x="28612" y="22415"/>
                </a:quadBezTo>
                <a:quadBezTo>
                  <a:pt x="22531" y="27077"/>
                  <a:pt x="19015" y="34615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1" name="TextBox 120"/>
          <p:cNvSpPr txBox="1"/>
          <p:nvPr/>
        </p:nvSpPr>
        <p:spPr>
          <a:xfrm>
            <a:off x="4769651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language</a:t>
            </a:r>
          </a:p>
        </p:txBody>
      </p:sp>
      <p:sp>
        <p:nvSpPr>
          <p:cNvPr id="122" name="Icon lightbulb"/>
          <p:cNvSpPr/>
          <p:nvPr/>
        </p:nvSpPr>
        <p:spPr>
          <a:xfrm>
            <a:off x="5961888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4615"/>
                </a:moveTo>
                <a:quadBezTo>
                  <a:pt x="45238" y="84615"/>
                  <a:pt x="43196" y="82765"/>
                </a:quadBezTo>
                <a:quadBezTo>
                  <a:pt x="41154" y="80915"/>
                  <a:pt x="40769" y="78154"/>
                </a:quadBezTo>
                <a:lnTo>
                  <a:pt x="55231" y="78154"/>
                </a:lnTo>
                <a:quadBezTo>
                  <a:pt x="54846" y="80915"/>
                  <a:pt x="52804" y="82765"/>
                </a:quadBezTo>
                <a:quadBezTo>
                  <a:pt x="50762" y="84615"/>
                  <a:pt x="48000" y="84615"/>
                </a:quadBezTo>
                <a:close/>
                <a:moveTo>
                  <a:pt x="34000" y="71077"/>
                </a:moveTo>
                <a:lnTo>
                  <a:pt x="34000" y="67077"/>
                </a:lnTo>
                <a:lnTo>
                  <a:pt x="62000" y="67077"/>
                </a:lnTo>
                <a:lnTo>
                  <a:pt x="62000" y="71077"/>
                </a:lnTo>
                <a:lnTo>
                  <a:pt x="34000" y="71077"/>
                </a:lnTo>
                <a:close/>
                <a:moveTo>
                  <a:pt x="34231" y="60000"/>
                </a:moveTo>
                <a:quadBezTo>
                  <a:pt x="28562" y="56285"/>
                  <a:pt x="25281" y="50577"/>
                </a:quadBezTo>
                <a:quadBezTo>
                  <a:pt x="22000" y="44869"/>
                  <a:pt x="22000" y="38000"/>
                </a:quadBezTo>
                <a:quadBezTo>
                  <a:pt x="22000" y="27115"/>
                  <a:pt x="29558" y="19558"/>
                </a:quadBezTo>
                <a:quadBezTo>
                  <a:pt x="37115" y="12000"/>
                  <a:pt x="48000" y="12000"/>
                </a:quadBezTo>
                <a:quadBezTo>
                  <a:pt x="58885" y="12000"/>
                  <a:pt x="66442" y="19558"/>
                </a:quadBezTo>
                <a:quadBezTo>
                  <a:pt x="74000" y="27115"/>
                  <a:pt x="74000" y="38000"/>
                </a:quadBezTo>
                <a:quadBezTo>
                  <a:pt x="74000" y="44869"/>
                  <a:pt x="70719" y="50577"/>
                </a:quadBezTo>
                <a:quadBezTo>
                  <a:pt x="67438" y="56285"/>
                  <a:pt x="61769" y="60000"/>
                </a:quadBezTo>
                <a:lnTo>
                  <a:pt x="34231" y="60000"/>
                </a:lnTo>
                <a:close/>
                <a:moveTo>
                  <a:pt x="35400" y="56000"/>
                </a:moveTo>
                <a:lnTo>
                  <a:pt x="60600" y="56000"/>
                </a:lnTo>
                <a:quadBezTo>
                  <a:pt x="65100" y="52800"/>
                  <a:pt x="67550" y="48100"/>
                </a:quadBezTo>
                <a:quadBezTo>
                  <a:pt x="70000" y="43400"/>
                  <a:pt x="70000" y="38000"/>
                </a:quadBezTo>
                <a:quadBezTo>
                  <a:pt x="70000" y="28800"/>
                  <a:pt x="63600" y="22400"/>
                </a:quadBezTo>
                <a:quadBezTo>
                  <a:pt x="57200" y="16000"/>
                  <a:pt x="48000" y="16000"/>
                </a:quadBezTo>
                <a:quadBezTo>
                  <a:pt x="38800" y="16000"/>
                  <a:pt x="32400" y="22400"/>
                </a:quadBezTo>
                <a:quadBezTo>
                  <a:pt x="26000" y="28800"/>
                  <a:pt x="26000" y="38000"/>
                </a:quadBezTo>
                <a:quadBezTo>
                  <a:pt x="26000" y="43400"/>
                  <a:pt x="28450" y="48100"/>
                </a:quadBezTo>
                <a:quadBezTo>
                  <a:pt x="30900" y="52800"/>
                  <a:pt x="35400" y="56000"/>
                </a:quadBezTo>
                <a:close/>
                <a:moveTo>
                  <a:pt x="48000" y="5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3" name="TextBox 122"/>
          <p:cNvSpPr txBox="1"/>
          <p:nvPr/>
        </p:nvSpPr>
        <p:spPr>
          <a:xfrm>
            <a:off x="5655915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lightbulb</a:t>
            </a:r>
          </a:p>
        </p:txBody>
      </p:sp>
      <p:sp>
        <p:nvSpPr>
          <p:cNvPr id="124" name="Icon link"/>
          <p:cNvSpPr/>
          <p:nvPr/>
        </p:nvSpPr>
        <p:spPr>
          <a:xfrm>
            <a:off x="6848152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2462" y="64308"/>
                </a:moveTo>
                <a:lnTo>
                  <a:pt x="28308" y="64308"/>
                </a:lnTo>
                <a:quadBezTo>
                  <a:pt x="21540" y="64308"/>
                  <a:pt x="16770" y="59539"/>
                </a:quadBezTo>
                <a:quadBezTo>
                  <a:pt x="12000" y="54770"/>
                  <a:pt x="12000" y="48004"/>
                </a:quadBezTo>
                <a:quadBezTo>
                  <a:pt x="12000" y="41238"/>
                  <a:pt x="16770" y="36465"/>
                </a:quadBezTo>
                <a:quadBezTo>
                  <a:pt x="21540" y="31692"/>
                  <a:pt x="28308" y="31692"/>
                </a:quadBezTo>
                <a:lnTo>
                  <a:pt x="42462" y="31692"/>
                </a:lnTo>
                <a:lnTo>
                  <a:pt x="42462" y="35692"/>
                </a:lnTo>
                <a:lnTo>
                  <a:pt x="28308" y="35692"/>
                </a:lnTo>
                <a:quadBezTo>
                  <a:pt x="23231" y="35692"/>
                  <a:pt x="19615" y="39308"/>
                </a:quadBezTo>
                <a:quadBezTo>
                  <a:pt x="16000" y="42923"/>
                  <a:pt x="16000" y="48000"/>
                </a:quadBezTo>
                <a:quadBezTo>
                  <a:pt x="16000" y="53077"/>
                  <a:pt x="19615" y="56692"/>
                </a:quadBezTo>
                <a:quadBezTo>
                  <a:pt x="23231" y="60308"/>
                  <a:pt x="28308" y="60308"/>
                </a:quadBezTo>
                <a:lnTo>
                  <a:pt x="42462" y="60308"/>
                </a:lnTo>
                <a:lnTo>
                  <a:pt x="42462" y="64308"/>
                </a:lnTo>
                <a:close/>
                <a:moveTo>
                  <a:pt x="34000" y="50000"/>
                </a:moveTo>
                <a:lnTo>
                  <a:pt x="34000" y="46000"/>
                </a:lnTo>
                <a:lnTo>
                  <a:pt x="62000" y="46000"/>
                </a:lnTo>
                <a:lnTo>
                  <a:pt x="62000" y="50000"/>
                </a:lnTo>
                <a:lnTo>
                  <a:pt x="34000" y="50000"/>
                </a:lnTo>
                <a:close/>
                <a:moveTo>
                  <a:pt x="53538" y="64308"/>
                </a:moveTo>
                <a:lnTo>
                  <a:pt x="53538" y="60308"/>
                </a:lnTo>
                <a:lnTo>
                  <a:pt x="67692" y="60308"/>
                </a:lnTo>
                <a:quadBezTo>
                  <a:pt x="72769" y="60308"/>
                  <a:pt x="76385" y="56692"/>
                </a:quadBezTo>
                <a:quadBezTo>
                  <a:pt x="80000" y="53077"/>
                  <a:pt x="80000" y="48000"/>
                </a:quadBezTo>
                <a:quadBezTo>
                  <a:pt x="80000" y="42923"/>
                  <a:pt x="76385" y="39308"/>
                </a:quadBezTo>
                <a:quadBezTo>
                  <a:pt x="72769" y="35692"/>
                  <a:pt x="67692" y="35692"/>
                </a:quadBezTo>
                <a:lnTo>
                  <a:pt x="53538" y="35692"/>
                </a:lnTo>
                <a:lnTo>
                  <a:pt x="53538" y="31692"/>
                </a:lnTo>
                <a:lnTo>
                  <a:pt x="67692" y="31692"/>
                </a:lnTo>
                <a:quadBezTo>
                  <a:pt x="74460" y="31692"/>
                  <a:pt x="79230" y="36461"/>
                </a:quadBezTo>
                <a:quadBezTo>
                  <a:pt x="84000" y="41230"/>
                  <a:pt x="84000" y="47996"/>
                </a:quadBezTo>
                <a:quadBezTo>
                  <a:pt x="84000" y="54762"/>
                  <a:pt x="79230" y="59535"/>
                </a:quadBezTo>
                <a:quadBezTo>
                  <a:pt x="74460" y="64308"/>
                  <a:pt x="67692" y="64308"/>
                </a:quadBezTo>
                <a:lnTo>
                  <a:pt x="53538" y="643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5" name="TextBox 124"/>
          <p:cNvSpPr txBox="1"/>
          <p:nvPr/>
        </p:nvSpPr>
        <p:spPr>
          <a:xfrm>
            <a:off x="6542180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link</a:t>
            </a:r>
          </a:p>
        </p:txBody>
      </p:sp>
      <p:sp>
        <p:nvSpPr>
          <p:cNvPr id="126" name="Icon list_alt"/>
          <p:cNvSpPr/>
          <p:nvPr/>
        </p:nvSpPr>
        <p:spPr>
          <a:xfrm>
            <a:off x="7734417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2467" y="66154"/>
                </a:moveTo>
                <a:quadBezTo>
                  <a:pt x="33777" y="66154"/>
                  <a:pt x="34658" y="65268"/>
                </a:quadBezTo>
                <a:quadBezTo>
                  <a:pt x="35538" y="64382"/>
                  <a:pt x="35538" y="63072"/>
                </a:quadBezTo>
                <a:quadBezTo>
                  <a:pt x="35538" y="61762"/>
                  <a:pt x="34652" y="60881"/>
                </a:quadBezTo>
                <a:quadBezTo>
                  <a:pt x="33766" y="60000"/>
                  <a:pt x="32456" y="60000"/>
                </a:quadBezTo>
                <a:quadBezTo>
                  <a:pt x="31146" y="60000"/>
                  <a:pt x="30265" y="60886"/>
                </a:quadBezTo>
                <a:quadBezTo>
                  <a:pt x="29385" y="61772"/>
                  <a:pt x="29385" y="63082"/>
                </a:quadBezTo>
                <a:quadBezTo>
                  <a:pt x="29385" y="64392"/>
                  <a:pt x="30271" y="65273"/>
                </a:quadBezTo>
                <a:quadBezTo>
                  <a:pt x="31157" y="66154"/>
                  <a:pt x="32467" y="66154"/>
                </a:quadBezTo>
                <a:close/>
                <a:moveTo>
                  <a:pt x="32467" y="51077"/>
                </a:moveTo>
                <a:quadBezTo>
                  <a:pt x="33777" y="51077"/>
                  <a:pt x="34658" y="50191"/>
                </a:quadBezTo>
                <a:quadBezTo>
                  <a:pt x="35538" y="49305"/>
                  <a:pt x="35538" y="47995"/>
                </a:quadBezTo>
                <a:quadBezTo>
                  <a:pt x="35538" y="46685"/>
                  <a:pt x="34652" y="45804"/>
                </a:quadBezTo>
                <a:quadBezTo>
                  <a:pt x="33766" y="44923"/>
                  <a:pt x="32456" y="44923"/>
                </a:quadBezTo>
                <a:quadBezTo>
                  <a:pt x="31146" y="44923"/>
                  <a:pt x="30265" y="45809"/>
                </a:quadBezTo>
                <a:quadBezTo>
                  <a:pt x="29385" y="46695"/>
                  <a:pt x="29385" y="48005"/>
                </a:quadBezTo>
                <a:quadBezTo>
                  <a:pt x="29385" y="49315"/>
                  <a:pt x="30271" y="50196"/>
                </a:quadBezTo>
                <a:quadBezTo>
                  <a:pt x="31157" y="51077"/>
                  <a:pt x="32467" y="51077"/>
                </a:quadBezTo>
                <a:close/>
                <a:moveTo>
                  <a:pt x="32467" y="36000"/>
                </a:moveTo>
                <a:quadBezTo>
                  <a:pt x="33777" y="36000"/>
                  <a:pt x="34658" y="35114"/>
                </a:quadBezTo>
                <a:quadBezTo>
                  <a:pt x="35538" y="34228"/>
                  <a:pt x="35538" y="32918"/>
                </a:quadBezTo>
                <a:quadBezTo>
                  <a:pt x="35538" y="31608"/>
                  <a:pt x="34652" y="30727"/>
                </a:quadBezTo>
                <a:quadBezTo>
                  <a:pt x="33766" y="29846"/>
                  <a:pt x="32456" y="29846"/>
                </a:quadBezTo>
                <a:quadBezTo>
                  <a:pt x="31146" y="29846"/>
                  <a:pt x="30265" y="30732"/>
                </a:quadBezTo>
                <a:quadBezTo>
                  <a:pt x="29385" y="31618"/>
                  <a:pt x="29385" y="32928"/>
                </a:quadBezTo>
                <a:quadBezTo>
                  <a:pt x="29385" y="34238"/>
                  <a:pt x="30271" y="35119"/>
                </a:quadBezTo>
                <a:quadBezTo>
                  <a:pt x="31157" y="36000"/>
                  <a:pt x="32467" y="36000"/>
                </a:quadBezTo>
                <a:close/>
                <a:moveTo>
                  <a:pt x="44769" y="65077"/>
                </a:moveTo>
                <a:lnTo>
                  <a:pt x="66308" y="65077"/>
                </a:lnTo>
                <a:lnTo>
                  <a:pt x="66308" y="61077"/>
                </a:lnTo>
                <a:lnTo>
                  <a:pt x="44769" y="61077"/>
                </a:lnTo>
                <a:lnTo>
                  <a:pt x="44769" y="65077"/>
                </a:lnTo>
                <a:close/>
                <a:moveTo>
                  <a:pt x="44769" y="50000"/>
                </a:moveTo>
                <a:lnTo>
                  <a:pt x="66308" y="50000"/>
                </a:lnTo>
                <a:lnTo>
                  <a:pt x="66308" y="46000"/>
                </a:lnTo>
                <a:lnTo>
                  <a:pt x="44769" y="46000"/>
                </a:lnTo>
                <a:lnTo>
                  <a:pt x="44769" y="50000"/>
                </a:lnTo>
                <a:close/>
                <a:moveTo>
                  <a:pt x="44769" y="34923"/>
                </a:moveTo>
                <a:lnTo>
                  <a:pt x="66308" y="34923"/>
                </a:lnTo>
                <a:lnTo>
                  <a:pt x="66308" y="30923"/>
                </a:lnTo>
                <a:lnTo>
                  <a:pt x="44769" y="30923"/>
                </a:lnTo>
                <a:lnTo>
                  <a:pt x="44769" y="34923"/>
                </a:lnTo>
                <a:close/>
                <a:moveTo>
                  <a:pt x="22462" y="80000"/>
                </a:moveTo>
                <a:quadBezTo>
                  <a:pt x="19700" y="80000"/>
                  <a:pt x="17850" y="78150"/>
                </a:quadBezTo>
                <a:quadBezTo>
                  <a:pt x="16000" y="76300"/>
                  <a:pt x="16000" y="73538"/>
                </a:quadBezTo>
                <a:lnTo>
                  <a:pt x="16000" y="22462"/>
                </a:lnTo>
                <a:quadBezTo>
                  <a:pt x="16000" y="19700"/>
                  <a:pt x="17850" y="17850"/>
                </a:quadBezTo>
                <a:quadBezTo>
                  <a:pt x="19700" y="16000"/>
                  <a:pt x="22462" y="16000"/>
                </a:quadBezTo>
                <a:lnTo>
                  <a:pt x="73538" y="16000"/>
                </a:lnTo>
                <a:quadBezTo>
                  <a:pt x="76300" y="16000"/>
                  <a:pt x="78150" y="17850"/>
                </a:quadBezTo>
                <a:quadBezTo>
                  <a:pt x="80000" y="19700"/>
                  <a:pt x="80000" y="22462"/>
                </a:quadBezTo>
                <a:lnTo>
                  <a:pt x="80000" y="73538"/>
                </a:lnTo>
                <a:quadBezTo>
                  <a:pt x="80000" y="76300"/>
                  <a:pt x="78150" y="78150"/>
                </a:quadBezTo>
                <a:quadBezTo>
                  <a:pt x="76300" y="80000"/>
                  <a:pt x="73538" y="80000"/>
                </a:quadBezTo>
                <a:lnTo>
                  <a:pt x="22462" y="80000"/>
                </a:lnTo>
                <a:close/>
                <a:moveTo>
                  <a:pt x="22462" y="76000"/>
                </a:moveTo>
                <a:lnTo>
                  <a:pt x="73538" y="76000"/>
                </a:lnTo>
                <a:quadBezTo>
                  <a:pt x="74462" y="76000"/>
                  <a:pt x="75231" y="75231"/>
                </a:quadBezTo>
                <a:quadBezTo>
                  <a:pt x="76000" y="74462"/>
                  <a:pt x="76000" y="73538"/>
                </a:quadBezTo>
                <a:lnTo>
                  <a:pt x="76000" y="22462"/>
                </a:lnTo>
                <a:quadBezTo>
                  <a:pt x="76000" y="21538"/>
                  <a:pt x="75231" y="20769"/>
                </a:quadBezTo>
                <a:quadBezTo>
                  <a:pt x="74462" y="20000"/>
                  <a:pt x="73538" y="20000"/>
                </a:quadBezTo>
                <a:lnTo>
                  <a:pt x="22462" y="20000"/>
                </a:lnTo>
                <a:quadBezTo>
                  <a:pt x="21538" y="20000"/>
                  <a:pt x="20769" y="20769"/>
                </a:quadBezTo>
                <a:quadBezTo>
                  <a:pt x="20000" y="21538"/>
                  <a:pt x="20000" y="22462"/>
                </a:quadBezTo>
                <a:lnTo>
                  <a:pt x="20000" y="73538"/>
                </a:lnTo>
                <a:quadBezTo>
                  <a:pt x="20000" y="74462"/>
                  <a:pt x="20769" y="75231"/>
                </a:quadBezTo>
                <a:quadBezTo>
                  <a:pt x="21538" y="76000"/>
                  <a:pt x="22462" y="76000"/>
                </a:quadBezTo>
                <a:close/>
                <a:moveTo>
                  <a:pt x="20000" y="20000"/>
                </a:moveTo>
                <a:lnTo>
                  <a:pt x="20000" y="76000"/>
                </a:lnTo>
                <a:lnTo>
                  <a:pt x="20000" y="2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7" name="TextBox 126"/>
          <p:cNvSpPr txBox="1"/>
          <p:nvPr/>
        </p:nvSpPr>
        <p:spPr>
          <a:xfrm>
            <a:off x="7428444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list alt</a:t>
            </a:r>
          </a:p>
        </p:txBody>
      </p:sp>
      <p:sp>
        <p:nvSpPr>
          <p:cNvPr id="128" name="Icon local_shipping"/>
          <p:cNvSpPr/>
          <p:nvPr/>
        </p:nvSpPr>
        <p:spPr>
          <a:xfrm>
            <a:off x="8620681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2751" y="76462"/>
                </a:moveTo>
                <a:quadBezTo>
                  <a:pt x="18385" y="76462"/>
                  <a:pt x="15346" y="73410"/>
                </a:quadBezTo>
                <a:quadBezTo>
                  <a:pt x="12308" y="70359"/>
                  <a:pt x="12308" y="66000"/>
                </a:quadBezTo>
                <a:lnTo>
                  <a:pt x="6769" y="66000"/>
                </a:lnTo>
                <a:lnTo>
                  <a:pt x="6769" y="26462"/>
                </a:lnTo>
                <a:quadBezTo>
                  <a:pt x="6769" y="23700"/>
                  <a:pt x="8619" y="21850"/>
                </a:quadBezTo>
                <a:quadBezTo>
                  <a:pt x="10469" y="20000"/>
                  <a:pt x="13231" y="20000"/>
                </a:quadBezTo>
                <a:lnTo>
                  <a:pt x="66154" y="20000"/>
                </a:lnTo>
                <a:lnTo>
                  <a:pt x="66154" y="34462"/>
                </a:lnTo>
                <a:lnTo>
                  <a:pt x="75385" y="34462"/>
                </a:lnTo>
                <a:lnTo>
                  <a:pt x="89231" y="53077"/>
                </a:lnTo>
                <a:lnTo>
                  <a:pt x="89231" y="66000"/>
                </a:lnTo>
                <a:lnTo>
                  <a:pt x="82769" y="66000"/>
                </a:lnTo>
                <a:quadBezTo>
                  <a:pt x="82769" y="70359"/>
                  <a:pt x="79713" y="73410"/>
                </a:quadBezTo>
                <a:quadBezTo>
                  <a:pt x="76656" y="76462"/>
                  <a:pt x="72290" y="76462"/>
                </a:quadBezTo>
                <a:quadBezTo>
                  <a:pt x="67923" y="76462"/>
                  <a:pt x="64885" y="73410"/>
                </a:quadBezTo>
                <a:quadBezTo>
                  <a:pt x="61846" y="70359"/>
                  <a:pt x="61846" y="66000"/>
                </a:quadBezTo>
                <a:lnTo>
                  <a:pt x="33231" y="66000"/>
                </a:lnTo>
                <a:quadBezTo>
                  <a:pt x="33231" y="70385"/>
                  <a:pt x="30174" y="73423"/>
                </a:quadBezTo>
                <a:quadBezTo>
                  <a:pt x="27118" y="76462"/>
                  <a:pt x="22751" y="76462"/>
                </a:quadBezTo>
                <a:close/>
                <a:moveTo>
                  <a:pt x="22769" y="72462"/>
                </a:moveTo>
                <a:quadBezTo>
                  <a:pt x="25469" y="72462"/>
                  <a:pt x="27350" y="70581"/>
                </a:quadBezTo>
                <a:quadBezTo>
                  <a:pt x="29231" y="68700"/>
                  <a:pt x="29231" y="66000"/>
                </a:quadBezTo>
                <a:quadBezTo>
                  <a:pt x="29231" y="63300"/>
                  <a:pt x="27350" y="61419"/>
                </a:quadBezTo>
                <a:quadBezTo>
                  <a:pt x="25469" y="59538"/>
                  <a:pt x="22769" y="59538"/>
                </a:quadBezTo>
                <a:quadBezTo>
                  <a:pt x="20069" y="59538"/>
                  <a:pt x="18188" y="61419"/>
                </a:quadBezTo>
                <a:quadBezTo>
                  <a:pt x="16308" y="63300"/>
                  <a:pt x="16308" y="66000"/>
                </a:quadBezTo>
                <a:quadBezTo>
                  <a:pt x="16308" y="68700"/>
                  <a:pt x="18188" y="70581"/>
                </a:quadBezTo>
                <a:quadBezTo>
                  <a:pt x="20069" y="72462"/>
                  <a:pt x="22769" y="72462"/>
                </a:quadBezTo>
                <a:close/>
                <a:moveTo>
                  <a:pt x="10769" y="62000"/>
                </a:moveTo>
                <a:lnTo>
                  <a:pt x="13354" y="62000"/>
                </a:lnTo>
                <a:quadBezTo>
                  <a:pt x="14208" y="59354"/>
                  <a:pt x="16831" y="57446"/>
                </a:quadBezTo>
                <a:quadBezTo>
                  <a:pt x="19454" y="55538"/>
                  <a:pt x="22769" y="55538"/>
                </a:quadBezTo>
                <a:quadBezTo>
                  <a:pt x="25931" y="55538"/>
                  <a:pt x="28631" y="57408"/>
                </a:quadBezTo>
                <a:quadBezTo>
                  <a:pt x="31331" y="59277"/>
                  <a:pt x="32185" y="62000"/>
                </a:quadBezTo>
                <a:lnTo>
                  <a:pt x="62154" y="62000"/>
                </a:lnTo>
                <a:lnTo>
                  <a:pt x="62154" y="24000"/>
                </a:lnTo>
                <a:lnTo>
                  <a:pt x="13231" y="24000"/>
                </a:lnTo>
                <a:quadBezTo>
                  <a:pt x="12308" y="24000"/>
                  <a:pt x="11538" y="24769"/>
                </a:quadBezTo>
                <a:quadBezTo>
                  <a:pt x="10769" y="25538"/>
                  <a:pt x="10769" y="26462"/>
                </a:quadBezTo>
                <a:lnTo>
                  <a:pt x="10769" y="62000"/>
                </a:lnTo>
                <a:close/>
                <a:moveTo>
                  <a:pt x="72308" y="72462"/>
                </a:moveTo>
                <a:quadBezTo>
                  <a:pt x="75008" y="72462"/>
                  <a:pt x="76888" y="70581"/>
                </a:quadBezTo>
                <a:quadBezTo>
                  <a:pt x="78769" y="68700"/>
                  <a:pt x="78769" y="66000"/>
                </a:quadBezTo>
                <a:quadBezTo>
                  <a:pt x="78769" y="63300"/>
                  <a:pt x="76888" y="61419"/>
                </a:quadBezTo>
                <a:quadBezTo>
                  <a:pt x="75008" y="59538"/>
                  <a:pt x="72308" y="59538"/>
                </a:quadBezTo>
                <a:quadBezTo>
                  <a:pt x="69608" y="59538"/>
                  <a:pt x="67727" y="61419"/>
                </a:quadBezTo>
                <a:quadBezTo>
                  <a:pt x="65846" y="63300"/>
                  <a:pt x="65846" y="66000"/>
                </a:quadBezTo>
                <a:quadBezTo>
                  <a:pt x="65846" y="68700"/>
                  <a:pt x="67727" y="70581"/>
                </a:quadBezTo>
                <a:quadBezTo>
                  <a:pt x="69608" y="72462"/>
                  <a:pt x="72308" y="72462"/>
                </a:quadBezTo>
                <a:close/>
                <a:moveTo>
                  <a:pt x="66154" y="54000"/>
                </a:moveTo>
                <a:lnTo>
                  <a:pt x="85000" y="54000"/>
                </a:lnTo>
                <a:lnTo>
                  <a:pt x="73231" y="38462"/>
                </a:lnTo>
                <a:lnTo>
                  <a:pt x="66154" y="38462"/>
                </a:lnTo>
                <a:lnTo>
                  <a:pt x="66154" y="54000"/>
                </a:lnTo>
                <a:close/>
                <a:moveTo>
                  <a:pt x="36462" y="43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9" name="TextBox 128"/>
          <p:cNvSpPr txBox="1"/>
          <p:nvPr/>
        </p:nvSpPr>
        <p:spPr>
          <a:xfrm>
            <a:off x="8314709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local shipping</a:t>
            </a:r>
          </a:p>
        </p:txBody>
      </p:sp>
      <p:sp>
        <p:nvSpPr>
          <p:cNvPr id="130" name="Icon location_on"/>
          <p:cNvSpPr/>
          <p:nvPr/>
        </p:nvSpPr>
        <p:spPr>
          <a:xfrm>
            <a:off x="9506946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4" y="46923"/>
                </a:moveTo>
                <a:quadBezTo>
                  <a:pt x="50685" y="46923"/>
                  <a:pt x="52573" y="45021"/>
                </a:quadBezTo>
                <a:quadBezTo>
                  <a:pt x="54462" y="43119"/>
                  <a:pt x="54462" y="40448"/>
                </a:quadBezTo>
                <a:quadBezTo>
                  <a:pt x="54462" y="37777"/>
                  <a:pt x="52559" y="35888"/>
                </a:quadBezTo>
                <a:quadBezTo>
                  <a:pt x="50657" y="34000"/>
                  <a:pt x="47986" y="34000"/>
                </a:quadBezTo>
                <a:quadBezTo>
                  <a:pt x="45315" y="34000"/>
                  <a:pt x="43427" y="35902"/>
                </a:quadBezTo>
                <a:quadBezTo>
                  <a:pt x="41538" y="37804"/>
                  <a:pt x="41538" y="40475"/>
                </a:quadBezTo>
                <a:quadBezTo>
                  <a:pt x="41538" y="43146"/>
                  <a:pt x="43441" y="45035"/>
                </a:quadBezTo>
                <a:quadBezTo>
                  <a:pt x="45343" y="46923"/>
                  <a:pt x="48014" y="46923"/>
                </a:quadBezTo>
                <a:close/>
                <a:moveTo>
                  <a:pt x="48000" y="78708"/>
                </a:moveTo>
                <a:quadBezTo>
                  <a:pt x="59277" y="68892"/>
                  <a:pt x="65831" y="58742"/>
                </a:quadBezTo>
                <a:quadBezTo>
                  <a:pt x="72385" y="48592"/>
                  <a:pt x="72385" y="41185"/>
                </a:quadBezTo>
                <a:quadBezTo>
                  <a:pt x="72385" y="30208"/>
                  <a:pt x="65435" y="23065"/>
                </a:quadBezTo>
                <a:quadBezTo>
                  <a:pt x="58485" y="15923"/>
                  <a:pt x="48000" y="15923"/>
                </a:quadBezTo>
                <a:quadBezTo>
                  <a:pt x="37515" y="15923"/>
                  <a:pt x="30565" y="23065"/>
                </a:quadBezTo>
                <a:quadBezTo>
                  <a:pt x="23615" y="30208"/>
                  <a:pt x="23615" y="41185"/>
                </a:quadBezTo>
                <a:quadBezTo>
                  <a:pt x="23615" y="48592"/>
                  <a:pt x="30169" y="58742"/>
                </a:quadBezTo>
                <a:quadBezTo>
                  <a:pt x="36723" y="68892"/>
                  <a:pt x="48000" y="78708"/>
                </a:quadBezTo>
                <a:close/>
                <a:moveTo>
                  <a:pt x="48000" y="84077"/>
                </a:moveTo>
                <a:quadBezTo>
                  <a:pt x="33900" y="71608"/>
                  <a:pt x="26758" y="60819"/>
                </a:quadBezTo>
                <a:quadBezTo>
                  <a:pt x="19615" y="50031"/>
                  <a:pt x="19615" y="41185"/>
                </a:quadBezTo>
                <a:quadBezTo>
                  <a:pt x="19615" y="28492"/>
                  <a:pt x="27881" y="20246"/>
                </a:quadBezTo>
                <a:quadBezTo>
                  <a:pt x="36146" y="12000"/>
                  <a:pt x="48000" y="12000"/>
                </a:quadBezTo>
                <a:quadBezTo>
                  <a:pt x="59854" y="12000"/>
                  <a:pt x="68119" y="20246"/>
                </a:quadBezTo>
                <a:quadBezTo>
                  <a:pt x="76385" y="28492"/>
                  <a:pt x="76385" y="41185"/>
                </a:quadBezTo>
                <a:quadBezTo>
                  <a:pt x="76385" y="50031"/>
                  <a:pt x="69242" y="60819"/>
                </a:quadBezTo>
                <a:quadBezTo>
                  <a:pt x="62100" y="71608"/>
                  <a:pt x="48000" y="84077"/>
                </a:quadBezTo>
                <a:close/>
                <a:moveTo>
                  <a:pt x="48000" y="4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1" name="TextBox 130"/>
          <p:cNvSpPr txBox="1"/>
          <p:nvPr/>
        </p:nvSpPr>
        <p:spPr>
          <a:xfrm>
            <a:off x="9200974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 on</a:t>
            </a:r>
          </a:p>
        </p:txBody>
      </p:sp>
      <p:sp>
        <p:nvSpPr>
          <p:cNvPr id="132" name="Icon lock"/>
          <p:cNvSpPr/>
          <p:nvPr/>
        </p:nvSpPr>
        <p:spPr>
          <a:xfrm>
            <a:off x="10393211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6462" y="84000"/>
                </a:moveTo>
                <a:quadBezTo>
                  <a:pt x="23777" y="84000"/>
                  <a:pt x="21888" y="82112"/>
                </a:quadBezTo>
                <a:quadBezTo>
                  <a:pt x="20000" y="80223"/>
                  <a:pt x="20000" y="77538"/>
                </a:quadBezTo>
                <a:lnTo>
                  <a:pt x="20000" y="42462"/>
                </a:lnTo>
                <a:quadBezTo>
                  <a:pt x="20000" y="39777"/>
                  <a:pt x="21888" y="37888"/>
                </a:quadBezTo>
                <a:quadBezTo>
                  <a:pt x="23777" y="36000"/>
                  <a:pt x="26462" y="36000"/>
                </a:quadBezTo>
                <a:lnTo>
                  <a:pt x="32000" y="36000"/>
                </a:lnTo>
                <a:lnTo>
                  <a:pt x="32000" y="28000"/>
                </a:lnTo>
                <a:quadBezTo>
                  <a:pt x="32000" y="21315"/>
                  <a:pt x="36658" y="16658"/>
                </a:quadBezTo>
                <a:quadBezTo>
                  <a:pt x="41315" y="12000"/>
                  <a:pt x="48000" y="12000"/>
                </a:quadBezTo>
                <a:quadBezTo>
                  <a:pt x="54685" y="12000"/>
                  <a:pt x="59342" y="16658"/>
                </a:quadBezTo>
                <a:quadBezTo>
                  <a:pt x="64000" y="21315"/>
                  <a:pt x="64000" y="28000"/>
                </a:quadBezTo>
                <a:lnTo>
                  <a:pt x="64000" y="36000"/>
                </a:lnTo>
                <a:lnTo>
                  <a:pt x="69538" y="36000"/>
                </a:lnTo>
                <a:quadBezTo>
                  <a:pt x="72223" y="36000"/>
                  <a:pt x="74112" y="37888"/>
                </a:quadBezTo>
                <a:quadBezTo>
                  <a:pt x="76000" y="39777"/>
                  <a:pt x="76000" y="42462"/>
                </a:quadBezTo>
                <a:lnTo>
                  <a:pt x="76000" y="77538"/>
                </a:lnTo>
                <a:quadBezTo>
                  <a:pt x="76000" y="80223"/>
                  <a:pt x="74112" y="82112"/>
                </a:quadBezTo>
                <a:quadBezTo>
                  <a:pt x="72223" y="84000"/>
                  <a:pt x="69538" y="84000"/>
                </a:quadBezTo>
                <a:lnTo>
                  <a:pt x="26462" y="84000"/>
                </a:lnTo>
                <a:close/>
                <a:moveTo>
                  <a:pt x="26462" y="80000"/>
                </a:moveTo>
                <a:lnTo>
                  <a:pt x="69538" y="80000"/>
                </a:lnTo>
                <a:quadBezTo>
                  <a:pt x="70615" y="80000"/>
                  <a:pt x="71308" y="79308"/>
                </a:quadBezTo>
                <a:quadBezTo>
                  <a:pt x="72000" y="78615"/>
                  <a:pt x="72000" y="77538"/>
                </a:quadBezTo>
                <a:lnTo>
                  <a:pt x="72000" y="42462"/>
                </a:lnTo>
                <a:quadBezTo>
                  <a:pt x="72000" y="41385"/>
                  <a:pt x="71308" y="40692"/>
                </a:quadBezTo>
                <a:quadBezTo>
                  <a:pt x="70615" y="40000"/>
                  <a:pt x="69538" y="40000"/>
                </a:quadBezTo>
                <a:lnTo>
                  <a:pt x="26462" y="40000"/>
                </a:lnTo>
                <a:quadBezTo>
                  <a:pt x="25385" y="40000"/>
                  <a:pt x="24692" y="40692"/>
                </a:quadBezTo>
                <a:quadBezTo>
                  <a:pt x="24000" y="41385"/>
                  <a:pt x="24000" y="42462"/>
                </a:quadBezTo>
                <a:lnTo>
                  <a:pt x="24000" y="77538"/>
                </a:lnTo>
                <a:quadBezTo>
                  <a:pt x="24000" y="78615"/>
                  <a:pt x="24692" y="79308"/>
                </a:quadBezTo>
                <a:quadBezTo>
                  <a:pt x="25385" y="80000"/>
                  <a:pt x="26462" y="80000"/>
                </a:quadBezTo>
                <a:close/>
                <a:moveTo>
                  <a:pt x="48000" y="66000"/>
                </a:moveTo>
                <a:quadBezTo>
                  <a:pt x="50531" y="66000"/>
                  <a:pt x="52265" y="64265"/>
                </a:quadBezTo>
                <a:quadBezTo>
                  <a:pt x="54000" y="62531"/>
                  <a:pt x="54000" y="60000"/>
                </a:quadBezTo>
                <a:quadBezTo>
                  <a:pt x="54000" y="57469"/>
                  <a:pt x="52265" y="55735"/>
                </a:quadBezTo>
                <a:quadBezTo>
                  <a:pt x="50531" y="54000"/>
                  <a:pt x="48000" y="54000"/>
                </a:quadBezTo>
                <a:quadBezTo>
                  <a:pt x="45469" y="54000"/>
                  <a:pt x="43735" y="55735"/>
                </a:quadBezTo>
                <a:quadBezTo>
                  <a:pt x="42000" y="57469"/>
                  <a:pt x="42000" y="60000"/>
                </a:quadBezTo>
                <a:quadBezTo>
                  <a:pt x="42000" y="62531"/>
                  <a:pt x="43735" y="64265"/>
                </a:quadBezTo>
                <a:quadBezTo>
                  <a:pt x="45469" y="66000"/>
                  <a:pt x="48000" y="66000"/>
                </a:quadBezTo>
                <a:close/>
                <a:moveTo>
                  <a:pt x="36000" y="36000"/>
                </a:moveTo>
                <a:lnTo>
                  <a:pt x="60000" y="36000"/>
                </a:lnTo>
                <a:lnTo>
                  <a:pt x="60000" y="28000"/>
                </a:lnTo>
                <a:quadBezTo>
                  <a:pt x="60000" y="23000"/>
                  <a:pt x="56500" y="19500"/>
                </a:quadBezTo>
                <a:quadBezTo>
                  <a:pt x="53000" y="16000"/>
                  <a:pt x="48000" y="16000"/>
                </a:quadBezTo>
                <a:quadBezTo>
                  <a:pt x="43000" y="16000"/>
                  <a:pt x="39500" y="19500"/>
                </a:quadBezTo>
                <a:quadBezTo>
                  <a:pt x="36000" y="23000"/>
                  <a:pt x="36000" y="28000"/>
                </a:quadBezTo>
                <a:lnTo>
                  <a:pt x="36000" y="36000"/>
                </a:lnTo>
                <a:close/>
                <a:moveTo>
                  <a:pt x="24000" y="80000"/>
                </a:moveTo>
                <a:lnTo>
                  <a:pt x="24000" y="40000"/>
                </a:lnTo>
                <a:lnTo>
                  <a:pt x="24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3" name="TextBox 132"/>
          <p:cNvSpPr txBox="1"/>
          <p:nvPr/>
        </p:nvSpPr>
        <p:spPr>
          <a:xfrm>
            <a:off x="10087238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lock</a:t>
            </a:r>
          </a:p>
        </p:txBody>
      </p:sp>
      <p:sp>
        <p:nvSpPr>
          <p:cNvPr id="134" name="Icon mail"/>
          <p:cNvSpPr/>
          <p:nvPr/>
        </p:nvSpPr>
        <p:spPr>
          <a:xfrm>
            <a:off x="11279475" y="3328416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76000"/>
                </a:moveTo>
                <a:quadBezTo>
                  <a:pt x="15700" y="76000"/>
                  <a:pt x="13850" y="74150"/>
                </a:quadBezTo>
                <a:quadBezTo>
                  <a:pt x="12000" y="72300"/>
                  <a:pt x="12000" y="69538"/>
                </a:quadBezTo>
                <a:lnTo>
                  <a:pt x="12000" y="26462"/>
                </a:lnTo>
                <a:quadBezTo>
                  <a:pt x="12000" y="23700"/>
                  <a:pt x="13850" y="21850"/>
                </a:quadBezTo>
                <a:quadBezTo>
                  <a:pt x="15700" y="20000"/>
                  <a:pt x="18462" y="20000"/>
                </a:quadBezTo>
                <a:lnTo>
                  <a:pt x="77538" y="20000"/>
                </a:lnTo>
                <a:quadBezTo>
                  <a:pt x="80300" y="20000"/>
                  <a:pt x="82150" y="21850"/>
                </a:quadBezTo>
                <a:quadBezTo>
                  <a:pt x="84000" y="23700"/>
                  <a:pt x="84000" y="26462"/>
                </a:quadBezTo>
                <a:lnTo>
                  <a:pt x="84000" y="69538"/>
                </a:lnTo>
                <a:quadBezTo>
                  <a:pt x="84000" y="72300"/>
                  <a:pt x="82150" y="74150"/>
                </a:quadBezTo>
                <a:quadBezTo>
                  <a:pt x="80300" y="76000"/>
                  <a:pt x="77538" y="76000"/>
                </a:quadBezTo>
                <a:lnTo>
                  <a:pt x="18462" y="76000"/>
                </a:lnTo>
                <a:close/>
                <a:moveTo>
                  <a:pt x="48000" y="48462"/>
                </a:moveTo>
                <a:lnTo>
                  <a:pt x="16000" y="27538"/>
                </a:ln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lnTo>
                  <a:pt x="77538" y="72000"/>
                </a:lnTo>
                <a:quadBezTo>
                  <a:pt x="78615" y="72000"/>
                  <a:pt x="79308" y="71308"/>
                </a:quadBezTo>
                <a:quadBezTo>
                  <a:pt x="80000" y="70615"/>
                  <a:pt x="80000" y="69538"/>
                </a:quadBezTo>
                <a:lnTo>
                  <a:pt x="80000" y="27538"/>
                </a:lnTo>
                <a:lnTo>
                  <a:pt x="48000" y="48462"/>
                </a:lnTo>
                <a:close/>
                <a:moveTo>
                  <a:pt x="48000" y="44000"/>
                </a:moveTo>
                <a:lnTo>
                  <a:pt x="78769" y="24000"/>
                </a:lnTo>
                <a:lnTo>
                  <a:pt x="17231" y="24000"/>
                </a:lnTo>
                <a:lnTo>
                  <a:pt x="48000" y="44000"/>
                </a:lnTo>
                <a:close/>
                <a:moveTo>
                  <a:pt x="16000" y="27538"/>
                </a:moveTo>
                <a:lnTo>
                  <a:pt x="16000" y="24000"/>
                </a:lnTo>
                <a:lnTo>
                  <a:pt x="16000" y="69538"/>
                </a:lnTo>
                <a:quadBezTo>
                  <a:pt x="16000" y="70615"/>
                  <a:pt x="16692" y="71308"/>
                </a:quadBezTo>
                <a:quadBezTo>
                  <a:pt x="17385" y="72000"/>
                  <a:pt x="18462" y="72000"/>
                </a:quadBezTo>
                <a:lnTo>
                  <a:pt x="16000" y="72000"/>
                </a:lnTo>
                <a:lnTo>
                  <a:pt x="16000" y="27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5" name="TextBox 134"/>
          <p:cNvSpPr txBox="1"/>
          <p:nvPr/>
        </p:nvSpPr>
        <p:spPr>
          <a:xfrm>
            <a:off x="10973503" y="3611880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mail</a:t>
            </a:r>
          </a:p>
        </p:txBody>
      </p:sp>
      <p:sp>
        <p:nvSpPr>
          <p:cNvPr id="136" name="Icon map"/>
          <p:cNvSpPr/>
          <p:nvPr/>
        </p:nvSpPr>
        <p:spPr>
          <a:xfrm>
            <a:off x="644300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0000" y="79692"/>
                </a:moveTo>
                <a:lnTo>
                  <a:pt x="36000" y="71292"/>
                </a:lnTo>
                <a:lnTo>
                  <a:pt x="20169" y="77415"/>
                </a:lnTo>
                <a:quadBezTo>
                  <a:pt x="18631" y="77985"/>
                  <a:pt x="17315" y="77081"/>
                </a:quadBezTo>
                <a:quadBezTo>
                  <a:pt x="16000" y="76177"/>
                  <a:pt x="16000" y="74538"/>
                </a:quadBezTo>
                <a:lnTo>
                  <a:pt x="16000" y="25615"/>
                </a:lnTo>
                <a:quadBezTo>
                  <a:pt x="16000" y="24546"/>
                  <a:pt x="16519" y="23662"/>
                </a:quadBezTo>
                <a:quadBezTo>
                  <a:pt x="17038" y="22777"/>
                  <a:pt x="18031" y="22431"/>
                </a:quadBezTo>
                <a:lnTo>
                  <a:pt x="36000" y="16308"/>
                </a:lnTo>
                <a:lnTo>
                  <a:pt x="60000" y="24708"/>
                </a:lnTo>
                <a:lnTo>
                  <a:pt x="75831" y="18585"/>
                </a:lnTo>
                <a:quadBezTo>
                  <a:pt x="77369" y="18015"/>
                  <a:pt x="78685" y="18804"/>
                </a:quadBezTo>
                <a:quadBezTo>
                  <a:pt x="80000" y="19592"/>
                  <a:pt x="80000" y="21154"/>
                </a:quadBezTo>
                <a:lnTo>
                  <a:pt x="80000" y="70692"/>
                </a:lnTo>
                <a:quadBezTo>
                  <a:pt x="80000" y="71838"/>
                  <a:pt x="79365" y="72685"/>
                </a:quadBezTo>
                <a:quadBezTo>
                  <a:pt x="78731" y="73531"/>
                  <a:pt x="77662" y="73877"/>
                </a:quadBezTo>
                <a:lnTo>
                  <a:pt x="60000" y="79692"/>
                </a:lnTo>
                <a:close/>
                <a:moveTo>
                  <a:pt x="58000" y="74815"/>
                </a:moveTo>
                <a:lnTo>
                  <a:pt x="58000" y="28015"/>
                </a:lnTo>
                <a:lnTo>
                  <a:pt x="38000" y="21031"/>
                </a:lnTo>
                <a:lnTo>
                  <a:pt x="38000" y="67831"/>
                </a:lnTo>
                <a:lnTo>
                  <a:pt x="58000" y="74815"/>
                </a:lnTo>
                <a:close/>
                <a:moveTo>
                  <a:pt x="62000" y="74815"/>
                </a:moveTo>
                <a:lnTo>
                  <a:pt x="76000" y="70200"/>
                </a:lnTo>
                <a:lnTo>
                  <a:pt x="76000" y="22800"/>
                </a:lnTo>
                <a:lnTo>
                  <a:pt x="62000" y="28015"/>
                </a:lnTo>
                <a:lnTo>
                  <a:pt x="62000" y="74815"/>
                </a:lnTo>
                <a:close/>
                <a:moveTo>
                  <a:pt x="20000" y="73200"/>
                </a:moveTo>
                <a:lnTo>
                  <a:pt x="34000" y="67831"/>
                </a:lnTo>
                <a:lnTo>
                  <a:pt x="34000" y="21031"/>
                </a:lnTo>
                <a:lnTo>
                  <a:pt x="20000" y="25800"/>
                </a:lnTo>
                <a:lnTo>
                  <a:pt x="20000" y="73200"/>
                </a:lnTo>
                <a:close/>
                <a:moveTo>
                  <a:pt x="62000" y="28015"/>
                </a:moveTo>
                <a:lnTo>
                  <a:pt x="62000" y="74815"/>
                </a:lnTo>
                <a:lnTo>
                  <a:pt x="62000" y="28015"/>
                </a:lnTo>
                <a:close/>
                <a:moveTo>
                  <a:pt x="34000" y="21031"/>
                </a:moveTo>
                <a:lnTo>
                  <a:pt x="34000" y="67831"/>
                </a:lnTo>
                <a:lnTo>
                  <a:pt x="34000" y="210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7" name="TextBox 136"/>
          <p:cNvSpPr txBox="1"/>
          <p:nvPr/>
        </p:nvSpPr>
        <p:spPr>
          <a:xfrm>
            <a:off x="338328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map</a:t>
            </a:r>
          </a:p>
        </p:txBody>
      </p:sp>
      <p:sp>
        <p:nvSpPr>
          <p:cNvPr id="138" name="Icon medication"/>
          <p:cNvSpPr/>
          <p:nvPr/>
        </p:nvSpPr>
        <p:spPr>
          <a:xfrm>
            <a:off x="1530564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5538" y="66000"/>
                </a:moveTo>
                <a:lnTo>
                  <a:pt x="50462" y="66000"/>
                </a:lnTo>
                <a:lnTo>
                  <a:pt x="50462" y="56000"/>
                </a:lnTo>
                <a:lnTo>
                  <a:pt x="60462" y="56000"/>
                </a:lnTo>
                <a:lnTo>
                  <a:pt x="60462" y="51077"/>
                </a:lnTo>
                <a:lnTo>
                  <a:pt x="50462" y="51077"/>
                </a:lnTo>
                <a:lnTo>
                  <a:pt x="50462" y="41077"/>
                </a:lnTo>
                <a:lnTo>
                  <a:pt x="45538" y="41077"/>
                </a:lnTo>
                <a:lnTo>
                  <a:pt x="45538" y="51077"/>
                </a:lnTo>
                <a:lnTo>
                  <a:pt x="35538" y="51077"/>
                </a:lnTo>
                <a:lnTo>
                  <a:pt x="35538" y="56000"/>
                </a:lnTo>
                <a:lnTo>
                  <a:pt x="45538" y="56000"/>
                </a:lnTo>
                <a:lnTo>
                  <a:pt x="45538" y="66000"/>
                </a:lnTo>
                <a:close/>
                <a:moveTo>
                  <a:pt x="30462" y="79538"/>
                </a:moveTo>
                <a:quadBezTo>
                  <a:pt x="27796" y="79538"/>
                  <a:pt x="25898" y="77640"/>
                </a:quadBezTo>
                <a:quadBezTo>
                  <a:pt x="24000" y="75742"/>
                  <a:pt x="24000" y="73077"/>
                </a:quadBezTo>
                <a:lnTo>
                  <a:pt x="24000" y="34000"/>
                </a:lnTo>
                <a:quadBezTo>
                  <a:pt x="24000" y="31335"/>
                  <a:pt x="25898" y="29437"/>
                </a:quadBezTo>
                <a:quadBezTo>
                  <a:pt x="27796" y="27538"/>
                  <a:pt x="30462" y="27538"/>
                </a:quadBezTo>
                <a:lnTo>
                  <a:pt x="65538" y="27538"/>
                </a:lnTo>
                <a:quadBezTo>
                  <a:pt x="68204" y="27538"/>
                  <a:pt x="70102" y="29437"/>
                </a:quadBezTo>
                <a:quadBezTo>
                  <a:pt x="72000" y="31335"/>
                  <a:pt x="72000" y="34000"/>
                </a:quadBezTo>
                <a:lnTo>
                  <a:pt x="72000" y="73077"/>
                </a:lnTo>
                <a:quadBezTo>
                  <a:pt x="72000" y="75742"/>
                  <a:pt x="70102" y="77640"/>
                </a:quadBezTo>
                <a:quadBezTo>
                  <a:pt x="68204" y="79538"/>
                  <a:pt x="65538" y="79538"/>
                </a:quadBezTo>
                <a:lnTo>
                  <a:pt x="30462" y="79538"/>
                </a:lnTo>
                <a:close/>
                <a:moveTo>
                  <a:pt x="30462" y="75538"/>
                </a:moveTo>
                <a:lnTo>
                  <a:pt x="65538" y="75538"/>
                </a:lnTo>
                <a:quadBezTo>
                  <a:pt x="66462" y="75538"/>
                  <a:pt x="67231" y="74769"/>
                </a:quadBezTo>
                <a:quadBezTo>
                  <a:pt x="68000" y="74000"/>
                  <a:pt x="68000" y="73077"/>
                </a:quadBezTo>
                <a:lnTo>
                  <a:pt x="68000" y="34000"/>
                </a:lnTo>
                <a:quadBezTo>
                  <a:pt x="68000" y="33077"/>
                  <a:pt x="67231" y="32308"/>
                </a:quadBezTo>
                <a:quadBezTo>
                  <a:pt x="66462" y="31538"/>
                  <a:pt x="65538" y="31538"/>
                </a:quadBezTo>
                <a:lnTo>
                  <a:pt x="30462" y="31538"/>
                </a:lnTo>
                <a:quadBezTo>
                  <a:pt x="29538" y="31538"/>
                  <a:pt x="28769" y="32308"/>
                </a:quadBezTo>
                <a:quadBezTo>
                  <a:pt x="28000" y="33077"/>
                  <a:pt x="28000" y="34000"/>
                </a:quadBezTo>
                <a:lnTo>
                  <a:pt x="28000" y="73077"/>
                </a:lnTo>
                <a:quadBezTo>
                  <a:pt x="28000" y="74000"/>
                  <a:pt x="28769" y="74769"/>
                </a:quadBezTo>
                <a:quadBezTo>
                  <a:pt x="29538" y="75538"/>
                  <a:pt x="30462" y="75538"/>
                </a:quadBezTo>
                <a:close/>
                <a:moveTo>
                  <a:pt x="25846" y="20462"/>
                </a:moveTo>
                <a:lnTo>
                  <a:pt x="25846" y="16462"/>
                </a:lnTo>
                <a:lnTo>
                  <a:pt x="70154" y="16462"/>
                </a:lnTo>
                <a:lnTo>
                  <a:pt x="70154" y="20462"/>
                </a:lnTo>
                <a:lnTo>
                  <a:pt x="25846" y="20462"/>
                </a:lnTo>
                <a:close/>
                <a:moveTo>
                  <a:pt x="28000" y="31538"/>
                </a:moveTo>
                <a:lnTo>
                  <a:pt x="28000" y="75538"/>
                </a:lnTo>
                <a:lnTo>
                  <a:pt x="28000" y="315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9" name="TextBox 138"/>
          <p:cNvSpPr txBox="1"/>
          <p:nvPr/>
        </p:nvSpPr>
        <p:spPr>
          <a:xfrm>
            <a:off x="1224592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medication</a:t>
            </a:r>
          </a:p>
        </p:txBody>
      </p:sp>
      <p:sp>
        <p:nvSpPr>
          <p:cNvPr id="140" name="Icon memory"/>
          <p:cNvSpPr/>
          <p:nvPr/>
        </p:nvSpPr>
        <p:spPr>
          <a:xfrm>
            <a:off x="2416829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000" y="56000"/>
                </a:moveTo>
                <a:lnTo>
                  <a:pt x="40000" y="40000"/>
                </a:lnTo>
                <a:lnTo>
                  <a:pt x="56000" y="40000"/>
                </a:lnTo>
                <a:lnTo>
                  <a:pt x="56000" y="56000"/>
                </a:lnTo>
                <a:lnTo>
                  <a:pt x="40000" y="56000"/>
                </a:lnTo>
                <a:close/>
                <a:moveTo>
                  <a:pt x="44000" y="52000"/>
                </a:moveTo>
                <a:lnTo>
                  <a:pt x="52000" y="52000"/>
                </a:lnTo>
                <a:lnTo>
                  <a:pt x="52000" y="44000"/>
                </a:lnTo>
                <a:lnTo>
                  <a:pt x="44000" y="44000"/>
                </a:lnTo>
                <a:lnTo>
                  <a:pt x="44000" y="52000"/>
                </a:lnTo>
                <a:close/>
                <a:moveTo>
                  <a:pt x="38000" y="78154"/>
                </a:moveTo>
                <a:lnTo>
                  <a:pt x="38000" y="72000"/>
                </a:lnTo>
                <a:lnTo>
                  <a:pt x="30462" y="72000"/>
                </a:lnTo>
                <a:quadBezTo>
                  <a:pt x="27700" y="72000"/>
                  <a:pt x="25850" y="70150"/>
                </a:quadBezTo>
                <a:quadBezTo>
                  <a:pt x="24000" y="68300"/>
                  <a:pt x="24000" y="65538"/>
                </a:quadBezTo>
                <a:lnTo>
                  <a:pt x="24000" y="58000"/>
                </a:lnTo>
                <a:lnTo>
                  <a:pt x="17846" y="58000"/>
                </a:lnTo>
                <a:lnTo>
                  <a:pt x="17846" y="54000"/>
                </a:lnTo>
                <a:lnTo>
                  <a:pt x="24000" y="54000"/>
                </a:lnTo>
                <a:lnTo>
                  <a:pt x="24000" y="42000"/>
                </a:lnTo>
                <a:lnTo>
                  <a:pt x="17846" y="42000"/>
                </a:lnTo>
                <a:lnTo>
                  <a:pt x="17846" y="38000"/>
                </a:lnTo>
                <a:lnTo>
                  <a:pt x="24000" y="38000"/>
                </a:lnTo>
                <a:lnTo>
                  <a:pt x="24000" y="30462"/>
                </a:lnTo>
                <a:quadBezTo>
                  <a:pt x="24000" y="27700"/>
                  <a:pt x="25850" y="25850"/>
                </a:quadBezTo>
                <a:quadBezTo>
                  <a:pt x="27700" y="24000"/>
                  <a:pt x="30462" y="24000"/>
                </a:quadBezTo>
                <a:lnTo>
                  <a:pt x="38000" y="24000"/>
                </a:lnTo>
                <a:lnTo>
                  <a:pt x="38000" y="17846"/>
                </a:lnTo>
                <a:lnTo>
                  <a:pt x="42000" y="17846"/>
                </a:lnTo>
                <a:lnTo>
                  <a:pt x="42000" y="24000"/>
                </a:lnTo>
                <a:lnTo>
                  <a:pt x="54000" y="24000"/>
                </a:lnTo>
                <a:lnTo>
                  <a:pt x="54000" y="17846"/>
                </a:lnTo>
                <a:lnTo>
                  <a:pt x="58000" y="17846"/>
                </a:lnTo>
                <a:lnTo>
                  <a:pt x="58000" y="24000"/>
                </a:lnTo>
                <a:lnTo>
                  <a:pt x="65538" y="24000"/>
                </a:lnTo>
                <a:quadBezTo>
                  <a:pt x="68300" y="24000"/>
                  <a:pt x="70150" y="25850"/>
                </a:quadBezTo>
                <a:quadBezTo>
                  <a:pt x="72000" y="27700"/>
                  <a:pt x="72000" y="30462"/>
                </a:quadBezTo>
                <a:lnTo>
                  <a:pt x="72000" y="38000"/>
                </a:lnTo>
                <a:lnTo>
                  <a:pt x="78154" y="38000"/>
                </a:lnTo>
                <a:lnTo>
                  <a:pt x="78154" y="42000"/>
                </a:lnTo>
                <a:lnTo>
                  <a:pt x="72000" y="42000"/>
                </a:lnTo>
                <a:lnTo>
                  <a:pt x="72000" y="54000"/>
                </a:lnTo>
                <a:lnTo>
                  <a:pt x="78154" y="54000"/>
                </a:lnTo>
                <a:lnTo>
                  <a:pt x="78154" y="58000"/>
                </a:lnTo>
                <a:lnTo>
                  <a:pt x="72000" y="58000"/>
                </a:lnTo>
                <a:lnTo>
                  <a:pt x="72000" y="65538"/>
                </a:lnTo>
                <a:quadBezTo>
                  <a:pt x="72000" y="68300"/>
                  <a:pt x="70150" y="70150"/>
                </a:quadBezTo>
                <a:quadBezTo>
                  <a:pt x="68300" y="72000"/>
                  <a:pt x="65538" y="72000"/>
                </a:quadBezTo>
                <a:lnTo>
                  <a:pt x="58000" y="72000"/>
                </a:lnTo>
                <a:lnTo>
                  <a:pt x="58000" y="78154"/>
                </a:lnTo>
                <a:lnTo>
                  <a:pt x="54000" y="78154"/>
                </a:lnTo>
                <a:lnTo>
                  <a:pt x="54000" y="72000"/>
                </a:lnTo>
                <a:lnTo>
                  <a:pt x="42000" y="72000"/>
                </a:lnTo>
                <a:lnTo>
                  <a:pt x="42000" y="78154"/>
                </a:lnTo>
                <a:lnTo>
                  <a:pt x="38000" y="78154"/>
                </a:lnTo>
                <a:close/>
                <a:moveTo>
                  <a:pt x="65538" y="68000"/>
                </a:moveTo>
                <a:quadBezTo>
                  <a:pt x="66462" y="68000"/>
                  <a:pt x="67231" y="67231"/>
                </a:quadBezTo>
                <a:quadBezTo>
                  <a:pt x="68000" y="66462"/>
                  <a:pt x="68000" y="65538"/>
                </a:quadBezTo>
                <a:lnTo>
                  <a:pt x="68000" y="30462"/>
                </a:lnTo>
                <a:quadBezTo>
                  <a:pt x="68000" y="29538"/>
                  <a:pt x="67231" y="28769"/>
                </a:quadBezTo>
                <a:quadBezTo>
                  <a:pt x="66462" y="28000"/>
                  <a:pt x="65538" y="28000"/>
                </a:quadBezTo>
                <a:lnTo>
                  <a:pt x="30462" y="28000"/>
                </a:lnTo>
                <a:quadBezTo>
                  <a:pt x="29538" y="28000"/>
                  <a:pt x="28769" y="28769"/>
                </a:quadBezTo>
                <a:quadBezTo>
                  <a:pt x="28000" y="29538"/>
                  <a:pt x="28000" y="30462"/>
                </a:quadBezTo>
                <a:lnTo>
                  <a:pt x="28000" y="65538"/>
                </a:lnTo>
                <a:quadBezTo>
                  <a:pt x="28000" y="66462"/>
                  <a:pt x="28769" y="67231"/>
                </a:quadBezTo>
                <a:quadBezTo>
                  <a:pt x="29538" y="68000"/>
                  <a:pt x="30462" y="68000"/>
                </a:quadBezTo>
                <a:lnTo>
                  <a:pt x="65538" y="68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1" name="TextBox 140"/>
          <p:cNvSpPr txBox="1"/>
          <p:nvPr/>
        </p:nvSpPr>
        <p:spPr>
          <a:xfrm>
            <a:off x="2110857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memory</a:t>
            </a:r>
          </a:p>
        </p:txBody>
      </p:sp>
      <p:sp>
        <p:nvSpPr>
          <p:cNvPr id="142" name="Icon menu_book"/>
          <p:cNvSpPr/>
          <p:nvPr/>
        </p:nvSpPr>
        <p:spPr>
          <a:xfrm>
            <a:off x="3303094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5538" y="38369"/>
                </a:moveTo>
                <a:lnTo>
                  <a:pt x="55538" y="34646"/>
                </a:lnTo>
                <a:quadBezTo>
                  <a:pt x="58762" y="33015"/>
                  <a:pt x="62442" y="32200"/>
                </a:quadBezTo>
                <a:quadBezTo>
                  <a:pt x="66123" y="31385"/>
                  <a:pt x="70000" y="31385"/>
                </a:quadBezTo>
                <a:quadBezTo>
                  <a:pt x="72215" y="31385"/>
                  <a:pt x="74254" y="31669"/>
                </a:quadBezTo>
                <a:quadBezTo>
                  <a:pt x="76292" y="31954"/>
                  <a:pt x="78462" y="32477"/>
                </a:quadBezTo>
                <a:lnTo>
                  <a:pt x="78462" y="36108"/>
                </a:lnTo>
                <a:quadBezTo>
                  <a:pt x="76369" y="35438"/>
                  <a:pt x="74381" y="35181"/>
                </a:quadBezTo>
                <a:quadBezTo>
                  <a:pt x="72392" y="34923"/>
                  <a:pt x="70000" y="34923"/>
                </a:quadBezTo>
                <a:quadBezTo>
                  <a:pt x="66123" y="34923"/>
                  <a:pt x="62431" y="35796"/>
                </a:quadBezTo>
                <a:quadBezTo>
                  <a:pt x="58738" y="36669"/>
                  <a:pt x="55538" y="38369"/>
                </a:quadBezTo>
                <a:close/>
                <a:moveTo>
                  <a:pt x="55538" y="60215"/>
                </a:moveTo>
                <a:lnTo>
                  <a:pt x="55538" y="56338"/>
                </a:lnTo>
                <a:quadBezTo>
                  <a:pt x="58608" y="54708"/>
                  <a:pt x="62404" y="53892"/>
                </a:quadBezTo>
                <a:quadBezTo>
                  <a:pt x="66200" y="53077"/>
                  <a:pt x="70000" y="53077"/>
                </a:quadBezTo>
                <a:quadBezTo>
                  <a:pt x="72215" y="53077"/>
                  <a:pt x="74254" y="53362"/>
                </a:quadBezTo>
                <a:quadBezTo>
                  <a:pt x="76292" y="53646"/>
                  <a:pt x="78462" y="54169"/>
                </a:quadBezTo>
                <a:lnTo>
                  <a:pt x="78462" y="57800"/>
                </a:lnTo>
                <a:quadBezTo>
                  <a:pt x="76369" y="57131"/>
                  <a:pt x="74381" y="56873"/>
                </a:quadBezTo>
                <a:quadBezTo>
                  <a:pt x="72392" y="56615"/>
                  <a:pt x="70000" y="56615"/>
                </a:quadBezTo>
                <a:quadBezTo>
                  <a:pt x="66123" y="56615"/>
                  <a:pt x="62431" y="57554"/>
                </a:quadBezTo>
                <a:quadBezTo>
                  <a:pt x="58738" y="58492"/>
                  <a:pt x="55538" y="60215"/>
                </a:quadBezTo>
                <a:close/>
                <a:moveTo>
                  <a:pt x="55538" y="49369"/>
                </a:moveTo>
                <a:lnTo>
                  <a:pt x="55538" y="45492"/>
                </a:lnTo>
                <a:quadBezTo>
                  <a:pt x="58762" y="43862"/>
                  <a:pt x="62442" y="43046"/>
                </a:quadBezTo>
                <a:quadBezTo>
                  <a:pt x="66123" y="42231"/>
                  <a:pt x="70000" y="42231"/>
                </a:quadBezTo>
                <a:quadBezTo>
                  <a:pt x="72215" y="42231"/>
                  <a:pt x="74254" y="42515"/>
                </a:quadBezTo>
                <a:quadBezTo>
                  <a:pt x="76292" y="42800"/>
                  <a:pt x="78462" y="43323"/>
                </a:quadBezTo>
                <a:lnTo>
                  <a:pt x="78462" y="46954"/>
                </a:lnTo>
                <a:quadBezTo>
                  <a:pt x="76369" y="46285"/>
                  <a:pt x="74381" y="46027"/>
                </a:quadBezTo>
                <a:quadBezTo>
                  <a:pt x="72392" y="45769"/>
                  <a:pt x="70000" y="45769"/>
                </a:quadBezTo>
                <a:quadBezTo>
                  <a:pt x="66123" y="45769"/>
                  <a:pt x="62431" y="46719"/>
                </a:quadBezTo>
                <a:quadBezTo>
                  <a:pt x="58738" y="47669"/>
                  <a:pt x="55538" y="49369"/>
                </a:quadBezTo>
                <a:close/>
                <a:moveTo>
                  <a:pt x="26000" y="64154"/>
                </a:moveTo>
                <a:quadBezTo>
                  <a:pt x="31238" y="64154"/>
                  <a:pt x="36188" y="65358"/>
                </a:quadBezTo>
                <a:quadBezTo>
                  <a:pt x="41138" y="66562"/>
                  <a:pt x="46000" y="69277"/>
                </a:quadBezTo>
                <a:lnTo>
                  <a:pt x="46000" y="30031"/>
                </a:lnTo>
                <a:quadBezTo>
                  <a:pt x="41669" y="26938"/>
                  <a:pt x="36454" y="25392"/>
                </a:quadBezTo>
                <a:quadBezTo>
                  <a:pt x="31238" y="23846"/>
                  <a:pt x="26000" y="23846"/>
                </a:quadBezTo>
                <a:quadBezTo>
                  <a:pt x="22400" y="23846"/>
                  <a:pt x="19696" y="24277"/>
                </a:quadBezTo>
                <a:quadBezTo>
                  <a:pt x="16992" y="24708"/>
                  <a:pt x="13692" y="25877"/>
                </a:quadBezTo>
                <a:quadBezTo>
                  <a:pt x="12769" y="26185"/>
                  <a:pt x="12385" y="26762"/>
                </a:quadBezTo>
                <a:quadBezTo>
                  <a:pt x="12000" y="27338"/>
                  <a:pt x="12000" y="28031"/>
                </a:quadBezTo>
                <a:lnTo>
                  <a:pt x="12000" y="64092"/>
                </a:lnTo>
                <a:quadBezTo>
                  <a:pt x="12000" y="65169"/>
                  <a:pt x="12769" y="65669"/>
                </a:quadBezTo>
                <a:quadBezTo>
                  <a:pt x="13538" y="66169"/>
                  <a:pt x="14462" y="65785"/>
                </a:quadBezTo>
                <a:quadBezTo>
                  <a:pt x="16654" y="65046"/>
                  <a:pt x="19527" y="64600"/>
                </a:quadBezTo>
                <a:quadBezTo>
                  <a:pt x="22400" y="64154"/>
                  <a:pt x="26000" y="64154"/>
                </a:quadBezTo>
                <a:close/>
                <a:moveTo>
                  <a:pt x="50000" y="69277"/>
                </a:moveTo>
                <a:quadBezTo>
                  <a:pt x="54862" y="66562"/>
                  <a:pt x="59812" y="65358"/>
                </a:quadBezTo>
                <a:quadBezTo>
                  <a:pt x="64762" y="64154"/>
                  <a:pt x="70000" y="64154"/>
                </a:quadBezTo>
                <a:quadBezTo>
                  <a:pt x="73600" y="64154"/>
                  <a:pt x="76473" y="64600"/>
                </a:quadBezTo>
                <a:quadBezTo>
                  <a:pt x="79346" y="65046"/>
                  <a:pt x="81538" y="65785"/>
                </a:quadBezTo>
                <a:quadBezTo>
                  <a:pt x="82462" y="66169"/>
                  <a:pt x="83231" y="65669"/>
                </a:quadBezTo>
                <a:quadBezTo>
                  <a:pt x="84000" y="65169"/>
                  <a:pt x="84000" y="64092"/>
                </a:quadBezTo>
                <a:lnTo>
                  <a:pt x="84000" y="28031"/>
                </a:lnTo>
                <a:quadBezTo>
                  <a:pt x="84000" y="27338"/>
                  <a:pt x="83615" y="26800"/>
                </a:quadBezTo>
                <a:quadBezTo>
                  <a:pt x="83231" y="26262"/>
                  <a:pt x="82308" y="25877"/>
                </a:quadBezTo>
                <a:quadBezTo>
                  <a:pt x="79008" y="24708"/>
                  <a:pt x="76304" y="24277"/>
                </a:quadBezTo>
                <a:quadBezTo>
                  <a:pt x="73600" y="23846"/>
                  <a:pt x="70000" y="23846"/>
                </a:quadBezTo>
                <a:quadBezTo>
                  <a:pt x="64762" y="23846"/>
                  <a:pt x="59546" y="25392"/>
                </a:quadBezTo>
                <a:quadBezTo>
                  <a:pt x="54331" y="26938"/>
                  <a:pt x="50000" y="30031"/>
                </a:quadBezTo>
                <a:lnTo>
                  <a:pt x="50000" y="69277"/>
                </a:lnTo>
                <a:close/>
                <a:moveTo>
                  <a:pt x="48000" y="75077"/>
                </a:moveTo>
                <a:quadBezTo>
                  <a:pt x="43123" y="71738"/>
                  <a:pt x="37523" y="69946"/>
                </a:quadBezTo>
                <a:quadBezTo>
                  <a:pt x="31923" y="68154"/>
                  <a:pt x="26000" y="68154"/>
                </a:quadBezTo>
                <a:quadBezTo>
                  <a:pt x="22877" y="68154"/>
                  <a:pt x="19865" y="68677"/>
                </a:quadBezTo>
                <a:quadBezTo>
                  <a:pt x="16854" y="69200"/>
                  <a:pt x="14000" y="70354"/>
                </a:quadBezTo>
                <a:quadBezTo>
                  <a:pt x="11823" y="71223"/>
                  <a:pt x="9912" y="69831"/>
                </a:quadBezTo>
                <a:quadBezTo>
                  <a:pt x="8000" y="68439"/>
                  <a:pt x="8000" y="65985"/>
                </a:quadBezTo>
                <a:lnTo>
                  <a:pt x="8000" y="27323"/>
                </a:lnTo>
                <a:quadBezTo>
                  <a:pt x="8000" y="25838"/>
                  <a:pt x="8781" y="24569"/>
                </a:quadBezTo>
                <a:quadBezTo>
                  <a:pt x="9562" y="23300"/>
                  <a:pt x="10969" y="22800"/>
                </a:quadBezTo>
                <a:quadBezTo>
                  <a:pt x="14492" y="21246"/>
                  <a:pt x="18300" y="20546"/>
                </a:quadBezTo>
                <a:quadBezTo>
                  <a:pt x="22108" y="19846"/>
                  <a:pt x="26000" y="19846"/>
                </a:quadBezTo>
                <a:quadBezTo>
                  <a:pt x="31877" y="19846"/>
                  <a:pt x="37465" y="21538"/>
                </a:quadBezTo>
                <a:quadBezTo>
                  <a:pt x="43054" y="23231"/>
                  <a:pt x="48000" y="26462"/>
                </a:quadBezTo>
                <a:quadBezTo>
                  <a:pt x="52946" y="23231"/>
                  <a:pt x="58535" y="21538"/>
                </a:quadBezTo>
                <a:quadBezTo>
                  <a:pt x="64123" y="19846"/>
                  <a:pt x="70000" y="19846"/>
                </a:quadBezTo>
                <a:quadBezTo>
                  <a:pt x="73892" y="19846"/>
                  <a:pt x="77700" y="20546"/>
                </a:quadBezTo>
                <a:quadBezTo>
                  <a:pt x="81508" y="21246"/>
                  <a:pt x="85031" y="22800"/>
                </a:quadBezTo>
                <a:quadBezTo>
                  <a:pt x="86438" y="23300"/>
                  <a:pt x="87219" y="24569"/>
                </a:quadBezTo>
                <a:quadBezTo>
                  <a:pt x="88000" y="25838"/>
                  <a:pt x="88000" y="27323"/>
                </a:quadBezTo>
                <a:lnTo>
                  <a:pt x="88000" y="65985"/>
                </a:lnTo>
                <a:quadBezTo>
                  <a:pt x="88000" y="68439"/>
                  <a:pt x="85935" y="69754"/>
                </a:quadBezTo>
                <a:quadBezTo>
                  <a:pt x="83869" y="71069"/>
                  <a:pt x="81538" y="70200"/>
                </a:quadBezTo>
                <a:quadBezTo>
                  <a:pt x="78762" y="69123"/>
                  <a:pt x="75865" y="68638"/>
                </a:quadBezTo>
                <a:quadBezTo>
                  <a:pt x="72969" y="68154"/>
                  <a:pt x="70000" y="68154"/>
                </a:quadBezTo>
                <a:quadBezTo>
                  <a:pt x="64077" y="68154"/>
                  <a:pt x="58477" y="69946"/>
                </a:quadBezTo>
                <a:quadBezTo>
                  <a:pt x="52877" y="71738"/>
                  <a:pt x="48000" y="75077"/>
                </a:quadBezTo>
                <a:close/>
                <a:moveTo>
                  <a:pt x="29000" y="460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3" name="TextBox 142"/>
          <p:cNvSpPr txBox="1"/>
          <p:nvPr/>
        </p:nvSpPr>
        <p:spPr>
          <a:xfrm>
            <a:off x="2997121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menu book</a:t>
            </a:r>
          </a:p>
        </p:txBody>
      </p:sp>
      <p:sp>
        <p:nvSpPr>
          <p:cNvPr id="144" name="Icon payments"/>
          <p:cNvSpPr/>
          <p:nvPr/>
        </p:nvSpPr>
        <p:spPr>
          <a:xfrm>
            <a:off x="4189358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4000" y="49692"/>
                </a:moveTo>
                <a:quadBezTo>
                  <a:pt x="50615" y="49692"/>
                  <a:pt x="48308" y="47385"/>
                </a:quadBezTo>
                <a:quadBezTo>
                  <a:pt x="46000" y="45077"/>
                  <a:pt x="46000" y="41692"/>
                </a:quadBezTo>
                <a:quadBezTo>
                  <a:pt x="46000" y="38308"/>
                  <a:pt x="48308" y="36000"/>
                </a:quadBezTo>
                <a:quadBezTo>
                  <a:pt x="50615" y="33692"/>
                  <a:pt x="54000" y="33692"/>
                </a:quadBezTo>
                <a:quadBezTo>
                  <a:pt x="57385" y="33692"/>
                  <a:pt x="59692" y="36000"/>
                </a:quadBezTo>
                <a:quadBezTo>
                  <a:pt x="62000" y="38308"/>
                  <a:pt x="62000" y="41692"/>
                </a:quadBezTo>
                <a:quadBezTo>
                  <a:pt x="62000" y="45077"/>
                  <a:pt x="59692" y="47385"/>
                </a:quadBezTo>
                <a:quadBezTo>
                  <a:pt x="57385" y="49692"/>
                  <a:pt x="54000" y="49692"/>
                </a:quadBezTo>
                <a:close/>
                <a:moveTo>
                  <a:pt x="29231" y="62462"/>
                </a:moveTo>
                <a:quadBezTo>
                  <a:pt x="26565" y="62462"/>
                  <a:pt x="24667" y="60563"/>
                </a:quadBezTo>
                <a:quadBezTo>
                  <a:pt x="22769" y="58665"/>
                  <a:pt x="22769" y="56000"/>
                </a:quadBezTo>
                <a:lnTo>
                  <a:pt x="22769" y="27385"/>
                </a:lnTo>
                <a:quadBezTo>
                  <a:pt x="22769" y="24719"/>
                  <a:pt x="24667" y="22821"/>
                </a:quadBezTo>
                <a:quadBezTo>
                  <a:pt x="26565" y="20923"/>
                  <a:pt x="29231" y="20923"/>
                </a:quadBezTo>
                <a:lnTo>
                  <a:pt x="78769" y="20923"/>
                </a:lnTo>
                <a:quadBezTo>
                  <a:pt x="81435" y="20923"/>
                  <a:pt x="83333" y="22821"/>
                </a:quadBezTo>
                <a:quadBezTo>
                  <a:pt x="85231" y="24719"/>
                  <a:pt x="85231" y="27385"/>
                </a:quadBezTo>
                <a:lnTo>
                  <a:pt x="85231" y="56000"/>
                </a:lnTo>
                <a:quadBezTo>
                  <a:pt x="85231" y="58665"/>
                  <a:pt x="83333" y="60563"/>
                </a:quadBezTo>
                <a:quadBezTo>
                  <a:pt x="81435" y="62462"/>
                  <a:pt x="78769" y="62462"/>
                </a:quadBezTo>
                <a:lnTo>
                  <a:pt x="29231" y="62462"/>
                </a:lnTo>
                <a:close/>
                <a:moveTo>
                  <a:pt x="33231" y="58462"/>
                </a:moveTo>
                <a:lnTo>
                  <a:pt x="74769" y="58462"/>
                </a:lnTo>
                <a:quadBezTo>
                  <a:pt x="74769" y="55777"/>
                  <a:pt x="76667" y="53888"/>
                </a:quadBezTo>
                <a:quadBezTo>
                  <a:pt x="78565" y="52000"/>
                  <a:pt x="81231" y="52000"/>
                </a:quadBezTo>
                <a:lnTo>
                  <a:pt x="81231" y="31385"/>
                </a:lnTo>
                <a:quadBezTo>
                  <a:pt x="78546" y="31385"/>
                  <a:pt x="76658" y="29487"/>
                </a:quadBezTo>
                <a:quadBezTo>
                  <a:pt x="74769" y="27588"/>
                  <a:pt x="74769" y="24923"/>
                </a:quadBezTo>
                <a:lnTo>
                  <a:pt x="33231" y="24923"/>
                </a:lnTo>
                <a:quadBezTo>
                  <a:pt x="33231" y="27608"/>
                  <a:pt x="31333" y="29496"/>
                </a:quadBezTo>
                <a:quadBezTo>
                  <a:pt x="29435" y="31385"/>
                  <a:pt x="26769" y="31385"/>
                </a:quadBezTo>
                <a:lnTo>
                  <a:pt x="26769" y="52000"/>
                </a:lnTo>
                <a:quadBezTo>
                  <a:pt x="29454" y="52000"/>
                  <a:pt x="31342" y="53898"/>
                </a:quadBezTo>
                <a:quadBezTo>
                  <a:pt x="33231" y="55796"/>
                  <a:pt x="33231" y="58462"/>
                </a:quadBezTo>
                <a:close/>
                <a:moveTo>
                  <a:pt x="73385" y="74462"/>
                </a:moveTo>
                <a:lnTo>
                  <a:pt x="17231" y="74462"/>
                </a:lnTo>
                <a:quadBezTo>
                  <a:pt x="14565" y="74462"/>
                  <a:pt x="12667" y="72563"/>
                </a:quadBezTo>
                <a:quadBezTo>
                  <a:pt x="10769" y="70665"/>
                  <a:pt x="10769" y="68000"/>
                </a:quadBezTo>
                <a:lnTo>
                  <a:pt x="10769" y="32769"/>
                </a:lnTo>
                <a:lnTo>
                  <a:pt x="14769" y="32769"/>
                </a:lnTo>
                <a:lnTo>
                  <a:pt x="14769" y="68000"/>
                </a:lnTo>
                <a:quadBezTo>
                  <a:pt x="14769" y="68923"/>
                  <a:pt x="15538" y="69692"/>
                </a:quadBezTo>
                <a:quadBezTo>
                  <a:pt x="16308" y="70462"/>
                  <a:pt x="17231" y="70462"/>
                </a:quadBezTo>
                <a:lnTo>
                  <a:pt x="73385" y="70462"/>
                </a:lnTo>
                <a:lnTo>
                  <a:pt x="73385" y="74462"/>
                </a:lnTo>
                <a:close/>
                <a:moveTo>
                  <a:pt x="29231" y="58462"/>
                </a:moveTo>
                <a:lnTo>
                  <a:pt x="26769" y="58462"/>
                </a:lnTo>
                <a:lnTo>
                  <a:pt x="26769" y="24923"/>
                </a:lnTo>
                <a:lnTo>
                  <a:pt x="29231" y="24923"/>
                </a:lnTo>
                <a:quadBezTo>
                  <a:pt x="28231" y="24923"/>
                  <a:pt x="27500" y="25654"/>
                </a:quadBezTo>
                <a:quadBezTo>
                  <a:pt x="26769" y="26385"/>
                  <a:pt x="26769" y="27385"/>
                </a:quadBezTo>
                <a:lnTo>
                  <a:pt x="26769" y="56000"/>
                </a:lnTo>
                <a:quadBezTo>
                  <a:pt x="26769" y="57000"/>
                  <a:pt x="27500" y="57731"/>
                </a:quadBezTo>
                <a:quadBezTo>
                  <a:pt x="28231" y="58462"/>
                  <a:pt x="29231" y="58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5" name="TextBox 144"/>
          <p:cNvSpPr txBox="1"/>
          <p:nvPr/>
        </p:nvSpPr>
        <p:spPr>
          <a:xfrm>
            <a:off x="3883386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payments</a:t>
            </a:r>
          </a:p>
        </p:txBody>
      </p:sp>
      <p:sp>
        <p:nvSpPr>
          <p:cNvPr id="146" name="Icon person"/>
          <p:cNvSpPr/>
          <p:nvPr/>
        </p:nvSpPr>
        <p:spPr>
          <a:xfrm>
            <a:off x="5075623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45538"/>
                </a:moveTo>
                <a:quadBezTo>
                  <a:pt x="43050" y="45538"/>
                  <a:pt x="39525" y="42013"/>
                </a:quadBezTo>
                <a:quadBezTo>
                  <a:pt x="36000" y="38488"/>
                  <a:pt x="36000" y="33538"/>
                </a:quadBezTo>
                <a:quadBezTo>
                  <a:pt x="36000" y="28588"/>
                  <a:pt x="39525" y="25063"/>
                </a:quadBezTo>
                <a:quadBezTo>
                  <a:pt x="43050" y="21538"/>
                  <a:pt x="48000" y="21538"/>
                </a:quadBezTo>
                <a:quadBezTo>
                  <a:pt x="52950" y="21538"/>
                  <a:pt x="56475" y="25063"/>
                </a:quadBezTo>
                <a:quadBezTo>
                  <a:pt x="60000" y="28588"/>
                  <a:pt x="60000" y="33538"/>
                </a:quadBezTo>
                <a:quadBezTo>
                  <a:pt x="60000" y="38488"/>
                  <a:pt x="56475" y="42013"/>
                </a:quadBezTo>
                <a:quadBezTo>
                  <a:pt x="52950" y="45538"/>
                  <a:pt x="48000" y="45538"/>
                </a:quadBezTo>
                <a:close/>
                <a:moveTo>
                  <a:pt x="20000" y="74462"/>
                </a:moveTo>
                <a:lnTo>
                  <a:pt x="20000" y="67877"/>
                </a:lnTo>
                <a:quadBezTo>
                  <a:pt x="20000" y="65400"/>
                  <a:pt x="21442" y="63242"/>
                </a:quadBezTo>
                <a:quadBezTo>
                  <a:pt x="22885" y="61085"/>
                  <a:pt x="25323" y="59892"/>
                </a:quadBezTo>
                <a:quadBezTo>
                  <a:pt x="30985" y="57177"/>
                  <a:pt x="36654" y="55819"/>
                </a:quadBezTo>
                <a:quadBezTo>
                  <a:pt x="42323" y="54462"/>
                  <a:pt x="48000" y="54462"/>
                </a:quadBezTo>
                <a:quadBezTo>
                  <a:pt x="53677" y="54462"/>
                  <a:pt x="59346" y="55819"/>
                </a:quadBezTo>
                <a:quadBezTo>
                  <a:pt x="65015" y="57177"/>
                  <a:pt x="70677" y="59892"/>
                </a:quadBezTo>
                <a:quadBezTo>
                  <a:pt x="73115" y="61085"/>
                  <a:pt x="74558" y="63242"/>
                </a:quadBezTo>
                <a:quadBezTo>
                  <a:pt x="76000" y="65400"/>
                  <a:pt x="76000" y="67877"/>
                </a:quadBezTo>
                <a:lnTo>
                  <a:pt x="76000" y="74462"/>
                </a:lnTo>
                <a:lnTo>
                  <a:pt x="20000" y="74462"/>
                </a:lnTo>
                <a:close/>
                <a:moveTo>
                  <a:pt x="24000" y="70462"/>
                </a:moveTo>
                <a:lnTo>
                  <a:pt x="72000" y="70462"/>
                </a:lnTo>
                <a:lnTo>
                  <a:pt x="72000" y="67877"/>
                </a:lnTo>
                <a:quadBezTo>
                  <a:pt x="72000" y="66546"/>
                  <a:pt x="71142" y="65377"/>
                </a:quadBezTo>
                <a:quadBezTo>
                  <a:pt x="70285" y="64208"/>
                  <a:pt x="68769" y="63400"/>
                </a:quadBezTo>
                <a:quadBezTo>
                  <a:pt x="63831" y="61008"/>
                  <a:pt x="58586" y="59735"/>
                </a:quadBezTo>
                <a:quadBezTo>
                  <a:pt x="53341" y="58462"/>
                  <a:pt x="48000" y="58462"/>
                </a:quadBezTo>
                <a:quadBezTo>
                  <a:pt x="42659" y="58462"/>
                  <a:pt x="37414" y="59735"/>
                </a:quadBezTo>
                <a:quadBezTo>
                  <a:pt x="32169" y="61008"/>
                  <a:pt x="27231" y="63400"/>
                </a:quadBezTo>
                <a:quadBezTo>
                  <a:pt x="25715" y="64208"/>
                  <a:pt x="24858" y="65377"/>
                </a:quadBezTo>
                <a:quadBezTo>
                  <a:pt x="24000" y="66546"/>
                  <a:pt x="24000" y="67877"/>
                </a:quadBezTo>
                <a:lnTo>
                  <a:pt x="24000" y="70462"/>
                </a:lnTo>
                <a:close/>
                <a:moveTo>
                  <a:pt x="48000" y="41538"/>
                </a:moveTo>
                <a:quadBezTo>
                  <a:pt x="51300" y="41538"/>
                  <a:pt x="53650" y="39188"/>
                </a:quadBezTo>
                <a:quadBezTo>
                  <a:pt x="56000" y="36838"/>
                  <a:pt x="56000" y="33538"/>
                </a:quadBezTo>
                <a:quadBezTo>
                  <a:pt x="56000" y="30238"/>
                  <a:pt x="53650" y="27888"/>
                </a:quadBezTo>
                <a:quadBezTo>
                  <a:pt x="51300" y="25538"/>
                  <a:pt x="48000" y="25538"/>
                </a:quadBezTo>
                <a:quadBezTo>
                  <a:pt x="44700" y="25538"/>
                  <a:pt x="42350" y="27888"/>
                </a:quadBezTo>
                <a:quadBezTo>
                  <a:pt x="40000" y="30238"/>
                  <a:pt x="40000" y="33538"/>
                </a:quadBezTo>
                <a:quadBezTo>
                  <a:pt x="40000" y="36838"/>
                  <a:pt x="42350" y="39188"/>
                </a:quadBezTo>
                <a:quadBezTo>
                  <a:pt x="44700" y="41538"/>
                  <a:pt x="48000" y="41538"/>
                </a:quadBezTo>
                <a:close/>
                <a:moveTo>
                  <a:pt x="48000" y="33538"/>
                </a:moveTo>
                <a:close/>
                <a:moveTo>
                  <a:pt x="48000" y="704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7" name="TextBox 146"/>
          <p:cNvSpPr txBox="1"/>
          <p:nvPr/>
        </p:nvSpPr>
        <p:spPr>
          <a:xfrm>
            <a:off x="4769651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person</a:t>
            </a:r>
          </a:p>
        </p:txBody>
      </p:sp>
      <p:sp>
        <p:nvSpPr>
          <p:cNvPr id="148" name="Icon pie_chart"/>
          <p:cNvSpPr/>
          <p:nvPr/>
        </p:nvSpPr>
        <p:spPr>
          <a:xfrm>
            <a:off x="5961888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50000" y="46000"/>
                </a:moveTo>
                <a:lnTo>
                  <a:pt x="79954" y="46000"/>
                </a:lnTo>
                <a:quadBezTo>
                  <a:pt x="79146" y="33846"/>
                  <a:pt x="70650" y="25312"/>
                </a:quadBezTo>
                <a:quadBezTo>
                  <a:pt x="62154" y="16777"/>
                  <a:pt x="50000" y="16046"/>
                </a:quadBezTo>
                <a:lnTo>
                  <a:pt x="50000" y="46000"/>
                </a:lnTo>
                <a:close/>
                <a:moveTo>
                  <a:pt x="46000" y="79954"/>
                </a:moveTo>
                <a:lnTo>
                  <a:pt x="46000" y="16046"/>
                </a:lnTo>
                <a:quadBezTo>
                  <a:pt x="33362" y="16777"/>
                  <a:pt x="24681" y="25981"/>
                </a:quadBezTo>
                <a:quadBezTo>
                  <a:pt x="16000" y="35185"/>
                  <a:pt x="16000" y="48000"/>
                </a:quadBezTo>
                <a:quadBezTo>
                  <a:pt x="16000" y="60815"/>
                  <a:pt x="24681" y="70019"/>
                </a:quadBezTo>
                <a:quadBezTo>
                  <a:pt x="33362" y="79223"/>
                  <a:pt x="46000" y="79954"/>
                </a:quadBezTo>
                <a:close/>
                <a:moveTo>
                  <a:pt x="50000" y="79954"/>
                </a:moveTo>
                <a:quadBezTo>
                  <a:pt x="62154" y="79246"/>
                  <a:pt x="70662" y="70700"/>
                </a:quadBezTo>
                <a:quadBezTo>
                  <a:pt x="79169" y="62154"/>
                  <a:pt x="79954" y="50000"/>
                </a:quadBezTo>
                <a:lnTo>
                  <a:pt x="50000" y="50000"/>
                </a:lnTo>
                <a:lnTo>
                  <a:pt x="50000" y="79954"/>
                </a:lnTo>
                <a:close/>
                <a:moveTo>
                  <a:pt x="48000" y="48000"/>
                </a:move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12" y="14842"/>
                </a:quadBezTo>
                <a:quadBezTo>
                  <a:pt x="68569" y="17685"/>
                  <a:pt x="73442" y="22558"/>
                </a:quadBezTo>
                <a:quadBezTo>
                  <a:pt x="78315" y="27431"/>
                  <a:pt x="81158" y="33979"/>
                </a:quadBezTo>
                <a:quadBezTo>
                  <a:pt x="84000" y="40528"/>
                  <a:pt x="84000" y="48024"/>
                </a:quadBezTo>
                <a:quadBezTo>
                  <a:pt x="84000" y="55431"/>
                  <a:pt x="81166" y="61989"/>
                </a:quadBezTo>
                <a:quadBezTo>
                  <a:pt x="78332" y="68547"/>
                  <a:pt x="73474" y="73444"/>
                </a:quadBezTo>
                <a:quadBezTo>
                  <a:pt x="68616" y="78340"/>
                  <a:pt x="62048" y="81170"/>
                </a:quadBezTo>
                <a:quadBezTo>
                  <a:pt x="55481" y="84000"/>
                  <a:pt x="48013" y="84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9" name="TextBox 148"/>
          <p:cNvSpPr txBox="1"/>
          <p:nvPr/>
        </p:nvSpPr>
        <p:spPr>
          <a:xfrm>
            <a:off x="5655915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pie chart</a:t>
            </a:r>
          </a:p>
        </p:txBody>
      </p:sp>
      <p:sp>
        <p:nvSpPr>
          <p:cNvPr id="150" name="Icon precision_manufacturing"/>
          <p:cNvSpPr/>
          <p:nvPr/>
        </p:nvSpPr>
        <p:spPr>
          <a:xfrm>
            <a:off x="6848152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9054" y="77846"/>
                </a:moveTo>
                <a:lnTo>
                  <a:pt x="19054" y="71385"/>
                </a:lnTo>
                <a:lnTo>
                  <a:pt x="31146" y="71385"/>
                </a:lnTo>
                <a:lnTo>
                  <a:pt x="20792" y="37523"/>
                </a:lnTo>
                <a:quadBezTo>
                  <a:pt x="18169" y="36254"/>
                  <a:pt x="16612" y="33892"/>
                </a:quadBezTo>
                <a:quadBezTo>
                  <a:pt x="15054" y="31531"/>
                  <a:pt x="15054" y="28462"/>
                </a:quadBezTo>
                <a:quadBezTo>
                  <a:pt x="15054" y="24308"/>
                  <a:pt x="17977" y="21385"/>
                </a:quadBezTo>
                <a:quadBezTo>
                  <a:pt x="20900" y="18462"/>
                  <a:pt x="25054" y="18462"/>
                </a:quadBezTo>
                <a:quadBezTo>
                  <a:pt x="28723" y="18462"/>
                  <a:pt x="31350" y="20712"/>
                </a:quadBezTo>
                <a:quadBezTo>
                  <a:pt x="33977" y="22962"/>
                  <a:pt x="34869" y="26462"/>
                </a:quadBezTo>
                <a:lnTo>
                  <a:pt x="49515" y="26462"/>
                </a:lnTo>
                <a:lnTo>
                  <a:pt x="49515" y="20462"/>
                </a:lnTo>
                <a:quadBezTo>
                  <a:pt x="49515" y="19608"/>
                  <a:pt x="50088" y="19035"/>
                </a:quadBezTo>
                <a:quadBezTo>
                  <a:pt x="50662" y="18462"/>
                  <a:pt x="51515" y="18462"/>
                </a:quadBezTo>
                <a:quadBezTo>
                  <a:pt x="52185" y="18462"/>
                  <a:pt x="52688" y="18862"/>
                </a:quadBezTo>
                <a:quadBezTo>
                  <a:pt x="53192" y="19262"/>
                  <a:pt x="53331" y="19908"/>
                </a:quadBezTo>
                <a:lnTo>
                  <a:pt x="53331" y="20985"/>
                </a:lnTo>
                <a:lnTo>
                  <a:pt x="60592" y="14277"/>
                </a:lnTo>
                <a:quadBezTo>
                  <a:pt x="61415" y="13454"/>
                  <a:pt x="62435" y="13281"/>
                </a:quadBezTo>
                <a:quadBezTo>
                  <a:pt x="63454" y="13108"/>
                  <a:pt x="64423" y="13631"/>
                </a:quadBezTo>
                <a:lnTo>
                  <a:pt x="79562" y="20677"/>
                </a:lnTo>
                <a:quadBezTo>
                  <a:pt x="80300" y="21046"/>
                  <a:pt x="80673" y="21735"/>
                </a:quadBezTo>
                <a:quadBezTo>
                  <a:pt x="81046" y="22423"/>
                  <a:pt x="80700" y="23138"/>
                </a:quadBezTo>
                <a:quadBezTo>
                  <a:pt x="80331" y="23877"/>
                  <a:pt x="79642" y="24073"/>
                </a:quadBezTo>
                <a:quadBezTo>
                  <a:pt x="78954" y="24269"/>
                  <a:pt x="78238" y="23923"/>
                </a:quadBezTo>
                <a:lnTo>
                  <a:pt x="63069" y="16862"/>
                </a:lnTo>
                <a:lnTo>
                  <a:pt x="53515" y="25662"/>
                </a:lnTo>
                <a:lnTo>
                  <a:pt x="53515" y="31262"/>
                </a:lnTo>
                <a:lnTo>
                  <a:pt x="63069" y="39862"/>
                </a:lnTo>
                <a:lnTo>
                  <a:pt x="78238" y="32800"/>
                </a:lnTo>
                <a:quadBezTo>
                  <a:pt x="78954" y="32454"/>
                  <a:pt x="79654" y="32662"/>
                </a:quadBezTo>
                <a:quadBezTo>
                  <a:pt x="80354" y="32869"/>
                  <a:pt x="80700" y="33585"/>
                </a:quadBezTo>
                <a:quadBezTo>
                  <a:pt x="81069" y="34323"/>
                  <a:pt x="80685" y="35000"/>
                </a:quadBezTo>
                <a:quadBezTo>
                  <a:pt x="80300" y="35677"/>
                  <a:pt x="79562" y="36046"/>
                </a:quadBezTo>
                <a:lnTo>
                  <a:pt x="64423" y="43138"/>
                </a:lnTo>
                <a:quadBezTo>
                  <a:pt x="63454" y="43662"/>
                  <a:pt x="62435" y="43450"/>
                </a:quadBezTo>
                <a:quadBezTo>
                  <a:pt x="61415" y="43238"/>
                  <a:pt x="60592" y="42492"/>
                </a:quadBezTo>
                <a:lnTo>
                  <a:pt x="53331" y="35938"/>
                </a:lnTo>
                <a:lnTo>
                  <a:pt x="53331" y="37015"/>
                </a:lnTo>
                <a:quadBezTo>
                  <a:pt x="53192" y="37615"/>
                  <a:pt x="52688" y="38038"/>
                </a:quadBezTo>
                <a:quadBezTo>
                  <a:pt x="52185" y="38462"/>
                  <a:pt x="51515" y="38462"/>
                </a:quadBezTo>
                <a:quadBezTo>
                  <a:pt x="50662" y="38462"/>
                  <a:pt x="50088" y="37888"/>
                </a:quadBezTo>
                <a:quadBezTo>
                  <a:pt x="49515" y="37315"/>
                  <a:pt x="49515" y="36462"/>
                </a:quadBezTo>
                <a:lnTo>
                  <a:pt x="49515" y="30462"/>
                </a:lnTo>
                <a:lnTo>
                  <a:pt x="34869" y="30462"/>
                </a:lnTo>
                <a:quadBezTo>
                  <a:pt x="34569" y="31800"/>
                  <a:pt x="33873" y="33115"/>
                </a:quadBezTo>
                <a:quadBezTo>
                  <a:pt x="33177" y="34431"/>
                  <a:pt x="32346" y="35308"/>
                </a:quadBezTo>
                <a:lnTo>
                  <a:pt x="51731" y="71385"/>
                </a:lnTo>
                <a:lnTo>
                  <a:pt x="67054" y="71385"/>
                </a:lnTo>
                <a:lnTo>
                  <a:pt x="67054" y="77846"/>
                </a:lnTo>
                <a:lnTo>
                  <a:pt x="19054" y="77846"/>
                </a:lnTo>
                <a:close/>
                <a:moveTo>
                  <a:pt x="25054" y="34462"/>
                </a:moveTo>
                <a:quadBezTo>
                  <a:pt x="27523" y="34462"/>
                  <a:pt x="29288" y="32696"/>
                </a:quadBezTo>
                <a:quadBezTo>
                  <a:pt x="31054" y="30931"/>
                  <a:pt x="31054" y="28462"/>
                </a:quadBezTo>
                <a:quadBezTo>
                  <a:pt x="31054" y="25992"/>
                  <a:pt x="29288" y="24227"/>
                </a:quadBezTo>
                <a:quadBezTo>
                  <a:pt x="27523" y="22462"/>
                  <a:pt x="25054" y="22462"/>
                </a:quadBezTo>
                <a:quadBezTo>
                  <a:pt x="22585" y="22462"/>
                  <a:pt x="20819" y="24227"/>
                </a:quadBezTo>
                <a:quadBezTo>
                  <a:pt x="19054" y="25992"/>
                  <a:pt x="19054" y="28462"/>
                </a:quadBezTo>
                <a:quadBezTo>
                  <a:pt x="19054" y="30931"/>
                  <a:pt x="20819" y="32696"/>
                </a:quadBezTo>
                <a:quadBezTo>
                  <a:pt x="22585" y="34462"/>
                  <a:pt x="25054" y="34462"/>
                </a:quadBezTo>
                <a:close/>
                <a:moveTo>
                  <a:pt x="35346" y="71385"/>
                </a:moveTo>
                <a:lnTo>
                  <a:pt x="47146" y="71385"/>
                </a:lnTo>
                <a:lnTo>
                  <a:pt x="29023" y="37692"/>
                </a:lnTo>
                <a:quadBezTo>
                  <a:pt x="28408" y="38077"/>
                  <a:pt x="27285" y="38346"/>
                </a:quadBezTo>
                <a:quadBezTo>
                  <a:pt x="26162" y="38615"/>
                  <a:pt x="25238" y="38462"/>
                </a:quadBezTo>
                <a:lnTo>
                  <a:pt x="35346" y="71385"/>
                </a:lnTo>
                <a:close/>
                <a:moveTo>
                  <a:pt x="47146" y="7138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1" name="TextBox 150"/>
          <p:cNvSpPr txBox="1"/>
          <p:nvPr/>
        </p:nvSpPr>
        <p:spPr>
          <a:xfrm>
            <a:off x="6542180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precision manufacturing</a:t>
            </a:r>
          </a:p>
        </p:txBody>
      </p:sp>
      <p:sp>
        <p:nvSpPr>
          <p:cNvPr id="152" name="Icon psychology"/>
          <p:cNvSpPr/>
          <p:nvPr/>
        </p:nvSpPr>
        <p:spPr>
          <a:xfrm>
            <a:off x="7734417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8000" y="84000"/>
                </a:moveTo>
                <a:lnTo>
                  <a:pt x="28000" y="68954"/>
                </a:lnTo>
                <a:quadBezTo>
                  <a:pt x="22300" y="63754"/>
                  <a:pt x="19150" y="57265"/>
                </a:quadBezTo>
                <a:quadBezTo>
                  <a:pt x="16000" y="50777"/>
                  <a:pt x="16000" y="43944"/>
                </a:quadBezTo>
                <a:quadBezTo>
                  <a:pt x="16000" y="30634"/>
                  <a:pt x="25333" y="21317"/>
                </a:quadBezTo>
                <a:quadBezTo>
                  <a:pt x="34667" y="12000"/>
                  <a:pt x="48000" y="12000"/>
                </a:quadBezTo>
                <a:quadBezTo>
                  <a:pt x="58808" y="12000"/>
                  <a:pt x="67535" y="18581"/>
                </a:quadBezTo>
                <a:quadBezTo>
                  <a:pt x="76262" y="25162"/>
                  <a:pt x="78854" y="35577"/>
                </a:quadBezTo>
                <a:lnTo>
                  <a:pt x="83001" y="51994"/>
                </a:lnTo>
                <a:quadBezTo>
                  <a:pt x="83400" y="53515"/>
                  <a:pt x="82431" y="54758"/>
                </a:quadBezTo>
                <a:quadBezTo>
                  <a:pt x="81462" y="56000"/>
                  <a:pt x="79846" y="56000"/>
                </a:quadBezTo>
                <a:lnTo>
                  <a:pt x="72000" y="56000"/>
                </a:lnTo>
                <a:lnTo>
                  <a:pt x="72000" y="69538"/>
                </a:lnTo>
                <a:quadBezTo>
                  <a:pt x="72000" y="72204"/>
                  <a:pt x="70102" y="74102"/>
                </a:quadBezTo>
                <a:quadBezTo>
                  <a:pt x="68204" y="76000"/>
                  <a:pt x="65538" y="76000"/>
                </a:quadBezTo>
                <a:lnTo>
                  <a:pt x="56000" y="76000"/>
                </a:lnTo>
                <a:lnTo>
                  <a:pt x="56000" y="84000"/>
                </a:lnTo>
                <a:lnTo>
                  <a:pt x="52000" y="84000"/>
                </a:lnTo>
                <a:lnTo>
                  <a:pt x="52000" y="72000"/>
                </a:lnTo>
                <a:lnTo>
                  <a:pt x="65538" y="72000"/>
                </a:lnTo>
                <a:quadBezTo>
                  <a:pt x="66615" y="72000"/>
                  <a:pt x="67308" y="71308"/>
                </a:quadBezTo>
                <a:quadBezTo>
                  <a:pt x="68000" y="70615"/>
                  <a:pt x="68000" y="69538"/>
                </a:quadBezTo>
                <a:lnTo>
                  <a:pt x="68000" y="52000"/>
                </a:lnTo>
                <a:lnTo>
                  <a:pt x="78800" y="52000"/>
                </a:lnTo>
                <a:lnTo>
                  <a:pt x="75000" y="36500"/>
                </a:lnTo>
                <a:quadBezTo>
                  <a:pt x="72700" y="27323"/>
                  <a:pt x="65123" y="21662"/>
                </a:quadBezTo>
                <a:quadBezTo>
                  <a:pt x="57546" y="16000"/>
                  <a:pt x="48000" y="16000"/>
                </a:quadBezTo>
                <a:quadBezTo>
                  <a:pt x="36400" y="16000"/>
                  <a:pt x="28200" y="24122"/>
                </a:quadBezTo>
                <a:quadBezTo>
                  <a:pt x="20000" y="32245"/>
                  <a:pt x="20000" y="43877"/>
                </a:quadBezTo>
                <a:quadBezTo>
                  <a:pt x="20000" y="49857"/>
                  <a:pt x="22450" y="55239"/>
                </a:quadBezTo>
                <a:quadBezTo>
                  <a:pt x="24900" y="60622"/>
                  <a:pt x="29400" y="64808"/>
                </a:quadBezTo>
                <a:lnTo>
                  <a:pt x="32000" y="67200"/>
                </a:lnTo>
                <a:lnTo>
                  <a:pt x="32000" y="84000"/>
                </a:lnTo>
                <a:lnTo>
                  <a:pt x="28000" y="84000"/>
                </a:lnTo>
                <a:close/>
                <a:moveTo>
                  <a:pt x="49400" y="50000"/>
                </a:moveTo>
                <a:close/>
                <a:moveTo>
                  <a:pt x="45769" y="58308"/>
                </a:moveTo>
                <a:lnTo>
                  <a:pt x="50231" y="58308"/>
                </a:lnTo>
                <a:lnTo>
                  <a:pt x="50523" y="54615"/>
                </a:lnTo>
                <a:quadBezTo>
                  <a:pt x="52092" y="54315"/>
                  <a:pt x="53512" y="53569"/>
                </a:quadBezTo>
                <a:quadBezTo>
                  <a:pt x="54931" y="52823"/>
                  <a:pt x="55892" y="51631"/>
                </a:quadBezTo>
                <a:lnTo>
                  <a:pt x="59108" y="53246"/>
                </a:lnTo>
                <a:lnTo>
                  <a:pt x="61338" y="49446"/>
                </a:lnTo>
                <a:lnTo>
                  <a:pt x="58415" y="47292"/>
                </a:lnTo>
                <a:quadBezTo>
                  <a:pt x="59077" y="45646"/>
                  <a:pt x="59077" y="44000"/>
                </a:quadBezTo>
                <a:quadBezTo>
                  <a:pt x="59077" y="42354"/>
                  <a:pt x="58415" y="40708"/>
                </a:quadBezTo>
                <a:lnTo>
                  <a:pt x="61338" y="38554"/>
                </a:lnTo>
                <a:lnTo>
                  <a:pt x="59108" y="34754"/>
                </a:lnTo>
                <a:lnTo>
                  <a:pt x="55892" y="36369"/>
                </a:lnTo>
                <a:quadBezTo>
                  <a:pt x="54931" y="35177"/>
                  <a:pt x="53512" y="34431"/>
                </a:quadBezTo>
                <a:quadBezTo>
                  <a:pt x="52092" y="33685"/>
                  <a:pt x="50523" y="33385"/>
                </a:quadBezTo>
                <a:lnTo>
                  <a:pt x="50231" y="29692"/>
                </a:lnTo>
                <a:lnTo>
                  <a:pt x="45769" y="29692"/>
                </a:lnTo>
                <a:lnTo>
                  <a:pt x="45477" y="33385"/>
                </a:lnTo>
                <a:quadBezTo>
                  <a:pt x="43908" y="33685"/>
                  <a:pt x="42488" y="34431"/>
                </a:quadBezTo>
                <a:quadBezTo>
                  <a:pt x="41069" y="35177"/>
                  <a:pt x="40108" y="36369"/>
                </a:quadBezTo>
                <a:lnTo>
                  <a:pt x="36892" y="34754"/>
                </a:lnTo>
                <a:lnTo>
                  <a:pt x="34662" y="38554"/>
                </a:lnTo>
                <a:lnTo>
                  <a:pt x="37585" y="40708"/>
                </a:lnTo>
                <a:quadBezTo>
                  <a:pt x="36923" y="42354"/>
                  <a:pt x="36923" y="44000"/>
                </a:quadBezTo>
                <a:quadBezTo>
                  <a:pt x="36923" y="45646"/>
                  <a:pt x="37585" y="47292"/>
                </a:quadBezTo>
                <a:lnTo>
                  <a:pt x="34662" y="49446"/>
                </a:lnTo>
                <a:lnTo>
                  <a:pt x="36892" y="53246"/>
                </a:lnTo>
                <a:lnTo>
                  <a:pt x="40108" y="51631"/>
                </a:lnTo>
                <a:quadBezTo>
                  <a:pt x="41069" y="52823"/>
                  <a:pt x="42488" y="53569"/>
                </a:quadBezTo>
                <a:quadBezTo>
                  <a:pt x="43908" y="54315"/>
                  <a:pt x="45477" y="54615"/>
                </a:quadBezTo>
                <a:lnTo>
                  <a:pt x="45769" y="58308"/>
                </a:lnTo>
                <a:close/>
                <a:moveTo>
                  <a:pt x="47995" y="51462"/>
                </a:moveTo>
                <a:quadBezTo>
                  <a:pt x="44885" y="51462"/>
                  <a:pt x="42712" y="49284"/>
                </a:quadBezTo>
                <a:quadBezTo>
                  <a:pt x="40538" y="47106"/>
                  <a:pt x="40538" y="43995"/>
                </a:quadBezTo>
                <a:quadBezTo>
                  <a:pt x="40538" y="40885"/>
                  <a:pt x="42716" y="38712"/>
                </a:quadBezTo>
                <a:quadBezTo>
                  <a:pt x="44894" y="36538"/>
                  <a:pt x="48005" y="36538"/>
                </a:quadBezTo>
                <a:quadBezTo>
                  <a:pt x="51115" y="36538"/>
                  <a:pt x="53288" y="38716"/>
                </a:quadBezTo>
                <a:quadBezTo>
                  <a:pt x="55462" y="40894"/>
                  <a:pt x="55462" y="44005"/>
                </a:quadBezTo>
                <a:quadBezTo>
                  <a:pt x="55462" y="47115"/>
                  <a:pt x="53284" y="49288"/>
                </a:quadBezTo>
                <a:quadBezTo>
                  <a:pt x="51106" y="51462"/>
                  <a:pt x="47995" y="51462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3" name="TextBox 152"/>
          <p:cNvSpPr txBox="1"/>
          <p:nvPr/>
        </p:nvSpPr>
        <p:spPr>
          <a:xfrm>
            <a:off x="7428444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psychology</a:t>
            </a:r>
          </a:p>
        </p:txBody>
      </p:sp>
      <p:sp>
        <p:nvSpPr>
          <p:cNvPr id="154" name="Icon public"/>
          <p:cNvSpPr/>
          <p:nvPr/>
        </p:nvSpPr>
        <p:spPr>
          <a:xfrm>
            <a:off x="8620681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4000" y="79800"/>
                </a:moveTo>
                <a:lnTo>
                  <a:pt x="44000" y="72000"/>
                </a:lnTo>
                <a:quadBezTo>
                  <a:pt x="40700" y="72000"/>
                  <a:pt x="38350" y="69650"/>
                </a:quadBezTo>
                <a:quadBezTo>
                  <a:pt x="36000" y="67300"/>
                  <a:pt x="36000" y="64000"/>
                </a:quadBezTo>
                <a:lnTo>
                  <a:pt x="36000" y="60000"/>
                </a:lnTo>
                <a:lnTo>
                  <a:pt x="16800" y="40800"/>
                </a:lnTo>
                <a:quadBezTo>
                  <a:pt x="16500" y="42600"/>
                  <a:pt x="16250" y="44400"/>
                </a:quadBezTo>
                <a:quadBezTo>
                  <a:pt x="16000" y="46200"/>
                  <a:pt x="16000" y="48000"/>
                </a:quadBezTo>
                <a:quadBezTo>
                  <a:pt x="16000" y="60100"/>
                  <a:pt x="23950" y="69200"/>
                </a:quadBezTo>
                <a:quadBezTo>
                  <a:pt x="31900" y="78300"/>
                  <a:pt x="44000" y="79800"/>
                </a:quadBezTo>
                <a:close/>
                <a:moveTo>
                  <a:pt x="71600" y="69600"/>
                </a:moveTo>
                <a:quadBezTo>
                  <a:pt x="73600" y="67400"/>
                  <a:pt x="75200" y="64850"/>
                </a:quadBezTo>
                <a:quadBezTo>
                  <a:pt x="76800" y="62300"/>
                  <a:pt x="77850" y="59550"/>
                </a:quadBezTo>
                <a:quadBezTo>
                  <a:pt x="78900" y="56800"/>
                  <a:pt x="79450" y="53900"/>
                </a:quadBezTo>
                <a:quadBezTo>
                  <a:pt x="80000" y="51000"/>
                  <a:pt x="80000" y="48000"/>
                </a:quadBezTo>
                <a:quadBezTo>
                  <a:pt x="80000" y="38142"/>
                  <a:pt x="74588" y="29994"/>
                </a:quadBezTo>
                <a:quadBezTo>
                  <a:pt x="69177" y="21846"/>
                  <a:pt x="60000" y="18246"/>
                </a:quadBezTo>
                <a:lnTo>
                  <a:pt x="60000" y="20000"/>
                </a:lnTo>
                <a:quadBezTo>
                  <a:pt x="60000" y="23300"/>
                  <a:pt x="57650" y="25650"/>
                </a:quadBezTo>
                <a:quadBezTo>
                  <a:pt x="55300" y="28000"/>
                  <a:pt x="52000" y="28000"/>
                </a:quadBezTo>
                <a:lnTo>
                  <a:pt x="44000" y="28000"/>
                </a:lnTo>
                <a:lnTo>
                  <a:pt x="44000" y="36000"/>
                </a:lnTo>
                <a:quadBezTo>
                  <a:pt x="44000" y="37700"/>
                  <a:pt x="42850" y="38850"/>
                </a:quadBezTo>
                <a:quadBezTo>
                  <a:pt x="41700" y="40000"/>
                  <a:pt x="40000" y="40000"/>
                </a:quadBezTo>
                <a:lnTo>
                  <a:pt x="32000" y="40000"/>
                </a:lnTo>
                <a:lnTo>
                  <a:pt x="32000" y="48000"/>
                </a:lnTo>
                <a:lnTo>
                  <a:pt x="56000" y="48000"/>
                </a:lnTo>
                <a:quadBezTo>
                  <a:pt x="57700" y="48000"/>
                  <a:pt x="58850" y="49150"/>
                </a:quadBezTo>
                <a:quadBezTo>
                  <a:pt x="60000" y="50300"/>
                  <a:pt x="60000" y="52000"/>
                </a:quadBezTo>
                <a:lnTo>
                  <a:pt x="60000" y="64000"/>
                </a:lnTo>
                <a:lnTo>
                  <a:pt x="64000" y="64000"/>
                </a:lnTo>
                <a:quadBezTo>
                  <a:pt x="66600" y="64000"/>
                  <a:pt x="68700" y="65550"/>
                </a:quadBezTo>
                <a:quadBezTo>
                  <a:pt x="70800" y="67100"/>
                  <a:pt x="71600" y="696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5" name="TextBox 154"/>
          <p:cNvSpPr txBox="1"/>
          <p:nvPr/>
        </p:nvSpPr>
        <p:spPr>
          <a:xfrm>
            <a:off x="8314709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public</a:t>
            </a:r>
          </a:p>
        </p:txBody>
      </p:sp>
      <p:sp>
        <p:nvSpPr>
          <p:cNvPr id="156" name="Icon query_stats"/>
          <p:cNvSpPr/>
          <p:nvPr/>
        </p:nvSpPr>
        <p:spPr>
          <a:xfrm>
            <a:off x="9506946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9962" y="69854"/>
                </a:moveTo>
                <a:lnTo>
                  <a:pt x="6692" y="67462"/>
                </a:lnTo>
                <a:lnTo>
                  <a:pt x="24231" y="39385"/>
                </a:lnTo>
                <a:lnTo>
                  <a:pt x="36231" y="53385"/>
                </a:lnTo>
                <a:lnTo>
                  <a:pt x="52077" y="27692"/>
                </a:lnTo>
                <a:lnTo>
                  <a:pt x="60285" y="40069"/>
                </a:lnTo>
                <a:quadBezTo>
                  <a:pt x="59138" y="40246"/>
                  <a:pt x="58165" y="40465"/>
                </a:quadBezTo>
                <a:quadBezTo>
                  <a:pt x="57192" y="40685"/>
                  <a:pt x="56192" y="41023"/>
                </a:quadBezTo>
                <a:lnTo>
                  <a:pt x="52223" y="35108"/>
                </a:lnTo>
                <a:lnTo>
                  <a:pt x="36869" y="60115"/>
                </a:lnTo>
                <a:lnTo>
                  <a:pt x="24769" y="46015"/>
                </a:lnTo>
                <a:lnTo>
                  <a:pt x="9962" y="69854"/>
                </a:lnTo>
                <a:close/>
                <a:moveTo>
                  <a:pt x="86300" y="89154"/>
                </a:moveTo>
                <a:lnTo>
                  <a:pt x="72569" y="75577"/>
                </a:lnTo>
                <a:quadBezTo>
                  <a:pt x="70800" y="76900"/>
                  <a:pt x="68696" y="77600"/>
                </a:quadBezTo>
                <a:quadBezTo>
                  <a:pt x="66592" y="78300"/>
                  <a:pt x="64300" y="78300"/>
                </a:quadBezTo>
                <a:quadBezTo>
                  <a:pt x="58415" y="78300"/>
                  <a:pt x="54358" y="74242"/>
                </a:quadBezTo>
                <a:quadBezTo>
                  <a:pt x="50300" y="70185"/>
                  <a:pt x="50300" y="64300"/>
                </a:quadBezTo>
                <a:quadBezTo>
                  <a:pt x="50300" y="58415"/>
                  <a:pt x="54358" y="54358"/>
                </a:quadBezTo>
                <a:quadBezTo>
                  <a:pt x="58415" y="50300"/>
                  <a:pt x="64300" y="50300"/>
                </a:quadBezTo>
                <a:quadBezTo>
                  <a:pt x="70185" y="50300"/>
                  <a:pt x="74242" y="54358"/>
                </a:quadBezTo>
                <a:quadBezTo>
                  <a:pt x="78300" y="58415"/>
                  <a:pt x="78300" y="64300"/>
                </a:quadBezTo>
                <a:quadBezTo>
                  <a:pt x="78300" y="66669"/>
                  <a:pt x="77562" y="68812"/>
                </a:quadBezTo>
                <a:quadBezTo>
                  <a:pt x="76823" y="70954"/>
                  <a:pt x="75423" y="72746"/>
                </a:quadBezTo>
                <a:lnTo>
                  <a:pt x="89154" y="86300"/>
                </a:lnTo>
                <a:lnTo>
                  <a:pt x="86300" y="89154"/>
                </a:lnTo>
                <a:close/>
                <a:moveTo>
                  <a:pt x="64300" y="74300"/>
                </a:moveTo>
                <a:quadBezTo>
                  <a:pt x="68500" y="74300"/>
                  <a:pt x="71400" y="71400"/>
                </a:quadBezTo>
                <a:quadBezTo>
                  <a:pt x="74300" y="68500"/>
                  <a:pt x="74300" y="64300"/>
                </a:quadBezTo>
                <a:quadBezTo>
                  <a:pt x="74300" y="60100"/>
                  <a:pt x="71400" y="57200"/>
                </a:quadBezTo>
                <a:quadBezTo>
                  <a:pt x="68500" y="54300"/>
                  <a:pt x="64300" y="54300"/>
                </a:quadBezTo>
                <a:quadBezTo>
                  <a:pt x="60100" y="54300"/>
                  <a:pt x="57200" y="57200"/>
                </a:quadBezTo>
                <a:quadBezTo>
                  <a:pt x="54300" y="60100"/>
                  <a:pt x="54300" y="64300"/>
                </a:quadBezTo>
                <a:quadBezTo>
                  <a:pt x="54300" y="68500"/>
                  <a:pt x="57200" y="71400"/>
                </a:quadBezTo>
                <a:quadBezTo>
                  <a:pt x="60100" y="74300"/>
                  <a:pt x="64300" y="74300"/>
                </a:quadBezTo>
                <a:close/>
                <a:moveTo>
                  <a:pt x="71662" y="40915"/>
                </a:moveTo>
                <a:quadBezTo>
                  <a:pt x="70685" y="40577"/>
                  <a:pt x="69712" y="40346"/>
                </a:quadBezTo>
                <a:quadBezTo>
                  <a:pt x="68738" y="40115"/>
                  <a:pt x="67692" y="40015"/>
                </a:quadBezTo>
                <a:lnTo>
                  <a:pt x="86038" y="10846"/>
                </a:lnTo>
                <a:lnTo>
                  <a:pt x="89308" y="13238"/>
                </a:lnTo>
                <a:lnTo>
                  <a:pt x="71662" y="409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7" name="TextBox 156"/>
          <p:cNvSpPr txBox="1"/>
          <p:nvPr/>
        </p:nvSpPr>
        <p:spPr>
          <a:xfrm>
            <a:off x="9200974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query stats</a:t>
            </a:r>
          </a:p>
        </p:txBody>
      </p:sp>
      <p:sp>
        <p:nvSpPr>
          <p:cNvPr id="158" name="Icon receipt_long"/>
          <p:cNvSpPr/>
          <p:nvPr/>
        </p:nvSpPr>
        <p:spPr>
          <a:xfrm>
            <a:off x="10393211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4000"/>
                </a:moveTo>
                <a:quadBezTo>
                  <a:pt x="20615" y="84000"/>
                  <a:pt x="18308" y="81692"/>
                </a:quadBezTo>
                <a:quadBezTo>
                  <a:pt x="16000" y="79385"/>
                  <a:pt x="16000" y="76036"/>
                </a:quadBezTo>
                <a:lnTo>
                  <a:pt x="16000" y="68000"/>
                </a:lnTo>
                <a:lnTo>
                  <a:pt x="28000" y="68000"/>
                </a:lnTo>
                <a:lnTo>
                  <a:pt x="28000" y="13538"/>
                </a:lnTo>
                <a:lnTo>
                  <a:pt x="33077" y="17077"/>
                </a:lnTo>
                <a:lnTo>
                  <a:pt x="38308" y="13538"/>
                </a:lnTo>
                <a:lnTo>
                  <a:pt x="43538" y="17077"/>
                </a:lnTo>
                <a:lnTo>
                  <a:pt x="48769" y="13538"/>
                </a:lnTo>
                <a:lnTo>
                  <a:pt x="54000" y="17077"/>
                </a:lnTo>
                <a:lnTo>
                  <a:pt x="59231" y="13538"/>
                </a:lnTo>
                <a:lnTo>
                  <a:pt x="64462" y="17077"/>
                </a:lnTo>
                <a:lnTo>
                  <a:pt x="69692" y="13538"/>
                </a:lnTo>
                <a:lnTo>
                  <a:pt x="74923" y="17077"/>
                </a:lnTo>
                <a:lnTo>
                  <a:pt x="80000" y="13538"/>
                </a:lnTo>
                <a:lnTo>
                  <a:pt x="80000" y="76000"/>
                </a:lnTo>
                <a:quadBezTo>
                  <a:pt x="80000" y="79385"/>
                  <a:pt x="77692" y="81692"/>
                </a:quadBezTo>
                <a:quadBezTo>
                  <a:pt x="75385" y="84000"/>
                  <a:pt x="72000" y="84000"/>
                </a:quadBezTo>
                <a:lnTo>
                  <a:pt x="24000" y="84000"/>
                </a:lnTo>
                <a:close/>
                <a:moveTo>
                  <a:pt x="72000" y="80000"/>
                </a:moveTo>
                <a:quadBezTo>
                  <a:pt x="73700" y="80000"/>
                  <a:pt x="74850" y="78850"/>
                </a:quadBezTo>
                <a:quadBezTo>
                  <a:pt x="76000" y="77700"/>
                  <a:pt x="76000" y="76000"/>
                </a:quadBezTo>
                <a:lnTo>
                  <a:pt x="76000" y="20000"/>
                </a:lnTo>
                <a:lnTo>
                  <a:pt x="32000" y="20000"/>
                </a:lnTo>
                <a:lnTo>
                  <a:pt x="32000" y="68000"/>
                </a:lnTo>
                <a:lnTo>
                  <a:pt x="68000" y="68000"/>
                </a:lnTo>
                <a:lnTo>
                  <a:pt x="68000" y="76000"/>
                </a:lnTo>
                <a:quadBezTo>
                  <a:pt x="68000" y="77700"/>
                  <a:pt x="69150" y="78850"/>
                </a:quadBezTo>
                <a:quadBezTo>
                  <a:pt x="70300" y="80000"/>
                  <a:pt x="72000" y="80000"/>
                </a:quadBezTo>
                <a:close/>
                <a:moveTo>
                  <a:pt x="37538" y="34000"/>
                </a:moveTo>
                <a:lnTo>
                  <a:pt x="37538" y="30000"/>
                </a:lnTo>
                <a:lnTo>
                  <a:pt x="58923" y="30000"/>
                </a:lnTo>
                <a:lnTo>
                  <a:pt x="58923" y="34000"/>
                </a:lnTo>
                <a:lnTo>
                  <a:pt x="37538" y="34000"/>
                </a:lnTo>
                <a:close/>
                <a:moveTo>
                  <a:pt x="37538" y="46000"/>
                </a:moveTo>
                <a:lnTo>
                  <a:pt x="37538" y="42000"/>
                </a:lnTo>
                <a:lnTo>
                  <a:pt x="58923" y="42000"/>
                </a:lnTo>
                <a:lnTo>
                  <a:pt x="58923" y="46000"/>
                </a:lnTo>
                <a:lnTo>
                  <a:pt x="37538" y="46000"/>
                </a:lnTo>
                <a:close/>
                <a:moveTo>
                  <a:pt x="67538" y="35077"/>
                </a:moveTo>
                <a:quadBezTo>
                  <a:pt x="66300" y="35077"/>
                  <a:pt x="65381" y="34158"/>
                </a:quadBezTo>
                <a:quadBezTo>
                  <a:pt x="64462" y="33238"/>
                  <a:pt x="64462" y="32000"/>
                </a:quadBezTo>
                <a:quadBezTo>
                  <a:pt x="64462" y="30762"/>
                  <a:pt x="65381" y="29842"/>
                </a:quadBezTo>
                <a:quadBezTo>
                  <a:pt x="66300" y="28923"/>
                  <a:pt x="67538" y="28923"/>
                </a:quadBezTo>
                <a:quadBezTo>
                  <a:pt x="68777" y="28923"/>
                  <a:pt x="69696" y="29842"/>
                </a:quadBezTo>
                <a:quadBezTo>
                  <a:pt x="70615" y="30762"/>
                  <a:pt x="70615" y="32000"/>
                </a:quadBezTo>
                <a:quadBezTo>
                  <a:pt x="70615" y="33238"/>
                  <a:pt x="69696" y="34158"/>
                </a:quadBezTo>
                <a:quadBezTo>
                  <a:pt x="68777" y="35077"/>
                  <a:pt x="67538" y="35077"/>
                </a:quadBezTo>
                <a:close/>
                <a:moveTo>
                  <a:pt x="67538" y="47077"/>
                </a:moveTo>
                <a:quadBezTo>
                  <a:pt x="66300" y="47077"/>
                  <a:pt x="65381" y="46158"/>
                </a:quadBezTo>
                <a:quadBezTo>
                  <a:pt x="64462" y="45238"/>
                  <a:pt x="64462" y="44000"/>
                </a:quadBezTo>
                <a:quadBezTo>
                  <a:pt x="64462" y="42762"/>
                  <a:pt x="65381" y="41842"/>
                </a:quadBezTo>
                <a:quadBezTo>
                  <a:pt x="66300" y="40923"/>
                  <a:pt x="67538" y="40923"/>
                </a:quadBezTo>
                <a:quadBezTo>
                  <a:pt x="68777" y="40923"/>
                  <a:pt x="69696" y="41842"/>
                </a:quadBezTo>
                <a:quadBezTo>
                  <a:pt x="70615" y="42762"/>
                  <a:pt x="70615" y="44000"/>
                </a:quadBezTo>
                <a:quadBezTo>
                  <a:pt x="70615" y="45238"/>
                  <a:pt x="69696" y="46158"/>
                </a:quadBezTo>
                <a:quadBezTo>
                  <a:pt x="68777" y="47077"/>
                  <a:pt x="67538" y="47077"/>
                </a:quadBezTo>
                <a:close/>
                <a:moveTo>
                  <a:pt x="24000" y="80000"/>
                </a:moveTo>
                <a:lnTo>
                  <a:pt x="64000" y="80000"/>
                </a:lnTo>
                <a:lnTo>
                  <a:pt x="64000" y="72000"/>
                </a:lnTo>
                <a:lnTo>
                  <a:pt x="20000" y="72000"/>
                </a:lnTo>
                <a:lnTo>
                  <a:pt x="20000" y="76000"/>
                </a:lnTo>
                <a:quadBezTo>
                  <a:pt x="20000" y="77700"/>
                  <a:pt x="21150" y="78850"/>
                </a:quadBezTo>
                <a:quadBezTo>
                  <a:pt x="22300" y="80000"/>
                  <a:pt x="24000" y="80000"/>
                </a:quadBezTo>
                <a:close/>
                <a:moveTo>
                  <a:pt x="20000" y="80000"/>
                </a:moveTo>
                <a:lnTo>
                  <a:pt x="20000" y="72000"/>
                </a:lnTo>
                <a:lnTo>
                  <a:pt x="20000" y="8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9" name="TextBox 158"/>
          <p:cNvSpPr txBox="1"/>
          <p:nvPr/>
        </p:nvSpPr>
        <p:spPr>
          <a:xfrm>
            <a:off x="10087238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receipt long</a:t>
            </a:r>
          </a:p>
        </p:txBody>
      </p:sp>
      <p:sp>
        <p:nvSpPr>
          <p:cNvPr id="160" name="Icon recycling"/>
          <p:cNvSpPr/>
          <p:nvPr/>
        </p:nvSpPr>
        <p:spPr>
          <a:xfrm>
            <a:off x="11279475" y="3840480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8492" y="38800"/>
                </a:moveTo>
                <a:lnTo>
                  <a:pt x="46085" y="26408"/>
                </a:lnTo>
                <a:lnTo>
                  <a:pt x="41031" y="18069"/>
                </a:lnTo>
                <a:quadBezTo>
                  <a:pt x="40062" y="16377"/>
                  <a:pt x="38119" y="16377"/>
                </a:quadBezTo>
                <a:quadBezTo>
                  <a:pt x="36177" y="16377"/>
                  <a:pt x="35170" y="18074"/>
                </a:quadBezTo>
                <a:lnTo>
                  <a:pt x="26946" y="31908"/>
                </a:lnTo>
                <a:lnTo>
                  <a:pt x="38492" y="38800"/>
                </a:lnTo>
                <a:close/>
                <a:moveTo>
                  <a:pt x="71258" y="61846"/>
                </a:moveTo>
                <a:lnTo>
                  <a:pt x="63754" y="49354"/>
                </a:lnTo>
                <a:lnTo>
                  <a:pt x="75500" y="42585"/>
                </a:lnTo>
                <a:lnTo>
                  <a:pt x="80900" y="51592"/>
                </a:lnTo>
                <a:quadBezTo>
                  <a:pt x="81769" y="53062"/>
                  <a:pt x="81908" y="54854"/>
                </a:quadBezTo>
                <a:quadBezTo>
                  <a:pt x="82046" y="56646"/>
                  <a:pt x="81200" y="58138"/>
                </a:quadBezTo>
                <a:quadBezTo>
                  <a:pt x="80354" y="59908"/>
                  <a:pt x="78673" y="60877"/>
                </a:quadBezTo>
                <a:quadBezTo>
                  <a:pt x="76992" y="61846"/>
                  <a:pt x="75053" y="61846"/>
                </a:quadBezTo>
                <a:lnTo>
                  <a:pt x="71258" y="61846"/>
                </a:lnTo>
                <a:close/>
                <a:moveTo>
                  <a:pt x="61538" y="85539"/>
                </a:moveTo>
                <a:lnTo>
                  <a:pt x="48000" y="72000"/>
                </a:lnTo>
                <a:lnTo>
                  <a:pt x="61538" y="58462"/>
                </a:lnTo>
                <a:lnTo>
                  <a:pt x="61538" y="65231"/>
                </a:lnTo>
                <a:lnTo>
                  <a:pt x="77615" y="65231"/>
                </a:lnTo>
                <a:lnTo>
                  <a:pt x="72708" y="75046"/>
                </a:lnTo>
                <a:quadBezTo>
                  <a:pt x="71777" y="76738"/>
                  <a:pt x="70169" y="77754"/>
                </a:quadBezTo>
                <a:quadBezTo>
                  <a:pt x="68562" y="78769"/>
                  <a:pt x="66615" y="78769"/>
                </a:quadBezTo>
                <a:lnTo>
                  <a:pt x="61538" y="78769"/>
                </a:lnTo>
                <a:lnTo>
                  <a:pt x="61538" y="85539"/>
                </a:lnTo>
                <a:close/>
                <a:moveTo>
                  <a:pt x="28765" y="78769"/>
                </a:moveTo>
                <a:quadBezTo>
                  <a:pt x="27069" y="78769"/>
                  <a:pt x="25688" y="77912"/>
                </a:quadBezTo>
                <a:quadBezTo>
                  <a:pt x="24308" y="77054"/>
                  <a:pt x="23662" y="75592"/>
                </a:quadBezTo>
                <a:quadBezTo>
                  <a:pt x="23015" y="74215"/>
                  <a:pt x="23027" y="72735"/>
                </a:quadBezTo>
                <a:quadBezTo>
                  <a:pt x="23038" y="71254"/>
                  <a:pt x="23800" y="69981"/>
                </a:quadBezTo>
                <a:lnTo>
                  <a:pt x="26677" y="65231"/>
                </a:lnTo>
                <a:lnTo>
                  <a:pt x="41231" y="65231"/>
                </a:lnTo>
                <a:lnTo>
                  <a:pt x="41231" y="78769"/>
                </a:lnTo>
                <a:lnTo>
                  <a:pt x="28765" y="78769"/>
                </a:lnTo>
                <a:close/>
                <a:moveTo>
                  <a:pt x="20400" y="69138"/>
                </a:moveTo>
                <a:lnTo>
                  <a:pt x="14900" y="58138"/>
                </a:lnTo>
                <a:quadBezTo>
                  <a:pt x="14077" y="56569"/>
                  <a:pt x="14165" y="54827"/>
                </a:quadBezTo>
                <a:quadBezTo>
                  <a:pt x="14254" y="53085"/>
                  <a:pt x="15166" y="51592"/>
                </a:quadBezTo>
                <a:lnTo>
                  <a:pt x="16492" y="49354"/>
                </a:lnTo>
                <a:lnTo>
                  <a:pt x="10769" y="45869"/>
                </a:lnTo>
                <a:lnTo>
                  <a:pt x="29285" y="41215"/>
                </a:lnTo>
                <a:lnTo>
                  <a:pt x="33938" y="59831"/>
                </a:lnTo>
                <a:lnTo>
                  <a:pt x="28115" y="56246"/>
                </a:lnTo>
                <a:lnTo>
                  <a:pt x="20400" y="69138"/>
                </a:lnTo>
                <a:close/>
                <a:moveTo>
                  <a:pt x="66092" y="40169"/>
                </a:moveTo>
                <a:lnTo>
                  <a:pt x="47562" y="35518"/>
                </a:lnTo>
                <a:lnTo>
                  <a:pt x="53400" y="32051"/>
                </a:lnTo>
                <a:lnTo>
                  <a:pt x="42823" y="14461"/>
                </a:lnTo>
                <a:lnTo>
                  <a:pt x="54754" y="14461"/>
                </a:lnTo>
                <a:quadBezTo>
                  <a:pt x="56531" y="14461"/>
                  <a:pt x="58096" y="15346"/>
                </a:quadBezTo>
                <a:quadBezTo>
                  <a:pt x="59662" y="16230"/>
                  <a:pt x="60592" y="17746"/>
                </a:quadBezTo>
                <a:lnTo>
                  <a:pt x="65023" y="25138"/>
                </a:lnTo>
                <a:lnTo>
                  <a:pt x="70746" y="21554"/>
                </a:lnTo>
                <a:lnTo>
                  <a:pt x="66092" y="401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1" name="TextBox 160"/>
          <p:cNvSpPr txBox="1"/>
          <p:nvPr/>
        </p:nvSpPr>
        <p:spPr>
          <a:xfrm>
            <a:off x="10973503" y="4123944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recycling</a:t>
            </a:r>
          </a:p>
        </p:txBody>
      </p:sp>
      <p:sp>
        <p:nvSpPr>
          <p:cNvPr id="162" name="Icon robot_2"/>
          <p:cNvSpPr/>
          <p:nvPr/>
        </p:nvSpPr>
        <p:spPr>
          <a:xfrm>
            <a:off x="644300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80000"/>
                </a:moveTo>
                <a:lnTo>
                  <a:pt x="20000" y="63830"/>
                </a:lnTo>
                <a:quadBezTo>
                  <a:pt x="20000" y="61162"/>
                  <a:pt x="21898" y="59273"/>
                </a:quadBezTo>
                <a:quadBezTo>
                  <a:pt x="23796" y="57385"/>
                  <a:pt x="26462" y="57385"/>
                </a:quadBezTo>
                <a:lnTo>
                  <a:pt x="69538" y="57385"/>
                </a:lnTo>
                <a:quadBezTo>
                  <a:pt x="72204" y="57385"/>
                  <a:pt x="74102" y="59283"/>
                </a:quadBezTo>
                <a:quadBezTo>
                  <a:pt x="76000" y="61181"/>
                  <a:pt x="76000" y="63846"/>
                </a:quadBezTo>
                <a:lnTo>
                  <a:pt x="76000" y="80000"/>
                </a:lnTo>
                <a:lnTo>
                  <a:pt x="20000" y="80000"/>
                </a:lnTo>
                <a:close/>
                <a:moveTo>
                  <a:pt x="37154" y="50308"/>
                </a:moveTo>
                <a:quadBezTo>
                  <a:pt x="30035" y="50308"/>
                  <a:pt x="25017" y="45290"/>
                </a:quadBezTo>
                <a:quadBezTo>
                  <a:pt x="20000" y="40273"/>
                  <a:pt x="20000" y="33154"/>
                </a:quadBezTo>
                <a:quadBezTo>
                  <a:pt x="20000" y="26035"/>
                  <a:pt x="25017" y="21017"/>
                </a:quadBezTo>
                <a:quadBezTo>
                  <a:pt x="30035" y="16000"/>
                  <a:pt x="37154" y="16000"/>
                </a:quadBezTo>
                <a:lnTo>
                  <a:pt x="58846" y="16000"/>
                </a:lnTo>
                <a:quadBezTo>
                  <a:pt x="65965" y="16000"/>
                  <a:pt x="70983" y="21017"/>
                </a:quadBezTo>
                <a:quadBezTo>
                  <a:pt x="76000" y="26035"/>
                  <a:pt x="76000" y="33154"/>
                </a:quadBezTo>
                <a:quadBezTo>
                  <a:pt x="76000" y="40273"/>
                  <a:pt x="70983" y="45290"/>
                </a:quadBezTo>
                <a:quadBezTo>
                  <a:pt x="65965" y="50308"/>
                  <a:pt x="58846" y="50308"/>
                </a:quadBezTo>
                <a:lnTo>
                  <a:pt x="37154" y="50308"/>
                </a:lnTo>
                <a:close/>
                <a:moveTo>
                  <a:pt x="24000" y="76000"/>
                </a:moveTo>
                <a:lnTo>
                  <a:pt x="72000" y="76000"/>
                </a:lnTo>
                <a:lnTo>
                  <a:pt x="72000" y="63846"/>
                </a:lnTo>
                <a:quadBezTo>
                  <a:pt x="72000" y="62769"/>
                  <a:pt x="71308" y="62077"/>
                </a:quadBezTo>
                <a:quadBezTo>
                  <a:pt x="70615" y="61385"/>
                  <a:pt x="69538" y="61385"/>
                </a:quadBezTo>
                <a:lnTo>
                  <a:pt x="26462" y="61385"/>
                </a:lnTo>
                <a:quadBezTo>
                  <a:pt x="25385" y="61385"/>
                  <a:pt x="24692" y="62077"/>
                </a:quadBezTo>
                <a:quadBezTo>
                  <a:pt x="24000" y="62769"/>
                  <a:pt x="24000" y="63846"/>
                </a:quadBezTo>
                <a:lnTo>
                  <a:pt x="24000" y="76000"/>
                </a:lnTo>
                <a:close/>
                <a:moveTo>
                  <a:pt x="37154" y="46308"/>
                </a:moveTo>
                <a:lnTo>
                  <a:pt x="58846" y="46308"/>
                </a:lnTo>
                <a:quadBezTo>
                  <a:pt x="64385" y="46308"/>
                  <a:pt x="68192" y="42500"/>
                </a:quadBezTo>
                <a:quadBezTo>
                  <a:pt x="72000" y="38692"/>
                  <a:pt x="72000" y="33154"/>
                </a:quadBezTo>
                <a:quadBezTo>
                  <a:pt x="72000" y="27615"/>
                  <a:pt x="68192" y="23808"/>
                </a:quadBezTo>
                <a:quadBezTo>
                  <a:pt x="64385" y="20000"/>
                  <a:pt x="58846" y="20000"/>
                </a:quadBezTo>
                <a:lnTo>
                  <a:pt x="37154" y="20000"/>
                </a:lnTo>
                <a:quadBezTo>
                  <a:pt x="31615" y="20000"/>
                  <a:pt x="27808" y="23808"/>
                </a:quadBezTo>
                <a:quadBezTo>
                  <a:pt x="24000" y="27615"/>
                  <a:pt x="24000" y="33154"/>
                </a:quadBezTo>
                <a:quadBezTo>
                  <a:pt x="24000" y="38692"/>
                  <a:pt x="27808" y="42500"/>
                </a:quadBezTo>
                <a:quadBezTo>
                  <a:pt x="31615" y="46308"/>
                  <a:pt x="37154" y="46308"/>
                </a:quadBezTo>
                <a:close/>
                <a:moveTo>
                  <a:pt x="37151" y="36077"/>
                </a:moveTo>
                <a:quadBezTo>
                  <a:pt x="38392" y="36077"/>
                  <a:pt x="39235" y="35237"/>
                </a:quadBezTo>
                <a:quadBezTo>
                  <a:pt x="40077" y="34398"/>
                  <a:pt x="40077" y="33157"/>
                </a:quadBezTo>
                <a:quadBezTo>
                  <a:pt x="40077" y="31915"/>
                  <a:pt x="39237" y="31073"/>
                </a:quadBezTo>
                <a:quadBezTo>
                  <a:pt x="38398" y="30231"/>
                  <a:pt x="37157" y="30231"/>
                </a:quadBezTo>
                <a:quadBezTo>
                  <a:pt x="35915" y="30231"/>
                  <a:pt x="35073" y="31070"/>
                </a:quadBezTo>
                <a:quadBezTo>
                  <a:pt x="34231" y="31910"/>
                  <a:pt x="34231" y="33151"/>
                </a:quadBezTo>
                <a:quadBezTo>
                  <a:pt x="34231" y="34392"/>
                  <a:pt x="35070" y="35235"/>
                </a:quadBezTo>
                <a:quadBezTo>
                  <a:pt x="35910" y="36077"/>
                  <a:pt x="37151" y="36077"/>
                </a:quadBezTo>
                <a:close/>
                <a:moveTo>
                  <a:pt x="58843" y="36077"/>
                </a:moveTo>
                <a:quadBezTo>
                  <a:pt x="60085" y="36077"/>
                  <a:pt x="60927" y="35237"/>
                </a:quadBezTo>
                <a:quadBezTo>
                  <a:pt x="61769" y="34398"/>
                  <a:pt x="61769" y="33157"/>
                </a:quadBezTo>
                <a:quadBezTo>
                  <a:pt x="61769" y="31915"/>
                  <a:pt x="60930" y="31073"/>
                </a:quadBezTo>
                <a:quadBezTo>
                  <a:pt x="60090" y="30231"/>
                  <a:pt x="58849" y="30231"/>
                </a:quadBezTo>
                <a:quadBezTo>
                  <a:pt x="57608" y="30231"/>
                  <a:pt x="56765" y="31070"/>
                </a:quadBezTo>
                <a:quadBezTo>
                  <a:pt x="55923" y="31910"/>
                  <a:pt x="55923" y="33151"/>
                </a:quadBezTo>
                <a:quadBezTo>
                  <a:pt x="55923" y="34392"/>
                  <a:pt x="56763" y="35235"/>
                </a:quadBezTo>
                <a:quadBezTo>
                  <a:pt x="57602" y="36077"/>
                  <a:pt x="58843" y="36077"/>
                </a:quadBezTo>
                <a:close/>
                <a:moveTo>
                  <a:pt x="48000" y="76000"/>
                </a:moveTo>
                <a:close/>
                <a:moveTo>
                  <a:pt x="48000" y="33154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3" name="TextBox 162"/>
          <p:cNvSpPr txBox="1"/>
          <p:nvPr/>
        </p:nvSpPr>
        <p:spPr>
          <a:xfrm>
            <a:off x="338328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robot 2</a:t>
            </a:r>
          </a:p>
        </p:txBody>
      </p:sp>
      <p:sp>
        <p:nvSpPr>
          <p:cNvPr id="164" name="Icon rocket_launch"/>
          <p:cNvSpPr/>
          <p:nvPr/>
        </p:nvSpPr>
        <p:spPr>
          <a:xfrm>
            <a:off x="1530564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754" y="44869"/>
                </a:moveTo>
                <a:lnTo>
                  <a:pt x="30554" y="49015"/>
                </a:lnTo>
                <a:quadBezTo>
                  <a:pt x="32415" y="45292"/>
                  <a:pt x="34608" y="41808"/>
                </a:quadBezTo>
                <a:quadBezTo>
                  <a:pt x="36800" y="38323"/>
                  <a:pt x="39446" y="35031"/>
                </a:quadBezTo>
                <a:lnTo>
                  <a:pt x="33308" y="33854"/>
                </a:lnTo>
                <a:quadBezTo>
                  <a:pt x="32692" y="33700"/>
                  <a:pt x="32115" y="33892"/>
                </a:quadBezTo>
                <a:quadBezTo>
                  <a:pt x="31538" y="34085"/>
                  <a:pt x="31077" y="34546"/>
                </a:quadBezTo>
                <a:lnTo>
                  <a:pt x="20754" y="44869"/>
                </a:lnTo>
                <a:close/>
                <a:moveTo>
                  <a:pt x="33723" y="51554"/>
                </a:moveTo>
                <a:lnTo>
                  <a:pt x="45046" y="62854"/>
                </a:lnTo>
                <a:quadBezTo>
                  <a:pt x="49785" y="60715"/>
                  <a:pt x="54585" y="57415"/>
                </a:quadBezTo>
                <a:quadBezTo>
                  <a:pt x="59385" y="54115"/>
                  <a:pt x="63815" y="49685"/>
                </a:quadBezTo>
                <a:quadBezTo>
                  <a:pt x="70277" y="43223"/>
                  <a:pt x="73688" y="35904"/>
                </a:quadBezTo>
                <a:quadBezTo>
                  <a:pt x="77100" y="28585"/>
                  <a:pt x="77523" y="19000"/>
                </a:quadBezTo>
                <a:quadBezTo>
                  <a:pt x="67938" y="19423"/>
                  <a:pt x="60646" y="22835"/>
                </a:quadBezTo>
                <a:quadBezTo>
                  <a:pt x="53354" y="26246"/>
                  <a:pt x="46892" y="32708"/>
                </a:quadBezTo>
                <a:quadBezTo>
                  <a:pt x="42462" y="37138"/>
                  <a:pt x="39162" y="41977"/>
                </a:quadBezTo>
                <a:quadBezTo>
                  <a:pt x="35862" y="46815"/>
                  <a:pt x="33723" y="51554"/>
                </a:quadBezTo>
                <a:close/>
                <a:moveTo>
                  <a:pt x="54446" y="42054"/>
                </a:moveTo>
                <a:quadBezTo>
                  <a:pt x="52685" y="40292"/>
                  <a:pt x="52685" y="37827"/>
                </a:quadBezTo>
                <a:quadBezTo>
                  <a:pt x="52685" y="35362"/>
                  <a:pt x="54446" y="33600"/>
                </a:quadBezTo>
                <a:quadBezTo>
                  <a:pt x="56208" y="31838"/>
                  <a:pt x="58723" y="31838"/>
                </a:quadBezTo>
                <a:quadBezTo>
                  <a:pt x="61238" y="31838"/>
                  <a:pt x="63000" y="33600"/>
                </a:quadBezTo>
                <a:quadBezTo>
                  <a:pt x="64762" y="35362"/>
                  <a:pt x="64762" y="37827"/>
                </a:quadBezTo>
                <a:quadBezTo>
                  <a:pt x="64762" y="40292"/>
                  <a:pt x="63000" y="42054"/>
                </a:quadBezTo>
                <a:quadBezTo>
                  <a:pt x="61238" y="43815"/>
                  <a:pt x="58723" y="43815"/>
                </a:quadBezTo>
                <a:quadBezTo>
                  <a:pt x="56208" y="43815"/>
                  <a:pt x="54446" y="42054"/>
                </a:quadBezTo>
                <a:close/>
                <a:moveTo>
                  <a:pt x="51654" y="75846"/>
                </a:moveTo>
                <a:lnTo>
                  <a:pt x="61977" y="65523"/>
                </a:lnTo>
                <a:quadBezTo>
                  <a:pt x="62438" y="65062"/>
                  <a:pt x="62631" y="64485"/>
                </a:quadBezTo>
                <a:quadBezTo>
                  <a:pt x="62823" y="63908"/>
                  <a:pt x="62669" y="63292"/>
                </a:quadBezTo>
                <a:lnTo>
                  <a:pt x="61492" y="57154"/>
                </a:lnTo>
                <a:quadBezTo>
                  <a:pt x="58200" y="59800"/>
                  <a:pt x="54715" y="61981"/>
                </a:quadBezTo>
                <a:quadBezTo>
                  <a:pt x="51231" y="64162"/>
                  <a:pt x="47508" y="66023"/>
                </a:quadBezTo>
                <a:lnTo>
                  <a:pt x="51654" y="75846"/>
                </a:lnTo>
                <a:close/>
                <a:moveTo>
                  <a:pt x="81262" y="15315"/>
                </a:moveTo>
                <a:quadBezTo>
                  <a:pt x="81931" y="26338"/>
                  <a:pt x="78142" y="35596"/>
                </a:quadBezTo>
                <a:quadBezTo>
                  <a:pt x="74354" y="44854"/>
                  <a:pt x="66338" y="52869"/>
                </a:quadBezTo>
                <a:quadBezTo>
                  <a:pt x="65954" y="53254"/>
                  <a:pt x="65646" y="53562"/>
                </a:quadBezTo>
                <a:quadBezTo>
                  <a:pt x="65338" y="53869"/>
                  <a:pt x="64954" y="54254"/>
                </a:quadBezTo>
                <a:lnTo>
                  <a:pt x="66569" y="62462"/>
                </a:lnTo>
                <a:quadBezTo>
                  <a:pt x="66892" y="64077"/>
                  <a:pt x="66446" y="65592"/>
                </a:quadBezTo>
                <a:quadBezTo>
                  <a:pt x="66000" y="67108"/>
                  <a:pt x="64831" y="68277"/>
                </a:quadBezTo>
                <a:lnTo>
                  <a:pt x="50262" y="82769"/>
                </a:lnTo>
                <a:lnTo>
                  <a:pt x="43631" y="67146"/>
                </a:lnTo>
                <a:lnTo>
                  <a:pt x="29377" y="52892"/>
                </a:lnTo>
                <a:lnTo>
                  <a:pt x="13754" y="46185"/>
                </a:lnTo>
                <a:lnTo>
                  <a:pt x="28223" y="31692"/>
                </a:lnTo>
                <a:quadBezTo>
                  <a:pt x="29392" y="30523"/>
                  <a:pt x="30919" y="30038"/>
                </a:quadBezTo>
                <a:quadBezTo>
                  <a:pt x="32446" y="29554"/>
                  <a:pt x="34062" y="29877"/>
                </a:quadBezTo>
                <a:lnTo>
                  <a:pt x="42423" y="31569"/>
                </a:lnTo>
                <a:quadBezTo>
                  <a:pt x="42808" y="31185"/>
                  <a:pt x="43077" y="30877"/>
                </a:quadBezTo>
                <a:quadBezTo>
                  <a:pt x="43346" y="30569"/>
                  <a:pt x="43731" y="30185"/>
                </a:quadBezTo>
                <a:quadBezTo>
                  <a:pt x="51746" y="22169"/>
                  <a:pt x="60992" y="18408"/>
                </a:quadBezTo>
                <a:quadBezTo>
                  <a:pt x="70238" y="14646"/>
                  <a:pt x="81262" y="15315"/>
                </a:quadBezTo>
                <a:close/>
                <a:moveTo>
                  <a:pt x="20469" y="64669"/>
                </a:moveTo>
                <a:quadBezTo>
                  <a:pt x="22815" y="62323"/>
                  <a:pt x="26173" y="62350"/>
                </a:quadBezTo>
                <a:quadBezTo>
                  <a:pt x="29531" y="62377"/>
                  <a:pt x="31877" y="64723"/>
                </a:quadBezTo>
                <a:quadBezTo>
                  <a:pt x="34223" y="67069"/>
                  <a:pt x="34212" y="70427"/>
                </a:quadBezTo>
                <a:quadBezTo>
                  <a:pt x="34200" y="73785"/>
                  <a:pt x="31854" y="76131"/>
                </a:quadBezTo>
                <a:quadBezTo>
                  <a:pt x="29815" y="78169"/>
                  <a:pt x="25312" y="79623"/>
                </a:quadBezTo>
                <a:quadBezTo>
                  <a:pt x="20808" y="81077"/>
                  <a:pt x="14892" y="81631"/>
                </a:quadBezTo>
                <a:quadBezTo>
                  <a:pt x="15446" y="75715"/>
                  <a:pt x="16938" y="71212"/>
                </a:quadBezTo>
                <a:quadBezTo>
                  <a:pt x="18431" y="66708"/>
                  <a:pt x="20469" y="64669"/>
                </a:quadBezTo>
                <a:close/>
                <a:moveTo>
                  <a:pt x="23323" y="67577"/>
                </a:moveTo>
                <a:quadBezTo>
                  <a:pt x="22169" y="68731"/>
                  <a:pt x="21169" y="71342"/>
                </a:quadBezTo>
                <a:quadBezTo>
                  <a:pt x="20169" y="73954"/>
                  <a:pt x="19846" y="76731"/>
                </a:quadBezTo>
                <a:quadBezTo>
                  <a:pt x="22623" y="76408"/>
                  <a:pt x="25235" y="75381"/>
                </a:quadBezTo>
                <a:quadBezTo>
                  <a:pt x="27846" y="74354"/>
                  <a:pt x="29000" y="73200"/>
                </a:quadBezTo>
                <a:quadBezTo>
                  <a:pt x="30200" y="72000"/>
                  <a:pt x="30223" y="70338"/>
                </a:quadBezTo>
                <a:quadBezTo>
                  <a:pt x="30246" y="68677"/>
                  <a:pt x="29046" y="67477"/>
                </a:quadBezTo>
                <a:quadBezTo>
                  <a:pt x="27846" y="66277"/>
                  <a:pt x="26185" y="66327"/>
                </a:quadBezTo>
                <a:quadBezTo>
                  <a:pt x="24523" y="66377"/>
                  <a:pt x="23323" y="67577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5" name="TextBox 164"/>
          <p:cNvSpPr txBox="1"/>
          <p:nvPr/>
        </p:nvSpPr>
        <p:spPr>
          <a:xfrm>
            <a:off x="1224592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rocket launch</a:t>
            </a:r>
          </a:p>
        </p:txBody>
      </p:sp>
      <p:sp>
        <p:nvSpPr>
          <p:cNvPr id="166" name="Icon savings"/>
          <p:cNvSpPr/>
          <p:nvPr/>
        </p:nvSpPr>
        <p:spPr>
          <a:xfrm>
            <a:off x="2416829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43077"/>
                </a:moveTo>
                <a:quadBezTo>
                  <a:pt x="65238" y="43077"/>
                  <a:pt x="66158" y="42158"/>
                </a:quadBezTo>
                <a:quadBezTo>
                  <a:pt x="67077" y="41238"/>
                  <a:pt x="67077" y="40000"/>
                </a:quadBezTo>
                <a:quadBezTo>
                  <a:pt x="67077" y="38762"/>
                  <a:pt x="66158" y="37842"/>
                </a:quadBezTo>
                <a:quadBezTo>
                  <a:pt x="65238" y="36923"/>
                  <a:pt x="64000" y="36923"/>
                </a:quadBezTo>
                <a:quadBezTo>
                  <a:pt x="62762" y="36923"/>
                  <a:pt x="61842" y="37842"/>
                </a:quadBezTo>
                <a:quadBezTo>
                  <a:pt x="60923" y="38762"/>
                  <a:pt x="60923" y="40000"/>
                </a:quadBezTo>
                <a:quadBezTo>
                  <a:pt x="60923" y="41238"/>
                  <a:pt x="61842" y="42158"/>
                </a:quadBezTo>
                <a:quadBezTo>
                  <a:pt x="62762" y="43077"/>
                  <a:pt x="64000" y="43077"/>
                </a:quadBezTo>
                <a:close/>
                <a:moveTo>
                  <a:pt x="32000" y="34000"/>
                </a:moveTo>
                <a:lnTo>
                  <a:pt x="52000" y="34000"/>
                </a:lnTo>
                <a:lnTo>
                  <a:pt x="52000" y="30000"/>
                </a:lnTo>
                <a:lnTo>
                  <a:pt x="32000" y="30000"/>
                </a:lnTo>
                <a:lnTo>
                  <a:pt x="32000" y="34000"/>
                </a:lnTo>
                <a:close/>
                <a:moveTo>
                  <a:pt x="21000" y="80000"/>
                </a:moveTo>
                <a:quadBezTo>
                  <a:pt x="18062" y="69523"/>
                  <a:pt x="15031" y="59212"/>
                </a:quadBezTo>
                <a:quadBezTo>
                  <a:pt x="12000" y="48900"/>
                  <a:pt x="12000" y="38000"/>
                </a:quadBezTo>
                <a:quadBezTo>
                  <a:pt x="12000" y="30492"/>
                  <a:pt x="17246" y="25246"/>
                </a:quadBezTo>
                <a:quadBezTo>
                  <a:pt x="22492" y="20000"/>
                  <a:pt x="30000" y="20000"/>
                </a:quadBezTo>
                <a:lnTo>
                  <a:pt x="52000" y="20000"/>
                </a:lnTo>
                <a:quadBezTo>
                  <a:pt x="54592" y="16585"/>
                  <a:pt x="58127" y="14292"/>
                </a:quadBezTo>
                <a:quadBezTo>
                  <a:pt x="61662" y="12000"/>
                  <a:pt x="66000" y="12000"/>
                </a:quadBezTo>
                <a:quadBezTo>
                  <a:pt x="66808" y="12000"/>
                  <a:pt x="67404" y="12596"/>
                </a:quadBezTo>
                <a:quadBezTo>
                  <a:pt x="68000" y="13192"/>
                  <a:pt x="68000" y="14000"/>
                </a:quadBezTo>
                <a:quadBezTo>
                  <a:pt x="68000" y="14215"/>
                  <a:pt x="67927" y="14431"/>
                </a:quadBezTo>
                <a:quadBezTo>
                  <a:pt x="67854" y="14646"/>
                  <a:pt x="67808" y="14838"/>
                </a:quadBezTo>
                <a:quadBezTo>
                  <a:pt x="67100" y="16631"/>
                  <a:pt x="66673" y="18512"/>
                </a:quadBezTo>
                <a:quadBezTo>
                  <a:pt x="66246" y="20392"/>
                  <a:pt x="65892" y="22285"/>
                </a:quadBezTo>
                <a:lnTo>
                  <a:pt x="77608" y="34000"/>
                </a:lnTo>
                <a:lnTo>
                  <a:pt x="84000" y="34000"/>
                </a:lnTo>
                <a:lnTo>
                  <a:pt x="84000" y="54977"/>
                </a:lnTo>
                <a:lnTo>
                  <a:pt x="73469" y="58446"/>
                </a:lnTo>
                <a:lnTo>
                  <a:pt x="67000" y="80000"/>
                </a:lnTo>
                <a:lnTo>
                  <a:pt x="52000" y="80000"/>
                </a:lnTo>
                <a:lnTo>
                  <a:pt x="52000" y="72000"/>
                </a:lnTo>
                <a:lnTo>
                  <a:pt x="36000" y="72000"/>
                </a:lnTo>
                <a:lnTo>
                  <a:pt x="36000" y="80000"/>
                </a:lnTo>
                <a:lnTo>
                  <a:pt x="21000" y="80000"/>
                </a:lnTo>
                <a:close/>
                <a:moveTo>
                  <a:pt x="24000" y="76000"/>
                </a:moveTo>
                <a:lnTo>
                  <a:pt x="32000" y="76000"/>
                </a:lnTo>
                <a:lnTo>
                  <a:pt x="32000" y="68000"/>
                </a:lnTo>
                <a:lnTo>
                  <a:pt x="56000" y="68000"/>
                </a:lnTo>
                <a:lnTo>
                  <a:pt x="56000" y="76000"/>
                </a:lnTo>
                <a:lnTo>
                  <a:pt x="64000" y="76000"/>
                </a:lnTo>
                <a:lnTo>
                  <a:pt x="70200" y="55400"/>
                </a:lnTo>
                <a:lnTo>
                  <a:pt x="80000" y="52100"/>
                </a:lnTo>
                <a:lnTo>
                  <a:pt x="80000" y="38000"/>
                </a:lnTo>
                <a:lnTo>
                  <a:pt x="76000" y="38000"/>
                </a:lnTo>
                <a:lnTo>
                  <a:pt x="62000" y="24000"/>
                </a:lnTo>
                <a:quadBezTo>
                  <a:pt x="62000" y="22000"/>
                  <a:pt x="62250" y="20150"/>
                </a:quadBezTo>
                <a:quadBezTo>
                  <a:pt x="62500" y="18300"/>
                  <a:pt x="63154" y="16477"/>
                </a:quadBezTo>
                <a:quadBezTo>
                  <a:pt x="60254" y="17277"/>
                  <a:pt x="58131" y="19304"/>
                </a:quadBezTo>
                <a:quadBezTo>
                  <a:pt x="56008" y="21331"/>
                  <a:pt x="54700" y="24000"/>
                </a:quadBezTo>
                <a:lnTo>
                  <a:pt x="30000" y="24000"/>
                </a:lnTo>
                <a:quadBezTo>
                  <a:pt x="24200" y="24000"/>
                  <a:pt x="20100" y="28100"/>
                </a:quadBezTo>
                <a:quadBezTo>
                  <a:pt x="16000" y="32200"/>
                  <a:pt x="16000" y="38000"/>
                </a:quadBezTo>
                <a:quadBezTo>
                  <a:pt x="16000" y="47800"/>
                  <a:pt x="18700" y="57150"/>
                </a:quadBezTo>
                <a:quadBezTo>
                  <a:pt x="21400" y="66500"/>
                  <a:pt x="24000" y="76000"/>
                </a:quadBezTo>
                <a:close/>
                <a:moveTo>
                  <a:pt x="48000" y="462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7" name="TextBox 166"/>
          <p:cNvSpPr txBox="1"/>
          <p:nvPr/>
        </p:nvSpPr>
        <p:spPr>
          <a:xfrm>
            <a:off x="2110857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savings</a:t>
            </a:r>
          </a:p>
        </p:txBody>
      </p:sp>
      <p:sp>
        <p:nvSpPr>
          <p:cNvPr id="168" name="Icon schedule"/>
          <p:cNvSpPr/>
          <p:nvPr/>
        </p:nvSpPr>
        <p:spPr>
          <a:xfrm>
            <a:off x="3303094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2585" y="65415"/>
                </a:moveTo>
                <a:lnTo>
                  <a:pt x="65415" y="62585"/>
                </a:lnTo>
                <a:lnTo>
                  <a:pt x="50000" y="47167"/>
                </a:lnTo>
                <a:lnTo>
                  <a:pt x="50000" y="28000"/>
                </a:lnTo>
                <a:lnTo>
                  <a:pt x="46000" y="28000"/>
                </a:lnTo>
                <a:lnTo>
                  <a:pt x="46000" y="48831"/>
                </a:lnTo>
                <a:lnTo>
                  <a:pt x="62585" y="65415"/>
                </a:lnTo>
                <a:close/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48000"/>
                </a:moveTo>
                <a:close/>
                <a:moveTo>
                  <a:pt x="48000" y="80000"/>
                </a:move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34700"/>
                  <a:pt x="70650" y="25350"/>
                </a:quadBezTo>
                <a:quadBezTo>
                  <a:pt x="61300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69" name="TextBox 168"/>
          <p:cNvSpPr txBox="1"/>
          <p:nvPr/>
        </p:nvSpPr>
        <p:spPr>
          <a:xfrm>
            <a:off x="2997121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schedule</a:t>
            </a:r>
          </a:p>
        </p:txBody>
      </p:sp>
      <p:sp>
        <p:nvSpPr>
          <p:cNvPr id="170" name="Icon school"/>
          <p:cNvSpPr/>
          <p:nvPr/>
        </p:nvSpPr>
        <p:spPr>
          <a:xfrm>
            <a:off x="4189358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74769"/>
                </a:moveTo>
                <a:lnTo>
                  <a:pt x="24000" y="61723"/>
                </a:lnTo>
                <a:lnTo>
                  <a:pt x="24000" y="42338"/>
                </a:lnTo>
                <a:lnTo>
                  <a:pt x="12308" y="36000"/>
                </a:lnTo>
                <a:lnTo>
                  <a:pt x="48000" y="16615"/>
                </a:lnTo>
                <a:lnTo>
                  <a:pt x="83692" y="36000"/>
                </a:lnTo>
                <a:lnTo>
                  <a:pt x="83692" y="61539"/>
                </a:lnTo>
                <a:lnTo>
                  <a:pt x="79692" y="61539"/>
                </a:lnTo>
                <a:lnTo>
                  <a:pt x="79692" y="38246"/>
                </a:lnTo>
                <a:lnTo>
                  <a:pt x="72000" y="42338"/>
                </a:lnTo>
                <a:lnTo>
                  <a:pt x="72000" y="61723"/>
                </a:lnTo>
                <a:lnTo>
                  <a:pt x="48000" y="74769"/>
                </a:lnTo>
                <a:close/>
                <a:moveTo>
                  <a:pt x="48000" y="50800"/>
                </a:moveTo>
                <a:lnTo>
                  <a:pt x="75323" y="36000"/>
                </a:lnTo>
                <a:lnTo>
                  <a:pt x="48000" y="21200"/>
                </a:lnTo>
                <a:lnTo>
                  <a:pt x="20677" y="36000"/>
                </a:lnTo>
                <a:lnTo>
                  <a:pt x="48000" y="50800"/>
                </a:lnTo>
                <a:close/>
                <a:moveTo>
                  <a:pt x="48000" y="70208"/>
                </a:moveTo>
                <a:lnTo>
                  <a:pt x="68000" y="59408"/>
                </a:lnTo>
                <a:lnTo>
                  <a:pt x="68000" y="44538"/>
                </a:lnTo>
                <a:lnTo>
                  <a:pt x="48000" y="55370"/>
                </a:lnTo>
                <a:lnTo>
                  <a:pt x="28000" y="44538"/>
                </a:lnTo>
                <a:lnTo>
                  <a:pt x="28000" y="59408"/>
                </a:lnTo>
                <a:lnTo>
                  <a:pt x="48000" y="70208"/>
                </a:lnTo>
                <a:close/>
                <a:moveTo>
                  <a:pt x="48000" y="50800"/>
                </a:moveTo>
                <a:close/>
                <a:moveTo>
                  <a:pt x="48000" y="56262"/>
                </a:moveTo>
                <a:close/>
                <a:moveTo>
                  <a:pt x="48000" y="56262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1" name="TextBox 170"/>
          <p:cNvSpPr txBox="1"/>
          <p:nvPr/>
        </p:nvSpPr>
        <p:spPr>
          <a:xfrm>
            <a:off x="3883386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school</a:t>
            </a:r>
          </a:p>
        </p:txBody>
      </p:sp>
      <p:sp>
        <p:nvSpPr>
          <p:cNvPr id="172" name="Icon science"/>
          <p:cNvSpPr/>
          <p:nvPr/>
        </p:nvSpPr>
        <p:spPr>
          <a:xfrm>
            <a:off x="5075623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0000" y="80000"/>
                </a:moveTo>
                <a:quadBezTo>
                  <a:pt x="17446" y="80000"/>
                  <a:pt x="16369" y="77719"/>
                </a:quadBezTo>
                <a:quadBezTo>
                  <a:pt x="15292" y="75438"/>
                  <a:pt x="16877" y="73462"/>
                </a:quadBezTo>
                <a:lnTo>
                  <a:pt x="40000" y="45385"/>
                </a:lnTo>
                <a:lnTo>
                  <a:pt x="40000" y="20000"/>
                </a:lnTo>
                <a:lnTo>
                  <a:pt x="34462" y="20000"/>
                </a:lnTo>
                <a:quadBezTo>
                  <a:pt x="33612" y="20000"/>
                  <a:pt x="33037" y="19424"/>
                </a:quadBezTo>
                <a:quadBezTo>
                  <a:pt x="32462" y="18848"/>
                  <a:pt x="32462" y="17997"/>
                </a:quadBezTo>
                <a:quadBezTo>
                  <a:pt x="32462" y="17146"/>
                  <a:pt x="33037" y="16573"/>
                </a:quadBezTo>
                <a:quadBezTo>
                  <a:pt x="33612" y="16000"/>
                  <a:pt x="34462" y="16000"/>
                </a:quadBezTo>
                <a:lnTo>
                  <a:pt x="61538" y="16000"/>
                </a:lnTo>
                <a:quadBezTo>
                  <a:pt x="62388" y="16000"/>
                  <a:pt x="62963" y="16576"/>
                </a:quadBezTo>
                <a:quadBezTo>
                  <a:pt x="63538" y="17152"/>
                  <a:pt x="63538" y="18003"/>
                </a:quadBezTo>
                <a:quadBezTo>
                  <a:pt x="63538" y="18854"/>
                  <a:pt x="62963" y="19427"/>
                </a:quadBezTo>
                <a:quadBezTo>
                  <a:pt x="62388" y="20000"/>
                  <a:pt x="61538" y="20000"/>
                </a:quadBezTo>
                <a:lnTo>
                  <a:pt x="56000" y="20000"/>
                </a:lnTo>
                <a:lnTo>
                  <a:pt x="56000" y="45385"/>
                </a:lnTo>
                <a:lnTo>
                  <a:pt x="79123" y="73462"/>
                </a:lnTo>
                <a:quadBezTo>
                  <a:pt x="80708" y="75438"/>
                  <a:pt x="79631" y="77719"/>
                </a:quadBezTo>
                <a:quadBezTo>
                  <a:pt x="78554" y="80000"/>
                  <a:pt x="76000" y="80000"/>
                </a:quadBezTo>
                <a:lnTo>
                  <a:pt x="20000" y="80000"/>
                </a:lnTo>
                <a:close/>
                <a:moveTo>
                  <a:pt x="20000" y="76000"/>
                </a:moveTo>
                <a:lnTo>
                  <a:pt x="76000" y="76000"/>
                </a:lnTo>
                <a:lnTo>
                  <a:pt x="52000" y="46800"/>
                </a:lnTo>
                <a:lnTo>
                  <a:pt x="52000" y="20000"/>
                </a:lnTo>
                <a:lnTo>
                  <a:pt x="44000" y="20000"/>
                </a:lnTo>
                <a:lnTo>
                  <a:pt x="44000" y="46800"/>
                </a:lnTo>
                <a:lnTo>
                  <a:pt x="20000" y="76000"/>
                </a:ln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3" name="TextBox 172"/>
          <p:cNvSpPr txBox="1"/>
          <p:nvPr/>
        </p:nvSpPr>
        <p:spPr>
          <a:xfrm>
            <a:off x="4769651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science</a:t>
            </a:r>
          </a:p>
        </p:txBody>
      </p:sp>
      <p:sp>
        <p:nvSpPr>
          <p:cNvPr id="174" name="Icon search"/>
          <p:cNvSpPr/>
          <p:nvPr/>
        </p:nvSpPr>
        <p:spPr>
          <a:xfrm>
            <a:off x="5961888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7938" y="80615"/>
                </a:moveTo>
                <a:lnTo>
                  <a:pt x="52892" y="55569"/>
                </a:lnTo>
                <a:quadBezTo>
                  <a:pt x="49892" y="58123"/>
                  <a:pt x="45992" y="59523"/>
                </a:quadBezTo>
                <a:quadBezTo>
                  <a:pt x="42092" y="60923"/>
                  <a:pt x="38154" y="60923"/>
                </a:quadBezTo>
                <a:quadBezTo>
                  <a:pt x="28544" y="60923"/>
                  <a:pt x="21887" y="54270"/>
                </a:quadBezTo>
                <a:quadBezTo>
                  <a:pt x="15231" y="47617"/>
                  <a:pt x="15231" y="38013"/>
                </a:quadBezTo>
                <a:quadBezTo>
                  <a:pt x="15231" y="28408"/>
                  <a:pt x="21884" y="21742"/>
                </a:quadBezTo>
                <a:quadBezTo>
                  <a:pt x="28537" y="15077"/>
                  <a:pt x="38141" y="15077"/>
                </a:quadBezTo>
                <a:quadBezTo>
                  <a:pt x="47746" y="15077"/>
                  <a:pt x="54412" y="21733"/>
                </a:quadBezTo>
                <a:quadBezTo>
                  <a:pt x="61077" y="28390"/>
                  <a:pt x="61077" y="38000"/>
                </a:quadBezTo>
                <a:quadBezTo>
                  <a:pt x="61077" y="42169"/>
                  <a:pt x="59600" y="46069"/>
                </a:quadBezTo>
                <a:quadBezTo>
                  <a:pt x="58123" y="49969"/>
                  <a:pt x="55723" y="52738"/>
                </a:quadBezTo>
                <a:lnTo>
                  <a:pt x="80769" y="77785"/>
                </a:lnTo>
                <a:lnTo>
                  <a:pt x="77938" y="80615"/>
                </a:lnTo>
                <a:close/>
                <a:moveTo>
                  <a:pt x="38154" y="56923"/>
                </a:moveTo>
                <a:quadBezTo>
                  <a:pt x="46115" y="56923"/>
                  <a:pt x="51596" y="51442"/>
                </a:quadBezTo>
                <a:quadBezTo>
                  <a:pt x="57077" y="45962"/>
                  <a:pt x="57077" y="38000"/>
                </a:quadBezTo>
                <a:quadBezTo>
                  <a:pt x="57077" y="30038"/>
                  <a:pt x="51596" y="24558"/>
                </a:quadBezTo>
                <a:quadBezTo>
                  <a:pt x="46115" y="19077"/>
                  <a:pt x="38154" y="19077"/>
                </a:quadBezTo>
                <a:quadBezTo>
                  <a:pt x="30192" y="19077"/>
                  <a:pt x="24712" y="24558"/>
                </a:quadBezTo>
                <a:quadBezTo>
                  <a:pt x="19231" y="30038"/>
                  <a:pt x="19231" y="38000"/>
                </a:quadBezTo>
                <a:quadBezTo>
                  <a:pt x="19231" y="45962"/>
                  <a:pt x="24712" y="51442"/>
                </a:quadBezTo>
                <a:quadBezTo>
                  <a:pt x="30192" y="56923"/>
                  <a:pt x="38154" y="56923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5" name="TextBox 174"/>
          <p:cNvSpPr txBox="1"/>
          <p:nvPr/>
        </p:nvSpPr>
        <p:spPr>
          <a:xfrm>
            <a:off x="5655915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search</a:t>
            </a:r>
          </a:p>
        </p:txBody>
      </p:sp>
      <p:sp>
        <p:nvSpPr>
          <p:cNvPr id="176" name="Icon security"/>
          <p:cNvSpPr/>
          <p:nvPr/>
        </p:nvSpPr>
        <p:spPr>
          <a:xfrm>
            <a:off x="6848152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7700" y="76600"/>
                  <a:pt x="64200" y="67750"/>
                </a:quadBezTo>
                <a:quadBezTo>
                  <a:pt x="70700" y="58900"/>
                  <a:pt x="71800" y="48000"/>
                </a:quadBezTo>
                <a:lnTo>
                  <a:pt x="48000" y="480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6123"/>
                </a:lnTo>
                <a:quadBezTo>
                  <a:pt x="24000" y="46900"/>
                  <a:pt x="24200" y="48000"/>
                </a:quadBezTo>
                <a:lnTo>
                  <a:pt x="48000" y="48000"/>
                </a:lnTo>
                <a:lnTo>
                  <a:pt x="48000" y="79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7" name="TextBox 176"/>
          <p:cNvSpPr txBox="1"/>
          <p:nvPr/>
        </p:nvSpPr>
        <p:spPr>
          <a:xfrm>
            <a:off x="6542180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security</a:t>
            </a:r>
          </a:p>
        </p:txBody>
      </p:sp>
      <p:sp>
        <p:nvSpPr>
          <p:cNvPr id="178" name="Icon sell"/>
          <p:cNvSpPr/>
          <p:nvPr/>
        </p:nvSpPr>
        <p:spPr>
          <a:xfrm>
            <a:off x="7734417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82062" y="56615"/>
                </a:moveTo>
                <a:lnTo>
                  <a:pt x="56615" y="82062"/>
                </a:lnTo>
                <a:quadBezTo>
                  <a:pt x="55635" y="83031"/>
                  <a:pt x="54410" y="83515"/>
                </a:quadBezTo>
                <a:quadBezTo>
                  <a:pt x="53185" y="84000"/>
                  <a:pt x="51973" y="84000"/>
                </a:quadBezTo>
                <a:quadBezTo>
                  <a:pt x="50762" y="84000"/>
                  <a:pt x="49550" y="83515"/>
                </a:quadBezTo>
                <a:quadBezTo>
                  <a:pt x="48338" y="83031"/>
                  <a:pt x="47369" y="82062"/>
                </a:quadBezTo>
                <a:lnTo>
                  <a:pt x="13915" y="48685"/>
                </a:lnTo>
                <a:quadBezTo>
                  <a:pt x="12969" y="47815"/>
                  <a:pt x="12485" y="46613"/>
                </a:quadBezTo>
                <a:quadBezTo>
                  <a:pt x="12000" y="45411"/>
                  <a:pt x="12000" y="44085"/>
                </a:quadBezTo>
                <a:lnTo>
                  <a:pt x="12000" y="18538"/>
                </a:lnTo>
                <a:quadBezTo>
                  <a:pt x="12000" y="15841"/>
                  <a:pt x="13888" y="13921"/>
                </a:quadBezTo>
                <a:quadBezTo>
                  <a:pt x="15777" y="12000"/>
                  <a:pt x="18538" y="12000"/>
                </a:quadBezTo>
                <a:lnTo>
                  <a:pt x="44085" y="12000"/>
                </a:lnTo>
                <a:quadBezTo>
                  <a:pt x="45382" y="12000"/>
                  <a:pt x="46599" y="12525"/>
                </a:quadBezTo>
                <a:quadBezTo>
                  <a:pt x="47816" y="13050"/>
                  <a:pt x="48708" y="13938"/>
                </a:quadBezTo>
                <a:lnTo>
                  <a:pt x="82062" y="47315"/>
                </a:lnTo>
                <a:quadBezTo>
                  <a:pt x="83061" y="48296"/>
                  <a:pt x="83519" y="49521"/>
                </a:quadBezTo>
                <a:quadBezTo>
                  <a:pt x="83977" y="50746"/>
                  <a:pt x="83977" y="51986"/>
                </a:quadBezTo>
                <a:quadBezTo>
                  <a:pt x="83977" y="53226"/>
                  <a:pt x="83519" y="54425"/>
                </a:quadBezTo>
                <a:quadBezTo>
                  <a:pt x="83061" y="55623"/>
                  <a:pt x="82062" y="56615"/>
                </a:quadBezTo>
                <a:close/>
                <a:moveTo>
                  <a:pt x="53762" y="79231"/>
                </a:moveTo>
                <a:lnTo>
                  <a:pt x="79208" y="53785"/>
                </a:lnTo>
                <a:quadBezTo>
                  <a:pt x="79977" y="53015"/>
                  <a:pt x="79977" y="51977"/>
                </a:quadBezTo>
                <a:quadBezTo>
                  <a:pt x="79977" y="50938"/>
                  <a:pt x="79208" y="50169"/>
                </a:quadBezTo>
                <a:lnTo>
                  <a:pt x="45062" y="16077"/>
                </a:lnTo>
                <a:lnTo>
                  <a:pt x="18538" y="16077"/>
                </a:lnTo>
                <a:quadBezTo>
                  <a:pt x="17462" y="16077"/>
                  <a:pt x="16731" y="16769"/>
                </a:quadBezTo>
                <a:quadBezTo>
                  <a:pt x="16000" y="17462"/>
                  <a:pt x="16000" y="18538"/>
                </a:quadBezTo>
                <a:lnTo>
                  <a:pt x="16000" y="44062"/>
                </a:lnTo>
                <a:quadBezTo>
                  <a:pt x="16000" y="44523"/>
                  <a:pt x="16154" y="44985"/>
                </a:quadBezTo>
                <a:quadBezTo>
                  <a:pt x="16308" y="45446"/>
                  <a:pt x="16692" y="45831"/>
                </a:quadBezTo>
                <a:lnTo>
                  <a:pt x="50146" y="79231"/>
                </a:lnTo>
                <a:quadBezTo>
                  <a:pt x="50915" y="80000"/>
                  <a:pt x="51954" y="80000"/>
                </a:quadBezTo>
                <a:quadBezTo>
                  <a:pt x="52992" y="80000"/>
                  <a:pt x="53762" y="79231"/>
                </a:quadBezTo>
                <a:close/>
                <a:moveTo>
                  <a:pt x="26199" y="30231"/>
                </a:moveTo>
                <a:quadBezTo>
                  <a:pt x="27885" y="30231"/>
                  <a:pt x="29058" y="29064"/>
                </a:quadBezTo>
                <a:quadBezTo>
                  <a:pt x="30231" y="27897"/>
                  <a:pt x="30231" y="26231"/>
                </a:quadBezTo>
                <a:quadBezTo>
                  <a:pt x="30231" y="24532"/>
                  <a:pt x="29064" y="23343"/>
                </a:quadBezTo>
                <a:quadBezTo>
                  <a:pt x="27897" y="22154"/>
                  <a:pt x="26231" y="22154"/>
                </a:quadBezTo>
                <a:quadBezTo>
                  <a:pt x="24532" y="22154"/>
                  <a:pt x="23343" y="23334"/>
                </a:quadBezTo>
                <a:quadBezTo>
                  <a:pt x="22154" y="24514"/>
                  <a:pt x="22154" y="26199"/>
                </a:quadBezTo>
                <a:quadBezTo>
                  <a:pt x="22154" y="27885"/>
                  <a:pt x="23334" y="29058"/>
                </a:quadBezTo>
                <a:quadBezTo>
                  <a:pt x="24514" y="30231"/>
                  <a:pt x="26199" y="30231"/>
                </a:quadBezTo>
                <a:close/>
                <a:moveTo>
                  <a:pt x="48154" y="48154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79" name="TextBox 178"/>
          <p:cNvSpPr txBox="1"/>
          <p:nvPr/>
        </p:nvSpPr>
        <p:spPr>
          <a:xfrm>
            <a:off x="7428444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sell</a:t>
            </a:r>
          </a:p>
        </p:txBody>
      </p:sp>
      <p:sp>
        <p:nvSpPr>
          <p:cNvPr id="180" name="Icon settings"/>
          <p:cNvSpPr/>
          <p:nvPr/>
        </p:nvSpPr>
        <p:spPr>
          <a:xfrm>
            <a:off x="8620681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0538" y="84000"/>
                </a:moveTo>
                <a:lnTo>
                  <a:pt x="39092" y="72431"/>
                </a:lnTo>
                <a:quadBezTo>
                  <a:pt x="37177" y="71854"/>
                  <a:pt x="34950" y="70615"/>
                </a:quadBezTo>
                <a:quadBezTo>
                  <a:pt x="32723" y="69377"/>
                  <a:pt x="31162" y="67962"/>
                </a:quadBezTo>
                <a:lnTo>
                  <a:pt x="20492" y="72500"/>
                </a:lnTo>
                <a:lnTo>
                  <a:pt x="13031" y="59500"/>
                </a:lnTo>
                <a:lnTo>
                  <a:pt x="22254" y="52546"/>
                </a:lnTo>
                <a:quadBezTo>
                  <a:pt x="22077" y="51462"/>
                  <a:pt x="21962" y="50312"/>
                </a:quadBezTo>
                <a:quadBezTo>
                  <a:pt x="21846" y="49162"/>
                  <a:pt x="21846" y="48077"/>
                </a:quadBezTo>
                <a:quadBezTo>
                  <a:pt x="21846" y="47069"/>
                  <a:pt x="21962" y="45958"/>
                </a:quadBezTo>
                <a:quadBezTo>
                  <a:pt x="22077" y="44846"/>
                  <a:pt x="22254" y="43454"/>
                </a:quadBezTo>
                <a:lnTo>
                  <a:pt x="13031" y="36500"/>
                </a:lnTo>
                <a:lnTo>
                  <a:pt x="20492" y="23654"/>
                </a:lnTo>
                <a:lnTo>
                  <a:pt x="31085" y="28115"/>
                </a:lnTo>
                <a:quadBezTo>
                  <a:pt x="32877" y="26623"/>
                  <a:pt x="34962" y="25423"/>
                </a:quadBezTo>
                <a:quadBezTo>
                  <a:pt x="37046" y="24223"/>
                  <a:pt x="39015" y="23569"/>
                </a:quadBezTo>
                <a:lnTo>
                  <a:pt x="40538" y="12000"/>
                </a:lnTo>
                <a:lnTo>
                  <a:pt x="55462" y="12000"/>
                </a:lnTo>
                <a:lnTo>
                  <a:pt x="56908" y="23646"/>
                </a:lnTo>
                <a:quadBezTo>
                  <a:pt x="59208" y="24454"/>
                  <a:pt x="60973" y="25500"/>
                </a:quadBezTo>
                <a:quadBezTo>
                  <a:pt x="62738" y="26546"/>
                  <a:pt x="64608" y="28115"/>
                </a:quadBezTo>
                <a:lnTo>
                  <a:pt x="75508" y="23654"/>
                </a:lnTo>
                <a:lnTo>
                  <a:pt x="82969" y="36500"/>
                </a:lnTo>
                <a:lnTo>
                  <a:pt x="73438" y="43685"/>
                </a:lnTo>
                <a:quadBezTo>
                  <a:pt x="73769" y="44923"/>
                  <a:pt x="73808" y="45958"/>
                </a:quadBezTo>
                <a:quadBezTo>
                  <a:pt x="73846" y="46992"/>
                  <a:pt x="73846" y="48000"/>
                </a:quadBezTo>
                <a:quadBezTo>
                  <a:pt x="73846" y="48931"/>
                  <a:pt x="73769" y="49965"/>
                </a:quadBezTo>
                <a:quadBezTo>
                  <a:pt x="73692" y="51000"/>
                  <a:pt x="73415" y="52469"/>
                </a:quadBezTo>
                <a:lnTo>
                  <a:pt x="82792" y="59500"/>
                </a:lnTo>
                <a:lnTo>
                  <a:pt x="75331" y="72500"/>
                </a:lnTo>
                <a:lnTo>
                  <a:pt x="64608" y="67885"/>
                </a:lnTo>
                <a:quadBezTo>
                  <a:pt x="62738" y="69454"/>
                  <a:pt x="60846" y="70577"/>
                </a:quadBezTo>
                <a:quadBezTo>
                  <a:pt x="58954" y="71700"/>
                  <a:pt x="56908" y="72354"/>
                </a:quadBezTo>
                <a:lnTo>
                  <a:pt x="55462" y="84000"/>
                </a:lnTo>
                <a:lnTo>
                  <a:pt x="40538" y="84000"/>
                </a:lnTo>
                <a:close/>
                <a:moveTo>
                  <a:pt x="44000" y="80000"/>
                </a:moveTo>
                <a:lnTo>
                  <a:pt x="51823" y="80000"/>
                </a:lnTo>
                <a:lnTo>
                  <a:pt x="53300" y="69169"/>
                </a:lnTo>
                <a:quadBezTo>
                  <a:pt x="56323" y="68369"/>
                  <a:pt x="58742" y="66973"/>
                </a:quadBezTo>
                <a:quadBezTo>
                  <a:pt x="61162" y="65577"/>
                  <a:pt x="63669" y="63146"/>
                </a:quadBezTo>
                <a:lnTo>
                  <a:pt x="73646" y="67400"/>
                </a:lnTo>
                <a:lnTo>
                  <a:pt x="77623" y="60600"/>
                </a:lnTo>
                <a:lnTo>
                  <a:pt x="68869" y="54023"/>
                </a:lnTo>
                <a:quadBezTo>
                  <a:pt x="69369" y="52315"/>
                  <a:pt x="69531" y="50881"/>
                </a:quadBezTo>
                <a:quadBezTo>
                  <a:pt x="69692" y="49446"/>
                  <a:pt x="69692" y="48000"/>
                </a:quadBezTo>
                <a:quadBezTo>
                  <a:pt x="69692" y="46477"/>
                  <a:pt x="69531" y="45119"/>
                </a:quadBezTo>
                <a:quadBezTo>
                  <a:pt x="69369" y="43762"/>
                  <a:pt x="68869" y="42131"/>
                </a:quadBezTo>
                <a:lnTo>
                  <a:pt x="77777" y="35400"/>
                </a:lnTo>
                <a:lnTo>
                  <a:pt x="73800" y="28600"/>
                </a:lnTo>
                <a:lnTo>
                  <a:pt x="63592" y="32877"/>
                </a:lnTo>
                <a:quadBezTo>
                  <a:pt x="61777" y="30885"/>
                  <a:pt x="58819" y="29142"/>
                </a:quadBezTo>
                <a:quadBezTo>
                  <a:pt x="55862" y="27400"/>
                  <a:pt x="53223" y="26831"/>
                </a:quadBezTo>
                <a:lnTo>
                  <a:pt x="52000" y="16000"/>
                </a:lnTo>
                <a:lnTo>
                  <a:pt x="44023" y="16000"/>
                </a:lnTo>
                <a:lnTo>
                  <a:pt x="42777" y="26754"/>
                </a:lnTo>
                <a:quadBezTo>
                  <a:pt x="39754" y="27400"/>
                  <a:pt x="37219" y="28835"/>
                </a:quadBezTo>
                <a:quadBezTo>
                  <a:pt x="34685" y="30269"/>
                  <a:pt x="32177" y="32777"/>
                </a:quadBezTo>
                <a:lnTo>
                  <a:pt x="22200" y="28600"/>
                </a:lnTo>
                <a:lnTo>
                  <a:pt x="18223" y="35400"/>
                </a:lnTo>
                <a:lnTo>
                  <a:pt x="26900" y="41877"/>
                </a:lnTo>
                <a:quadBezTo>
                  <a:pt x="26400" y="43223"/>
                  <a:pt x="26200" y="44800"/>
                </a:quadBezTo>
                <a:quadBezTo>
                  <a:pt x="26000" y="46377"/>
                  <a:pt x="26000" y="48077"/>
                </a:quadBezTo>
                <a:quadBezTo>
                  <a:pt x="26000" y="49600"/>
                  <a:pt x="26200" y="51100"/>
                </a:quadBezTo>
                <a:quadBezTo>
                  <a:pt x="26400" y="52600"/>
                  <a:pt x="26823" y="54023"/>
                </a:quadBezTo>
                <a:lnTo>
                  <a:pt x="18223" y="60600"/>
                </a:lnTo>
                <a:lnTo>
                  <a:pt x="22200" y="67400"/>
                </a:lnTo>
                <a:lnTo>
                  <a:pt x="32100" y="63200"/>
                </a:lnTo>
                <a:quadBezTo>
                  <a:pt x="34454" y="65577"/>
                  <a:pt x="36988" y="67012"/>
                </a:quadBezTo>
                <a:quadBezTo>
                  <a:pt x="39523" y="68446"/>
                  <a:pt x="42700" y="69246"/>
                </a:quadBezTo>
                <a:lnTo>
                  <a:pt x="44000" y="80000"/>
                </a:lnTo>
                <a:close/>
                <a:moveTo>
                  <a:pt x="47892" y="58000"/>
                </a:moveTo>
                <a:quadBezTo>
                  <a:pt x="52077" y="58000"/>
                  <a:pt x="54985" y="55092"/>
                </a:quadBezTo>
                <a:quadBezTo>
                  <a:pt x="57892" y="52185"/>
                  <a:pt x="57892" y="48000"/>
                </a:quadBezTo>
                <a:quadBezTo>
                  <a:pt x="57892" y="43815"/>
                  <a:pt x="54985" y="40908"/>
                </a:quadBezTo>
                <a:quadBezTo>
                  <a:pt x="52077" y="38000"/>
                  <a:pt x="47892" y="38000"/>
                </a:quadBezTo>
                <a:quadBezTo>
                  <a:pt x="43685" y="38000"/>
                  <a:pt x="40788" y="40908"/>
                </a:quadBezTo>
                <a:quadBezTo>
                  <a:pt x="37892" y="43815"/>
                  <a:pt x="37892" y="48000"/>
                </a:quadBezTo>
                <a:quadBezTo>
                  <a:pt x="37892" y="52185"/>
                  <a:pt x="40788" y="55092"/>
                </a:quadBezTo>
                <a:quadBezTo>
                  <a:pt x="43685" y="58000"/>
                  <a:pt x="47892" y="58000"/>
                </a:quadBezTo>
                <a:close/>
                <a:moveTo>
                  <a:pt x="48000" y="4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1" name="TextBox 180"/>
          <p:cNvSpPr txBox="1"/>
          <p:nvPr/>
        </p:nvSpPr>
        <p:spPr>
          <a:xfrm>
            <a:off x="8314709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settings</a:t>
            </a:r>
          </a:p>
        </p:txBody>
      </p:sp>
      <p:sp>
        <p:nvSpPr>
          <p:cNvPr id="182" name="Icon settings_suggest"/>
          <p:cNvSpPr/>
          <p:nvPr/>
        </p:nvSpPr>
        <p:spPr>
          <a:xfrm>
            <a:off x="9506946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05" y="96835"/>
                </a:moveTo>
                <a:lnTo>
                  <a:pt x="1713" y="96640"/>
                </a:lnTo>
                <a:lnTo>
                  <a:pt x="1520" y="96550"/>
                </a:lnTo>
                <a:lnTo>
                  <a:pt x="1713" y="96460"/>
                </a:lnTo>
                <a:lnTo>
                  <a:pt x="1805" y="96265"/>
                </a:lnTo>
                <a:lnTo>
                  <a:pt x="1895" y="96460"/>
                </a:lnTo>
                <a:lnTo>
                  <a:pt x="2090" y="96550"/>
                </a:lnTo>
                <a:lnTo>
                  <a:pt x="1895" y="96640"/>
                </a:lnTo>
                <a:close/>
                <a:moveTo>
                  <a:pt x="2005" y="97565"/>
                </a:moveTo>
                <a:lnTo>
                  <a:pt x="1935" y="97420"/>
                </a:lnTo>
                <a:lnTo>
                  <a:pt x="1790" y="97350"/>
                </a:lnTo>
                <a:lnTo>
                  <a:pt x="1935" y="97280"/>
                </a:lnTo>
                <a:lnTo>
                  <a:pt x="2005" y="97135"/>
                </a:lnTo>
                <a:lnTo>
                  <a:pt x="2073" y="97280"/>
                </a:lnTo>
                <a:lnTo>
                  <a:pt x="2220" y="97350"/>
                </a:lnTo>
                <a:lnTo>
                  <a:pt x="2073" y="97420"/>
                </a:lnTo>
                <a:close/>
                <a:moveTo>
                  <a:pt x="793" y="98100"/>
                </a:moveTo>
                <a:lnTo>
                  <a:pt x="768" y="97895"/>
                </a:lnTo>
                <a:quadBezTo>
                  <a:pt x="730" y="97883"/>
                  <a:pt x="686" y="97856"/>
                </a:quadBezTo>
                <a:quadBezTo>
                  <a:pt x="643" y="97830"/>
                  <a:pt x="615" y="97805"/>
                </a:quadBezTo>
                <a:lnTo>
                  <a:pt x="427" y="97888"/>
                </a:lnTo>
                <a:lnTo>
                  <a:pt x="265" y="97608"/>
                </a:lnTo>
                <a:lnTo>
                  <a:pt x="432" y="97485"/>
                </a:lnTo>
                <a:quadBezTo>
                  <a:pt x="422" y="97438"/>
                  <a:pt x="422" y="97400"/>
                </a:quadBezTo>
                <a:quadBezTo>
                  <a:pt x="422" y="97363"/>
                  <a:pt x="432" y="97315"/>
                </a:quadBezTo>
                <a:lnTo>
                  <a:pt x="265" y="97193"/>
                </a:lnTo>
                <a:lnTo>
                  <a:pt x="428" y="96913"/>
                </a:lnTo>
                <a:lnTo>
                  <a:pt x="615" y="96995"/>
                </a:lnTo>
                <a:quadBezTo>
                  <a:pt x="643" y="96970"/>
                  <a:pt x="686" y="96944"/>
                </a:quadBezTo>
                <a:quadBezTo>
                  <a:pt x="730" y="96918"/>
                  <a:pt x="768" y="96905"/>
                </a:quadBezTo>
                <a:lnTo>
                  <a:pt x="793" y="96700"/>
                </a:lnTo>
                <a:lnTo>
                  <a:pt x="1115" y="96700"/>
                </a:lnTo>
                <a:lnTo>
                  <a:pt x="1143" y="96905"/>
                </a:lnTo>
                <a:quadBezTo>
                  <a:pt x="1180" y="96918"/>
                  <a:pt x="1224" y="96944"/>
                </a:quadBezTo>
                <a:quadBezTo>
                  <a:pt x="1268" y="96970"/>
                  <a:pt x="1293" y="96995"/>
                </a:quadBezTo>
                <a:lnTo>
                  <a:pt x="1483" y="96913"/>
                </a:lnTo>
                <a:lnTo>
                  <a:pt x="1643" y="97193"/>
                </a:lnTo>
                <a:lnTo>
                  <a:pt x="1478" y="97315"/>
                </a:lnTo>
                <a:quadBezTo>
                  <a:pt x="1488" y="97363"/>
                  <a:pt x="1488" y="97400"/>
                </a:quadBezTo>
                <a:quadBezTo>
                  <a:pt x="1488" y="97438"/>
                  <a:pt x="1478" y="97485"/>
                </a:quadBezTo>
                <a:lnTo>
                  <a:pt x="1643" y="97608"/>
                </a:lnTo>
                <a:lnTo>
                  <a:pt x="1483" y="97888"/>
                </a:lnTo>
                <a:lnTo>
                  <a:pt x="1293" y="97805"/>
                </a:lnTo>
                <a:quadBezTo>
                  <a:pt x="1268" y="97830"/>
                  <a:pt x="1224" y="97856"/>
                </a:quadBezTo>
                <a:quadBezTo>
                  <a:pt x="1180" y="97883"/>
                  <a:pt x="1143" y="97895"/>
                </a:quadBezTo>
                <a:lnTo>
                  <a:pt x="1115" y="98100"/>
                </a:lnTo>
                <a:close/>
                <a:moveTo>
                  <a:pt x="955" y="97645"/>
                </a:moveTo>
                <a:quadBezTo>
                  <a:pt x="1058" y="97645"/>
                  <a:pt x="1129" y="97574"/>
                </a:quadBezTo>
                <a:quadBezTo>
                  <a:pt x="1200" y="97503"/>
                  <a:pt x="1200" y="97400"/>
                </a:quadBezTo>
                <a:quadBezTo>
                  <a:pt x="1200" y="97298"/>
                  <a:pt x="1129" y="97226"/>
                </a:quadBezTo>
                <a:quadBezTo>
                  <a:pt x="1058" y="97155"/>
                  <a:pt x="955" y="97155"/>
                </a:quadBezTo>
                <a:quadBezTo>
                  <a:pt x="853" y="97155"/>
                  <a:pt x="780" y="97226"/>
                </a:quadBezTo>
                <a:quadBezTo>
                  <a:pt x="708" y="97298"/>
                  <a:pt x="708" y="97400"/>
                </a:quadBezTo>
                <a:quadBezTo>
                  <a:pt x="708" y="97503"/>
                  <a:pt x="780" y="97574"/>
                </a:quadBezTo>
                <a:quadBezTo>
                  <a:pt x="853" y="97645"/>
                  <a:pt x="955" y="97645"/>
                </a:quadBezTo>
                <a:close/>
                <a:moveTo>
                  <a:pt x="955" y="97545"/>
                </a:moveTo>
                <a:quadBezTo>
                  <a:pt x="895" y="97545"/>
                  <a:pt x="851" y="97503"/>
                </a:quadBezTo>
                <a:quadBezTo>
                  <a:pt x="807" y="97460"/>
                  <a:pt x="807" y="97400"/>
                </a:quadBezTo>
                <a:quadBezTo>
                  <a:pt x="807" y="97340"/>
                  <a:pt x="851" y="97298"/>
                </a:quadBezTo>
                <a:quadBezTo>
                  <a:pt x="895" y="97255"/>
                  <a:pt x="955" y="97255"/>
                </a:quadBezTo>
                <a:quadBezTo>
                  <a:pt x="1015" y="97255"/>
                  <a:pt x="1058" y="97298"/>
                </a:quadBezTo>
                <a:quadBezTo>
                  <a:pt x="1100" y="97340"/>
                  <a:pt x="1100" y="97400"/>
                </a:quadBezTo>
                <a:quadBezTo>
                  <a:pt x="1100" y="97460"/>
                  <a:pt x="1058" y="97503"/>
                </a:quadBezTo>
                <a:quadBezTo>
                  <a:pt x="1015" y="97545"/>
                  <a:pt x="955" y="97545"/>
                </a:quadBezTo>
                <a:close/>
                <a:moveTo>
                  <a:pt x="880" y="98000"/>
                </a:moveTo>
                <a:lnTo>
                  <a:pt x="1030" y="98000"/>
                </a:lnTo>
                <a:lnTo>
                  <a:pt x="1050" y="97820"/>
                </a:lnTo>
                <a:quadBezTo>
                  <a:pt x="1123" y="97800"/>
                  <a:pt x="1174" y="97769"/>
                </a:quadBezTo>
                <a:quadBezTo>
                  <a:pt x="1225" y="97738"/>
                  <a:pt x="1275" y="97685"/>
                </a:quadBezTo>
                <a:lnTo>
                  <a:pt x="1440" y="97760"/>
                </a:lnTo>
                <a:lnTo>
                  <a:pt x="1513" y="97630"/>
                </a:lnTo>
                <a:lnTo>
                  <a:pt x="1365" y="97525"/>
                </a:lnTo>
                <a:quadBezTo>
                  <a:pt x="1388" y="97468"/>
                  <a:pt x="1388" y="97400"/>
                </a:quadBezTo>
                <a:quadBezTo>
                  <a:pt x="1388" y="97333"/>
                  <a:pt x="1365" y="97275"/>
                </a:quadBezTo>
                <a:lnTo>
                  <a:pt x="1510" y="97165"/>
                </a:lnTo>
                <a:lnTo>
                  <a:pt x="1440" y="97040"/>
                </a:lnTo>
                <a:lnTo>
                  <a:pt x="1275" y="97115"/>
                </a:lnTo>
                <a:quadBezTo>
                  <a:pt x="1225" y="97063"/>
                  <a:pt x="1174" y="97031"/>
                </a:quadBezTo>
                <a:quadBezTo>
                  <a:pt x="1123" y="97000"/>
                  <a:pt x="1050" y="96980"/>
                </a:quadBezTo>
                <a:lnTo>
                  <a:pt x="1030" y="96800"/>
                </a:lnTo>
                <a:lnTo>
                  <a:pt x="880" y="96800"/>
                </a:lnTo>
                <a:lnTo>
                  <a:pt x="860" y="96980"/>
                </a:lnTo>
                <a:quadBezTo>
                  <a:pt x="788" y="97000"/>
                  <a:pt x="736" y="97031"/>
                </a:quadBezTo>
                <a:quadBezTo>
                  <a:pt x="685" y="97063"/>
                  <a:pt x="635" y="97115"/>
                </a:quadBezTo>
                <a:lnTo>
                  <a:pt x="470" y="97040"/>
                </a:lnTo>
                <a:lnTo>
                  <a:pt x="400" y="97165"/>
                </a:lnTo>
                <a:lnTo>
                  <a:pt x="545" y="97275"/>
                </a:lnTo>
                <a:quadBezTo>
                  <a:pt x="523" y="97333"/>
                  <a:pt x="523" y="97400"/>
                </a:quadBezTo>
                <a:quadBezTo>
                  <a:pt x="523" y="97468"/>
                  <a:pt x="545" y="97525"/>
                </a:quadBezTo>
                <a:lnTo>
                  <a:pt x="395" y="97630"/>
                </a:lnTo>
                <a:lnTo>
                  <a:pt x="470" y="97760"/>
                </a:lnTo>
                <a:lnTo>
                  <a:pt x="635" y="97685"/>
                </a:lnTo>
                <a:quadBezTo>
                  <a:pt x="685" y="97738"/>
                  <a:pt x="736" y="97769"/>
                </a:quadBezTo>
                <a:quadBezTo>
                  <a:pt x="788" y="97800"/>
                  <a:pt x="860" y="97820"/>
                </a:quadBezTo>
                <a:close/>
                <a:moveTo>
                  <a:pt x="955" y="974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200974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settings suggest</a:t>
            </a:r>
          </a:p>
        </p:txBody>
      </p:sp>
      <p:sp>
        <p:nvSpPr>
          <p:cNvPr id="184" name="Icon share"/>
          <p:cNvSpPr/>
          <p:nvPr/>
        </p:nvSpPr>
        <p:spPr>
          <a:xfrm>
            <a:off x="10393211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72009" y="86000"/>
                </a:moveTo>
                <a:quadBezTo>
                  <a:pt x="67846" y="86000"/>
                  <a:pt x="64923" y="83083"/>
                </a:quadBezTo>
                <a:quadBezTo>
                  <a:pt x="62000" y="80167"/>
                  <a:pt x="62000" y="76000"/>
                </a:quadBezTo>
                <a:quadBezTo>
                  <a:pt x="62000" y="75202"/>
                  <a:pt x="62138" y="74347"/>
                </a:quadBezTo>
                <a:quadBezTo>
                  <a:pt x="62277" y="73492"/>
                  <a:pt x="62554" y="72738"/>
                </a:quadBezTo>
                <a:lnTo>
                  <a:pt x="31585" y="54492"/>
                </a:lnTo>
                <a:quadBezTo>
                  <a:pt x="30115" y="56146"/>
                  <a:pt x="28169" y="57073"/>
                </a:quadBezTo>
                <a:quadBezTo>
                  <a:pt x="26223" y="58000"/>
                  <a:pt x="24000" y="58000"/>
                </a:quadBezTo>
                <a:quadBezTo>
                  <a:pt x="19833" y="58000"/>
                  <a:pt x="16917" y="55086"/>
                </a:quadBezTo>
                <a:quadBezTo>
                  <a:pt x="14000" y="52172"/>
                  <a:pt x="14000" y="48009"/>
                </a:quadBezTo>
                <a:quadBezTo>
                  <a:pt x="14000" y="43846"/>
                  <a:pt x="16917" y="40923"/>
                </a:quadBezTo>
                <a:quadBezTo>
                  <a:pt x="19833" y="38000"/>
                  <a:pt x="24000" y="38000"/>
                </a:quadBezTo>
                <a:quadBezTo>
                  <a:pt x="26223" y="38000"/>
                  <a:pt x="28169" y="38927"/>
                </a:quadBezTo>
                <a:quadBezTo>
                  <a:pt x="30115" y="39854"/>
                  <a:pt x="31585" y="41508"/>
                </a:quadBezTo>
                <a:lnTo>
                  <a:pt x="62554" y="23262"/>
                </a:lnTo>
                <a:quadBezTo>
                  <a:pt x="62277" y="22508"/>
                  <a:pt x="62138" y="21653"/>
                </a:quadBezTo>
                <a:quadBezTo>
                  <a:pt x="62000" y="20798"/>
                  <a:pt x="62000" y="20000"/>
                </a:quadBezTo>
                <a:quadBezTo>
                  <a:pt x="62000" y="15833"/>
                  <a:pt x="64914" y="12917"/>
                </a:quadBezTo>
                <a:quadBezTo>
                  <a:pt x="67828" y="10000"/>
                  <a:pt x="71991" y="10000"/>
                </a:quadBezTo>
                <a:quadBezTo>
                  <a:pt x="76154" y="10000"/>
                  <a:pt x="79077" y="12914"/>
                </a:quadBezTo>
                <a:quadBezTo>
                  <a:pt x="82000" y="15828"/>
                  <a:pt x="82000" y="19991"/>
                </a:quadBezTo>
                <a:quadBezTo>
                  <a:pt x="82000" y="24154"/>
                  <a:pt x="79083" y="27077"/>
                </a:quadBezTo>
                <a:quadBezTo>
                  <a:pt x="76167" y="30000"/>
                  <a:pt x="72000" y="30000"/>
                </a:quadBezTo>
                <a:quadBezTo>
                  <a:pt x="69777" y="30000"/>
                  <a:pt x="67831" y="29073"/>
                </a:quadBezTo>
                <a:quadBezTo>
                  <a:pt x="65885" y="28146"/>
                  <a:pt x="64415" y="26492"/>
                </a:quadBezTo>
                <a:lnTo>
                  <a:pt x="33446" y="44738"/>
                </a:lnTo>
                <a:quadBezTo>
                  <a:pt x="33723" y="45492"/>
                  <a:pt x="33862" y="46342"/>
                </a:quadBezTo>
                <a:quadBezTo>
                  <a:pt x="34000" y="47191"/>
                  <a:pt x="34000" y="47984"/>
                </a:quadBezTo>
                <a:quadBezTo>
                  <a:pt x="34000" y="48777"/>
                  <a:pt x="33862" y="49642"/>
                </a:quadBezTo>
                <a:quadBezTo>
                  <a:pt x="33723" y="50508"/>
                  <a:pt x="33446" y="51262"/>
                </a:quadBezTo>
                <a:lnTo>
                  <a:pt x="64415" y="69508"/>
                </a:lnTo>
                <a:quadBezTo>
                  <a:pt x="65885" y="67854"/>
                  <a:pt x="67831" y="66927"/>
                </a:quadBezTo>
                <a:quadBezTo>
                  <a:pt x="69777" y="66000"/>
                  <a:pt x="72000" y="66000"/>
                </a:quadBezTo>
                <a:quadBezTo>
                  <a:pt x="76167" y="66000"/>
                  <a:pt x="79083" y="68914"/>
                </a:quadBezTo>
                <a:quadBezTo>
                  <a:pt x="82000" y="71828"/>
                  <a:pt x="82000" y="75991"/>
                </a:quadBezTo>
                <a:quadBezTo>
                  <a:pt x="82000" y="80154"/>
                  <a:pt x="79086" y="83077"/>
                </a:quadBezTo>
                <a:quadBezTo>
                  <a:pt x="76172" y="86000"/>
                  <a:pt x="72009" y="86000"/>
                </a:quadBezTo>
                <a:close/>
                <a:moveTo>
                  <a:pt x="72000" y="26000"/>
                </a:moveTo>
                <a:quadBezTo>
                  <a:pt x="74469" y="26000"/>
                  <a:pt x="76235" y="24235"/>
                </a:quadBezTo>
                <a:quadBezTo>
                  <a:pt x="78000" y="22469"/>
                  <a:pt x="78000" y="20000"/>
                </a:quadBezTo>
                <a:quadBezTo>
                  <a:pt x="78000" y="17531"/>
                  <a:pt x="76235" y="15765"/>
                </a:quadBezTo>
                <a:quadBezTo>
                  <a:pt x="74469" y="14000"/>
                  <a:pt x="72000" y="14000"/>
                </a:quadBezTo>
                <a:quadBezTo>
                  <a:pt x="69531" y="14000"/>
                  <a:pt x="67765" y="15765"/>
                </a:quadBezTo>
                <a:quadBezTo>
                  <a:pt x="66000" y="17531"/>
                  <a:pt x="66000" y="20000"/>
                </a:quadBezTo>
                <a:quadBezTo>
                  <a:pt x="66000" y="22469"/>
                  <a:pt x="67765" y="24235"/>
                </a:quadBezTo>
                <a:quadBezTo>
                  <a:pt x="69531" y="26000"/>
                  <a:pt x="72000" y="26000"/>
                </a:quadBezTo>
                <a:close/>
                <a:moveTo>
                  <a:pt x="24000" y="54000"/>
                </a:moveTo>
                <a:quadBezTo>
                  <a:pt x="26469" y="54000"/>
                  <a:pt x="28235" y="52235"/>
                </a:quadBezTo>
                <a:quadBezTo>
                  <a:pt x="30000" y="50469"/>
                  <a:pt x="30000" y="48000"/>
                </a:quadBezTo>
                <a:quadBezTo>
                  <a:pt x="30000" y="45531"/>
                  <a:pt x="28235" y="43765"/>
                </a:quadBezTo>
                <a:quadBezTo>
                  <a:pt x="26469" y="42000"/>
                  <a:pt x="24000" y="42000"/>
                </a:quadBezTo>
                <a:quadBezTo>
                  <a:pt x="21531" y="42000"/>
                  <a:pt x="19765" y="43765"/>
                </a:quadBezTo>
                <a:quadBezTo>
                  <a:pt x="18000" y="45531"/>
                  <a:pt x="18000" y="48000"/>
                </a:quadBezTo>
                <a:quadBezTo>
                  <a:pt x="18000" y="50469"/>
                  <a:pt x="19765" y="52235"/>
                </a:quadBezTo>
                <a:quadBezTo>
                  <a:pt x="21531" y="54000"/>
                  <a:pt x="24000" y="54000"/>
                </a:quadBezTo>
                <a:close/>
                <a:moveTo>
                  <a:pt x="72000" y="82000"/>
                </a:moveTo>
                <a:quadBezTo>
                  <a:pt x="74469" y="82000"/>
                  <a:pt x="76235" y="80235"/>
                </a:quadBezTo>
                <a:quadBezTo>
                  <a:pt x="78000" y="78469"/>
                  <a:pt x="78000" y="76000"/>
                </a:quadBezTo>
                <a:quadBezTo>
                  <a:pt x="78000" y="73531"/>
                  <a:pt x="76235" y="71765"/>
                </a:quadBezTo>
                <a:quadBezTo>
                  <a:pt x="74469" y="70000"/>
                  <a:pt x="72000" y="70000"/>
                </a:quadBezTo>
                <a:quadBezTo>
                  <a:pt x="69531" y="70000"/>
                  <a:pt x="67765" y="71765"/>
                </a:quadBezTo>
                <a:quadBezTo>
                  <a:pt x="66000" y="73531"/>
                  <a:pt x="66000" y="76000"/>
                </a:quadBezTo>
                <a:quadBezTo>
                  <a:pt x="66000" y="78469"/>
                  <a:pt x="67765" y="80235"/>
                </a:quadBezTo>
                <a:quadBezTo>
                  <a:pt x="69531" y="82000"/>
                  <a:pt x="72000" y="82000"/>
                </a:quadBezTo>
                <a:close/>
                <a:moveTo>
                  <a:pt x="72000" y="20000"/>
                </a:moveTo>
                <a:close/>
                <a:moveTo>
                  <a:pt x="24000" y="48000"/>
                </a:moveTo>
                <a:close/>
                <a:moveTo>
                  <a:pt x="72000" y="76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5" name="TextBox 184"/>
          <p:cNvSpPr txBox="1"/>
          <p:nvPr/>
        </p:nvSpPr>
        <p:spPr>
          <a:xfrm>
            <a:off x="10087238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share</a:t>
            </a:r>
          </a:p>
        </p:txBody>
      </p:sp>
      <p:sp>
        <p:nvSpPr>
          <p:cNvPr id="186" name="Icon shield"/>
          <p:cNvSpPr/>
          <p:nvPr/>
        </p:nvSpPr>
        <p:spPr>
          <a:xfrm>
            <a:off x="11279475" y="4352544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00" y="83846"/>
                </a:moveTo>
                <a:quadBezTo>
                  <a:pt x="35946" y="80269"/>
                  <a:pt x="27973" y="69242"/>
                </a:quadBezTo>
                <a:quadBezTo>
                  <a:pt x="20000" y="58215"/>
                  <a:pt x="20000" y="44400"/>
                </a:quadBezTo>
                <a:lnTo>
                  <a:pt x="20000" y="22769"/>
                </a:lnTo>
                <a:lnTo>
                  <a:pt x="48000" y="12308"/>
                </a:lnTo>
                <a:lnTo>
                  <a:pt x="76000" y="22769"/>
                </a:lnTo>
                <a:lnTo>
                  <a:pt x="76000" y="44400"/>
                </a:lnTo>
                <a:quadBezTo>
                  <a:pt x="76000" y="58215"/>
                  <a:pt x="68027" y="69242"/>
                </a:quadBezTo>
                <a:quadBezTo>
                  <a:pt x="60054" y="80269"/>
                  <a:pt x="48000" y="83846"/>
                </a:quadBezTo>
                <a:close/>
                <a:moveTo>
                  <a:pt x="48000" y="79600"/>
                </a:moveTo>
                <a:quadBezTo>
                  <a:pt x="58400" y="76300"/>
                  <a:pt x="65200" y="66400"/>
                </a:quadBezTo>
                <a:quadBezTo>
                  <a:pt x="72000" y="56500"/>
                  <a:pt x="72000" y="44400"/>
                </a:quadBezTo>
                <a:lnTo>
                  <a:pt x="72000" y="25500"/>
                </a:lnTo>
                <a:lnTo>
                  <a:pt x="48000" y="16577"/>
                </a:lnTo>
                <a:lnTo>
                  <a:pt x="24000" y="25500"/>
                </a:lnTo>
                <a:lnTo>
                  <a:pt x="24000" y="44400"/>
                </a:lnTo>
                <a:quadBezTo>
                  <a:pt x="24000" y="56500"/>
                  <a:pt x="30800" y="66400"/>
                </a:quadBezTo>
                <a:quadBezTo>
                  <a:pt x="37600" y="76300"/>
                  <a:pt x="48000" y="79600"/>
                </a:quadBezTo>
                <a:close/>
                <a:moveTo>
                  <a:pt x="48000" y="48077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7" name="TextBox 186"/>
          <p:cNvSpPr txBox="1"/>
          <p:nvPr/>
        </p:nvSpPr>
        <p:spPr>
          <a:xfrm>
            <a:off x="10973503" y="4636007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shield</a:t>
            </a:r>
          </a:p>
        </p:txBody>
      </p:sp>
      <p:sp>
        <p:nvSpPr>
          <p:cNvPr id="188" name="Icon shopping_cart"/>
          <p:cNvSpPr/>
          <p:nvPr/>
        </p:nvSpPr>
        <p:spPr>
          <a:xfrm>
            <a:off x="644300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84462"/>
                </a:moveTo>
                <a:quadBezTo>
                  <a:pt x="26700" y="84462"/>
                  <a:pt x="24965" y="82727"/>
                </a:quadBezTo>
                <a:quadBezTo>
                  <a:pt x="23231" y="80992"/>
                  <a:pt x="23231" y="78462"/>
                </a:quadBezTo>
                <a:quadBezTo>
                  <a:pt x="23231" y="75931"/>
                  <a:pt x="24965" y="74196"/>
                </a:quadBezTo>
                <a:quadBezTo>
                  <a:pt x="26700" y="72462"/>
                  <a:pt x="29231" y="72462"/>
                </a:quadBezTo>
                <a:quadBezTo>
                  <a:pt x="31762" y="72462"/>
                  <a:pt x="33496" y="74196"/>
                </a:quadBezTo>
                <a:quadBezTo>
                  <a:pt x="35231" y="75931"/>
                  <a:pt x="35231" y="78462"/>
                </a:quadBezTo>
                <a:quadBezTo>
                  <a:pt x="35231" y="80992"/>
                  <a:pt x="33496" y="82727"/>
                </a:quadBezTo>
                <a:quadBezTo>
                  <a:pt x="31762" y="84462"/>
                  <a:pt x="29231" y="84462"/>
                </a:quadBezTo>
                <a:close/>
                <a:moveTo>
                  <a:pt x="66769" y="84462"/>
                </a:moveTo>
                <a:quadBezTo>
                  <a:pt x="64238" y="84462"/>
                  <a:pt x="62504" y="82727"/>
                </a:quadBezTo>
                <a:quadBezTo>
                  <a:pt x="60769" y="80992"/>
                  <a:pt x="60769" y="78462"/>
                </a:quadBezTo>
                <a:quadBezTo>
                  <a:pt x="60769" y="75931"/>
                  <a:pt x="62504" y="74196"/>
                </a:quadBezTo>
                <a:quadBezTo>
                  <a:pt x="64238" y="72462"/>
                  <a:pt x="66769" y="72462"/>
                </a:quadBezTo>
                <a:quadBezTo>
                  <a:pt x="69300" y="72462"/>
                  <a:pt x="71035" y="74196"/>
                </a:quadBezTo>
                <a:quadBezTo>
                  <a:pt x="72769" y="75931"/>
                  <a:pt x="72769" y="78462"/>
                </a:quadBezTo>
                <a:quadBezTo>
                  <a:pt x="72769" y="80992"/>
                  <a:pt x="71035" y="82727"/>
                </a:quadBezTo>
                <a:quadBezTo>
                  <a:pt x="69300" y="84462"/>
                  <a:pt x="66769" y="84462"/>
                </a:quadBezTo>
                <a:close/>
                <a:moveTo>
                  <a:pt x="23523" y="22000"/>
                </a:moveTo>
                <a:lnTo>
                  <a:pt x="34200" y="44462"/>
                </a:lnTo>
                <a:lnTo>
                  <a:pt x="60738" y="44462"/>
                </a:lnTo>
                <a:quadBezTo>
                  <a:pt x="61431" y="44462"/>
                  <a:pt x="61969" y="44115"/>
                </a:quadBezTo>
                <a:quadBezTo>
                  <a:pt x="62508" y="43769"/>
                  <a:pt x="62892" y="43154"/>
                </a:quadBezTo>
                <a:lnTo>
                  <a:pt x="73354" y="24154"/>
                </a:lnTo>
                <a:quadBezTo>
                  <a:pt x="73815" y="23308"/>
                  <a:pt x="73431" y="22654"/>
                </a:quadBezTo>
                <a:quadBezTo>
                  <a:pt x="73046" y="22000"/>
                  <a:pt x="72123" y="22000"/>
                </a:quadBezTo>
                <a:lnTo>
                  <a:pt x="23523" y="22000"/>
                </a:lnTo>
                <a:close/>
                <a:moveTo>
                  <a:pt x="21569" y="18000"/>
                </a:moveTo>
                <a:lnTo>
                  <a:pt x="73646" y="18000"/>
                </a:lnTo>
                <a:quadBezTo>
                  <a:pt x="76254" y="18000"/>
                  <a:pt x="77569" y="20127"/>
                </a:quadBezTo>
                <a:quadBezTo>
                  <a:pt x="78885" y="22254"/>
                  <a:pt x="77708" y="24508"/>
                </a:quadBezTo>
                <a:lnTo>
                  <a:pt x="66277" y="45338"/>
                </a:lnTo>
                <a:quadBezTo>
                  <a:pt x="65408" y="46800"/>
                  <a:pt x="64019" y="47631"/>
                </a:quadBezTo>
                <a:quadBezTo>
                  <a:pt x="62631" y="48462"/>
                  <a:pt x="60969" y="48462"/>
                </a:quadBezTo>
                <a:lnTo>
                  <a:pt x="32400" y="48462"/>
                </a:lnTo>
                <a:lnTo>
                  <a:pt x="27538" y="57385"/>
                </a:lnTo>
                <a:quadBezTo>
                  <a:pt x="26923" y="58308"/>
                  <a:pt x="27500" y="59385"/>
                </a:quadBezTo>
                <a:quadBezTo>
                  <a:pt x="28077" y="60462"/>
                  <a:pt x="29231" y="60462"/>
                </a:quadBezTo>
                <a:lnTo>
                  <a:pt x="72769" y="60462"/>
                </a:lnTo>
                <a:lnTo>
                  <a:pt x="72769" y="64462"/>
                </a:lnTo>
                <a:lnTo>
                  <a:pt x="29231" y="64462"/>
                </a:lnTo>
                <a:quadBezTo>
                  <a:pt x="25731" y="64462"/>
                  <a:pt x="24008" y="61512"/>
                </a:quadBezTo>
                <a:quadBezTo>
                  <a:pt x="22285" y="58562"/>
                  <a:pt x="23923" y="55585"/>
                </a:quadBezTo>
                <a:lnTo>
                  <a:pt x="29938" y="44862"/>
                </a:lnTo>
                <a:lnTo>
                  <a:pt x="15231" y="14000"/>
                </a:lnTo>
                <a:lnTo>
                  <a:pt x="8000" y="14000"/>
                </a:lnTo>
                <a:lnTo>
                  <a:pt x="8000" y="10000"/>
                </a:lnTo>
                <a:lnTo>
                  <a:pt x="17769" y="10000"/>
                </a:lnTo>
                <a:lnTo>
                  <a:pt x="21569" y="18000"/>
                </a:lnTo>
                <a:close/>
                <a:moveTo>
                  <a:pt x="34200" y="44462"/>
                </a:moveTo>
                <a:lnTo>
                  <a:pt x="62200" y="44462"/>
                </a:lnTo>
                <a:lnTo>
                  <a:pt x="34200" y="4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89" name="TextBox 188"/>
          <p:cNvSpPr txBox="1"/>
          <p:nvPr/>
        </p:nvSpPr>
        <p:spPr>
          <a:xfrm>
            <a:off x="338328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shopping cart</a:t>
            </a:r>
          </a:p>
        </p:txBody>
      </p:sp>
      <p:sp>
        <p:nvSpPr>
          <p:cNvPr id="190" name="Icon show_chart"/>
          <p:cNvSpPr/>
          <p:nvPr/>
        </p:nvSpPr>
        <p:spPr>
          <a:xfrm>
            <a:off x="1530564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000" y="71231"/>
                </a:moveTo>
                <a:lnTo>
                  <a:pt x="11077" y="68308"/>
                </a:lnTo>
                <a:lnTo>
                  <a:pt x="38308" y="41077"/>
                </a:lnTo>
                <a:lnTo>
                  <a:pt x="54308" y="57077"/>
                </a:lnTo>
                <a:lnTo>
                  <a:pt x="82246" y="25077"/>
                </a:lnTo>
                <a:lnTo>
                  <a:pt x="85077" y="27754"/>
                </a:lnTo>
                <a:lnTo>
                  <a:pt x="54462" y="63077"/>
                </a:lnTo>
                <a:lnTo>
                  <a:pt x="38308" y="46923"/>
                </a:lnTo>
                <a:lnTo>
                  <a:pt x="14000" y="71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1" name="TextBox 190"/>
          <p:cNvSpPr txBox="1"/>
          <p:nvPr/>
        </p:nvSpPr>
        <p:spPr>
          <a:xfrm>
            <a:off x="1224592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show chart</a:t>
            </a:r>
          </a:p>
        </p:txBody>
      </p:sp>
      <p:sp>
        <p:nvSpPr>
          <p:cNvPr id="192" name="Icon smartphone"/>
          <p:cNvSpPr/>
          <p:nvPr/>
        </p:nvSpPr>
        <p:spPr>
          <a:xfrm>
            <a:off x="2416829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462" y="88000"/>
                </a:moveTo>
                <a:quadBezTo>
                  <a:pt x="27700" y="88000"/>
                  <a:pt x="25850" y="86150"/>
                </a:quadBezTo>
                <a:quadBezTo>
                  <a:pt x="24000" y="84300"/>
                  <a:pt x="24000" y="81538"/>
                </a:quadBezTo>
                <a:lnTo>
                  <a:pt x="24000" y="14462"/>
                </a:lnTo>
                <a:quadBezTo>
                  <a:pt x="24000" y="11700"/>
                  <a:pt x="25850" y="9850"/>
                </a:quadBezTo>
                <a:quadBezTo>
                  <a:pt x="27700" y="8000"/>
                  <a:pt x="30462" y="8000"/>
                </a:quadBezTo>
                <a:lnTo>
                  <a:pt x="65538" y="8000"/>
                </a:lnTo>
                <a:quadBezTo>
                  <a:pt x="68300" y="8000"/>
                  <a:pt x="70150" y="9850"/>
                </a:quadBezTo>
                <a:quadBezTo>
                  <a:pt x="72000" y="11700"/>
                  <a:pt x="72000" y="14462"/>
                </a:quadBezTo>
                <a:lnTo>
                  <a:pt x="72000" y="81538"/>
                </a:lnTo>
                <a:quadBezTo>
                  <a:pt x="72000" y="84300"/>
                  <a:pt x="70150" y="86150"/>
                </a:quadBezTo>
                <a:quadBezTo>
                  <a:pt x="68300" y="88000"/>
                  <a:pt x="65538" y="88000"/>
                </a:quadBezTo>
                <a:lnTo>
                  <a:pt x="30462" y="88000"/>
                </a:lnTo>
                <a:close/>
                <a:moveTo>
                  <a:pt x="28000" y="78000"/>
                </a:moveTo>
                <a:lnTo>
                  <a:pt x="28000" y="81538"/>
                </a:lnTo>
                <a:quadBezTo>
                  <a:pt x="28000" y="82462"/>
                  <a:pt x="28769" y="83231"/>
                </a:quadBezTo>
                <a:quadBezTo>
                  <a:pt x="29538" y="84000"/>
                  <a:pt x="30462" y="84000"/>
                </a:quadBezTo>
                <a:lnTo>
                  <a:pt x="65538" y="84000"/>
                </a:lnTo>
                <a:quadBezTo>
                  <a:pt x="66462" y="84000"/>
                  <a:pt x="67231" y="83231"/>
                </a:quadBezTo>
                <a:quadBezTo>
                  <a:pt x="68000" y="82462"/>
                  <a:pt x="68000" y="81538"/>
                </a:quadBezTo>
                <a:lnTo>
                  <a:pt x="68000" y="78000"/>
                </a:lnTo>
                <a:lnTo>
                  <a:pt x="28000" y="78000"/>
                </a:lnTo>
                <a:close/>
                <a:moveTo>
                  <a:pt x="28000" y="74000"/>
                </a:moveTo>
                <a:lnTo>
                  <a:pt x="68000" y="74000"/>
                </a:lnTo>
                <a:lnTo>
                  <a:pt x="68000" y="22000"/>
                </a:lnTo>
                <a:lnTo>
                  <a:pt x="28000" y="22000"/>
                </a:lnTo>
                <a:lnTo>
                  <a:pt x="28000" y="74000"/>
                </a:lnTo>
                <a:close/>
                <a:moveTo>
                  <a:pt x="28000" y="18000"/>
                </a:moveTo>
                <a:lnTo>
                  <a:pt x="68000" y="18000"/>
                </a:lnTo>
                <a:lnTo>
                  <a:pt x="68000" y="14462"/>
                </a:lnTo>
                <a:quadBezTo>
                  <a:pt x="68000" y="13538"/>
                  <a:pt x="67231" y="12769"/>
                </a:quadBezTo>
                <a:quadBezTo>
                  <a:pt x="66462" y="12000"/>
                  <a:pt x="65538" y="12000"/>
                </a:quadBezTo>
                <a:lnTo>
                  <a:pt x="30462" y="12000"/>
                </a:lnTo>
                <a:quadBezTo>
                  <a:pt x="29538" y="12000"/>
                  <a:pt x="28769" y="12769"/>
                </a:quadBezTo>
                <a:quadBezTo>
                  <a:pt x="28000" y="13538"/>
                  <a:pt x="28000" y="14462"/>
                </a:quadBezTo>
                <a:lnTo>
                  <a:pt x="28000" y="18000"/>
                </a:lnTo>
                <a:close/>
                <a:moveTo>
                  <a:pt x="28000" y="18000"/>
                </a:moveTo>
                <a:lnTo>
                  <a:pt x="28000" y="12000"/>
                </a:lnTo>
                <a:lnTo>
                  <a:pt x="28000" y="18000"/>
                </a:lnTo>
                <a:close/>
                <a:moveTo>
                  <a:pt x="28000" y="78000"/>
                </a:moveTo>
                <a:lnTo>
                  <a:pt x="28000" y="84000"/>
                </a:lnTo>
                <a:lnTo>
                  <a:pt x="28000" y="7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3" name="TextBox 192"/>
          <p:cNvSpPr txBox="1"/>
          <p:nvPr/>
        </p:nvSpPr>
        <p:spPr>
          <a:xfrm>
            <a:off x="2110857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smartphone</a:t>
            </a:r>
          </a:p>
        </p:txBody>
      </p:sp>
      <p:sp>
        <p:nvSpPr>
          <p:cNvPr id="194" name="Icon solar_power"/>
          <p:cNvSpPr/>
          <p:nvPr/>
        </p:nvSpPr>
        <p:spPr>
          <a:xfrm>
            <a:off x="3303094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846" y="83846"/>
                </a:moveTo>
                <a:lnTo>
                  <a:pt x="19231" y="51923"/>
                </a:lnTo>
                <a:lnTo>
                  <a:pt x="76692" y="51923"/>
                </a:lnTo>
                <a:lnTo>
                  <a:pt x="83077" y="83846"/>
                </a:lnTo>
                <a:lnTo>
                  <a:pt x="12846" y="83846"/>
                </a:lnTo>
                <a:close/>
                <a:moveTo>
                  <a:pt x="14769" y="16000"/>
                </a:moveTo>
                <a:lnTo>
                  <a:pt x="14769" y="12000"/>
                </a:lnTo>
                <a:lnTo>
                  <a:pt x="25615" y="12000"/>
                </a:lnTo>
                <a:lnTo>
                  <a:pt x="25615" y="16000"/>
                </a:lnTo>
                <a:lnTo>
                  <a:pt x="14769" y="16000"/>
                </a:lnTo>
                <a:close/>
                <a:moveTo>
                  <a:pt x="17800" y="79846"/>
                </a:moveTo>
                <a:lnTo>
                  <a:pt x="46000" y="79846"/>
                </a:lnTo>
                <a:lnTo>
                  <a:pt x="46000" y="70000"/>
                </a:lnTo>
                <a:lnTo>
                  <a:pt x="19785" y="70000"/>
                </a:lnTo>
                <a:lnTo>
                  <a:pt x="17800" y="79846"/>
                </a:lnTo>
                <a:close/>
                <a:moveTo>
                  <a:pt x="24038" y="36915"/>
                </a:moveTo>
                <a:lnTo>
                  <a:pt x="21185" y="34162"/>
                </a:lnTo>
                <a:lnTo>
                  <a:pt x="28838" y="26508"/>
                </a:lnTo>
                <a:lnTo>
                  <a:pt x="31692" y="29262"/>
                </a:lnTo>
                <a:lnTo>
                  <a:pt x="24038" y="36915"/>
                </a:lnTo>
                <a:close/>
                <a:moveTo>
                  <a:pt x="20615" y="66000"/>
                </a:moveTo>
                <a:lnTo>
                  <a:pt x="46000" y="66000"/>
                </a:lnTo>
                <a:lnTo>
                  <a:pt x="46000" y="55923"/>
                </a:lnTo>
                <a:lnTo>
                  <a:pt x="22600" y="55923"/>
                </a:lnTo>
                <a:lnTo>
                  <a:pt x="20615" y="66000"/>
                </a:lnTo>
                <a:close/>
                <a:moveTo>
                  <a:pt x="48000" y="28077"/>
                </a:moveTo>
                <a:quadBezTo>
                  <a:pt x="41238" y="28077"/>
                  <a:pt x="36542" y="23381"/>
                </a:quadBezTo>
                <a:quadBezTo>
                  <a:pt x="31846" y="18685"/>
                  <a:pt x="31846" y="11923"/>
                </a:quadBezTo>
                <a:lnTo>
                  <a:pt x="35846" y="11923"/>
                </a:lnTo>
                <a:quadBezTo>
                  <a:pt x="35846" y="16987"/>
                  <a:pt x="39394" y="20532"/>
                </a:quadBezTo>
                <a:quadBezTo>
                  <a:pt x="42941" y="24077"/>
                  <a:pt x="48009" y="24077"/>
                </a:quadBezTo>
                <a:quadBezTo>
                  <a:pt x="53077" y="24077"/>
                  <a:pt x="56615" y="20532"/>
                </a:quadBezTo>
                <a:quadBezTo>
                  <a:pt x="60154" y="16987"/>
                  <a:pt x="60154" y="11923"/>
                </a:quadBezTo>
                <a:lnTo>
                  <a:pt x="64154" y="11923"/>
                </a:lnTo>
                <a:quadBezTo>
                  <a:pt x="64154" y="18685"/>
                  <a:pt x="59458" y="23381"/>
                </a:quadBezTo>
                <a:quadBezTo>
                  <a:pt x="54762" y="28077"/>
                  <a:pt x="48000" y="28077"/>
                </a:quadBezTo>
                <a:close/>
                <a:moveTo>
                  <a:pt x="48000" y="11923"/>
                </a:moveTo>
                <a:close/>
                <a:moveTo>
                  <a:pt x="46000" y="44769"/>
                </a:moveTo>
                <a:lnTo>
                  <a:pt x="46000" y="33923"/>
                </a:lnTo>
                <a:lnTo>
                  <a:pt x="50000" y="33923"/>
                </a:lnTo>
                <a:lnTo>
                  <a:pt x="50000" y="44769"/>
                </a:lnTo>
                <a:lnTo>
                  <a:pt x="46000" y="44769"/>
                </a:lnTo>
                <a:close/>
                <a:moveTo>
                  <a:pt x="50000" y="79846"/>
                </a:moveTo>
                <a:lnTo>
                  <a:pt x="78123" y="79846"/>
                </a:lnTo>
                <a:lnTo>
                  <a:pt x="76138" y="70000"/>
                </a:lnTo>
                <a:lnTo>
                  <a:pt x="50000" y="70000"/>
                </a:lnTo>
                <a:lnTo>
                  <a:pt x="50000" y="79846"/>
                </a:lnTo>
                <a:close/>
                <a:moveTo>
                  <a:pt x="50000" y="66000"/>
                </a:moveTo>
                <a:lnTo>
                  <a:pt x="75308" y="66000"/>
                </a:lnTo>
                <a:lnTo>
                  <a:pt x="73323" y="55923"/>
                </a:lnTo>
                <a:lnTo>
                  <a:pt x="50000" y="55923"/>
                </a:lnTo>
                <a:lnTo>
                  <a:pt x="50000" y="66000"/>
                </a:lnTo>
                <a:close/>
                <a:moveTo>
                  <a:pt x="72115" y="36992"/>
                </a:moveTo>
                <a:lnTo>
                  <a:pt x="64408" y="29262"/>
                </a:lnTo>
                <a:lnTo>
                  <a:pt x="67162" y="26508"/>
                </a:lnTo>
                <a:lnTo>
                  <a:pt x="74969" y="34138"/>
                </a:lnTo>
                <a:lnTo>
                  <a:pt x="72115" y="36992"/>
                </a:lnTo>
                <a:close/>
                <a:moveTo>
                  <a:pt x="70385" y="16000"/>
                </a:moveTo>
                <a:lnTo>
                  <a:pt x="70385" y="12000"/>
                </a:lnTo>
                <a:lnTo>
                  <a:pt x="81231" y="12000"/>
                </a:lnTo>
                <a:lnTo>
                  <a:pt x="81231" y="16000"/>
                </a:lnTo>
                <a:lnTo>
                  <a:pt x="70385" y="1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5" name="TextBox 194"/>
          <p:cNvSpPr txBox="1"/>
          <p:nvPr/>
        </p:nvSpPr>
        <p:spPr>
          <a:xfrm>
            <a:off x="2997121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solar power</a:t>
            </a:r>
          </a:p>
        </p:txBody>
      </p:sp>
      <p:sp>
        <p:nvSpPr>
          <p:cNvPr id="196" name="Icon speed"/>
          <p:cNvSpPr/>
          <p:nvPr/>
        </p:nvSpPr>
        <p:spPr>
          <a:xfrm>
            <a:off x="4189358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3031" y="60769"/>
                </a:moveTo>
                <a:quadBezTo>
                  <a:pt x="44892" y="62631"/>
                  <a:pt x="47808" y="62465"/>
                </a:quadBezTo>
                <a:quadBezTo>
                  <a:pt x="50723" y="62300"/>
                  <a:pt x="52062" y="60369"/>
                </a:quadBezTo>
                <a:lnTo>
                  <a:pt x="73077" y="31077"/>
                </a:lnTo>
                <a:lnTo>
                  <a:pt x="43631" y="51938"/>
                </a:lnTo>
                <a:quadBezTo>
                  <a:pt x="41623" y="53277"/>
                  <a:pt x="41396" y="56092"/>
                </a:quadBezTo>
                <a:quadBezTo>
                  <a:pt x="41169" y="58908"/>
                  <a:pt x="43031" y="60769"/>
                </a:quadBezTo>
                <a:close/>
                <a:moveTo>
                  <a:pt x="48000" y="20000"/>
                </a:moveTo>
                <a:quadBezTo>
                  <a:pt x="53515" y="20000"/>
                  <a:pt x="58042" y="21342"/>
                </a:quadBezTo>
                <a:quadBezTo>
                  <a:pt x="62569" y="22685"/>
                  <a:pt x="67062" y="25446"/>
                </a:quadBezTo>
                <a:lnTo>
                  <a:pt x="63385" y="27938"/>
                </a:lnTo>
                <a:quadBezTo>
                  <a:pt x="59854" y="26008"/>
                  <a:pt x="56073" y="25004"/>
                </a:quadBezTo>
                <a:quadBezTo>
                  <a:pt x="52292" y="24000"/>
                  <a:pt x="48000" y="24000"/>
                </a:quadBezTo>
                <a:quadBezTo>
                  <a:pt x="34700" y="24000"/>
                  <a:pt x="25350" y="33350"/>
                </a:quadBezTo>
                <a:quadBezTo>
                  <a:pt x="16000" y="42700"/>
                  <a:pt x="16000" y="56000"/>
                </a:quadBezTo>
                <a:quadBezTo>
                  <a:pt x="16000" y="60200"/>
                  <a:pt x="17150" y="64300"/>
                </a:quadBezTo>
                <a:quadBezTo>
                  <a:pt x="18300" y="68400"/>
                  <a:pt x="20400" y="72000"/>
                </a:quadBezTo>
                <a:lnTo>
                  <a:pt x="75600" y="72000"/>
                </a:lnTo>
                <a:quadBezTo>
                  <a:pt x="77900" y="68200"/>
                  <a:pt x="78950" y="64100"/>
                </a:quadBezTo>
                <a:quadBezTo>
                  <a:pt x="80000" y="60000"/>
                  <a:pt x="80000" y="55600"/>
                </a:quadBezTo>
                <a:quadBezTo>
                  <a:pt x="80000" y="52000"/>
                  <a:pt x="79073" y="48023"/>
                </a:quadBezTo>
                <a:quadBezTo>
                  <a:pt x="78146" y="44046"/>
                  <a:pt x="76138" y="40615"/>
                </a:quadBezTo>
                <a:lnTo>
                  <a:pt x="78631" y="36938"/>
                </a:lnTo>
                <a:quadBezTo>
                  <a:pt x="81554" y="41946"/>
                  <a:pt x="82765" y="46362"/>
                </a:quadBezTo>
                <a:quadBezTo>
                  <a:pt x="83977" y="50777"/>
                  <a:pt x="84000" y="55554"/>
                </a:quadBezTo>
                <a:quadBezTo>
                  <a:pt x="84023" y="60715"/>
                  <a:pt x="82854" y="65185"/>
                </a:quadBezTo>
                <a:quadBezTo>
                  <a:pt x="81685" y="69654"/>
                  <a:pt x="79215" y="74200"/>
                </a:quadBezTo>
                <a:quadBezTo>
                  <a:pt x="78731" y="75000"/>
                  <a:pt x="77754" y="75500"/>
                </a:quadBezTo>
                <a:quadBezTo>
                  <a:pt x="76777" y="76000"/>
                  <a:pt x="75600" y="76000"/>
                </a:quadBezTo>
                <a:lnTo>
                  <a:pt x="20400" y="76000"/>
                </a:lnTo>
                <a:quadBezTo>
                  <a:pt x="19300" y="76000"/>
                  <a:pt x="18362" y="75462"/>
                </a:quadBezTo>
                <a:quadBezTo>
                  <a:pt x="17423" y="74923"/>
                  <a:pt x="16785" y="73892"/>
                </a:quadBezTo>
                <a:quadBezTo>
                  <a:pt x="14800" y="70392"/>
                  <a:pt x="13400" y="65996"/>
                </a:quadBezTo>
                <a:quadBezTo>
                  <a:pt x="12000" y="61600"/>
                  <a:pt x="12000" y="56000"/>
                </a:quadBezTo>
                <a:quadBezTo>
                  <a:pt x="12000" y="48623"/>
                  <a:pt x="14798" y="42076"/>
                </a:quadBezTo>
                <a:quadBezTo>
                  <a:pt x="17596" y="35528"/>
                  <a:pt x="22436" y="30606"/>
                </a:quadBezTo>
                <a:quadBezTo>
                  <a:pt x="27277" y="25685"/>
                  <a:pt x="33885" y="22842"/>
                </a:quadBezTo>
                <a:quadBezTo>
                  <a:pt x="40492" y="20000"/>
                  <a:pt x="48000" y="20000"/>
                </a:quadBezTo>
                <a:close/>
                <a:moveTo>
                  <a:pt x="48162" y="478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7" name="TextBox 196"/>
          <p:cNvSpPr txBox="1"/>
          <p:nvPr/>
        </p:nvSpPr>
        <p:spPr>
          <a:xfrm>
            <a:off x="3883386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speed</a:t>
            </a:r>
          </a:p>
        </p:txBody>
      </p:sp>
      <p:sp>
        <p:nvSpPr>
          <p:cNvPr id="198" name="Icon star"/>
          <p:cNvSpPr/>
          <p:nvPr/>
        </p:nvSpPr>
        <p:spPr>
          <a:xfrm>
            <a:off x="5075623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5400" y="67300"/>
                </a:moveTo>
                <a:lnTo>
                  <a:pt x="48000" y="59700"/>
                </a:lnTo>
                <a:lnTo>
                  <a:pt x="60600" y="67400"/>
                </a:lnTo>
                <a:lnTo>
                  <a:pt x="57300" y="53000"/>
                </a:lnTo>
                <a:lnTo>
                  <a:pt x="68400" y="43400"/>
                </a:lnTo>
                <a:lnTo>
                  <a:pt x="53800" y="42100"/>
                </a:lnTo>
                <a:lnTo>
                  <a:pt x="48000" y="28500"/>
                </a:lnTo>
                <a:lnTo>
                  <a:pt x="42200" y="42000"/>
                </a:lnTo>
                <a:lnTo>
                  <a:pt x="27600" y="43300"/>
                </a:lnTo>
                <a:lnTo>
                  <a:pt x="38700" y="53000"/>
                </a:lnTo>
                <a:lnTo>
                  <a:pt x="35400" y="67300"/>
                </a:lnTo>
                <a:close/>
                <a:moveTo>
                  <a:pt x="29300" y="75692"/>
                </a:moveTo>
                <a:lnTo>
                  <a:pt x="34262" y="54438"/>
                </a:lnTo>
                <a:lnTo>
                  <a:pt x="17769" y="40154"/>
                </a:lnTo>
                <a:lnTo>
                  <a:pt x="39492" y="38269"/>
                </a:lnTo>
                <a:lnTo>
                  <a:pt x="48000" y="18231"/>
                </a:lnTo>
                <a:lnTo>
                  <a:pt x="56508" y="38269"/>
                </a:lnTo>
                <a:lnTo>
                  <a:pt x="78231" y="40154"/>
                </a:lnTo>
                <a:lnTo>
                  <a:pt x="61738" y="54438"/>
                </a:lnTo>
                <a:lnTo>
                  <a:pt x="66700" y="75692"/>
                </a:lnTo>
                <a:lnTo>
                  <a:pt x="48000" y="64408"/>
                </a:lnTo>
                <a:lnTo>
                  <a:pt x="29300" y="75692"/>
                </a:lnTo>
                <a:close/>
                <a:moveTo>
                  <a:pt x="48000" y="49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99" name="TextBox 198"/>
          <p:cNvSpPr txBox="1"/>
          <p:nvPr/>
        </p:nvSpPr>
        <p:spPr>
          <a:xfrm>
            <a:off x="4769651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star</a:t>
            </a:r>
          </a:p>
        </p:txBody>
      </p:sp>
      <p:sp>
        <p:nvSpPr>
          <p:cNvPr id="200" name="Icon support_agent"/>
          <p:cNvSpPr/>
          <p:nvPr/>
        </p:nvSpPr>
        <p:spPr>
          <a:xfrm>
            <a:off x="5961888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7077" y="80000"/>
                </a:moveTo>
                <a:lnTo>
                  <a:pt x="47077" y="76000"/>
                </a:lnTo>
                <a:lnTo>
                  <a:pt x="73538" y="76000"/>
                </a:lnTo>
                <a:quadBezTo>
                  <a:pt x="74538" y="76000"/>
                  <a:pt x="75269" y="75385"/>
                </a:quadBezTo>
                <a:quadBezTo>
                  <a:pt x="76000" y="74769"/>
                  <a:pt x="76000" y="73769"/>
                </a:quadBezTo>
                <a:lnTo>
                  <a:pt x="76000" y="46215"/>
                </a:lnTo>
                <a:quadBezTo>
                  <a:pt x="76000" y="34977"/>
                  <a:pt x="67735" y="27442"/>
                </a:quadBezTo>
                <a:quadBezTo>
                  <a:pt x="59469" y="19908"/>
                  <a:pt x="48000" y="19908"/>
                </a:quadBezTo>
                <a:quadBezTo>
                  <a:pt x="36531" y="19908"/>
                  <a:pt x="28265" y="27442"/>
                </a:quadBezTo>
                <a:quadBezTo>
                  <a:pt x="20000" y="34977"/>
                  <a:pt x="20000" y="46215"/>
                </a:quadBezTo>
                <a:lnTo>
                  <a:pt x="20000" y="68923"/>
                </a:lnTo>
                <a:lnTo>
                  <a:pt x="18000" y="68923"/>
                </a:lnTo>
                <a:quadBezTo>
                  <a:pt x="15546" y="68923"/>
                  <a:pt x="13773" y="67265"/>
                </a:quadBezTo>
                <a:quadBezTo>
                  <a:pt x="12000" y="65608"/>
                  <a:pt x="12000" y="63154"/>
                </a:quadBezTo>
                <a:lnTo>
                  <a:pt x="12000" y="55615"/>
                </a:lnTo>
                <a:quadBezTo>
                  <a:pt x="12000" y="53823"/>
                  <a:pt x="13165" y="52435"/>
                </a:quadBezTo>
                <a:quadBezTo>
                  <a:pt x="14331" y="51046"/>
                  <a:pt x="16000" y="50177"/>
                </a:quadBezTo>
                <a:lnTo>
                  <a:pt x="16069" y="45262"/>
                </a:lnTo>
                <a:quadBezTo>
                  <a:pt x="16254" y="39000"/>
                  <a:pt x="18904" y="33662"/>
                </a:quadBezTo>
                <a:quadBezTo>
                  <a:pt x="21554" y="28323"/>
                  <a:pt x="25881" y="24369"/>
                </a:quadBezTo>
                <a:quadBezTo>
                  <a:pt x="30208" y="20415"/>
                  <a:pt x="35935" y="18208"/>
                </a:quadBezTo>
                <a:quadBezTo>
                  <a:pt x="41662" y="16000"/>
                  <a:pt x="48000" y="16000"/>
                </a:quadBezTo>
                <a:quadBezTo>
                  <a:pt x="54338" y="16000"/>
                  <a:pt x="60054" y="18208"/>
                </a:quadBezTo>
                <a:quadBezTo>
                  <a:pt x="65769" y="20415"/>
                  <a:pt x="70108" y="24358"/>
                </a:quadBezTo>
                <a:quadBezTo>
                  <a:pt x="74446" y="28300"/>
                  <a:pt x="77085" y="33638"/>
                </a:quadBezTo>
                <a:quadBezTo>
                  <a:pt x="79723" y="38977"/>
                  <a:pt x="79931" y="45238"/>
                </a:quadBezTo>
                <a:lnTo>
                  <a:pt x="80000" y="50054"/>
                </a:lnTo>
                <a:quadBezTo>
                  <a:pt x="81592" y="50800"/>
                  <a:pt x="82796" y="52062"/>
                </a:quadBezTo>
                <a:quadBezTo>
                  <a:pt x="84000" y="53323"/>
                  <a:pt x="84000" y="55092"/>
                </a:quadBezTo>
                <a:lnTo>
                  <a:pt x="84000" y="63754"/>
                </a:lnTo>
                <a:quadBezTo>
                  <a:pt x="84000" y="65523"/>
                  <a:pt x="82796" y="66785"/>
                </a:quadBezTo>
                <a:quadBezTo>
                  <a:pt x="81592" y="68046"/>
                  <a:pt x="80000" y="68792"/>
                </a:quadBezTo>
                <a:lnTo>
                  <a:pt x="80000" y="73769"/>
                </a:lnTo>
                <a:quadBezTo>
                  <a:pt x="80000" y="76377"/>
                  <a:pt x="78112" y="78188"/>
                </a:quadBezTo>
                <a:quadBezTo>
                  <a:pt x="76223" y="80000"/>
                  <a:pt x="73538" y="80000"/>
                </a:quadBezTo>
                <a:lnTo>
                  <a:pt x="47077" y="80000"/>
                </a:lnTo>
                <a:close/>
                <a:moveTo>
                  <a:pt x="37538" y="54154"/>
                </a:moveTo>
                <a:quadBezTo>
                  <a:pt x="36300" y="54154"/>
                  <a:pt x="35381" y="53312"/>
                </a:quadBezTo>
                <a:quadBezTo>
                  <a:pt x="34462" y="52469"/>
                  <a:pt x="34462" y="51231"/>
                </a:quadBezTo>
                <a:quadBezTo>
                  <a:pt x="34462" y="49992"/>
                  <a:pt x="35381" y="49112"/>
                </a:quadBezTo>
                <a:quadBezTo>
                  <a:pt x="36300" y="48231"/>
                  <a:pt x="37538" y="48231"/>
                </a:quadBezTo>
                <a:quadBezTo>
                  <a:pt x="38777" y="48231"/>
                  <a:pt x="39696" y="49112"/>
                </a:quadBezTo>
                <a:quadBezTo>
                  <a:pt x="40615" y="49992"/>
                  <a:pt x="40615" y="51231"/>
                </a:quadBezTo>
                <a:quadBezTo>
                  <a:pt x="40615" y="52469"/>
                  <a:pt x="39696" y="53312"/>
                </a:quadBezTo>
                <a:quadBezTo>
                  <a:pt x="38777" y="54154"/>
                  <a:pt x="37538" y="54154"/>
                </a:quadBezTo>
                <a:close/>
                <a:moveTo>
                  <a:pt x="58462" y="54154"/>
                </a:moveTo>
                <a:quadBezTo>
                  <a:pt x="57223" y="54154"/>
                  <a:pt x="56304" y="53312"/>
                </a:quadBezTo>
                <a:quadBezTo>
                  <a:pt x="55385" y="52469"/>
                  <a:pt x="55385" y="51231"/>
                </a:quadBezTo>
                <a:quadBezTo>
                  <a:pt x="55385" y="49992"/>
                  <a:pt x="56304" y="49112"/>
                </a:quadBezTo>
                <a:quadBezTo>
                  <a:pt x="57223" y="48231"/>
                  <a:pt x="58462" y="48231"/>
                </a:quadBezTo>
                <a:quadBezTo>
                  <a:pt x="59700" y="48231"/>
                  <a:pt x="60619" y="49112"/>
                </a:quadBezTo>
                <a:quadBezTo>
                  <a:pt x="61538" y="49992"/>
                  <a:pt x="61538" y="51231"/>
                </a:quadBezTo>
                <a:quadBezTo>
                  <a:pt x="61538" y="52469"/>
                  <a:pt x="60619" y="53312"/>
                </a:quadBezTo>
                <a:quadBezTo>
                  <a:pt x="59700" y="54154"/>
                  <a:pt x="58462" y="54154"/>
                </a:quadBezTo>
                <a:close/>
                <a:moveTo>
                  <a:pt x="26869" y="47800"/>
                </a:moveTo>
                <a:quadBezTo>
                  <a:pt x="26323" y="38815"/>
                  <a:pt x="32654" y="32485"/>
                </a:quadBezTo>
                <a:quadBezTo>
                  <a:pt x="38985" y="26154"/>
                  <a:pt x="48200" y="26154"/>
                </a:quadBezTo>
                <a:quadBezTo>
                  <a:pt x="55946" y="26154"/>
                  <a:pt x="61927" y="30804"/>
                </a:quadBezTo>
                <a:quadBezTo>
                  <a:pt x="67908" y="35454"/>
                  <a:pt x="69231" y="43023"/>
                </a:quadBezTo>
                <a:quadBezTo>
                  <a:pt x="61285" y="42923"/>
                  <a:pt x="54481" y="38969"/>
                </a:quadBezTo>
                <a:quadBezTo>
                  <a:pt x="47677" y="35015"/>
                  <a:pt x="44038" y="27969"/>
                </a:quadBezTo>
                <a:quadBezTo>
                  <a:pt x="42592" y="34892"/>
                  <a:pt x="38019" y="40104"/>
                </a:quadBezTo>
                <a:quadBezTo>
                  <a:pt x="33446" y="45315"/>
                  <a:pt x="26869" y="478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1" name="TextBox 200"/>
          <p:cNvSpPr txBox="1"/>
          <p:nvPr/>
        </p:nvSpPr>
        <p:spPr>
          <a:xfrm>
            <a:off x="5655915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support agent</a:t>
            </a:r>
          </a:p>
        </p:txBody>
      </p:sp>
      <p:sp>
        <p:nvSpPr>
          <p:cNvPr id="202" name="Icon swap_horiz"/>
          <p:cNvSpPr/>
          <p:nvPr/>
        </p:nvSpPr>
        <p:spPr>
          <a:xfrm>
            <a:off x="6848152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9231" y="75923"/>
                </a:moveTo>
                <a:lnTo>
                  <a:pt x="12000" y="58692"/>
                </a:lnTo>
                <a:lnTo>
                  <a:pt x="29231" y="41462"/>
                </a:lnTo>
                <a:lnTo>
                  <a:pt x="32062" y="44315"/>
                </a:lnTo>
                <a:lnTo>
                  <a:pt x="19685" y="56692"/>
                </a:lnTo>
                <a:lnTo>
                  <a:pt x="49231" y="56692"/>
                </a:lnTo>
                <a:lnTo>
                  <a:pt x="49231" y="60692"/>
                </a:lnTo>
                <a:lnTo>
                  <a:pt x="19685" y="60692"/>
                </a:lnTo>
                <a:lnTo>
                  <a:pt x="32062" y="73069"/>
                </a:lnTo>
                <a:lnTo>
                  <a:pt x="29231" y="75923"/>
                </a:lnTo>
                <a:close/>
                <a:moveTo>
                  <a:pt x="66769" y="54462"/>
                </a:moveTo>
                <a:lnTo>
                  <a:pt x="63938" y="51608"/>
                </a:lnTo>
                <a:lnTo>
                  <a:pt x="76315" y="39231"/>
                </a:lnTo>
                <a:lnTo>
                  <a:pt x="46769" y="39231"/>
                </a:lnTo>
                <a:lnTo>
                  <a:pt x="46769" y="35231"/>
                </a:lnTo>
                <a:lnTo>
                  <a:pt x="76315" y="35231"/>
                </a:lnTo>
                <a:lnTo>
                  <a:pt x="63938" y="22854"/>
                </a:lnTo>
                <a:lnTo>
                  <a:pt x="66769" y="20000"/>
                </a:lnTo>
                <a:lnTo>
                  <a:pt x="84000" y="37231"/>
                </a:lnTo>
                <a:lnTo>
                  <a:pt x="66769" y="544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3" name="TextBox 202"/>
          <p:cNvSpPr txBox="1"/>
          <p:nvPr/>
        </p:nvSpPr>
        <p:spPr>
          <a:xfrm>
            <a:off x="6542180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swap horiz</a:t>
            </a:r>
          </a:p>
        </p:txBody>
      </p:sp>
      <p:sp>
        <p:nvSpPr>
          <p:cNvPr id="204" name="Icon sync"/>
          <p:cNvSpPr/>
          <p:nvPr/>
        </p:nvSpPr>
        <p:spPr>
          <a:xfrm>
            <a:off x="7734417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615" y="77385"/>
                </a:moveTo>
                <a:lnTo>
                  <a:pt x="18615" y="73385"/>
                </a:lnTo>
                <a:lnTo>
                  <a:pt x="31000" y="73385"/>
                </a:lnTo>
                <a:lnTo>
                  <a:pt x="26785" y="69215"/>
                </a:lnTo>
                <a:quadBezTo>
                  <a:pt x="22123" y="64692"/>
                  <a:pt x="20062" y="59292"/>
                </a:quadBezTo>
                <a:quadBezTo>
                  <a:pt x="18000" y="53892"/>
                  <a:pt x="18000" y="48354"/>
                </a:quadBezTo>
                <a:quadBezTo>
                  <a:pt x="18000" y="38715"/>
                  <a:pt x="23496" y="30912"/>
                </a:quadBezTo>
                <a:quadBezTo>
                  <a:pt x="28992" y="23108"/>
                  <a:pt x="38000" y="19769"/>
                </a:quadBezTo>
                <a:lnTo>
                  <a:pt x="38000" y="24015"/>
                </a:lnTo>
                <a:quadBezTo>
                  <a:pt x="30723" y="27077"/>
                  <a:pt x="26362" y="33712"/>
                </a:quadBezTo>
                <a:quadBezTo>
                  <a:pt x="22000" y="40346"/>
                  <a:pt x="22000" y="48354"/>
                </a:quadBezTo>
                <a:quadBezTo>
                  <a:pt x="22000" y="53238"/>
                  <a:pt x="23854" y="57835"/>
                </a:quadBezTo>
                <a:quadBezTo>
                  <a:pt x="25708" y="62431"/>
                  <a:pt x="29615" y="66338"/>
                </a:quadBezTo>
                <a:lnTo>
                  <a:pt x="33692" y="70415"/>
                </a:lnTo>
                <a:lnTo>
                  <a:pt x="33692" y="58308"/>
                </a:lnTo>
                <a:lnTo>
                  <a:pt x="37692" y="58308"/>
                </a:lnTo>
                <a:lnTo>
                  <a:pt x="37692" y="77385"/>
                </a:lnTo>
                <a:lnTo>
                  <a:pt x="18615" y="77385"/>
                </a:lnTo>
                <a:close/>
                <a:moveTo>
                  <a:pt x="58000" y="76231"/>
                </a:moveTo>
                <a:lnTo>
                  <a:pt x="58000" y="71985"/>
                </a:lnTo>
                <a:quadBezTo>
                  <a:pt x="65277" y="68923"/>
                  <a:pt x="69638" y="62288"/>
                </a:quadBezTo>
                <a:quadBezTo>
                  <a:pt x="74000" y="55654"/>
                  <a:pt x="74000" y="47646"/>
                </a:quadBezTo>
                <a:quadBezTo>
                  <a:pt x="74000" y="42762"/>
                  <a:pt x="72146" y="38165"/>
                </a:quadBezTo>
                <a:quadBezTo>
                  <a:pt x="70292" y="33569"/>
                  <a:pt x="66385" y="29662"/>
                </a:quadBezTo>
                <a:lnTo>
                  <a:pt x="62308" y="25585"/>
                </a:lnTo>
                <a:lnTo>
                  <a:pt x="62308" y="37692"/>
                </a:lnTo>
                <a:lnTo>
                  <a:pt x="58308" y="37692"/>
                </a:lnTo>
                <a:lnTo>
                  <a:pt x="58308" y="18615"/>
                </a:lnTo>
                <a:lnTo>
                  <a:pt x="77385" y="18615"/>
                </a:lnTo>
                <a:lnTo>
                  <a:pt x="77385" y="22615"/>
                </a:lnTo>
                <a:lnTo>
                  <a:pt x="65000" y="22615"/>
                </a:lnTo>
                <a:lnTo>
                  <a:pt x="69215" y="26785"/>
                </a:lnTo>
                <a:quadBezTo>
                  <a:pt x="73808" y="31377"/>
                  <a:pt x="75904" y="36742"/>
                </a:quadBezTo>
                <a:quadBezTo>
                  <a:pt x="78000" y="42108"/>
                  <a:pt x="78000" y="47646"/>
                </a:quadBezTo>
                <a:quadBezTo>
                  <a:pt x="78000" y="57285"/>
                  <a:pt x="72504" y="65088"/>
                </a:quadBezTo>
                <a:quadBezTo>
                  <a:pt x="67008" y="72892"/>
                  <a:pt x="58000" y="76231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5" name="TextBox 204"/>
          <p:cNvSpPr txBox="1"/>
          <p:nvPr/>
        </p:nvSpPr>
        <p:spPr>
          <a:xfrm>
            <a:off x="7428444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sync</a:t>
            </a:r>
          </a:p>
        </p:txBody>
      </p:sp>
      <p:sp>
        <p:nvSpPr>
          <p:cNvPr id="206" name="Icon target"/>
          <p:cNvSpPr/>
          <p:nvPr/>
        </p:nvSpPr>
        <p:spPr>
          <a:xfrm>
            <a:off x="8620681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4" y="33972"/>
                </a:quadBezTo>
                <a:quadBezTo>
                  <a:pt x="17668" y="27399"/>
                  <a:pt x="22526" y="22536"/>
                </a:quadBezTo>
                <a:quadBezTo>
                  <a:pt x="27384" y="17673"/>
                  <a:pt x="33952" y="14837"/>
                </a:quadBezTo>
                <a:quadBezTo>
                  <a:pt x="40519" y="12000"/>
                  <a:pt x="47987" y="12000"/>
                </a:quadBezTo>
                <a:quadBezTo>
                  <a:pt x="55454" y="12000"/>
                  <a:pt x="62028" y="14834"/>
                </a:quadBezTo>
                <a:quadBezTo>
                  <a:pt x="68601" y="17668"/>
                  <a:pt x="73464" y="22526"/>
                </a:quadBezTo>
                <a:quadBezTo>
                  <a:pt x="78327" y="27384"/>
                  <a:pt x="81163" y="33952"/>
                </a:quadBezTo>
                <a:quadBezTo>
                  <a:pt x="84000" y="40519"/>
                  <a:pt x="84000" y="47987"/>
                </a:quadBezTo>
                <a:quadBezTo>
                  <a:pt x="84000" y="55454"/>
                  <a:pt x="81166" y="62028"/>
                </a:quadBezTo>
                <a:quadBezTo>
                  <a:pt x="78332" y="68601"/>
                  <a:pt x="73474" y="73464"/>
                </a:quadBezTo>
                <a:quadBezTo>
                  <a:pt x="68616" y="78327"/>
                  <a:pt x="62048" y="81163"/>
                </a:quadBezTo>
                <a:quadBezTo>
                  <a:pt x="55481" y="84000"/>
                  <a:pt x="48013" y="84000"/>
                </a:quadBezTo>
                <a:close/>
                <a:moveTo>
                  <a:pt x="48000" y="80000"/>
                </a:moveTo>
                <a:quadBezTo>
                  <a:pt x="61400" y="80000"/>
                  <a:pt x="70700" y="70700"/>
                </a:quadBezTo>
                <a:quadBezTo>
                  <a:pt x="80000" y="61400"/>
                  <a:pt x="80000" y="48000"/>
                </a:quadBezTo>
                <a:quadBezTo>
                  <a:pt x="80000" y="34600"/>
                  <a:pt x="70700" y="25300"/>
                </a:quadBezTo>
                <a:quadBezTo>
                  <a:pt x="61400" y="16000"/>
                  <a:pt x="48000" y="16000"/>
                </a:quadBezTo>
                <a:quadBezTo>
                  <a:pt x="34600" y="16000"/>
                  <a:pt x="25300" y="25300"/>
                </a:quadBezTo>
                <a:quadBezTo>
                  <a:pt x="16000" y="34600"/>
                  <a:pt x="16000" y="48000"/>
                </a:quadBezTo>
                <a:quadBezTo>
                  <a:pt x="16000" y="61400"/>
                  <a:pt x="25300" y="70700"/>
                </a:quadBezTo>
                <a:quadBezTo>
                  <a:pt x="34600" y="80000"/>
                  <a:pt x="48000" y="80000"/>
                </a:quadBezTo>
                <a:close/>
                <a:moveTo>
                  <a:pt x="48018" y="68000"/>
                </a:moveTo>
                <a:quadBezTo>
                  <a:pt x="39692" y="68000"/>
                  <a:pt x="33846" y="62172"/>
                </a:quadBezTo>
                <a:quadBezTo>
                  <a:pt x="28000" y="56344"/>
                  <a:pt x="28000" y="48018"/>
                </a:quadBezTo>
                <a:quadBezTo>
                  <a:pt x="28000" y="39692"/>
                  <a:pt x="33828" y="33846"/>
                </a:quadBezTo>
                <a:quadBezTo>
                  <a:pt x="39656" y="28000"/>
                  <a:pt x="47982" y="28000"/>
                </a:quadBezTo>
                <a:quadBezTo>
                  <a:pt x="56308" y="28000"/>
                  <a:pt x="62154" y="33828"/>
                </a:quadBezTo>
                <a:quadBezTo>
                  <a:pt x="68000" y="39656"/>
                  <a:pt x="68000" y="47982"/>
                </a:quadBezTo>
                <a:quadBezTo>
                  <a:pt x="68000" y="56308"/>
                  <a:pt x="62172" y="62154"/>
                </a:quadBezTo>
                <a:quadBezTo>
                  <a:pt x="56344" y="68000"/>
                  <a:pt x="48018" y="68000"/>
                </a:quadBezTo>
                <a:close/>
                <a:moveTo>
                  <a:pt x="48000" y="64000"/>
                </a:moveTo>
                <a:quadBezTo>
                  <a:pt x="54600" y="64000"/>
                  <a:pt x="59300" y="59300"/>
                </a:quadBezTo>
                <a:quadBezTo>
                  <a:pt x="64000" y="54600"/>
                  <a:pt x="64000" y="48000"/>
                </a:quadBezTo>
                <a:quadBezTo>
                  <a:pt x="64000" y="41400"/>
                  <a:pt x="59300" y="36700"/>
                </a:quadBezTo>
                <a:quadBezTo>
                  <a:pt x="54600" y="32000"/>
                  <a:pt x="48000" y="32000"/>
                </a:quadBezTo>
                <a:quadBezTo>
                  <a:pt x="41400" y="32000"/>
                  <a:pt x="36700" y="36700"/>
                </a:quadBezTo>
                <a:quadBezTo>
                  <a:pt x="32000" y="41400"/>
                  <a:pt x="32000" y="48000"/>
                </a:quadBezTo>
                <a:quadBezTo>
                  <a:pt x="32000" y="54600"/>
                  <a:pt x="36700" y="59300"/>
                </a:quadBezTo>
                <a:quadBezTo>
                  <a:pt x="41400" y="64000"/>
                  <a:pt x="48000" y="64000"/>
                </a:quadBezTo>
                <a:close/>
                <a:moveTo>
                  <a:pt x="48000" y="52000"/>
                </a:moveTo>
                <a:quadBezTo>
                  <a:pt x="46392" y="52000"/>
                  <a:pt x="45196" y="50804"/>
                </a:quadBezTo>
                <a:quadBezTo>
                  <a:pt x="44000" y="49608"/>
                  <a:pt x="44000" y="48000"/>
                </a:quadBezTo>
                <a:quadBezTo>
                  <a:pt x="44000" y="46392"/>
                  <a:pt x="45196" y="45196"/>
                </a:quadBezTo>
                <a:quadBezTo>
                  <a:pt x="46392" y="44000"/>
                  <a:pt x="48000" y="44000"/>
                </a:quadBezTo>
                <a:quadBezTo>
                  <a:pt x="49608" y="44000"/>
                  <a:pt x="50804" y="45196"/>
                </a:quadBezTo>
                <a:quadBezTo>
                  <a:pt x="52000" y="46392"/>
                  <a:pt x="52000" y="48000"/>
                </a:quadBezTo>
                <a:quadBezTo>
                  <a:pt x="52000" y="49608"/>
                  <a:pt x="50804" y="50804"/>
                </a:quadBezTo>
                <a:quadBezTo>
                  <a:pt x="49608" y="52000"/>
                  <a:pt x="48000" y="52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7" name="TextBox 206"/>
          <p:cNvSpPr txBox="1"/>
          <p:nvPr/>
        </p:nvSpPr>
        <p:spPr>
          <a:xfrm>
            <a:off x="8314709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target</a:t>
            </a:r>
          </a:p>
        </p:txBody>
      </p:sp>
      <p:sp>
        <p:nvSpPr>
          <p:cNvPr id="208" name="Icon task_alt"/>
          <p:cNvSpPr/>
          <p:nvPr/>
        </p:nvSpPr>
        <p:spPr>
          <a:xfrm>
            <a:off x="9506946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3" y="84000"/>
                </a:moveTo>
                <a:quadBezTo>
                  <a:pt x="40546" y="84000"/>
                  <a:pt x="33972" y="81166"/>
                </a:quadBezTo>
                <a:quadBezTo>
                  <a:pt x="27399" y="78332"/>
                  <a:pt x="22536" y="73474"/>
                </a:quadBezTo>
                <a:quadBezTo>
                  <a:pt x="17673" y="68616"/>
                  <a:pt x="14837" y="62048"/>
                </a:quadBezTo>
                <a:quadBezTo>
                  <a:pt x="12000" y="55481"/>
                  <a:pt x="12000" y="48013"/>
                </a:quadBezTo>
                <a:quadBezTo>
                  <a:pt x="12000" y="40546"/>
                  <a:pt x="14835" y="33972"/>
                </a:quadBezTo>
                <a:quadBezTo>
                  <a:pt x="17670" y="27399"/>
                  <a:pt x="22530" y="22536"/>
                </a:quadBezTo>
                <a:quadBezTo>
                  <a:pt x="27390" y="17673"/>
                  <a:pt x="33960" y="14837"/>
                </a:quadBezTo>
                <a:quadBezTo>
                  <a:pt x="40530" y="12000"/>
                  <a:pt x="48000" y="12000"/>
                </a:quadBezTo>
                <a:quadBezTo>
                  <a:pt x="54141" y="12000"/>
                  <a:pt x="59620" y="13900"/>
                </a:quadBezTo>
                <a:quadBezTo>
                  <a:pt x="65100" y="15800"/>
                  <a:pt x="69615" y="19200"/>
                </a:quadBezTo>
                <a:lnTo>
                  <a:pt x="66738" y="22177"/>
                </a:lnTo>
                <a:quadBezTo>
                  <a:pt x="62785" y="19238"/>
                  <a:pt x="58040" y="17619"/>
                </a:quadBezTo>
                <a:quadBezTo>
                  <a:pt x="53296" y="16000"/>
                  <a:pt x="48000" y="16000"/>
                </a:quadBezTo>
                <a:quadBezTo>
                  <a:pt x="34700" y="16000"/>
                  <a:pt x="25350" y="25350"/>
                </a:quadBezTo>
                <a:quadBezTo>
                  <a:pt x="16000" y="34700"/>
                  <a:pt x="16000" y="48000"/>
                </a:quadBezTo>
                <a:quadBezTo>
                  <a:pt x="16000" y="61300"/>
                  <a:pt x="25350" y="70650"/>
                </a:quadBezTo>
                <a:quadBezTo>
                  <a:pt x="34700" y="80000"/>
                  <a:pt x="48000" y="80000"/>
                </a:quadBezTo>
                <a:quadBezTo>
                  <a:pt x="61300" y="80000"/>
                  <a:pt x="70650" y="70650"/>
                </a:quadBezTo>
                <a:quadBezTo>
                  <a:pt x="80000" y="61300"/>
                  <a:pt x="80000" y="48000"/>
                </a:quadBezTo>
                <a:quadBezTo>
                  <a:pt x="80000" y="45585"/>
                  <a:pt x="79646" y="43262"/>
                </a:quadBezTo>
                <a:quadBezTo>
                  <a:pt x="79292" y="40940"/>
                  <a:pt x="78585" y="38746"/>
                </a:quadBezTo>
                <a:lnTo>
                  <a:pt x="81777" y="35477"/>
                </a:lnTo>
                <a:quadBezTo>
                  <a:pt x="82877" y="38446"/>
                  <a:pt x="83438" y="41570"/>
                </a:quadBezTo>
                <a:quadBezTo>
                  <a:pt x="84000" y="44693"/>
                  <a:pt x="84000" y="48000"/>
                </a:quadBezTo>
                <a:quadBezTo>
                  <a:pt x="84000" y="55470"/>
                  <a:pt x="81166" y="62040"/>
                </a:quadBezTo>
                <a:quadBezTo>
                  <a:pt x="78332" y="68610"/>
                  <a:pt x="73474" y="73470"/>
                </a:quadBezTo>
                <a:quadBezTo>
                  <a:pt x="68616" y="78330"/>
                  <a:pt x="62048" y="81165"/>
                </a:quadBezTo>
                <a:quadBezTo>
                  <a:pt x="55481" y="84000"/>
                  <a:pt x="48013" y="84000"/>
                </a:quadBezTo>
                <a:close/>
                <a:moveTo>
                  <a:pt x="42246" y="63631"/>
                </a:moveTo>
                <a:lnTo>
                  <a:pt x="28015" y="49400"/>
                </a:lnTo>
                <a:lnTo>
                  <a:pt x="30846" y="46569"/>
                </a:lnTo>
                <a:lnTo>
                  <a:pt x="42246" y="57969"/>
                </a:lnTo>
                <a:lnTo>
                  <a:pt x="81169" y="19023"/>
                </a:lnTo>
                <a:lnTo>
                  <a:pt x="84000" y="21854"/>
                </a:lnTo>
                <a:lnTo>
                  <a:pt x="42246" y="636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9" name="TextBox 208"/>
          <p:cNvSpPr txBox="1"/>
          <p:nvPr/>
        </p:nvSpPr>
        <p:spPr>
          <a:xfrm>
            <a:off x="9200974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task alt</a:t>
            </a:r>
          </a:p>
        </p:txBody>
      </p:sp>
      <p:sp>
        <p:nvSpPr>
          <p:cNvPr id="210" name="Icon thumb_up"/>
          <p:cNvSpPr/>
          <p:nvPr/>
        </p:nvSpPr>
        <p:spPr>
          <a:xfrm>
            <a:off x="10393211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9846" y="80000"/>
                </a:moveTo>
                <a:lnTo>
                  <a:pt x="29692" y="80000"/>
                </a:lnTo>
                <a:lnTo>
                  <a:pt x="29692" y="36000"/>
                </a:lnTo>
                <a:lnTo>
                  <a:pt x="54769" y="11231"/>
                </a:lnTo>
                <a:lnTo>
                  <a:pt x="56538" y="13000"/>
                </a:lnTo>
                <a:quadBezTo>
                  <a:pt x="57085" y="13546"/>
                  <a:pt x="57458" y="14400"/>
                </a:quadBezTo>
                <a:quadBezTo>
                  <a:pt x="57831" y="15254"/>
                  <a:pt x="57831" y="15969"/>
                </a:quadBezTo>
                <a:lnTo>
                  <a:pt x="57831" y="16600"/>
                </a:lnTo>
                <a:lnTo>
                  <a:pt x="53738" y="36000"/>
                </a:lnTo>
                <a:lnTo>
                  <a:pt x="81538" y="36000"/>
                </a:lnTo>
                <a:quadBezTo>
                  <a:pt x="84046" y="36000"/>
                  <a:pt x="86023" y="37977"/>
                </a:quadBezTo>
                <a:quadBezTo>
                  <a:pt x="88000" y="39954"/>
                  <a:pt x="88000" y="42462"/>
                </a:quadBezTo>
                <a:lnTo>
                  <a:pt x="88000" y="47385"/>
                </a:lnTo>
                <a:quadBezTo>
                  <a:pt x="88000" y="47931"/>
                  <a:pt x="87877" y="48577"/>
                </a:quadBezTo>
                <a:quadBezTo>
                  <a:pt x="87754" y="49223"/>
                  <a:pt x="87554" y="49769"/>
                </a:quadBezTo>
                <a:lnTo>
                  <a:pt x="76631" y="75662"/>
                </a:lnTo>
                <a:quadBezTo>
                  <a:pt x="75808" y="77508"/>
                  <a:pt x="73862" y="78754"/>
                </a:quadBezTo>
                <a:quadBezTo>
                  <a:pt x="71915" y="80000"/>
                  <a:pt x="69846" y="80000"/>
                </a:quadBezTo>
                <a:close/>
                <a:moveTo>
                  <a:pt x="33692" y="76000"/>
                </a:moveTo>
                <a:lnTo>
                  <a:pt x="69846" y="76000"/>
                </a:lnTo>
                <a:quadBezTo>
                  <a:pt x="70692" y="76000"/>
                  <a:pt x="71577" y="75538"/>
                </a:quadBezTo>
                <a:quadBezTo>
                  <a:pt x="72462" y="75077"/>
                  <a:pt x="72923" y="74000"/>
                </a:quadBezTo>
                <a:lnTo>
                  <a:pt x="84000" y="48000"/>
                </a:lnTo>
                <a:lnTo>
                  <a:pt x="84000" y="42462"/>
                </a:lnTo>
                <a:quadBezTo>
                  <a:pt x="84000" y="41385"/>
                  <a:pt x="83308" y="40692"/>
                </a:quadBezTo>
                <a:quadBezTo>
                  <a:pt x="82615" y="40000"/>
                  <a:pt x="81538" y="40000"/>
                </a:quadBezTo>
                <a:lnTo>
                  <a:pt x="48769" y="40000"/>
                </a:lnTo>
                <a:lnTo>
                  <a:pt x="53400" y="18154"/>
                </a:lnTo>
                <a:lnTo>
                  <a:pt x="33692" y="37708"/>
                </a:lnTo>
                <a:lnTo>
                  <a:pt x="33692" y="76000"/>
                </a:lnTo>
                <a:close/>
                <a:moveTo>
                  <a:pt x="33692" y="37708"/>
                </a:moveTo>
                <a:lnTo>
                  <a:pt x="33692" y="76000"/>
                </a:lnTo>
                <a:lnTo>
                  <a:pt x="33692" y="37708"/>
                </a:lnTo>
                <a:close/>
                <a:moveTo>
                  <a:pt x="29692" y="36000"/>
                </a:moveTo>
                <a:lnTo>
                  <a:pt x="29692" y="40000"/>
                </a:lnTo>
                <a:lnTo>
                  <a:pt x="16000" y="40000"/>
                </a:lnTo>
                <a:lnTo>
                  <a:pt x="16000" y="76000"/>
                </a:lnTo>
                <a:lnTo>
                  <a:pt x="29692" y="76000"/>
                </a:lnTo>
                <a:lnTo>
                  <a:pt x="29692" y="80000"/>
                </a:lnTo>
                <a:lnTo>
                  <a:pt x="12000" y="80000"/>
                </a:lnTo>
                <a:lnTo>
                  <a:pt x="12000" y="36000"/>
                </a:lnTo>
                <a:lnTo>
                  <a:pt x="29692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1" name="TextBox 210"/>
          <p:cNvSpPr txBox="1"/>
          <p:nvPr/>
        </p:nvSpPr>
        <p:spPr>
          <a:xfrm>
            <a:off x="10087238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thumb up</a:t>
            </a:r>
          </a:p>
        </p:txBody>
      </p:sp>
      <p:sp>
        <p:nvSpPr>
          <p:cNvPr id="212" name="Icon timeline"/>
          <p:cNvSpPr/>
          <p:nvPr/>
        </p:nvSpPr>
        <p:spPr>
          <a:xfrm>
            <a:off x="11279475" y="4864608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2000" y="70000"/>
                </a:moveTo>
                <a:quadBezTo>
                  <a:pt x="9469" y="70000"/>
                  <a:pt x="7735" y="68265"/>
                </a:quadBezTo>
                <a:quadBezTo>
                  <a:pt x="6000" y="66531"/>
                  <a:pt x="6000" y="64000"/>
                </a:quadBezTo>
                <a:quadBezTo>
                  <a:pt x="6000" y="61469"/>
                  <a:pt x="7735" y="59735"/>
                </a:quadBezTo>
                <a:quadBezTo>
                  <a:pt x="9469" y="58000"/>
                  <a:pt x="12000" y="58000"/>
                </a:quadBezTo>
                <a:quadBezTo>
                  <a:pt x="12754" y="58000"/>
                  <a:pt x="13396" y="58115"/>
                </a:quadBezTo>
                <a:quadBezTo>
                  <a:pt x="14038" y="58231"/>
                  <a:pt x="14615" y="58662"/>
                </a:quadBezTo>
                <a:lnTo>
                  <a:pt x="34662" y="38615"/>
                </a:lnTo>
                <a:quadBezTo>
                  <a:pt x="34231" y="38038"/>
                  <a:pt x="34115" y="37396"/>
                </a:quadBezTo>
                <a:quadBezTo>
                  <a:pt x="34000" y="36754"/>
                  <a:pt x="34000" y="36000"/>
                </a:quadBezTo>
                <a:quadBezTo>
                  <a:pt x="34000" y="33469"/>
                  <a:pt x="35735" y="31735"/>
                </a:quadBezTo>
                <a:quadBezTo>
                  <a:pt x="37469" y="30000"/>
                  <a:pt x="40000" y="30000"/>
                </a:quadBezTo>
                <a:quadBezTo>
                  <a:pt x="42531" y="30000"/>
                  <a:pt x="44265" y="31735"/>
                </a:quadBezTo>
                <a:quadBezTo>
                  <a:pt x="46000" y="33469"/>
                  <a:pt x="46000" y="36000"/>
                </a:quadBezTo>
                <a:quadBezTo>
                  <a:pt x="46000" y="36508"/>
                  <a:pt x="45492" y="38462"/>
                </a:quadBezTo>
                <a:lnTo>
                  <a:pt x="57538" y="50508"/>
                </a:lnTo>
                <a:quadBezTo>
                  <a:pt x="58115" y="50231"/>
                  <a:pt x="58681" y="50115"/>
                </a:quadBezTo>
                <a:quadBezTo>
                  <a:pt x="59246" y="50000"/>
                  <a:pt x="60000" y="50000"/>
                </a:quadBezTo>
                <a:quadBezTo>
                  <a:pt x="60754" y="50000"/>
                  <a:pt x="61358" y="50115"/>
                </a:quadBezTo>
                <a:quadBezTo>
                  <a:pt x="61962" y="50231"/>
                  <a:pt x="62462" y="50662"/>
                </a:quadBezTo>
                <a:lnTo>
                  <a:pt x="78662" y="34462"/>
                </a:lnTo>
                <a:quadBezTo>
                  <a:pt x="78231" y="33962"/>
                  <a:pt x="78115" y="33358"/>
                </a:quadBezTo>
                <a:quadBezTo>
                  <a:pt x="78000" y="32754"/>
                  <a:pt x="78000" y="32000"/>
                </a:quadBezTo>
                <a:quadBezTo>
                  <a:pt x="78000" y="29469"/>
                  <a:pt x="79735" y="27735"/>
                </a:quadBezTo>
                <a:quadBezTo>
                  <a:pt x="81469" y="26000"/>
                  <a:pt x="84000" y="26000"/>
                </a:quadBezTo>
                <a:quadBezTo>
                  <a:pt x="86531" y="26000"/>
                  <a:pt x="88265" y="27735"/>
                </a:quadBezTo>
                <a:quadBezTo>
                  <a:pt x="90000" y="29469"/>
                  <a:pt x="90000" y="32000"/>
                </a:quadBezTo>
                <a:quadBezTo>
                  <a:pt x="90000" y="34531"/>
                  <a:pt x="88265" y="36265"/>
                </a:quadBezTo>
                <a:quadBezTo>
                  <a:pt x="86531" y="38000"/>
                  <a:pt x="84000" y="38000"/>
                </a:quadBezTo>
                <a:quadBezTo>
                  <a:pt x="83246" y="38000"/>
                  <a:pt x="82642" y="37885"/>
                </a:quadBezTo>
                <a:quadBezTo>
                  <a:pt x="82038" y="37769"/>
                  <a:pt x="81538" y="37338"/>
                </a:quadBezTo>
                <a:lnTo>
                  <a:pt x="65338" y="53538"/>
                </a:lnTo>
                <a:quadBezTo>
                  <a:pt x="65769" y="54038"/>
                  <a:pt x="65885" y="54642"/>
                </a:quadBezTo>
                <a:quadBezTo>
                  <a:pt x="66000" y="55246"/>
                  <a:pt x="66000" y="56000"/>
                </a:quadBezTo>
                <a:quadBezTo>
                  <a:pt x="66000" y="58531"/>
                  <a:pt x="64265" y="60265"/>
                </a:quadBezTo>
                <a:quadBezTo>
                  <a:pt x="62531" y="62000"/>
                  <a:pt x="60000" y="62000"/>
                </a:quadBezTo>
                <a:quadBezTo>
                  <a:pt x="57469" y="62000"/>
                  <a:pt x="55735" y="60265"/>
                </a:quadBezTo>
                <a:quadBezTo>
                  <a:pt x="54000" y="58531"/>
                  <a:pt x="54000" y="56000"/>
                </a:quadBezTo>
                <a:quadBezTo>
                  <a:pt x="54000" y="55246"/>
                  <a:pt x="54115" y="54604"/>
                </a:quadBezTo>
                <a:quadBezTo>
                  <a:pt x="54231" y="53962"/>
                  <a:pt x="54662" y="53385"/>
                </a:quadBezTo>
                <a:lnTo>
                  <a:pt x="42615" y="41338"/>
                </a:lnTo>
                <a:quadBezTo>
                  <a:pt x="42038" y="41769"/>
                  <a:pt x="41396" y="41885"/>
                </a:quadBezTo>
                <a:quadBezTo>
                  <a:pt x="40754" y="42000"/>
                  <a:pt x="40000" y="42000"/>
                </a:quadBezTo>
                <a:quadBezTo>
                  <a:pt x="39492" y="42000"/>
                  <a:pt x="37538" y="41492"/>
                </a:quadBezTo>
                <a:lnTo>
                  <a:pt x="17492" y="61538"/>
                </a:lnTo>
                <a:quadBezTo>
                  <a:pt x="17769" y="62115"/>
                  <a:pt x="17885" y="62681"/>
                </a:quadBezTo>
                <a:quadBezTo>
                  <a:pt x="18000" y="63246"/>
                  <a:pt x="18000" y="64000"/>
                </a:quadBezTo>
                <a:quadBezTo>
                  <a:pt x="18000" y="66531"/>
                  <a:pt x="16265" y="68265"/>
                </a:quadBezTo>
                <a:quadBezTo>
                  <a:pt x="14531" y="70000"/>
                  <a:pt x="12000" y="70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3" name="TextBox 212"/>
          <p:cNvSpPr txBox="1"/>
          <p:nvPr/>
        </p:nvSpPr>
        <p:spPr>
          <a:xfrm>
            <a:off x="10973503" y="5148072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timeline</a:t>
            </a:r>
          </a:p>
        </p:txBody>
      </p:sp>
      <p:sp>
        <p:nvSpPr>
          <p:cNvPr id="214" name="Icon trending_down"/>
          <p:cNvSpPr/>
          <p:nvPr/>
        </p:nvSpPr>
        <p:spPr>
          <a:xfrm>
            <a:off x="644300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64000" y="68385"/>
                </a:moveTo>
                <a:lnTo>
                  <a:pt x="64000" y="64385"/>
                </a:lnTo>
                <a:lnTo>
                  <a:pt x="77323" y="64385"/>
                </a:lnTo>
                <a:lnTo>
                  <a:pt x="53215" y="40631"/>
                </a:lnTo>
                <a:lnTo>
                  <a:pt x="37215" y="56631"/>
                </a:lnTo>
                <a:lnTo>
                  <a:pt x="12000" y="31215"/>
                </a:lnTo>
                <a:lnTo>
                  <a:pt x="14831" y="28385"/>
                </a:lnTo>
                <a:lnTo>
                  <a:pt x="37215" y="50769"/>
                </a:lnTo>
                <a:lnTo>
                  <a:pt x="53215" y="34769"/>
                </a:lnTo>
                <a:lnTo>
                  <a:pt x="80000" y="61554"/>
                </a:lnTo>
                <a:lnTo>
                  <a:pt x="80000" y="48385"/>
                </a:lnTo>
                <a:lnTo>
                  <a:pt x="84000" y="48385"/>
                </a:lnTo>
                <a:lnTo>
                  <a:pt x="84000" y="68385"/>
                </a:lnTo>
                <a:lnTo>
                  <a:pt x="64000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5" name="TextBox 214"/>
          <p:cNvSpPr txBox="1"/>
          <p:nvPr/>
        </p:nvSpPr>
        <p:spPr>
          <a:xfrm>
            <a:off x="338328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trending down</a:t>
            </a:r>
          </a:p>
        </p:txBody>
      </p:sp>
      <p:sp>
        <p:nvSpPr>
          <p:cNvPr id="216" name="Icon trending_up"/>
          <p:cNvSpPr/>
          <p:nvPr/>
        </p:nvSpPr>
        <p:spPr>
          <a:xfrm>
            <a:off x="1530564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4831" y="68385"/>
                </a:moveTo>
                <a:lnTo>
                  <a:pt x="12000" y="65554"/>
                </a:lnTo>
                <a:lnTo>
                  <a:pt x="37215" y="40138"/>
                </a:lnTo>
                <a:lnTo>
                  <a:pt x="53215" y="56138"/>
                </a:lnTo>
                <a:lnTo>
                  <a:pt x="77323" y="32385"/>
                </a:lnTo>
                <a:lnTo>
                  <a:pt x="64000" y="32385"/>
                </a:lnTo>
                <a:lnTo>
                  <a:pt x="64000" y="28385"/>
                </a:lnTo>
                <a:lnTo>
                  <a:pt x="84000" y="28385"/>
                </a:lnTo>
                <a:lnTo>
                  <a:pt x="84000" y="48385"/>
                </a:lnTo>
                <a:lnTo>
                  <a:pt x="80000" y="48385"/>
                </a:lnTo>
                <a:lnTo>
                  <a:pt x="80000" y="35215"/>
                </a:lnTo>
                <a:lnTo>
                  <a:pt x="53215" y="62000"/>
                </a:lnTo>
                <a:lnTo>
                  <a:pt x="37215" y="46000"/>
                </a:lnTo>
                <a:lnTo>
                  <a:pt x="14831" y="683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7" name="TextBox 216"/>
          <p:cNvSpPr txBox="1"/>
          <p:nvPr/>
        </p:nvSpPr>
        <p:spPr>
          <a:xfrm>
            <a:off x="1224592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trending up</a:t>
            </a:r>
          </a:p>
        </p:txBody>
      </p:sp>
      <p:sp>
        <p:nvSpPr>
          <p:cNvPr id="218" name="Icon trophy"/>
          <p:cNvSpPr/>
          <p:nvPr/>
        </p:nvSpPr>
        <p:spPr>
          <a:xfrm>
            <a:off x="2416829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3538" y="80000"/>
                </a:moveTo>
                <a:lnTo>
                  <a:pt x="33538" y="76000"/>
                </a:lnTo>
                <a:lnTo>
                  <a:pt x="46000" y="76000"/>
                </a:lnTo>
                <a:lnTo>
                  <a:pt x="46000" y="60985"/>
                </a:lnTo>
                <a:quadBezTo>
                  <a:pt x="40715" y="60038"/>
                  <a:pt x="36750" y="56565"/>
                </a:quadBezTo>
                <a:quadBezTo>
                  <a:pt x="32785" y="53092"/>
                  <a:pt x="31292" y="47954"/>
                </a:quadBezTo>
                <a:quadBezTo>
                  <a:pt x="24946" y="47208"/>
                  <a:pt x="20473" y="42750"/>
                </a:quadBezTo>
                <a:quadBezTo>
                  <a:pt x="16000" y="38292"/>
                  <a:pt x="16000" y="32000"/>
                </a:quadBezTo>
                <a:lnTo>
                  <a:pt x="16000" y="28000"/>
                </a:lnTo>
                <a:quadBezTo>
                  <a:pt x="16000" y="26392"/>
                  <a:pt x="17196" y="25196"/>
                </a:quadBezTo>
                <a:quadBezTo>
                  <a:pt x="18392" y="24000"/>
                  <a:pt x="20000" y="24000"/>
                </a:quadBezTo>
                <a:lnTo>
                  <a:pt x="30615" y="24000"/>
                </a:lnTo>
                <a:lnTo>
                  <a:pt x="30615" y="16000"/>
                </a:lnTo>
                <a:lnTo>
                  <a:pt x="65385" y="16000"/>
                </a:lnTo>
                <a:lnTo>
                  <a:pt x="65385" y="24000"/>
                </a:lnTo>
                <a:lnTo>
                  <a:pt x="76000" y="24000"/>
                </a:lnTo>
                <a:quadBezTo>
                  <a:pt x="77608" y="24000"/>
                  <a:pt x="78804" y="25196"/>
                </a:quadBezTo>
                <a:quadBezTo>
                  <a:pt x="80000" y="26392"/>
                  <a:pt x="80000" y="28000"/>
                </a:quadBezTo>
                <a:lnTo>
                  <a:pt x="80000" y="32000"/>
                </a:lnTo>
                <a:quadBezTo>
                  <a:pt x="80000" y="38292"/>
                  <a:pt x="75527" y="42750"/>
                </a:quadBezTo>
                <a:quadBezTo>
                  <a:pt x="71054" y="47208"/>
                  <a:pt x="64708" y="47954"/>
                </a:quadBezTo>
                <a:quadBezTo>
                  <a:pt x="63215" y="53092"/>
                  <a:pt x="59250" y="56565"/>
                </a:quadBezTo>
                <a:quadBezTo>
                  <a:pt x="55285" y="60038"/>
                  <a:pt x="50000" y="60985"/>
                </a:quadBezTo>
                <a:lnTo>
                  <a:pt x="50000" y="76000"/>
                </a:lnTo>
                <a:lnTo>
                  <a:pt x="62462" y="76000"/>
                </a:lnTo>
                <a:lnTo>
                  <a:pt x="62462" y="80000"/>
                </a:lnTo>
                <a:lnTo>
                  <a:pt x="33538" y="80000"/>
                </a:lnTo>
                <a:close/>
                <a:moveTo>
                  <a:pt x="30615" y="43662"/>
                </a:moveTo>
                <a:lnTo>
                  <a:pt x="30615" y="28000"/>
                </a:lnTo>
                <a:lnTo>
                  <a:pt x="20000" y="28000"/>
                </a:lnTo>
                <a:lnTo>
                  <a:pt x="20000" y="32000"/>
                </a:lnTo>
                <a:quadBezTo>
                  <a:pt x="20000" y="36569"/>
                  <a:pt x="23046" y="39850"/>
                </a:quadBezTo>
                <a:quadBezTo>
                  <a:pt x="26092" y="43131"/>
                  <a:pt x="30615" y="43662"/>
                </a:quadBezTo>
                <a:close/>
                <a:moveTo>
                  <a:pt x="48000" y="57077"/>
                </a:moveTo>
                <a:quadBezTo>
                  <a:pt x="53538" y="57077"/>
                  <a:pt x="57385" y="53231"/>
                </a:quadBezTo>
                <a:quadBezTo>
                  <a:pt x="61231" y="49385"/>
                  <a:pt x="61231" y="43846"/>
                </a:quadBezTo>
                <a:lnTo>
                  <a:pt x="61231" y="20000"/>
                </a:lnTo>
                <a:lnTo>
                  <a:pt x="34769" y="20000"/>
                </a:lnTo>
                <a:lnTo>
                  <a:pt x="34769" y="43846"/>
                </a:lnTo>
                <a:quadBezTo>
                  <a:pt x="34769" y="49385"/>
                  <a:pt x="38615" y="53231"/>
                </a:quadBezTo>
                <a:quadBezTo>
                  <a:pt x="42462" y="57077"/>
                  <a:pt x="48000" y="57077"/>
                </a:quadBezTo>
                <a:close/>
                <a:moveTo>
                  <a:pt x="65385" y="43662"/>
                </a:moveTo>
                <a:quadBezTo>
                  <a:pt x="69908" y="43131"/>
                  <a:pt x="72954" y="39850"/>
                </a:quadBezTo>
                <a:quadBezTo>
                  <a:pt x="76000" y="36569"/>
                  <a:pt x="76000" y="32000"/>
                </a:quadBezTo>
                <a:lnTo>
                  <a:pt x="76000" y="28000"/>
                </a:lnTo>
                <a:lnTo>
                  <a:pt x="65385" y="28000"/>
                </a:lnTo>
                <a:lnTo>
                  <a:pt x="65385" y="43662"/>
                </a:lnTo>
                <a:close/>
                <a:moveTo>
                  <a:pt x="48000" y="38538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9" name="TextBox 218"/>
          <p:cNvSpPr txBox="1"/>
          <p:nvPr/>
        </p:nvSpPr>
        <p:spPr>
          <a:xfrm>
            <a:off x="2110857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trophy</a:t>
            </a:r>
          </a:p>
        </p:txBody>
      </p:sp>
      <p:sp>
        <p:nvSpPr>
          <p:cNvPr id="220" name="Icon tune"/>
          <p:cNvSpPr/>
          <p:nvPr/>
        </p:nvSpPr>
        <p:spPr>
          <a:xfrm>
            <a:off x="3303094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82000"/>
                </a:moveTo>
                <a:lnTo>
                  <a:pt x="46000" y="62000"/>
                </a:lnTo>
                <a:lnTo>
                  <a:pt x="50000" y="62000"/>
                </a:lnTo>
                <a:lnTo>
                  <a:pt x="50000" y="70000"/>
                </a:lnTo>
                <a:lnTo>
                  <a:pt x="82000" y="70000"/>
                </a:lnTo>
                <a:lnTo>
                  <a:pt x="82000" y="74000"/>
                </a:lnTo>
                <a:lnTo>
                  <a:pt x="50000" y="74000"/>
                </a:lnTo>
                <a:lnTo>
                  <a:pt x="50000" y="82000"/>
                </a:lnTo>
                <a:lnTo>
                  <a:pt x="46000" y="82000"/>
                </a:lnTo>
                <a:close/>
                <a:moveTo>
                  <a:pt x="14000" y="74000"/>
                </a:moveTo>
                <a:lnTo>
                  <a:pt x="14000" y="70000"/>
                </a:lnTo>
                <a:lnTo>
                  <a:pt x="34000" y="70000"/>
                </a:lnTo>
                <a:lnTo>
                  <a:pt x="34000" y="74000"/>
                </a:lnTo>
                <a:lnTo>
                  <a:pt x="14000" y="74000"/>
                </a:lnTo>
                <a:close/>
                <a:moveTo>
                  <a:pt x="30000" y="58000"/>
                </a:moveTo>
                <a:lnTo>
                  <a:pt x="30000" y="50000"/>
                </a:lnTo>
                <a:lnTo>
                  <a:pt x="14000" y="50000"/>
                </a:lnTo>
                <a:lnTo>
                  <a:pt x="14000" y="46000"/>
                </a:lnTo>
                <a:lnTo>
                  <a:pt x="30000" y="46000"/>
                </a:lnTo>
                <a:lnTo>
                  <a:pt x="30000" y="38000"/>
                </a:lnTo>
                <a:lnTo>
                  <a:pt x="34000" y="38000"/>
                </a:lnTo>
                <a:lnTo>
                  <a:pt x="34000" y="58000"/>
                </a:lnTo>
                <a:lnTo>
                  <a:pt x="30000" y="58000"/>
                </a:lnTo>
                <a:close/>
                <a:moveTo>
                  <a:pt x="46000" y="50000"/>
                </a:moveTo>
                <a:lnTo>
                  <a:pt x="46000" y="46000"/>
                </a:lnTo>
                <a:lnTo>
                  <a:pt x="82000" y="46000"/>
                </a:lnTo>
                <a:lnTo>
                  <a:pt x="82000" y="50000"/>
                </a:lnTo>
                <a:lnTo>
                  <a:pt x="46000" y="50000"/>
                </a:lnTo>
                <a:close/>
                <a:moveTo>
                  <a:pt x="62000" y="34000"/>
                </a:moveTo>
                <a:lnTo>
                  <a:pt x="62000" y="14000"/>
                </a:lnTo>
                <a:lnTo>
                  <a:pt x="66000" y="14000"/>
                </a:lnTo>
                <a:lnTo>
                  <a:pt x="66000" y="22000"/>
                </a:lnTo>
                <a:lnTo>
                  <a:pt x="82000" y="22000"/>
                </a:lnTo>
                <a:lnTo>
                  <a:pt x="82000" y="26000"/>
                </a:lnTo>
                <a:lnTo>
                  <a:pt x="66000" y="26000"/>
                </a:lnTo>
                <a:lnTo>
                  <a:pt x="66000" y="34000"/>
                </a:lnTo>
                <a:lnTo>
                  <a:pt x="62000" y="34000"/>
                </a:lnTo>
                <a:close/>
                <a:moveTo>
                  <a:pt x="14000" y="26000"/>
                </a:moveTo>
                <a:lnTo>
                  <a:pt x="14000" y="22000"/>
                </a:lnTo>
                <a:lnTo>
                  <a:pt x="50000" y="22000"/>
                </a:lnTo>
                <a:lnTo>
                  <a:pt x="50000" y="26000"/>
                </a:lnTo>
                <a:lnTo>
                  <a:pt x="14000" y="2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1" name="TextBox 220"/>
          <p:cNvSpPr txBox="1"/>
          <p:nvPr/>
        </p:nvSpPr>
        <p:spPr>
          <a:xfrm>
            <a:off x="2997121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tune</a:t>
            </a:r>
          </a:p>
        </p:txBody>
      </p:sp>
      <p:sp>
        <p:nvSpPr>
          <p:cNvPr id="222" name="Icon upload"/>
          <p:cNvSpPr/>
          <p:nvPr/>
        </p:nvSpPr>
        <p:spPr>
          <a:xfrm>
            <a:off x="4189358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6000" y="62308"/>
                </a:moveTo>
                <a:lnTo>
                  <a:pt x="46000" y="27708"/>
                </a:lnTo>
                <a:lnTo>
                  <a:pt x="36677" y="37031"/>
                </a:lnTo>
                <a:lnTo>
                  <a:pt x="33846" y="34154"/>
                </a:lnTo>
                <a:lnTo>
                  <a:pt x="48000" y="20000"/>
                </a:lnTo>
                <a:lnTo>
                  <a:pt x="62154" y="34154"/>
                </a:lnTo>
                <a:lnTo>
                  <a:pt x="59323" y="37031"/>
                </a:lnTo>
                <a:lnTo>
                  <a:pt x="50000" y="27708"/>
                </a:lnTo>
                <a:lnTo>
                  <a:pt x="50000" y="62308"/>
                </a:lnTo>
                <a:lnTo>
                  <a:pt x="46000" y="62308"/>
                </a:lnTo>
                <a:close/>
                <a:moveTo>
                  <a:pt x="26462" y="76000"/>
                </a:moveTo>
                <a:quadBezTo>
                  <a:pt x="23700" y="76000"/>
                  <a:pt x="21850" y="74150"/>
                </a:quadBezTo>
                <a:quadBezTo>
                  <a:pt x="20000" y="72300"/>
                  <a:pt x="20000" y="69538"/>
                </a:quadBezTo>
                <a:lnTo>
                  <a:pt x="20000" y="59846"/>
                </a:lnTo>
                <a:lnTo>
                  <a:pt x="24000" y="59846"/>
                </a:lnTo>
                <a:lnTo>
                  <a:pt x="24000" y="69538"/>
                </a:lnTo>
                <a:quadBezTo>
                  <a:pt x="24000" y="70462"/>
                  <a:pt x="24769" y="71231"/>
                </a:quadBezTo>
                <a:quadBezTo>
                  <a:pt x="25538" y="72000"/>
                  <a:pt x="26462" y="72000"/>
                </a:quadBezTo>
                <a:lnTo>
                  <a:pt x="69538" y="72000"/>
                </a:lnTo>
                <a:quadBezTo>
                  <a:pt x="70462" y="72000"/>
                  <a:pt x="71231" y="71231"/>
                </a:quadBezTo>
                <a:quadBezTo>
                  <a:pt x="72000" y="70462"/>
                  <a:pt x="72000" y="69538"/>
                </a:quadBezTo>
                <a:lnTo>
                  <a:pt x="72000" y="59846"/>
                </a:lnTo>
                <a:lnTo>
                  <a:pt x="76000" y="59846"/>
                </a:lnTo>
                <a:lnTo>
                  <a:pt x="76000" y="69538"/>
                </a:lnTo>
                <a:quadBezTo>
                  <a:pt x="76000" y="72300"/>
                  <a:pt x="74150" y="74150"/>
                </a:quadBezTo>
                <a:quadBezTo>
                  <a:pt x="72300" y="76000"/>
                  <a:pt x="69538" y="76000"/>
                </a:quadBezTo>
                <a:lnTo>
                  <a:pt x="26462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3" name="TextBox 222"/>
          <p:cNvSpPr txBox="1"/>
          <p:nvPr/>
        </p:nvSpPr>
        <p:spPr>
          <a:xfrm>
            <a:off x="3883386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upload</a:t>
            </a:r>
          </a:p>
        </p:txBody>
      </p:sp>
      <p:sp>
        <p:nvSpPr>
          <p:cNvPr id="224" name="Icon vaccines"/>
          <p:cNvSpPr/>
          <p:nvPr/>
        </p:nvSpPr>
        <p:spPr>
          <a:xfrm>
            <a:off x="5075623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0000" y="86000"/>
                </a:moveTo>
                <a:lnTo>
                  <a:pt x="26000" y="83000"/>
                </a:lnTo>
                <a:lnTo>
                  <a:pt x="26000" y="66000"/>
                </a:lnTo>
                <a:lnTo>
                  <a:pt x="18000" y="66000"/>
                </a:lnTo>
                <a:quadBezTo>
                  <a:pt x="16162" y="66000"/>
                  <a:pt x="15081" y="64919"/>
                </a:quadBezTo>
                <a:quadBezTo>
                  <a:pt x="14000" y="63838"/>
                  <a:pt x="14000" y="62000"/>
                </a:quadBezTo>
                <a:lnTo>
                  <a:pt x="14000" y="28000"/>
                </a:lnTo>
                <a:lnTo>
                  <a:pt x="12000" y="28000"/>
                </a:lnTo>
                <a:quadBezTo>
                  <a:pt x="11150" y="28000"/>
                  <a:pt x="10575" y="27424"/>
                </a:quadBezTo>
                <a:quadBezTo>
                  <a:pt x="10000" y="26848"/>
                  <a:pt x="10000" y="25997"/>
                </a:quadBezTo>
                <a:quadBezTo>
                  <a:pt x="10000" y="25146"/>
                  <a:pt x="10575" y="24573"/>
                </a:quadBezTo>
                <a:quadBezTo>
                  <a:pt x="11150" y="24000"/>
                  <a:pt x="12000" y="24000"/>
                </a:quadBezTo>
                <a:lnTo>
                  <a:pt x="26000" y="24000"/>
                </a:lnTo>
                <a:lnTo>
                  <a:pt x="26000" y="14000"/>
                </a:lnTo>
                <a:lnTo>
                  <a:pt x="22000" y="14000"/>
                </a:lnTo>
                <a:quadBezTo>
                  <a:pt x="21150" y="14000"/>
                  <a:pt x="20575" y="13424"/>
                </a:quadBezTo>
                <a:quadBezTo>
                  <a:pt x="20000" y="12848"/>
                  <a:pt x="20000" y="11997"/>
                </a:quadBezTo>
                <a:quadBezTo>
                  <a:pt x="20000" y="11146"/>
                  <a:pt x="20575" y="10573"/>
                </a:quadBezTo>
                <a:quadBezTo>
                  <a:pt x="21150" y="10000"/>
                  <a:pt x="22000" y="10000"/>
                </a:quadBezTo>
                <a:lnTo>
                  <a:pt x="34000" y="10000"/>
                </a:lnTo>
                <a:quadBezTo>
                  <a:pt x="34850" y="10000"/>
                  <a:pt x="35425" y="10576"/>
                </a:quadBezTo>
                <a:quadBezTo>
                  <a:pt x="36000" y="11152"/>
                  <a:pt x="36000" y="12003"/>
                </a:quadBezTo>
                <a:quadBezTo>
                  <a:pt x="36000" y="12854"/>
                  <a:pt x="35425" y="13427"/>
                </a:quadBezTo>
                <a:quadBezTo>
                  <a:pt x="34850" y="14000"/>
                  <a:pt x="34000" y="14000"/>
                </a:quadBezTo>
                <a:lnTo>
                  <a:pt x="30000" y="14000"/>
                </a:lnTo>
                <a:lnTo>
                  <a:pt x="30000" y="24000"/>
                </a:lnTo>
                <a:lnTo>
                  <a:pt x="44000" y="24000"/>
                </a:lnTo>
                <a:quadBezTo>
                  <a:pt x="44850" y="24000"/>
                  <a:pt x="45425" y="24576"/>
                </a:quadBezTo>
                <a:quadBezTo>
                  <a:pt x="46000" y="25152"/>
                  <a:pt x="46000" y="26003"/>
                </a:quadBezTo>
                <a:quadBezTo>
                  <a:pt x="46000" y="26854"/>
                  <a:pt x="45425" y="27427"/>
                </a:quadBezTo>
                <a:quadBezTo>
                  <a:pt x="44850" y="28000"/>
                  <a:pt x="44000" y="28000"/>
                </a:quadBezTo>
                <a:lnTo>
                  <a:pt x="42000" y="28000"/>
                </a:lnTo>
                <a:lnTo>
                  <a:pt x="42000" y="62000"/>
                </a:lnTo>
                <a:quadBezTo>
                  <a:pt x="42000" y="63838"/>
                  <a:pt x="40919" y="64919"/>
                </a:quadBezTo>
                <a:quadBezTo>
                  <a:pt x="39838" y="66000"/>
                  <a:pt x="38000" y="66000"/>
                </a:quadBezTo>
                <a:lnTo>
                  <a:pt x="30000" y="66000"/>
                </a:lnTo>
                <a:lnTo>
                  <a:pt x="30000" y="86000"/>
                </a:lnTo>
                <a:close/>
                <a:moveTo>
                  <a:pt x="18000" y="62000"/>
                </a:moveTo>
                <a:lnTo>
                  <a:pt x="38000" y="62000"/>
                </a:lnTo>
                <a:lnTo>
                  <a:pt x="38000" y="52769"/>
                </a:lnTo>
                <a:lnTo>
                  <a:pt x="29000" y="52769"/>
                </a:lnTo>
                <a:quadBezTo>
                  <a:pt x="28292" y="52769"/>
                  <a:pt x="27762" y="52238"/>
                </a:quadBezTo>
                <a:quadBezTo>
                  <a:pt x="27231" y="51708"/>
                  <a:pt x="27231" y="51000"/>
                </a:quadBezTo>
                <a:quadBezTo>
                  <a:pt x="27231" y="50292"/>
                  <a:pt x="27762" y="49762"/>
                </a:quadBezTo>
                <a:quadBezTo>
                  <a:pt x="28292" y="49231"/>
                  <a:pt x="29000" y="49231"/>
                </a:quadBezTo>
                <a:lnTo>
                  <a:pt x="38000" y="49231"/>
                </a:lnTo>
                <a:lnTo>
                  <a:pt x="38000" y="40769"/>
                </a:lnTo>
                <a:lnTo>
                  <a:pt x="29000" y="40769"/>
                </a:lnTo>
                <a:quadBezTo>
                  <a:pt x="28292" y="40769"/>
                  <a:pt x="27762" y="40238"/>
                </a:quadBezTo>
                <a:quadBezTo>
                  <a:pt x="27231" y="39708"/>
                  <a:pt x="27231" y="39000"/>
                </a:quadBezTo>
                <a:quadBezTo>
                  <a:pt x="27231" y="38292"/>
                  <a:pt x="27762" y="37762"/>
                </a:quadBezTo>
                <a:quadBezTo>
                  <a:pt x="28292" y="37231"/>
                  <a:pt x="29000" y="37231"/>
                </a:quadBezTo>
                <a:lnTo>
                  <a:pt x="38000" y="37231"/>
                </a:lnTo>
                <a:lnTo>
                  <a:pt x="38000" y="28000"/>
                </a:lnTo>
                <a:lnTo>
                  <a:pt x="18000" y="28000"/>
                </a:lnTo>
                <a:lnTo>
                  <a:pt x="18000" y="62000"/>
                </a:lnTo>
                <a:close/>
                <a:moveTo>
                  <a:pt x="58000" y="86000"/>
                </a:moveTo>
                <a:quadBezTo>
                  <a:pt x="56162" y="86000"/>
                  <a:pt x="55081" y="84919"/>
                </a:quadBezTo>
                <a:quadBezTo>
                  <a:pt x="54000" y="83838"/>
                  <a:pt x="54000" y="82000"/>
                </a:quadBezTo>
                <a:lnTo>
                  <a:pt x="54000" y="54000"/>
                </a:lnTo>
                <a:quadBezTo>
                  <a:pt x="54000" y="51133"/>
                  <a:pt x="55231" y="49255"/>
                </a:quadBezTo>
                <a:quadBezTo>
                  <a:pt x="56462" y="47377"/>
                  <a:pt x="57562" y="46131"/>
                </a:quadBezTo>
                <a:quadBezTo>
                  <a:pt x="58585" y="44962"/>
                  <a:pt x="59292" y="44073"/>
                </a:quadBezTo>
                <a:quadBezTo>
                  <a:pt x="60000" y="43185"/>
                  <a:pt x="60000" y="42000"/>
                </a:quadBezTo>
                <a:lnTo>
                  <a:pt x="60000" y="38000"/>
                </a:lnTo>
                <a:lnTo>
                  <a:pt x="58000" y="38000"/>
                </a:lnTo>
                <a:quadBezTo>
                  <a:pt x="57150" y="38000"/>
                  <a:pt x="56575" y="37424"/>
                </a:quadBezTo>
                <a:quadBezTo>
                  <a:pt x="56000" y="36848"/>
                  <a:pt x="56000" y="35997"/>
                </a:quadBezTo>
                <a:quadBezTo>
                  <a:pt x="56000" y="35146"/>
                  <a:pt x="56575" y="34573"/>
                </a:quadBezTo>
                <a:quadBezTo>
                  <a:pt x="57150" y="34000"/>
                  <a:pt x="58000" y="34000"/>
                </a:quadBezTo>
                <a:lnTo>
                  <a:pt x="78000" y="34000"/>
                </a:lnTo>
                <a:quadBezTo>
                  <a:pt x="78850" y="34000"/>
                  <a:pt x="79425" y="34576"/>
                </a:quadBezTo>
                <a:quadBezTo>
                  <a:pt x="80000" y="35152"/>
                  <a:pt x="80000" y="36003"/>
                </a:quadBezTo>
                <a:quadBezTo>
                  <a:pt x="80000" y="36854"/>
                  <a:pt x="79425" y="37427"/>
                </a:quadBezTo>
                <a:quadBezTo>
                  <a:pt x="78850" y="38000"/>
                  <a:pt x="78000" y="38000"/>
                </a:quadBezTo>
                <a:lnTo>
                  <a:pt x="76000" y="38000"/>
                </a:lnTo>
                <a:lnTo>
                  <a:pt x="76000" y="42000"/>
                </a:lnTo>
                <a:quadBezTo>
                  <a:pt x="76000" y="43185"/>
                  <a:pt x="76731" y="44108"/>
                </a:quadBezTo>
                <a:quadBezTo>
                  <a:pt x="77462" y="45031"/>
                  <a:pt x="78508" y="46200"/>
                </a:quadBezTo>
                <a:quadBezTo>
                  <a:pt x="79608" y="47446"/>
                  <a:pt x="80804" y="49308"/>
                </a:quadBezTo>
                <a:quadBezTo>
                  <a:pt x="82000" y="51169"/>
                  <a:pt x="82000" y="53972"/>
                </a:quadBezTo>
                <a:lnTo>
                  <a:pt x="82000" y="82000"/>
                </a:lnTo>
                <a:quadBezTo>
                  <a:pt x="82000" y="83838"/>
                  <a:pt x="80919" y="84919"/>
                </a:quadBezTo>
                <a:quadBezTo>
                  <a:pt x="79838" y="86000"/>
                  <a:pt x="78000" y="86000"/>
                </a:quadBezTo>
                <a:lnTo>
                  <a:pt x="58000" y="86000"/>
                </a:lnTo>
                <a:close/>
                <a:moveTo>
                  <a:pt x="58000" y="57231"/>
                </a:moveTo>
                <a:lnTo>
                  <a:pt x="78000" y="57231"/>
                </a:lnTo>
                <a:lnTo>
                  <a:pt x="78000" y="54000"/>
                </a:lnTo>
                <a:quadBezTo>
                  <a:pt x="78000" y="52038"/>
                  <a:pt x="77100" y="50708"/>
                </a:quadBezTo>
                <a:quadBezTo>
                  <a:pt x="76200" y="49377"/>
                  <a:pt x="74946" y="48000"/>
                </a:quadBezTo>
                <a:quadBezTo>
                  <a:pt x="73901" y="46878"/>
                  <a:pt x="72950" y="45497"/>
                </a:quadBezTo>
                <a:quadBezTo>
                  <a:pt x="72000" y="44115"/>
                  <a:pt x="72000" y="42000"/>
                </a:quadBezTo>
                <a:lnTo>
                  <a:pt x="72000" y="38000"/>
                </a:lnTo>
                <a:lnTo>
                  <a:pt x="64000" y="38000"/>
                </a:lnTo>
                <a:lnTo>
                  <a:pt x="64000" y="42000"/>
                </a:lnTo>
                <a:quadBezTo>
                  <a:pt x="64000" y="44070"/>
                  <a:pt x="63050" y="45451"/>
                </a:quadBezTo>
                <a:quadBezTo>
                  <a:pt x="62100" y="46831"/>
                  <a:pt x="61077" y="47977"/>
                </a:quadBezTo>
                <a:quadBezTo>
                  <a:pt x="59823" y="49354"/>
                  <a:pt x="58912" y="50696"/>
                </a:quadBezTo>
                <a:quadBezTo>
                  <a:pt x="58000" y="52038"/>
                  <a:pt x="58000" y="54000"/>
                </a:quadBezTo>
                <a:lnTo>
                  <a:pt x="58000" y="57231"/>
                </a:lnTo>
                <a:close/>
                <a:moveTo>
                  <a:pt x="58000" y="69231"/>
                </a:moveTo>
                <a:lnTo>
                  <a:pt x="78000" y="69231"/>
                </a:lnTo>
                <a:lnTo>
                  <a:pt x="78000" y="60769"/>
                </a:lnTo>
                <a:lnTo>
                  <a:pt x="58000" y="60769"/>
                </a:lnTo>
                <a:lnTo>
                  <a:pt x="58000" y="69231"/>
                </a:lnTo>
                <a:close/>
                <a:moveTo>
                  <a:pt x="58000" y="82000"/>
                </a:moveTo>
                <a:lnTo>
                  <a:pt x="78000" y="82000"/>
                </a:lnTo>
                <a:lnTo>
                  <a:pt x="78000" y="72769"/>
                </a:lnTo>
                <a:lnTo>
                  <a:pt x="58000" y="72769"/>
                </a:lnTo>
                <a:lnTo>
                  <a:pt x="58000" y="82000"/>
                </a:lnTo>
                <a:close/>
                <a:moveTo>
                  <a:pt x="58000" y="69231"/>
                </a:moveTo>
                <a:lnTo>
                  <a:pt x="78000" y="69231"/>
                </a:lnTo>
                <a:lnTo>
                  <a:pt x="58000" y="69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5" name="TextBox 224"/>
          <p:cNvSpPr txBox="1"/>
          <p:nvPr/>
        </p:nvSpPr>
        <p:spPr>
          <a:xfrm>
            <a:off x="4769651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vaccines</a:t>
            </a:r>
          </a:p>
        </p:txBody>
      </p:sp>
      <p:sp>
        <p:nvSpPr>
          <p:cNvPr id="226" name="Icon verified"/>
          <p:cNvSpPr/>
          <p:nvPr/>
        </p:nvSpPr>
        <p:spPr>
          <a:xfrm>
            <a:off x="5961888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36092" y="84923"/>
                </a:moveTo>
                <a:lnTo>
                  <a:pt x="29415" y="73662"/>
                </a:lnTo>
                <a:lnTo>
                  <a:pt x="16708" y="70923"/>
                </a:lnTo>
                <a:lnTo>
                  <a:pt x="17954" y="57815"/>
                </a:lnTo>
                <a:lnTo>
                  <a:pt x="9385" y="48000"/>
                </a:lnTo>
                <a:lnTo>
                  <a:pt x="17954" y="38185"/>
                </a:lnTo>
                <a:lnTo>
                  <a:pt x="16708" y="25077"/>
                </a:lnTo>
                <a:lnTo>
                  <a:pt x="29415" y="22338"/>
                </a:lnTo>
                <a:lnTo>
                  <a:pt x="36092" y="11077"/>
                </a:lnTo>
                <a:lnTo>
                  <a:pt x="48000" y="16108"/>
                </a:lnTo>
                <a:lnTo>
                  <a:pt x="59908" y="11077"/>
                </a:lnTo>
                <a:lnTo>
                  <a:pt x="66585" y="22338"/>
                </a:lnTo>
                <a:lnTo>
                  <a:pt x="79292" y="25077"/>
                </a:lnTo>
                <a:lnTo>
                  <a:pt x="78046" y="38185"/>
                </a:lnTo>
                <a:lnTo>
                  <a:pt x="86615" y="48000"/>
                </a:lnTo>
                <a:lnTo>
                  <a:pt x="78046" y="57815"/>
                </a:lnTo>
                <a:lnTo>
                  <a:pt x="79292" y="70923"/>
                </a:lnTo>
                <a:lnTo>
                  <a:pt x="66585" y="73662"/>
                </a:lnTo>
                <a:lnTo>
                  <a:pt x="59908" y="84923"/>
                </a:lnTo>
                <a:lnTo>
                  <a:pt x="48000" y="79892"/>
                </a:lnTo>
                <a:lnTo>
                  <a:pt x="36092" y="84923"/>
                </a:lnTo>
                <a:close/>
                <a:moveTo>
                  <a:pt x="37800" y="79800"/>
                </a:moveTo>
                <a:lnTo>
                  <a:pt x="48000" y="75554"/>
                </a:lnTo>
                <a:lnTo>
                  <a:pt x="58246" y="79800"/>
                </a:lnTo>
                <a:lnTo>
                  <a:pt x="64000" y="70200"/>
                </a:lnTo>
                <a:lnTo>
                  <a:pt x="75000" y="67754"/>
                </a:lnTo>
                <a:lnTo>
                  <a:pt x="74000" y="56400"/>
                </a:lnTo>
                <a:lnTo>
                  <a:pt x="81400" y="48000"/>
                </a:lnTo>
                <a:lnTo>
                  <a:pt x="74000" y="39554"/>
                </a:lnTo>
                <a:lnTo>
                  <a:pt x="75000" y="28200"/>
                </a:lnTo>
                <a:lnTo>
                  <a:pt x="64000" y="25800"/>
                </a:lnTo>
                <a:lnTo>
                  <a:pt x="58200" y="16200"/>
                </a:lnTo>
                <a:lnTo>
                  <a:pt x="48000" y="20446"/>
                </a:lnTo>
                <a:lnTo>
                  <a:pt x="37754" y="16200"/>
                </a:lnTo>
                <a:lnTo>
                  <a:pt x="32000" y="25800"/>
                </a:lnTo>
                <a:lnTo>
                  <a:pt x="21000" y="28200"/>
                </a:lnTo>
                <a:lnTo>
                  <a:pt x="22000" y="39554"/>
                </a:lnTo>
                <a:lnTo>
                  <a:pt x="14600" y="48000"/>
                </a:lnTo>
                <a:lnTo>
                  <a:pt x="22000" y="56400"/>
                </a:lnTo>
                <a:lnTo>
                  <a:pt x="21000" y="67800"/>
                </a:lnTo>
                <a:lnTo>
                  <a:pt x="32000" y="70200"/>
                </a:lnTo>
                <a:lnTo>
                  <a:pt x="37800" y="79800"/>
                </a:lnTo>
                <a:close/>
                <a:moveTo>
                  <a:pt x="48000" y="48000"/>
                </a:moveTo>
                <a:close/>
                <a:moveTo>
                  <a:pt x="43800" y="59431"/>
                </a:moveTo>
                <a:lnTo>
                  <a:pt x="63631" y="39600"/>
                </a:lnTo>
                <a:lnTo>
                  <a:pt x="60800" y="36723"/>
                </a:lnTo>
                <a:lnTo>
                  <a:pt x="43800" y="53723"/>
                </a:lnTo>
                <a:lnTo>
                  <a:pt x="35200" y="45169"/>
                </a:lnTo>
                <a:lnTo>
                  <a:pt x="32369" y="48000"/>
                </a:lnTo>
                <a:lnTo>
                  <a:pt x="43800" y="59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7" name="TextBox 226"/>
          <p:cNvSpPr txBox="1"/>
          <p:nvPr/>
        </p:nvSpPr>
        <p:spPr>
          <a:xfrm>
            <a:off x="5655915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verified</a:t>
            </a:r>
          </a:p>
        </p:txBody>
      </p:sp>
      <p:sp>
        <p:nvSpPr>
          <p:cNvPr id="228" name="Icon visibility"/>
          <p:cNvSpPr/>
          <p:nvPr/>
        </p:nvSpPr>
        <p:spPr>
          <a:xfrm>
            <a:off x="6848152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018" y="60615"/>
                </a:moveTo>
                <a:quadBezTo>
                  <a:pt x="54115" y="60615"/>
                  <a:pt x="58365" y="56347"/>
                </a:quadBezTo>
                <a:quadBezTo>
                  <a:pt x="62615" y="52079"/>
                  <a:pt x="62615" y="45982"/>
                </a:quadBezTo>
                <a:quadBezTo>
                  <a:pt x="62615" y="39885"/>
                  <a:pt x="58347" y="35635"/>
                </a:quadBezTo>
                <a:quadBezTo>
                  <a:pt x="54079" y="31385"/>
                  <a:pt x="47982" y="31385"/>
                </a:quadBezTo>
                <a:quadBezTo>
                  <a:pt x="41885" y="31385"/>
                  <a:pt x="37635" y="35653"/>
                </a:quadBezTo>
                <a:quadBezTo>
                  <a:pt x="33385" y="39921"/>
                  <a:pt x="33385" y="46018"/>
                </a:quadBezTo>
                <a:quadBezTo>
                  <a:pt x="33385" y="52115"/>
                  <a:pt x="37653" y="56365"/>
                </a:quadBezTo>
                <a:quadBezTo>
                  <a:pt x="41921" y="60615"/>
                  <a:pt x="48018" y="60615"/>
                </a:quadBezTo>
                <a:close/>
                <a:moveTo>
                  <a:pt x="48000" y="56800"/>
                </a:moveTo>
                <a:quadBezTo>
                  <a:pt x="43500" y="56800"/>
                  <a:pt x="40350" y="53650"/>
                </a:quadBezTo>
                <a:quadBezTo>
                  <a:pt x="37200" y="50500"/>
                  <a:pt x="37200" y="46000"/>
                </a:quadBezTo>
                <a:quadBezTo>
                  <a:pt x="37200" y="41500"/>
                  <a:pt x="40350" y="38350"/>
                </a:quadBezTo>
                <a:quadBezTo>
                  <a:pt x="43500" y="35200"/>
                  <a:pt x="48000" y="35200"/>
                </a:quadBezTo>
                <a:quadBezTo>
                  <a:pt x="52500" y="35200"/>
                  <a:pt x="55650" y="38350"/>
                </a:quadBezTo>
                <a:quadBezTo>
                  <a:pt x="58800" y="41500"/>
                  <a:pt x="58800" y="46000"/>
                </a:quadBezTo>
                <a:quadBezTo>
                  <a:pt x="58800" y="50500"/>
                  <a:pt x="55650" y="53650"/>
                </a:quadBezTo>
                <a:quadBezTo>
                  <a:pt x="52500" y="56800"/>
                  <a:pt x="48000" y="56800"/>
                </a:quadBezTo>
                <a:close/>
                <a:moveTo>
                  <a:pt x="48011" y="72000"/>
                </a:moveTo>
                <a:quadBezTo>
                  <a:pt x="35015" y="72000"/>
                  <a:pt x="24323" y="64927"/>
                </a:quadBezTo>
                <a:quadBezTo>
                  <a:pt x="13631" y="57854"/>
                  <a:pt x="8308" y="46000"/>
                </a:quadBezTo>
                <a:quadBezTo>
                  <a:pt x="13631" y="34146"/>
                  <a:pt x="24312" y="27073"/>
                </a:quadBezTo>
                <a:quadBezTo>
                  <a:pt x="34993" y="20000"/>
                  <a:pt x="47989" y="20000"/>
                </a:quadBezTo>
                <a:quadBezTo>
                  <a:pt x="60985" y="20000"/>
                  <a:pt x="71677" y="27073"/>
                </a:quadBezTo>
                <a:quadBezTo>
                  <a:pt x="82369" y="34146"/>
                  <a:pt x="87692" y="46000"/>
                </a:quadBezTo>
                <a:quadBezTo>
                  <a:pt x="82369" y="57854"/>
                  <a:pt x="71688" y="64927"/>
                </a:quadBezTo>
                <a:quadBezTo>
                  <a:pt x="61007" y="72000"/>
                  <a:pt x="48011" y="72000"/>
                </a:quadBezTo>
                <a:close/>
                <a:moveTo>
                  <a:pt x="48000" y="46000"/>
                </a:moveTo>
                <a:close/>
                <a:moveTo>
                  <a:pt x="48000" y="68000"/>
                </a:moveTo>
                <a:quadBezTo>
                  <a:pt x="59300" y="68000"/>
                  <a:pt x="68750" y="62050"/>
                </a:quadBezTo>
                <a:quadBezTo>
                  <a:pt x="78200" y="56100"/>
                  <a:pt x="83200" y="46000"/>
                </a:quadBezTo>
                <a:quadBezTo>
                  <a:pt x="78200" y="35900"/>
                  <a:pt x="68750" y="29950"/>
                </a:quadBezTo>
                <a:quadBezTo>
                  <a:pt x="59300" y="24000"/>
                  <a:pt x="48000" y="24000"/>
                </a:quadBezTo>
                <a:quadBezTo>
                  <a:pt x="36700" y="24000"/>
                  <a:pt x="27250" y="29950"/>
                </a:quadBezTo>
                <a:quadBezTo>
                  <a:pt x="17800" y="35900"/>
                  <a:pt x="12800" y="46000"/>
                </a:quadBezTo>
                <a:quadBezTo>
                  <a:pt x="17800" y="56100"/>
                  <a:pt x="27250" y="62050"/>
                </a:quadBezTo>
                <a:quadBezTo>
                  <a:pt x="36700" y="68000"/>
                  <a:pt x="48000" y="68000"/>
                </a:quad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29" name="TextBox 228"/>
          <p:cNvSpPr txBox="1"/>
          <p:nvPr/>
        </p:nvSpPr>
        <p:spPr>
          <a:xfrm>
            <a:off x="6542180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visibility</a:t>
            </a:r>
          </a:p>
        </p:txBody>
      </p:sp>
      <p:sp>
        <p:nvSpPr>
          <p:cNvPr id="230" name="Icon warehouse"/>
          <p:cNvSpPr/>
          <p:nvPr/>
        </p:nvSpPr>
        <p:spPr>
          <a:xfrm>
            <a:off x="7734417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6000" y="76000"/>
                </a:moveTo>
                <a:lnTo>
                  <a:pt x="28000" y="76000"/>
                </a:lnTo>
                <a:lnTo>
                  <a:pt x="28000" y="44000"/>
                </a:lnTo>
                <a:lnTo>
                  <a:pt x="68000" y="44000"/>
                </a:lnTo>
                <a:lnTo>
                  <a:pt x="68000" y="76000"/>
                </a:lnTo>
                <a:lnTo>
                  <a:pt x="80000" y="76000"/>
                </a:lnTo>
                <a:lnTo>
                  <a:pt x="80000" y="33400"/>
                </a:lnTo>
                <a:lnTo>
                  <a:pt x="48000" y="20600"/>
                </a:lnTo>
                <a:lnTo>
                  <a:pt x="16000" y="33400"/>
                </a:lnTo>
                <a:lnTo>
                  <a:pt x="16000" y="76000"/>
                </a:lnTo>
                <a:close/>
                <a:moveTo>
                  <a:pt x="12000" y="80000"/>
                </a:moveTo>
                <a:lnTo>
                  <a:pt x="12000" y="30692"/>
                </a:lnTo>
                <a:lnTo>
                  <a:pt x="48000" y="16308"/>
                </a:lnTo>
                <a:lnTo>
                  <a:pt x="84000" y="30692"/>
                </a:lnTo>
                <a:lnTo>
                  <a:pt x="84000" y="80000"/>
                </a:lnTo>
                <a:lnTo>
                  <a:pt x="64000" y="80000"/>
                </a:lnTo>
                <a:lnTo>
                  <a:pt x="64000" y="48000"/>
                </a:lnTo>
                <a:lnTo>
                  <a:pt x="32000" y="48000"/>
                </a:lnTo>
                <a:lnTo>
                  <a:pt x="32000" y="80000"/>
                </a:lnTo>
                <a:lnTo>
                  <a:pt x="12000" y="80000"/>
                </a:lnTo>
                <a:close/>
                <a:moveTo>
                  <a:pt x="38231" y="80000"/>
                </a:moveTo>
                <a:lnTo>
                  <a:pt x="38231" y="73846"/>
                </a:lnTo>
                <a:lnTo>
                  <a:pt x="44385" y="73846"/>
                </a:lnTo>
                <a:lnTo>
                  <a:pt x="44385" y="80000"/>
                </a:lnTo>
                <a:lnTo>
                  <a:pt x="38231" y="80000"/>
                </a:lnTo>
                <a:close/>
                <a:moveTo>
                  <a:pt x="44923" y="68000"/>
                </a:moveTo>
                <a:lnTo>
                  <a:pt x="44923" y="61846"/>
                </a:lnTo>
                <a:lnTo>
                  <a:pt x="51077" y="61846"/>
                </a:lnTo>
                <a:lnTo>
                  <a:pt x="51077" y="68000"/>
                </a:lnTo>
                <a:lnTo>
                  <a:pt x="44923" y="68000"/>
                </a:lnTo>
                <a:close/>
                <a:moveTo>
                  <a:pt x="51615" y="80000"/>
                </a:moveTo>
                <a:lnTo>
                  <a:pt x="51615" y="73846"/>
                </a:lnTo>
                <a:lnTo>
                  <a:pt x="57769" y="73846"/>
                </a:lnTo>
                <a:lnTo>
                  <a:pt x="57769" y="80000"/>
                </a:lnTo>
                <a:lnTo>
                  <a:pt x="51615" y="80000"/>
                </a:lnTo>
                <a:close/>
                <a:moveTo>
                  <a:pt x="28000" y="44000"/>
                </a:moveTo>
                <a:lnTo>
                  <a:pt x="68000" y="44000"/>
                </a:lnTo>
                <a:lnTo>
                  <a:pt x="28000" y="44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1" name="TextBox 230"/>
          <p:cNvSpPr txBox="1"/>
          <p:nvPr/>
        </p:nvSpPr>
        <p:spPr>
          <a:xfrm>
            <a:off x="7428444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warehouse</a:t>
            </a:r>
          </a:p>
        </p:txBody>
      </p:sp>
      <p:sp>
        <p:nvSpPr>
          <p:cNvPr id="232" name="Icon warning"/>
          <p:cNvSpPr/>
          <p:nvPr/>
        </p:nvSpPr>
        <p:spPr>
          <a:xfrm>
            <a:off x="8620681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0923" y="80000"/>
                </a:moveTo>
                <a:lnTo>
                  <a:pt x="48000" y="16000"/>
                </a:lnTo>
                <a:lnTo>
                  <a:pt x="85077" y="80000"/>
                </a:lnTo>
                <a:lnTo>
                  <a:pt x="10923" y="80000"/>
                </a:lnTo>
                <a:close/>
                <a:moveTo>
                  <a:pt x="17800" y="76000"/>
                </a:moveTo>
                <a:lnTo>
                  <a:pt x="78200" y="76000"/>
                </a:lnTo>
                <a:lnTo>
                  <a:pt x="48000" y="24000"/>
                </a:lnTo>
                <a:lnTo>
                  <a:pt x="17800" y="76000"/>
                </a:lnTo>
                <a:close/>
                <a:moveTo>
                  <a:pt x="48000" y="70462"/>
                </a:moveTo>
                <a:quadBezTo>
                  <a:pt x="49046" y="70462"/>
                  <a:pt x="49754" y="69754"/>
                </a:quadBezTo>
                <a:quadBezTo>
                  <a:pt x="50462" y="69046"/>
                  <a:pt x="50462" y="68000"/>
                </a:quadBezTo>
                <a:quadBezTo>
                  <a:pt x="50462" y="66954"/>
                  <a:pt x="49754" y="66246"/>
                </a:quadBezTo>
                <a:quadBezTo>
                  <a:pt x="49046" y="65538"/>
                  <a:pt x="48000" y="65538"/>
                </a:quadBezTo>
                <a:quadBezTo>
                  <a:pt x="46954" y="65538"/>
                  <a:pt x="46246" y="66246"/>
                </a:quadBezTo>
                <a:quadBezTo>
                  <a:pt x="45538" y="66954"/>
                  <a:pt x="45538" y="68000"/>
                </a:quadBezTo>
                <a:quadBezTo>
                  <a:pt x="45538" y="69046"/>
                  <a:pt x="46246" y="69754"/>
                </a:quadBezTo>
                <a:quadBezTo>
                  <a:pt x="46954" y="70462"/>
                  <a:pt x="48000" y="70462"/>
                </a:quadBezTo>
                <a:close/>
                <a:moveTo>
                  <a:pt x="46000" y="61538"/>
                </a:moveTo>
                <a:lnTo>
                  <a:pt x="50000" y="61538"/>
                </a:lnTo>
                <a:lnTo>
                  <a:pt x="50000" y="41538"/>
                </a:lnTo>
                <a:lnTo>
                  <a:pt x="46000" y="41538"/>
                </a:lnTo>
                <a:lnTo>
                  <a:pt x="46000" y="61538"/>
                </a:lnTo>
                <a:close/>
                <a:moveTo>
                  <a:pt x="48000" y="50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3" name="TextBox 232"/>
          <p:cNvSpPr txBox="1"/>
          <p:nvPr/>
        </p:nvSpPr>
        <p:spPr>
          <a:xfrm>
            <a:off x="8314709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warning</a:t>
            </a:r>
          </a:p>
        </p:txBody>
      </p:sp>
      <p:sp>
        <p:nvSpPr>
          <p:cNvPr id="234" name="Icon water_drop"/>
          <p:cNvSpPr/>
          <p:nvPr/>
        </p:nvSpPr>
        <p:spPr>
          <a:xfrm>
            <a:off x="9506946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48869" y="74769"/>
                </a:moveTo>
                <a:quadBezTo>
                  <a:pt x="49762" y="74669"/>
                  <a:pt x="50265" y="74154"/>
                </a:quadBezTo>
                <a:quadBezTo>
                  <a:pt x="50769" y="73638"/>
                  <a:pt x="50769" y="72911"/>
                </a:quadBezTo>
                <a:quadBezTo>
                  <a:pt x="50769" y="72062"/>
                  <a:pt x="50194" y="71596"/>
                </a:quadBezTo>
                <a:quadBezTo>
                  <a:pt x="49618" y="71131"/>
                  <a:pt x="48723" y="71231"/>
                </a:quadBezTo>
                <a:quadBezTo>
                  <a:pt x="44623" y="71531"/>
                  <a:pt x="39562" y="68673"/>
                </a:quadBezTo>
                <a:quadBezTo>
                  <a:pt x="34500" y="65815"/>
                  <a:pt x="33300" y="59115"/>
                </a:quadBezTo>
                <a:quadBezTo>
                  <a:pt x="33100" y="58169"/>
                  <a:pt x="32635" y="57700"/>
                </a:quadBezTo>
                <a:quadBezTo>
                  <a:pt x="32169" y="57231"/>
                  <a:pt x="31454" y="57231"/>
                </a:quadBezTo>
                <a:quadBezTo>
                  <a:pt x="30669" y="57231"/>
                  <a:pt x="30115" y="57819"/>
                </a:quadBezTo>
                <a:quadBezTo>
                  <a:pt x="29562" y="58408"/>
                  <a:pt x="29785" y="59577"/>
                </a:quadBezTo>
                <a:quadBezTo>
                  <a:pt x="31331" y="67908"/>
                  <a:pt x="37477" y="71500"/>
                </a:quadBezTo>
                <a:quadBezTo>
                  <a:pt x="43623" y="75092"/>
                  <a:pt x="48869" y="74769"/>
                </a:quadBezTo>
                <a:close/>
                <a:moveTo>
                  <a:pt x="47986" y="84000"/>
                </a:moveTo>
                <a:quadBezTo>
                  <a:pt x="35992" y="84000"/>
                  <a:pt x="27996" y="75746"/>
                </a:quadBezTo>
                <a:quadBezTo>
                  <a:pt x="20000" y="67493"/>
                  <a:pt x="20000" y="55200"/>
                </a:quadBezTo>
                <a:quadBezTo>
                  <a:pt x="20000" y="46585"/>
                  <a:pt x="26950" y="36142"/>
                </a:quadBezTo>
                <a:quadBezTo>
                  <a:pt x="33900" y="25700"/>
                  <a:pt x="48000" y="13231"/>
                </a:quadBezTo>
                <a:quadBezTo>
                  <a:pt x="62100" y="25700"/>
                  <a:pt x="69050" y="36142"/>
                </a:quadBezTo>
                <a:quadBezTo>
                  <a:pt x="76000" y="46585"/>
                  <a:pt x="76000" y="55200"/>
                </a:quadBezTo>
                <a:quadBezTo>
                  <a:pt x="76000" y="67493"/>
                  <a:pt x="67990" y="75746"/>
                </a:quadBezTo>
                <a:quadBezTo>
                  <a:pt x="59979" y="84000"/>
                  <a:pt x="47986" y="84000"/>
                </a:quadBezTo>
                <a:close/>
                <a:moveTo>
                  <a:pt x="48000" y="80000"/>
                </a:moveTo>
                <a:quadBezTo>
                  <a:pt x="58400" y="80000"/>
                  <a:pt x="65200" y="72950"/>
                </a:quadBezTo>
                <a:quadBezTo>
                  <a:pt x="72000" y="65900"/>
                  <a:pt x="72000" y="55200"/>
                </a:quadBezTo>
                <a:quadBezTo>
                  <a:pt x="72000" y="47900"/>
                  <a:pt x="65950" y="38700"/>
                </a:quadBezTo>
                <a:quadBezTo>
                  <a:pt x="59900" y="29500"/>
                  <a:pt x="48000" y="18600"/>
                </a:quadBezTo>
                <a:quadBezTo>
                  <a:pt x="36100" y="29500"/>
                  <a:pt x="30050" y="38700"/>
                </a:quadBezTo>
                <a:quadBezTo>
                  <a:pt x="24000" y="47900"/>
                  <a:pt x="24000" y="55200"/>
                </a:quadBezTo>
                <a:quadBezTo>
                  <a:pt x="24000" y="65900"/>
                  <a:pt x="30800" y="72950"/>
                </a:quadBezTo>
                <a:quadBezTo>
                  <a:pt x="37600" y="80000"/>
                  <a:pt x="48000" y="80000"/>
                </a:quadBezTo>
                <a:close/>
                <a:moveTo>
                  <a:pt x="48000" y="48615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5" name="TextBox 234"/>
          <p:cNvSpPr txBox="1"/>
          <p:nvPr/>
        </p:nvSpPr>
        <p:spPr>
          <a:xfrm>
            <a:off x="9200974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water drop</a:t>
            </a:r>
          </a:p>
        </p:txBody>
      </p:sp>
      <p:sp>
        <p:nvSpPr>
          <p:cNvPr id="236" name="Icon work"/>
          <p:cNvSpPr/>
          <p:nvPr/>
        </p:nvSpPr>
        <p:spPr>
          <a:xfrm>
            <a:off x="10393211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18462" y="80000"/>
                </a:moveTo>
                <a:quadBezTo>
                  <a:pt x="15700" y="80000"/>
                  <a:pt x="13850" y="78150"/>
                </a:quadBezTo>
                <a:quadBezTo>
                  <a:pt x="12000" y="76300"/>
                  <a:pt x="12000" y="73538"/>
                </a:quadBezTo>
                <a:lnTo>
                  <a:pt x="12000" y="34462"/>
                </a:lnTo>
                <a:quadBezTo>
                  <a:pt x="12000" y="31700"/>
                  <a:pt x="13850" y="29850"/>
                </a:quadBezTo>
                <a:quadBezTo>
                  <a:pt x="15700" y="28000"/>
                  <a:pt x="18462" y="28000"/>
                </a:quadBezTo>
                <a:lnTo>
                  <a:pt x="36000" y="28000"/>
                </a:lnTo>
                <a:lnTo>
                  <a:pt x="36000" y="22461"/>
                </a:lnTo>
                <a:quadBezTo>
                  <a:pt x="36000" y="19700"/>
                  <a:pt x="37850" y="17850"/>
                </a:quadBezTo>
                <a:quadBezTo>
                  <a:pt x="39700" y="16000"/>
                  <a:pt x="42462" y="16000"/>
                </a:quadBezTo>
                <a:lnTo>
                  <a:pt x="53538" y="16000"/>
                </a:lnTo>
                <a:quadBezTo>
                  <a:pt x="56300" y="16000"/>
                  <a:pt x="58150" y="17850"/>
                </a:quadBezTo>
                <a:quadBezTo>
                  <a:pt x="60000" y="19700"/>
                  <a:pt x="60000" y="22461"/>
                </a:quadBezTo>
                <a:lnTo>
                  <a:pt x="60000" y="28000"/>
                </a:lnTo>
                <a:lnTo>
                  <a:pt x="77538" y="28000"/>
                </a:lnTo>
                <a:quadBezTo>
                  <a:pt x="80300" y="28000"/>
                  <a:pt x="82150" y="29850"/>
                </a:quadBezTo>
                <a:quadBezTo>
                  <a:pt x="84000" y="31700"/>
                  <a:pt x="84000" y="34462"/>
                </a:quadBezTo>
                <a:lnTo>
                  <a:pt x="84000" y="73538"/>
                </a:lnTo>
                <a:quadBezTo>
                  <a:pt x="84000" y="76300"/>
                  <a:pt x="82150" y="78150"/>
                </a:quadBezTo>
                <a:quadBezTo>
                  <a:pt x="80300" y="80000"/>
                  <a:pt x="77538" y="80000"/>
                </a:quadBezTo>
                <a:lnTo>
                  <a:pt x="18462" y="80000"/>
                </a:lnTo>
                <a:close/>
                <a:moveTo>
                  <a:pt x="18462" y="76000"/>
                </a:moveTo>
                <a:lnTo>
                  <a:pt x="77538" y="76000"/>
                </a:lnTo>
                <a:quadBezTo>
                  <a:pt x="78462" y="76000"/>
                  <a:pt x="79231" y="75231"/>
                </a:quadBezTo>
                <a:quadBezTo>
                  <a:pt x="80000" y="74462"/>
                  <a:pt x="80000" y="73538"/>
                </a:quadBezTo>
                <a:lnTo>
                  <a:pt x="80000" y="34462"/>
                </a:lnTo>
                <a:quadBezTo>
                  <a:pt x="80000" y="33538"/>
                  <a:pt x="79231" y="32769"/>
                </a:quadBezTo>
                <a:quadBezTo>
                  <a:pt x="78462" y="32000"/>
                  <a:pt x="77538" y="32000"/>
                </a:quadBezTo>
                <a:lnTo>
                  <a:pt x="18462" y="32000"/>
                </a:lnTo>
                <a:quadBezTo>
                  <a:pt x="17538" y="32000"/>
                  <a:pt x="16769" y="32769"/>
                </a:quadBezTo>
                <a:quadBezTo>
                  <a:pt x="16000" y="33538"/>
                  <a:pt x="16000" y="34462"/>
                </a:quadBezTo>
                <a:lnTo>
                  <a:pt x="16000" y="73538"/>
                </a:lnTo>
                <a:quadBezTo>
                  <a:pt x="16000" y="74462"/>
                  <a:pt x="16769" y="75231"/>
                </a:quadBezTo>
                <a:quadBezTo>
                  <a:pt x="17538" y="76000"/>
                  <a:pt x="18462" y="76000"/>
                </a:quadBezTo>
                <a:close/>
                <a:moveTo>
                  <a:pt x="40000" y="28000"/>
                </a:moveTo>
                <a:lnTo>
                  <a:pt x="56000" y="28000"/>
                </a:lnTo>
                <a:lnTo>
                  <a:pt x="56000" y="22461"/>
                </a:lnTo>
                <a:quadBezTo>
                  <a:pt x="56000" y="21538"/>
                  <a:pt x="55231" y="20769"/>
                </a:quadBezTo>
                <a:quadBezTo>
                  <a:pt x="54462" y="20000"/>
                  <a:pt x="53538" y="20000"/>
                </a:quadBezTo>
                <a:lnTo>
                  <a:pt x="42462" y="20000"/>
                </a:lnTo>
                <a:quadBezTo>
                  <a:pt x="41538" y="20000"/>
                  <a:pt x="40769" y="20769"/>
                </a:quadBezTo>
                <a:quadBezTo>
                  <a:pt x="40000" y="21538"/>
                  <a:pt x="40000" y="22461"/>
                </a:quadBezTo>
                <a:lnTo>
                  <a:pt x="40000" y="28000"/>
                </a:lnTo>
                <a:close/>
                <a:moveTo>
                  <a:pt x="16000" y="76000"/>
                </a:moveTo>
                <a:lnTo>
                  <a:pt x="16000" y="32000"/>
                </a:lnTo>
                <a:lnTo>
                  <a:pt x="16000" y="7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7" name="TextBox 236"/>
          <p:cNvSpPr txBox="1"/>
          <p:nvPr/>
        </p:nvSpPr>
        <p:spPr>
          <a:xfrm>
            <a:off x="10087238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work</a:t>
            </a:r>
          </a:p>
        </p:txBody>
      </p:sp>
      <p:sp>
        <p:nvSpPr>
          <p:cNvPr id="238" name="Icon workspaces"/>
          <p:cNvSpPr/>
          <p:nvPr/>
        </p:nvSpPr>
        <p:spPr>
          <a:xfrm>
            <a:off x="11279475" y="5376672"/>
            <a:ext cx="274320" cy="274320"/>
          </a:xfrm>
          <a:custGeom>
            <a:avLst/>
            <a:gdLst/>
            <a:ahLst/>
            <a:cxnLst/>
            <a:rect l="0" t="0" r="r" b="b"/>
            <a:pathLst>
              <a:path w="96000" h="96000">
                <a:moveTo>
                  <a:pt x="24000" y="80923"/>
                </a:moveTo>
                <a:quadBezTo>
                  <a:pt x="18669" y="80923"/>
                  <a:pt x="14873" y="77127"/>
                </a:quadBezTo>
                <a:quadBezTo>
                  <a:pt x="11077" y="73331"/>
                  <a:pt x="11077" y="68000"/>
                </a:quadBezTo>
                <a:quadBezTo>
                  <a:pt x="11077" y="62669"/>
                  <a:pt x="14873" y="58873"/>
                </a:quadBezTo>
                <a:quadBezTo>
                  <a:pt x="18669" y="55077"/>
                  <a:pt x="24000" y="55077"/>
                </a:quadBezTo>
                <a:quadBezTo>
                  <a:pt x="29331" y="55077"/>
                  <a:pt x="33127" y="58873"/>
                </a:quadBezTo>
                <a:quadBezTo>
                  <a:pt x="36923" y="62669"/>
                  <a:pt x="36923" y="68000"/>
                </a:quadBezTo>
                <a:quadBezTo>
                  <a:pt x="36923" y="73331"/>
                  <a:pt x="33127" y="77127"/>
                </a:quadBezTo>
                <a:quadBezTo>
                  <a:pt x="29331" y="80923"/>
                  <a:pt x="24000" y="80923"/>
                </a:quadBezTo>
                <a:close/>
                <a:moveTo>
                  <a:pt x="72000" y="80923"/>
                </a:moveTo>
                <a:quadBezTo>
                  <a:pt x="66669" y="80923"/>
                  <a:pt x="62873" y="77127"/>
                </a:quadBezTo>
                <a:quadBezTo>
                  <a:pt x="59077" y="73331"/>
                  <a:pt x="59077" y="68000"/>
                </a:quadBezTo>
                <a:quadBezTo>
                  <a:pt x="59077" y="62669"/>
                  <a:pt x="62873" y="58873"/>
                </a:quadBezTo>
                <a:quadBezTo>
                  <a:pt x="66669" y="55077"/>
                  <a:pt x="72000" y="55077"/>
                </a:quadBezTo>
                <a:quadBezTo>
                  <a:pt x="77331" y="55077"/>
                  <a:pt x="81127" y="58873"/>
                </a:quadBezTo>
                <a:quadBezTo>
                  <a:pt x="84923" y="62669"/>
                  <a:pt x="84923" y="68000"/>
                </a:quadBezTo>
                <a:quadBezTo>
                  <a:pt x="84923" y="73331"/>
                  <a:pt x="81127" y="77127"/>
                </a:quadBezTo>
                <a:quadBezTo>
                  <a:pt x="77331" y="80923"/>
                  <a:pt x="72000" y="80923"/>
                </a:quadBezTo>
                <a:close/>
                <a:moveTo>
                  <a:pt x="24003" y="76923"/>
                </a:moveTo>
                <a:quadBezTo>
                  <a:pt x="27685" y="76923"/>
                  <a:pt x="30304" y="74301"/>
                </a:quadBezTo>
                <a:quadBezTo>
                  <a:pt x="32923" y="71679"/>
                  <a:pt x="32923" y="67997"/>
                </a:quadBezTo>
                <a:quadBezTo>
                  <a:pt x="32923" y="64315"/>
                  <a:pt x="30301" y="61696"/>
                </a:quadBezTo>
                <a:quadBezTo>
                  <a:pt x="27679" y="59077"/>
                  <a:pt x="23997" y="59077"/>
                </a:quadBezTo>
                <a:quadBezTo>
                  <a:pt x="20315" y="59077"/>
                  <a:pt x="17696" y="61699"/>
                </a:quadBezTo>
                <a:quadBezTo>
                  <a:pt x="15077" y="64321"/>
                  <a:pt x="15077" y="68003"/>
                </a:quadBezTo>
                <a:quadBezTo>
                  <a:pt x="15077" y="71685"/>
                  <a:pt x="17699" y="74304"/>
                </a:quadBezTo>
                <a:quadBezTo>
                  <a:pt x="20321" y="76923"/>
                  <a:pt x="24003" y="76923"/>
                </a:quadBezTo>
                <a:close/>
                <a:moveTo>
                  <a:pt x="72003" y="76923"/>
                </a:moveTo>
                <a:quadBezTo>
                  <a:pt x="75685" y="76923"/>
                  <a:pt x="78304" y="74301"/>
                </a:quadBezTo>
                <a:quadBezTo>
                  <a:pt x="80923" y="71679"/>
                  <a:pt x="80923" y="67997"/>
                </a:quadBezTo>
                <a:quadBezTo>
                  <a:pt x="80923" y="64315"/>
                  <a:pt x="78301" y="61696"/>
                </a:quadBezTo>
                <a:quadBezTo>
                  <a:pt x="75679" y="59077"/>
                  <a:pt x="71997" y="59077"/>
                </a:quadBezTo>
                <a:quadBezTo>
                  <a:pt x="68315" y="59077"/>
                  <a:pt x="65696" y="61699"/>
                </a:quadBezTo>
                <a:quadBezTo>
                  <a:pt x="63077" y="64321"/>
                  <a:pt x="63077" y="68003"/>
                </a:quadBezTo>
                <a:quadBezTo>
                  <a:pt x="63077" y="71685"/>
                  <a:pt x="65699" y="74304"/>
                </a:quadBezTo>
                <a:quadBezTo>
                  <a:pt x="68321" y="76923"/>
                  <a:pt x="72003" y="76923"/>
                </a:quadBezTo>
                <a:close/>
                <a:moveTo>
                  <a:pt x="48000" y="40923"/>
                </a:moveTo>
                <a:quadBezTo>
                  <a:pt x="42669" y="40923"/>
                  <a:pt x="38873" y="37127"/>
                </a:quadBezTo>
                <a:quadBezTo>
                  <a:pt x="35077" y="33331"/>
                  <a:pt x="35077" y="28000"/>
                </a:quadBezTo>
                <a:quadBezTo>
                  <a:pt x="35077" y="22669"/>
                  <a:pt x="38873" y="18873"/>
                </a:quadBezTo>
                <a:quadBezTo>
                  <a:pt x="42669" y="15077"/>
                  <a:pt x="48000" y="15077"/>
                </a:quadBezTo>
                <a:quadBezTo>
                  <a:pt x="53331" y="15077"/>
                  <a:pt x="57127" y="18873"/>
                </a:quadBezTo>
                <a:quadBezTo>
                  <a:pt x="60923" y="22669"/>
                  <a:pt x="60923" y="28000"/>
                </a:quadBezTo>
                <a:quadBezTo>
                  <a:pt x="60923" y="33331"/>
                  <a:pt x="57127" y="37127"/>
                </a:quadBezTo>
                <a:quadBezTo>
                  <a:pt x="53331" y="40923"/>
                  <a:pt x="48000" y="40923"/>
                </a:quadBezTo>
                <a:close/>
                <a:moveTo>
                  <a:pt x="48003" y="36923"/>
                </a:moveTo>
                <a:quadBezTo>
                  <a:pt x="51685" y="36923"/>
                  <a:pt x="54304" y="34301"/>
                </a:quadBezTo>
                <a:quadBezTo>
                  <a:pt x="56923" y="31679"/>
                  <a:pt x="56923" y="27997"/>
                </a:quadBezTo>
                <a:quadBezTo>
                  <a:pt x="56923" y="24315"/>
                  <a:pt x="54301" y="21696"/>
                </a:quadBezTo>
                <a:quadBezTo>
                  <a:pt x="51679" y="19077"/>
                  <a:pt x="47997" y="19077"/>
                </a:quadBezTo>
                <a:quadBezTo>
                  <a:pt x="44315" y="19077"/>
                  <a:pt x="41696" y="21699"/>
                </a:quadBezTo>
                <a:quadBezTo>
                  <a:pt x="39077" y="24321"/>
                  <a:pt x="39077" y="28003"/>
                </a:quadBezTo>
                <a:quadBezTo>
                  <a:pt x="39077" y="31685"/>
                  <a:pt x="41699" y="34304"/>
                </a:quadBezTo>
                <a:quadBezTo>
                  <a:pt x="44321" y="36923"/>
                  <a:pt x="48003" y="36923"/>
                </a:quadBezTo>
                <a:close/>
                <a:moveTo>
                  <a:pt x="48000" y="28000"/>
                </a:moveTo>
                <a:close/>
                <a:moveTo>
                  <a:pt x="72000" y="68000"/>
                </a:moveTo>
                <a:close/>
                <a:moveTo>
                  <a:pt x="24000" y="68000"/>
                </a:move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39" name="TextBox 238"/>
          <p:cNvSpPr txBox="1"/>
          <p:nvPr/>
        </p:nvSpPr>
        <p:spPr>
          <a:xfrm>
            <a:off x="10973503" y="5660136"/>
            <a:ext cx="88626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700" b="0" i="0">
                <a:solidFill>
                  <a:schemeClr val="tx1">
                    <a:lumMod val="65000"/>
                    <a:lumOff val="35000"/>
                  </a:schemeClr>
                </a:solidFill>
              </a:rPr>
              <a:t>workspaces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WCzxofQL6FB0HCYwQk6w"/>
</p:tagLst>
</file>

<file path=ppt/theme/theme1.xml><?xml version="1.0" encoding="utf-8"?>
<a:theme xmlns:a="http://schemas.openxmlformats.org/drawingml/2006/main" name="Koerber2025">
  <a:themeElements>
    <a:clrScheme name="Körber2020">
      <a:dk1>
        <a:sysClr val="windowText" lastClr="000000"/>
      </a:dk1>
      <a:lt1>
        <a:sysClr val="window" lastClr="FFFFFF"/>
      </a:lt1>
      <a:dk2>
        <a:srgbClr val="BFB8AF"/>
      </a:dk2>
      <a:lt2>
        <a:srgbClr val="E6E2DC"/>
      </a:lt2>
      <a:accent1>
        <a:srgbClr val="0060FF"/>
      </a:accent1>
      <a:accent2>
        <a:srgbClr val="BFB8AF"/>
      </a:accent2>
      <a:accent3>
        <a:srgbClr val="9D968D"/>
      </a:accent3>
      <a:accent4>
        <a:srgbClr val="FFE32F"/>
      </a:accent4>
      <a:accent5>
        <a:srgbClr val="FEC037"/>
      </a:accent5>
      <a:accent6>
        <a:srgbClr val="FE8623"/>
      </a:accent6>
      <a:hlink>
        <a:srgbClr val="0060FF"/>
      </a:hlink>
      <a:folHlink>
        <a:srgbClr val="0060FF"/>
      </a:folHlink>
    </a:clrScheme>
    <a:fontScheme name="Körber202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36000" tIns="36000" rIns="36000" bIns="36000" rtlCol="0" anchor="ctr"/>
      <a:lstStyle>
        <a:defPPr algn="ctr">
          <a:defRPr sz="14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smtClean="0"/>
        </a:defPPr>
      </a:lstStyle>
    </a:txDef>
  </a:objectDefaults>
  <a:extraClrSchemeLst/>
  <a:custClrLst>
    <a:custClr name="Traffic Light Green">
      <a:srgbClr val="00A310"/>
    </a:custClr>
    <a:custClr name="Traffic Light Amber">
      <a:srgbClr val="FEC037"/>
    </a:custClr>
    <a:custClr name="Traffic Light Red">
      <a:srgbClr val="EE532E"/>
    </a:custClr>
    <a:custClr name="White">
      <a:srgbClr val="FFFFFF"/>
    </a:custClr>
    <a:custClr name="Error">
      <a:srgbClr val="CE3800"/>
    </a:custClr>
    <a:custClr name="Success">
      <a:srgbClr val="00800D"/>
    </a:custClr>
    <a:custClr name="White">
      <a:srgbClr val="FFFFFF"/>
    </a:custClr>
    <a:custClr name="Markup Cyan">
      <a:srgbClr val="00FFFF"/>
    </a:custClr>
    <a:custClr name="Markup Magenta">
      <a:srgbClr val="FF00FF"/>
    </a:custClr>
    <a:custClr name="Markup Lime">
      <a:srgbClr val="00FF00"/>
    </a:custClr>
    <a:custClr name="Körber Blue">
      <a:srgbClr val="0060FF"/>
    </a:custClr>
    <a:custClr name="Körber White">
      <a:srgbClr val="FFFFFF"/>
    </a:custClr>
    <a:custClr name="Körber Gray 01">
      <a:srgbClr val="F5F3F1"/>
    </a:custClr>
    <a:custClr name="Körber Gray 02">
      <a:srgbClr val="E6E2DC"/>
    </a:custClr>
    <a:custClr name="Körber Gray 03">
      <a:srgbClr val="BFB8AF"/>
    </a:custClr>
    <a:custClr name="Körber Gray 04">
      <a:srgbClr val="9D968D"/>
    </a:custClr>
    <a:custClr name="Körber Black">
      <a:srgbClr val="000000"/>
    </a:custClr>
    <a:custClr name="Körber Yellow">
      <a:srgbClr val="FFE32F"/>
    </a:custClr>
    <a:custClr name="Körber Light Orange">
      <a:srgbClr val="FEC037"/>
    </a:custClr>
    <a:custClr name="Körber Orange">
      <a:srgbClr val="FE8623"/>
    </a:custClr>
  </a:custClrLst>
  <a:extLst>
    <a:ext uri="{05A4C25C-085E-4340-85A3-A5531E510DB2}">
      <thm15:themeFamily xmlns:thm15="http://schemas.microsoft.com/office/thememl/2012/main" name="20251022_PPT_Master_Template.pptx" id="{78415447-78BF-46CF-AB3B-9FB0EEA59E0D}" vid="{D4D55B85-348B-43F6-88F1-9CD3C3C1A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5ABDF528EFC43A0619635D4C6D96B" ma:contentTypeVersion="14" ma:contentTypeDescription="Create a new document." ma:contentTypeScope="" ma:versionID="f959b3429b9df458b81ca087c611bbf7">
  <xsd:schema xmlns:xsd="http://www.w3.org/2001/XMLSchema" xmlns:xs="http://www.w3.org/2001/XMLSchema" xmlns:p="http://schemas.microsoft.com/office/2006/metadata/properties" xmlns:ns2="67a0a844-c889-4af4-add2-90867fce7b52" xmlns:ns3="d95d6a36-7d53-4e58-a163-525d39abd5e7" targetNamespace="http://schemas.microsoft.com/office/2006/metadata/properties" ma:root="true" ma:fieldsID="5a03ef14d7cf6af83089092d65e50f86" ns2:_="" ns3:_="">
    <xsd:import namespace="67a0a844-c889-4af4-add2-90867fce7b52"/>
    <xsd:import namespace="d95d6a36-7d53-4e58-a163-525d39abd5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Owne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0a844-c889-4af4-add2-90867fce7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d643c87-8475-4bb8-9a4c-73f2453193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Owner" ma:index="17" nillable="true" ma:displayName="Owner" ma:description="Who is owner/ contact person or group for this file?" ma:format="Dropdown" ma:list="UserInfo" ma:SharePointGroup="0" ma:internalName="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5d6a36-7d53-4e58-a163-525d39abd5e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7622b2e-458d-44d6-b277-30dc517fb09c}" ma:internalName="TaxCatchAll" ma:showField="CatchAllData" ma:web="d95d6a36-7d53-4e58-a163-525d39abd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5d6a36-7d53-4e58-a163-525d39abd5e7" xsi:nil="true"/>
    <lcf76f155ced4ddcb4097134ff3c332f xmlns="67a0a844-c889-4af4-add2-90867fce7b52">
      <Terms xmlns="http://schemas.microsoft.com/office/infopath/2007/PartnerControls"/>
    </lcf76f155ced4ddcb4097134ff3c332f>
    <Owner xmlns="67a0a844-c889-4af4-add2-90867fce7b52">
      <UserInfo>
        <DisplayName/>
        <AccountId xsi:nil="true"/>
        <AccountType/>
      </UserInfo>
    </Owner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3497D1-CAB6-425A-B130-DD16E5D4FF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a0a844-c889-4af4-add2-90867fce7b52"/>
    <ds:schemaRef ds:uri="d95d6a36-7d53-4e58-a163-525d39abd5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43D2CA-3330-442D-95A4-03EC30E4003D}">
  <ds:schemaRefs>
    <ds:schemaRef ds:uri="http://schemas.microsoft.com/office/infopath/2007/PartnerControls"/>
    <ds:schemaRef ds:uri="http://purl.org/dc/elements/1.1/"/>
    <ds:schemaRef ds:uri="fe1b8a00-75b3-4ccf-8833-ca3682896ad7"/>
    <ds:schemaRef ds:uri="http://schemas.openxmlformats.org/package/2006/metadata/core-properties"/>
    <ds:schemaRef ds:uri="0de3c8c5-f13d-49cc-9dd8-0869e0ab27b1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d95d6a36-7d53-4e58-a163-525d39abd5e7"/>
    <ds:schemaRef ds:uri="67a0a844-c889-4af4-add2-90867fce7b52"/>
  </ds:schemaRefs>
</ds:datastoreItem>
</file>

<file path=customXml/itemProps3.xml><?xml version="1.0" encoding="utf-8"?>
<ds:datastoreItem xmlns:ds="http://schemas.openxmlformats.org/officeDocument/2006/customXml" ds:itemID="{9A2F2099-A5C5-4F91-BEF5-FEB66A3ECD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1809</Words>
  <Application>Microsoft Office PowerPoint</Application>
  <PresentationFormat>Breitbild</PresentationFormat>
  <Paragraphs>289</Paragraphs>
  <Slides>27</Slides>
  <Notes>6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Aeonik</vt:lpstr>
      <vt:lpstr>Aptos</vt:lpstr>
      <vt:lpstr>Arial</vt:lpstr>
      <vt:lpstr>Arial Black</vt:lpstr>
      <vt:lpstr>Symbol</vt:lpstr>
      <vt:lpstr>Koerber2025</vt:lpstr>
      <vt:lpstr>think-cell Folie</vt:lpstr>
      <vt:lpstr>think-cell Slide</vt:lpstr>
      <vt:lpstr>Körber 2025 Template refresh</vt:lpstr>
      <vt:lpstr>Körber 2025 Template refresh</vt:lpstr>
      <vt:lpstr>Get some help here with your Presentation! </vt:lpstr>
      <vt:lpstr>Contents</vt:lpstr>
      <vt:lpstr>PowerPoint-Präsentation</vt:lpstr>
      <vt:lpstr>PowerPoint-Präsentation</vt:lpstr>
      <vt:lpstr>Short headline</vt:lpstr>
      <vt:lpstr>Slide title to go here</vt:lpstr>
      <vt:lpstr>PowerPoint-Präsentation</vt:lpstr>
      <vt:lpstr>Slide title to go here</vt:lpstr>
      <vt:lpstr>Slide title to go here</vt:lpstr>
      <vt:lpstr>Slide title to go here</vt:lpstr>
      <vt:lpstr>Slide title to go here</vt:lpstr>
      <vt:lpstr>Slide title to go here</vt:lpstr>
      <vt:lpstr>Turning complexity into advantage</vt:lpstr>
      <vt:lpstr>Slide title to go here</vt:lpstr>
      <vt:lpstr>Agenda</vt:lpstr>
      <vt:lpstr>“ Hero quote lorem ipsum dolor sit amet, consectetur adipiscing elit, sed do eiusmod esto tempor incididunt ut labore et dol magna”</vt:lpstr>
      <vt:lpstr>Visualize your data effectively:  Use a timeline</vt:lpstr>
      <vt:lpstr>Visualize your data effectively: Use a world map </vt:lpstr>
      <vt:lpstr>Color sequence</vt:lpstr>
      <vt:lpstr>The key message of a slide should be easy to understand for the audience</vt:lpstr>
      <vt:lpstr>Use of Körber colors</vt:lpstr>
      <vt:lpstr>How to use the blue disturber</vt:lpstr>
      <vt:lpstr>Toolkit and shape generator</vt:lpstr>
      <vt:lpstr>Data classification and handling</vt:lpstr>
      <vt:lpstr>Thank you!</vt:lpstr>
    </vt:vector>
  </TitlesOfParts>
  <Manager/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Lukas Neufeld</dc:creator>
  <cp:keywords/>
  <cp:lastModifiedBy>Lukas Neufeld</cp:lastModifiedBy>
  <cp:revision>1</cp:revision>
  <dcterms:created xsi:type="dcterms:W3CDTF">2026-10-15T09:43:29Z</dcterms:created>
  <dcterms:modified xsi:type="dcterms:W3CDTF">2026-10-15T09:43:51Z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0x0101004FF5ABDF528EFC43A0619635D4C6D96B</vt:lpwstr>
  </property>
  <property fmtid="{D5CDD505-2E9C-101B-9397-08002B2CF9AE}" pid="3" name="MediaServiceImageTags">
    <vt:lpwstr/>
  </property>
  <property fmtid="{D5CDD505-2E9C-101B-9397-08002B2CF9AE}" pid="4" name="MSIP_Label_afcc590d-d398-4a85-9096-b7bc0a388b42_Enabled">
    <vt:lpwstr>true</vt:lpwstr>
  </property>
  <property fmtid="{D5CDD505-2E9C-101B-9397-08002B2CF9AE}" pid="5" name="MSIP_Label_afcc590d-d398-4a85-9096-b7bc0a388b42_SetDate">
    <vt:lpwstr>2026-10-15T09:43:51Z</vt:lpwstr>
  </property>
  <property fmtid="{D5CDD505-2E9C-101B-9397-08002B2CF9AE}" pid="6" name="MSIP_Label_afcc590d-d398-4a85-9096-b7bc0a388b42_Method">
    <vt:lpwstr>Privileged</vt:lpwstr>
  </property>
  <property fmtid="{D5CDD505-2E9C-101B-9397-08002B2CF9AE}" pid="7" name="MSIP_Label_afcc590d-d398-4a85-9096-b7bc0a388b42_Name">
    <vt:lpwstr>C2 - For Internal Use</vt:lpwstr>
  </property>
  <property fmtid="{D5CDD505-2E9C-101B-9397-08002B2CF9AE}" pid="8" name="MSIP_Label_afcc590d-d398-4a85-9096-b7bc0a388b42_SiteId">
    <vt:lpwstr>dca04e92-b0c8-46b4-9d33-f893be36d972</vt:lpwstr>
  </property>
  <property fmtid="{D5CDD505-2E9C-101B-9397-08002B2CF9AE}" pid="9" name="MSIP_Label_afcc590d-d398-4a85-9096-b7bc0a388b42_ActionId">
    <vt:lpwstr>4ba7d212-917b-4f4f-b482-90d8e9e550d8</vt:lpwstr>
  </property>
  <property fmtid="{D5CDD505-2E9C-101B-9397-08002B2CF9AE}" pid="10" name="MSIP_Label_afcc590d-d398-4a85-9096-b7bc0a388b42_ContentBits">
    <vt:lpwstr>2</vt:lpwstr>
  </property>
  <property fmtid="{D5CDD505-2E9C-101B-9397-08002B2CF9AE}" pid="11" name="MSIP_Label_afcc590d-d398-4a85-9096-b7bc0a388b42_Tag">
    <vt:lpwstr>10, 0, 1, 1</vt:lpwstr>
  </property>
  <property fmtid="{D5CDD505-2E9C-101B-9397-08002B2CF9AE}" pid="12" name="ClassificationContentMarkingFooterLocations">
    <vt:lpwstr>Koerber2025:10</vt:lpwstr>
  </property>
  <property fmtid="{D5CDD505-2E9C-101B-9397-08002B2CF9AE}" pid="13" name="ClassificationContentMarkingFooterText">
    <vt:lpwstr>C2 - For Internal Use</vt:lpwstr>
  </property>
</Properties>
</file>